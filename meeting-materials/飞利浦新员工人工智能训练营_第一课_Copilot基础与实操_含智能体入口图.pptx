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一场90分钟。0–5分钟：介绍与学习路径。</a:t>
            </a:r>
          </a:p>
          <a:p/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一场90分钟。0–5分钟：介绍与学习路径。</a:t>
            </a:r>
          </a:p>
          <a:p/>
          <a:p>
            <a:r>
              <a:t>[Sources]</a:t>
            </a:r>
          </a:p>
          <a:p>
            <a:r>
              <a:t>- [Updated] Jul. townhall AI slide.pptx — slide 1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一场90分钟。0–5分钟：介绍与学习路径。</a:t>
            </a:r>
          </a:p>
          <a:p/>
          <a:p>
            <a:r>
              <a:t>[Sources]</a:t>
            </a:r>
          </a:p>
          <a:p>
            <a:r>
              <a:t>- Philips AI strategy material already cited on slide 2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一场90分钟。0–5分钟：介绍与学习路径。</a:t>
            </a:r>
          </a:p>
          <a:p/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一场90分钟。0–5分钟：介绍与学习路径。</a:t>
            </a:r>
          </a:p>
          <a:p/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一场90分钟。5–11分钟：AI方向与企业入口。</a:t>
            </a:r>
          </a:p>
          <a:p/>
          <a:p>
            <a:r>
              <a:t>[Sources]</a:t>
            </a:r>
          </a:p>
          <a:p>
            <a:r>
              <a:t>https://www.aigateway.ai.inside.philips.com/</a:t>
            </a:r>
          </a:p>
          <a:p>
            <a:r>
              <a:t>https://m365.cloud.microsoft/</a:t>
            </a:r>
          </a:p>
          <a:p>
            <a:r>
              <a:t>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一场90分钟。5–11分钟：AI方向与企业入口。</a:t>
            </a:r>
          </a:p>
          <a:p/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一场90分钟。5–11分钟：AI方向与企业入口。</a:t>
            </a:r>
          </a:p>
          <a:p/>
          <a:p>
            <a:r>
              <a:t>[Sources]</a:t>
            </a:r>
          </a:p>
          <a:p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一场90分钟。5–11分钟：AI方向与企业入口。</a:t>
            </a:r>
          </a:p>
          <a:p/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一场90分钟。5–11分钟：AI方向与企业入口。</a:t>
            </a:r>
          </a:p>
          <a:p/>
          <a:p>
            <a:r>
              <a:t>[Sources]</a:t>
            </a:r>
          </a:p>
          <a:p>
            <a:r>
              <a:t>- [Updated] Jul. townhall AI slide.pptx — slide 2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一场90分钟。5–11分钟：AI方向与企业入口。</a:t>
            </a:r>
          </a:p>
          <a:p/>
          <a:p>
            <a:r>
              <a:t>[Sources]</a:t>
            </a:r>
          </a:p>
          <a:p>
            <a:r>
              <a:t>- GCR AI roadmap material already cited on slide 8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一场90分钟。11–15分钟：AI Ambassador支持网络。</a:t>
            </a:r>
          </a:p>
          <a:p/>
          <a:p>
            <a:r>
              <a:t>[Sources]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一场90分钟。11–15分钟：AI Ambassador支持网络。</a:t>
            </a:r>
          </a:p>
          <a:p/>
          <a:p>
            <a:r>
              <a:t>[Sources]</a:t>
            </a:r>
          </a:p>
          <a:p>
            <a:r>
              <a:t>- [Updated] Jul. townhall AI slide.pptx — slide 3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一场90分钟。11–15分钟：AI Ambassador支持网络。</a:t>
            </a:r>
          </a:p>
          <a:p/>
          <a:p>
            <a:r>
              <a:t>[Sources]</a:t>
            </a:r>
          </a:p>
          <a:p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一场90分钟。11–15分钟：AI Ambassador支持网络。</a:t>
            </a:r>
          </a:p>
          <a:p/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一场90分钟。19–24分钟：绿色办公周资料与提示词。</a:t>
            </a:r>
          </a:p>
          <a:p/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一场90分钟。19–24分钟：绿色办公周资料与提示词。</a:t>
            </a:r>
          </a:p>
          <a:p/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一场90分钟。19–24分钟：绿色办公周资料与提示词。</a:t>
            </a:r>
          </a:p>
          <a:p/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一场90分钟。19–24分钟：绿色办公周资料与提示词。</a:t>
            </a:r>
          </a:p>
          <a:p/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一场90分钟。19–24分钟：绿色办公周资料与提示词。</a:t>
            </a:r>
          </a:p>
          <a:p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一场90分钟。24–29分钟：Copilot现场演示与检查。</a:t>
            </a:r>
          </a:p>
          <a:p/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一场90分钟。24–29分钟：Copilot现场演示与检查。</a:t>
            </a:r>
          </a:p>
          <a:p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一场90分钟。29–37分钟：8分钟独立练习。原42–43为同一练习环节，不重复计时。</a:t>
            </a:r>
          </a:p>
          <a:p/>
          <a:p>
            <a:r>
              <a:t>讲解提示：这是示例提示词，不是唯一写法。重点是把背景、任务、输出和约束说清楚。</a:t>
            </a:r>
          </a:p>
          <a:p>
            <a:r>
              <a:t>[Sources]</a:t>
            </a:r>
          </a:p>
          <a:p>
            <a:r>
              <a:t>- Bootcamp_AI培训资料汇总_20260820/02_Copilot日常实操案例/01_绿色办公周_项目简介_虚构数据.txt</a:t>
            </a:r>
          </a:p>
          <a:p>
            <a:r>
              <a:t>- Bootcamp_AI培训资料汇总_20260820/02_Copilot日常实操案例/02_绿色办公周_会议纪要_虚构数据.txt</a:t>
            </a:r>
          </a:p>
          <a:p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一场90分钟。37–40分钟：核查冲突、缺失信息与资料状态。</a:t>
            </a:r>
          </a:p>
          <a:p/>
          <a:p>
            <a:r>
              <a:t>[Sources]</a:t>
            </a:r>
          </a:p>
          <a:p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一场90分钟。15–19分钟：学习入口与通用任务。</a:t>
            </a:r>
          </a:p>
          <a:p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一场90分钟。29–37分钟：8分钟独立练习。原42–43为同一练习环节，不重复计时。</a:t>
            </a:r>
          </a:p>
          <a:p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aiskillsnavigator.microsoft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aigateway.ai.inside.philips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aigateway.ai.inside.philips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aiskillsnavigator.microsoft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aiskillsnavigator.microsoft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aigateway.ai.inside.philips.com/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aigateway.ai.inside.philips.com/" TargetMode="Externa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aigateway.ai.inside.philips.com/" TargetMode="Externa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aigateway.ai.inside.philips.com/" TargetMode="Externa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aigateway.ai.inside.philips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aigateway.ai.inside.philips.com/" TargetMode="Externa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hilips-ai-tool-lab.github.io/ai-tool-lab-preview/" TargetMode="External"/><Relationship Id="rId1" Type="http://schemas.openxmlformats.org/officeDocument/2006/relationships/hyperlink" Target="https://www.aigateway.ai.inside.philips.com/" TargetMode="Externa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hilips-ai-tool-lab.github.io/ai-tool-lab-preview/" TargetMode="External"/><Relationship Id="rId1" Type="http://schemas.openxmlformats.org/officeDocument/2006/relationships/hyperlink" Target="https://www.aigateway.ai.inside.philips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aigateway.ai.inside.philips.com/" TargetMode="Externa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m365.cloud.microsoft/chat" TargetMode="External"/><Relationship Id="rId2" Type="http://schemas.openxmlformats.org/officeDocument/2006/relationships/hyperlink" Target="https://aiskillsnavigator.microsoft.com/" TargetMode="Externa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m365.cloud.microsoft/chat" TargetMode="External"/><Relationship Id="rId2" Type="http://schemas.openxmlformats.org/officeDocument/2006/relationships/hyperlink" Target="https://aiskillsnavigator.microsoft.com/playlists/291ff1ba-c754-44f1-9814-ef8917f8c989" TargetMode="External"/><Relationship Id="rId1" Type="http://schemas.openxmlformats.org/officeDocument/2006/relationships/hyperlink" Target="https://aiskillsnavigator.microsoft.com/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iskillsnavigator.microsoft.com/" TargetMode="Externa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iskillsnavigator.microsoft.com/playlists/291ff1ba-c754-44f1-9814-ef8917f8c989" TargetMode="Externa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learn.microsoft.com/zh-cn/training/courses/ms-4004" TargetMode="External"/><Relationship Id="rId2" Type="http://schemas.openxmlformats.org/officeDocument/2006/relationships/hyperlink" Target="https://aiskillsnavigator.microsoft.com/playlists/291ff1ba-c754-44f1-9814-ef8917f8c989" TargetMode="Externa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aiskillsnavigator.microsoft.com/playlists/291ff1ba-c754-44f1-9814-ef8917f8c989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m365.cloud.microsoft/chat" TargetMode="Externa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365.cloud.microsoft/ch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800100" y="781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89C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89C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PHILIPS YOUNG BOOTCAMP</a:t>
            </a:r>
            <a:endParaRPr sz="1275" b="1">
              <a:solidFill>
                <a:srgbClr val="89C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00100" y="150495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AI 认知到 Copilot 实操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00100" y="234315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D7EA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7EA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Gateway 导航 · GCR AI Ambassador · Microsoft 365 Copilot 实操</a:t>
            </a:r>
            <a:endParaRPr sz="1800" b="0">
              <a:solidFill>
                <a:srgbClr val="D7EA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00100" y="50482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第一场约45分钟，讲解、演示与练习相结合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800100" y="573405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AI Skills Navigator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8" name="页码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5DB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0">
              <a:solidFill>
                <a:srgbClr val="C5DB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介绍与引入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Philips 的 AI 方向：创新、运营、协作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今天先看 AI 怎样帮助业务创新、改善日常工作和支持跨团队协作，同时了解使用这些工具时必须遵守的企业要求。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7810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287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0287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创新｜How we innovate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0287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聚焦高价值业务场景，为患者、客户、消费者和业务创造更大价值。</a:t>
            </a:r>
            <a:endParaRPr sz="135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43624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6101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1196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6101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运营｜How we operate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6101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重新审视工作方式，打破流程壁垒，让跨团队协作更顺畅、交付更高效。</a:t>
            </a:r>
            <a:endParaRPr sz="135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: Rounded Corners 14"/>
          <p:cNvSpPr>
            <a:spLocks noGrp="1"/>
          </p:cNvSpPr>
          <p:nvPr/>
        </p:nvSpPr>
        <p:spPr>
          <a:xfrm>
            <a:off x="79438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1915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1915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协作｜How we collaborate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1915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持续投入工具与能力建设，帮助员工成长，提升组织能力。</a:t>
            </a:r>
            <a:endParaRPr sz="135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781050" y="45339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123950" y="4772025"/>
            <a:ext cx="975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质量、安全、合规与人工负责，是 Philips 推进 AI 规模化应用的共同原则。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: Rounded Corners 2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介绍与引入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创新、运营和协作共同回答：AI怎样进入业务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三个方向并不是彼此独立的口号，而是一条从业务价值到组织能力的完整路径。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238250" y="1952625"/>
            <a:ext cx="9715500" cy="3000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三者如何协同</a:t>
            </a:r>
            <a:endParaRPr sz="18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724150"/>
            <a:ext cx="8667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92555"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首先看创新。Philips 推进 AI，不是为了追逐工具本身，而是从患者、客户、消费者和业务的真实问题出发，优先选择能够创造明确价值的场景。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接着看运营。当一个场景证明有效以后，还需要重新设计流程、减少交接和重复劳动，让不同团队可以更顺畅地协作，并把效果稳定地交付出来。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428750" y="5095875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落地是一条从价值场景到流程改变，再到组织能力的完整路径。</a:t>
            </a:r>
            <a:endParaRPr sz="157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3" name="逻辑箭头 1"/>
          <p:cNvSpPr>
            <a:spLocks noGrp="1"/>
          </p:cNvSpPr>
          <p:nvPr/>
        </p:nvSpPr>
        <p:spPr>
          <a:xfrm>
            <a:off x="62865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4" name="逻辑箭头 2"/>
          <p:cNvSpPr>
            <a:spLocks noGrp="1"/>
          </p:cNvSpPr>
          <p:nvPr/>
        </p:nvSpPr>
        <p:spPr>
          <a:xfrm>
            <a:off x="83820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5" name="逻辑节点 1"/>
          <p:cNvSpPr>
            <a:spLocks noGrp="1"/>
          </p:cNvSpPr>
          <p:nvPr/>
        </p:nvSpPr>
        <p:spPr>
          <a:xfrm>
            <a:off x="4762500" y="2257425"/>
            <a:ext cx="285750" cy="285750"/>
          </a:xfrm>
          <a:prstGeom prst="ellipse">
            <a:avLst/>
          </a:prstGeom>
          <a:solidFill>
            <a:srgbClr val="0066CC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逻辑标签 1"/>
          <p:cNvSpPr>
            <a:spLocks noGrp="1"/>
          </p:cNvSpPr>
          <p:nvPr/>
        </p:nvSpPr>
        <p:spPr>
          <a:xfrm>
            <a:off x="5124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价值场景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逻辑节点 2"/>
          <p:cNvSpPr>
            <a:spLocks noGrp="1"/>
          </p:cNvSpPr>
          <p:nvPr/>
        </p:nvSpPr>
        <p:spPr>
          <a:xfrm>
            <a:off x="6858000" y="2257425"/>
            <a:ext cx="285750" cy="285750"/>
          </a:xfrm>
          <a:prstGeom prst="ellipse">
            <a:avLst/>
          </a:prstGeom>
          <a:solidFill>
            <a:srgbClr val="0F9ED5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逻辑标签 2"/>
          <p:cNvSpPr>
            <a:spLocks noGrp="1"/>
          </p:cNvSpPr>
          <p:nvPr/>
        </p:nvSpPr>
        <p:spPr>
          <a:xfrm>
            <a:off x="72199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流程改变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逻辑节点 3"/>
          <p:cNvSpPr>
            <a:spLocks noGrp="1"/>
          </p:cNvSpPr>
          <p:nvPr/>
        </p:nvSpPr>
        <p:spPr>
          <a:xfrm>
            <a:off x="8953500" y="2257425"/>
            <a:ext cx="285750" cy="285750"/>
          </a:xfrm>
          <a:prstGeom prst="ellipse">
            <a:avLst/>
          </a:prstGeom>
          <a:solidFill>
            <a:srgbClr val="E8742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逻辑标签 3"/>
          <p:cNvSpPr>
            <a:spLocks noGrp="1"/>
          </p:cNvSpPr>
          <p:nvPr/>
        </p:nvSpPr>
        <p:spPr>
          <a:xfrm>
            <a:off x="9315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组织能力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介绍与引入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今天的学习路径：第一场约45分钟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先认识企业资源与支持，再用 Copilot 完成资料处理，最后了解 Agent 功能，并带着一个真实工作问题结束本次课程。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6858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80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763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介绍与引入</a:t>
            </a:r>
            <a:endParaRPr sz="142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rrow: Chevron 9"/>
          <p:cNvSpPr>
            <a:spLocks noGrp="1"/>
          </p:cNvSpPr>
          <p:nvPr/>
        </p:nvSpPr>
        <p:spPr>
          <a:xfrm>
            <a:off x="25812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28384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0289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80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0289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全景与入口</a:t>
            </a:r>
            <a:endParaRPr sz="142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rrow: Chevron 13"/>
          <p:cNvSpPr>
            <a:spLocks noGrp="1"/>
          </p:cNvSpPr>
          <p:nvPr/>
        </p:nvSpPr>
        <p:spPr>
          <a:xfrm>
            <a:off x="47339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Rectangle: Rounded Corners 14"/>
          <p:cNvSpPr>
            <a:spLocks noGrp="1"/>
          </p:cNvSpPr>
          <p:nvPr/>
        </p:nvSpPr>
        <p:spPr>
          <a:xfrm>
            <a:off x="49911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1816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80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1816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Ambassador</a:t>
            </a:r>
            <a:endParaRPr sz="142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rrow: Chevron 17"/>
          <p:cNvSpPr>
            <a:spLocks noGrp="1"/>
          </p:cNvSpPr>
          <p:nvPr/>
        </p:nvSpPr>
        <p:spPr>
          <a:xfrm>
            <a:off x="68865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71437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3342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Copilot 实操</a:t>
            </a:r>
            <a:endParaRPr sz="142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rrow: Chevron 22"/>
          <p:cNvSpPr>
            <a:spLocks noGrp="1"/>
          </p:cNvSpPr>
          <p:nvPr/>
        </p:nvSpPr>
        <p:spPr>
          <a:xfrm>
            <a:off x="90392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Rectangle: Rounded Corners 23"/>
          <p:cNvSpPr>
            <a:spLocks noGrp="1"/>
          </p:cNvSpPr>
          <p:nvPr/>
        </p:nvSpPr>
        <p:spPr>
          <a:xfrm>
            <a:off x="92964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94869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功能预告</a:t>
            </a:r>
            <a:endParaRPr sz="142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1066800" y="46672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引入5分钟，AI入口6分钟，支持网络4分钟，Copilot实操25分钟，Agent预告与课后思考5分钟。</a:t>
            </a:r>
            <a:endParaRPr sz="15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: Rounded Corners 28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微软官方学习网站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介绍与引入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本次课程先完成两步：选择工具并完成任务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先把一次任务做清楚并检查结果，再在下一次课程了解怎样把稳定方法配置成 Agent。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238250" y="1952625"/>
            <a:ext cx="9715500" cy="3000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学习顺序的逻辑</a:t>
            </a:r>
            <a:endParaRPr sz="18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724150"/>
            <a:ext cx="8667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首先认识 Philips 提供的企业 AI 入口和使用要求，知道遇到账号、网络和合规问题时从哪里开始。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接着认识 GCR AI Ambassador 支持网络，并进入 Copilot 实操，练习怎样阅读资料、整理信息、发现冲突，再把分析结果转化成邮件或简报。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课程最后会简要介绍 Copilot Agent，并请大家带着一个来自自己工作的真实任务和疑问参加下一次课程。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428750" y="5095875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先会选工具，再会完成任务，最后才把稳定的方法固化为 Agent。</a:t>
            </a:r>
            <a:endParaRPr sz="157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微软官方学习网站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3" name="逻辑箭头 1"/>
          <p:cNvSpPr>
            <a:spLocks noGrp="1"/>
          </p:cNvSpPr>
          <p:nvPr/>
        </p:nvSpPr>
        <p:spPr>
          <a:xfrm>
            <a:off x="62865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4" name="逻辑箭头 2"/>
          <p:cNvSpPr>
            <a:spLocks noGrp="1"/>
          </p:cNvSpPr>
          <p:nvPr/>
        </p:nvSpPr>
        <p:spPr>
          <a:xfrm>
            <a:off x="83820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5" name="逻辑节点 1"/>
          <p:cNvSpPr>
            <a:spLocks noGrp="1"/>
          </p:cNvSpPr>
          <p:nvPr/>
        </p:nvSpPr>
        <p:spPr>
          <a:xfrm>
            <a:off x="4762500" y="2257425"/>
            <a:ext cx="285750" cy="285750"/>
          </a:xfrm>
          <a:prstGeom prst="ellipse">
            <a:avLst/>
          </a:prstGeom>
          <a:solidFill>
            <a:srgbClr val="0066CC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逻辑标签 1"/>
          <p:cNvSpPr>
            <a:spLocks noGrp="1"/>
          </p:cNvSpPr>
          <p:nvPr/>
        </p:nvSpPr>
        <p:spPr>
          <a:xfrm>
            <a:off x="5124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选择工具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逻辑节点 2"/>
          <p:cNvSpPr>
            <a:spLocks noGrp="1"/>
          </p:cNvSpPr>
          <p:nvPr/>
        </p:nvSpPr>
        <p:spPr>
          <a:xfrm>
            <a:off x="6858000" y="2257425"/>
            <a:ext cx="285750" cy="285750"/>
          </a:xfrm>
          <a:prstGeom prst="ellipse">
            <a:avLst/>
          </a:prstGeom>
          <a:solidFill>
            <a:srgbClr val="0F9ED5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逻辑标签 2"/>
          <p:cNvSpPr>
            <a:spLocks noGrp="1"/>
          </p:cNvSpPr>
          <p:nvPr/>
        </p:nvSpPr>
        <p:spPr>
          <a:xfrm>
            <a:off x="72199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完成任务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逻辑节点 3"/>
          <p:cNvSpPr>
            <a:spLocks noGrp="1"/>
          </p:cNvSpPr>
          <p:nvPr/>
        </p:nvSpPr>
        <p:spPr>
          <a:xfrm>
            <a:off x="8953500" y="2257425"/>
            <a:ext cx="285750" cy="285750"/>
          </a:xfrm>
          <a:prstGeom prst="ellipse">
            <a:avLst/>
          </a:prstGeom>
          <a:solidFill>
            <a:srgbClr val="E8742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逻辑标签 3"/>
          <p:cNvSpPr>
            <a:spLocks noGrp="1"/>
          </p:cNvSpPr>
          <p:nvPr/>
        </p:nvSpPr>
        <p:spPr>
          <a:xfrm>
            <a:off x="9315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 Agent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FC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2</a:t>
            </a:r>
            <a:endParaRPr sz="1350" b="1">
              <a:solidFill>
                <a:srgbClr val="8FC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Philips AI 全景与工具导航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00100" y="2914650"/>
            <a:ext cx="97155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880"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这一部分先认识 Philips 的 AI 方向、企业资源和使用入口，了解不同工具怎样支持日常工作。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Gateway 用于查找企业 AI 资源与使用要求。本场实操使用 Microsoft 365 Copilot，请提前确认 Philips 工作账号和所需功能可用。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学习资源可以从 AI Skills Navigator 进入。实际操作时，只加入获准使用的资料，并由人工核对输出与后续行动。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: Rounded Corners 4"/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7" name="页码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5DB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0">
              <a:solidFill>
                <a:srgbClr val="C5DB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Philips AI 全景与工具导航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可持续发展 AI 战略：重点项目、当前进展与下一阶段计划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战略资料按五条重点方向列出负责人、项目进展和后续计划。图中的 Now 与 Next 表示资料记录的阶段，不能直接作为今天的实时进度。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战略框架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五条重点方向：AI Capability &amp; Adoption、Supplier Sustainability、Regulatory &amp; Compliance、Business &amp; Markets、Reporting &amp; Analysis。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Now 与 Next：Now 记录资料中的现有项目或部署工作，Next 列出后续扩展、标准化或接入流程的计划。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项目负责人：每一列底部说明业务支持、领导责任和日常推进分工。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打开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Philips AI 全景与工具导航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三条基础工作流：能力建设、供应商风险与法规处理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三条工作流覆盖员工能力建设、供应商风险数据和法规研读，并与战略图中的项目方向相对应。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基础工作流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3｜法规与合规：AI 每年辅助整理 2,000 多项可持续发展法规，并帮助团队更快完成法规解读。下一步将把法规监测连接到质量管理和审计流程。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查看战略原图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Philips AI 全景与工具导航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商业支持、报告分析与 2026 年重点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业务落地与规模化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4｜商业与市场支持：Tender Assistant 正在支持 150 多个销售后台团队，帮助准备投标材料并减少人工协调。下一步将在更多区域和重点投标场景中推广。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年重点：扩大已经验证有效的项目，统一可重复使用的能力，并优先推进效果能够衡量的场景。每个项目都明确支持人和日常负责人。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进入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Rectangle 4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Philips AI 全景与工具导航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大中华区 AI 计划：五个业务方向和四项基础能力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五个方向分别解决员工能力、销售机会、运营服务、职能工作和创新协作问题；技术平台、数据、管理机制和负责任使用为这些工作提供基础支持。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5905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809750"/>
            <a:ext cx="2114550" cy="762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提升员工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能力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620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 &amp; adopt</a:t>
            </a:r>
            <a:endParaRPr sz="105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10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通过学习社群，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开展岗位培训，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并分享实践案例。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29146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914650" y="1809750"/>
            <a:ext cx="2114550" cy="76200"/>
          </a:xfrm>
          <a:prstGeom prst="rect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0861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提升商机洞察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和赢率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0861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Sales insights</a:t>
            </a:r>
            <a:endParaRPr sz="1050" b="1">
              <a:solidFill>
                <a:srgbClr val="1196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1051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先分析销售机会，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再复盘赢失单，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并支持投标定价。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: Rounded Corners 16"/>
          <p:cNvSpPr>
            <a:spLocks noGrp="1"/>
          </p:cNvSpPr>
          <p:nvPr/>
        </p:nvSpPr>
        <p:spPr>
          <a:xfrm>
            <a:off x="52387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238750" y="1809750"/>
            <a:ext cx="2114550" cy="76200"/>
          </a:xfrm>
          <a:prstGeom prst="rect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4102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改善运营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和服务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4102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Operations</a:t>
            </a:r>
            <a:endParaRPr sz="1050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4292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先简化订单处理，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再改善服务运营，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并支持工厂和供应链。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: Rounded Corners 21"/>
          <p:cNvSpPr>
            <a:spLocks noGrp="1"/>
          </p:cNvSpPr>
          <p:nvPr/>
        </p:nvSpPr>
        <p:spPr>
          <a:xfrm>
            <a:off x="75628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562850" y="1809750"/>
            <a:ext cx="2114550" cy="76200"/>
          </a:xfrm>
          <a:prstGeom prst="rect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7343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支持职能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日常工作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77343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Functions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7533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覆盖市场、财务与 HR，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也支持法规、质量和法务，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以及战略与竞品分析。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: Rounded Corners 26"/>
          <p:cNvSpPr>
            <a:spLocks noGrp="1"/>
          </p:cNvSpPr>
          <p:nvPr/>
        </p:nvSpPr>
        <p:spPr>
          <a:xfrm>
            <a:off x="98869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9886950" y="1809750"/>
            <a:ext cx="2114550" cy="762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00584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连接伙伴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加速创新</a:t>
            </a:r>
            <a:endParaRPr sz="157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100584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Innovation</a:t>
            </a:r>
            <a:endParaRPr sz="105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100774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先找到本地 AI 合作方，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再推进生态合作，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从而加快创新流程。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1200150" y="4686300"/>
            <a:ext cx="979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每个支柱由业务牵头，并与支持伙伴和 AI Ambassador 协同推进。</a:t>
            </a:r>
            <a:endParaRPr sz="13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: Rounded Corners 32"/>
          <p:cNvSpPr>
            <a:spLocks noGrp="1"/>
          </p:cNvSpPr>
          <p:nvPr/>
        </p:nvSpPr>
        <p:spPr>
          <a:xfrm>
            <a:off x="781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95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技术与平台</a:t>
            </a:r>
            <a:endParaRPr sz="12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: Rounded Corners 34"/>
          <p:cNvSpPr>
            <a:spLocks noGrp="1"/>
          </p:cNvSpPr>
          <p:nvPr/>
        </p:nvSpPr>
        <p:spPr>
          <a:xfrm>
            <a:off x="3448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3562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数据底座</a:t>
            </a:r>
            <a:endParaRPr sz="12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: Rounded Corners 36"/>
          <p:cNvSpPr>
            <a:spLocks noGrp="1"/>
          </p:cNvSpPr>
          <p:nvPr/>
        </p:nvSpPr>
        <p:spPr>
          <a:xfrm>
            <a:off x="6115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6229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运营模式与治理</a:t>
            </a:r>
            <a:endParaRPr sz="12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: Rounded Corners 38"/>
          <p:cNvSpPr>
            <a:spLocks noGrp="1"/>
          </p:cNvSpPr>
          <p:nvPr/>
        </p:nvSpPr>
        <p:spPr>
          <a:xfrm>
            <a:off x="8782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8896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负责任的 AI 与合规</a:t>
            </a:r>
            <a:endParaRPr sz="12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: Rounded Corners 4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Philips AI 全景与工具导航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五个业务方向背后，共享同一套基础能力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业务场景可以不同，但平台、数据、治理和负责任使用必须共同建设。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238250" y="1952625"/>
            <a:ext cx="9715500" cy="3000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共同基础是什么</a:t>
            </a:r>
            <a:endParaRPr sz="18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724150"/>
            <a:ext cx="8667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428750" y="5095875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业务决定做什么，共享能力决定这些场景能否安全、稳定地规模化。</a:t>
            </a:r>
            <a:endParaRPr sz="157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3" name="逻辑箭头 1"/>
          <p:cNvSpPr>
            <a:spLocks noGrp="1"/>
          </p:cNvSpPr>
          <p:nvPr/>
        </p:nvSpPr>
        <p:spPr>
          <a:xfrm>
            <a:off x="62865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4" name="逻辑箭头 2"/>
          <p:cNvSpPr>
            <a:spLocks noGrp="1"/>
          </p:cNvSpPr>
          <p:nvPr/>
        </p:nvSpPr>
        <p:spPr>
          <a:xfrm>
            <a:off x="83820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5" name="逻辑节点 1"/>
          <p:cNvSpPr>
            <a:spLocks noGrp="1"/>
          </p:cNvSpPr>
          <p:nvPr/>
        </p:nvSpPr>
        <p:spPr>
          <a:xfrm>
            <a:off x="4762500" y="2257425"/>
            <a:ext cx="285750" cy="285750"/>
          </a:xfrm>
          <a:prstGeom prst="ellipse">
            <a:avLst/>
          </a:prstGeom>
          <a:solidFill>
            <a:srgbClr val="0066CC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逻辑标签 1"/>
          <p:cNvSpPr>
            <a:spLocks noGrp="1"/>
          </p:cNvSpPr>
          <p:nvPr/>
        </p:nvSpPr>
        <p:spPr>
          <a:xfrm>
            <a:off x="5124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逻辑节点 2"/>
          <p:cNvSpPr>
            <a:spLocks noGrp="1"/>
          </p:cNvSpPr>
          <p:nvPr/>
        </p:nvSpPr>
        <p:spPr>
          <a:xfrm>
            <a:off x="6858000" y="2257425"/>
            <a:ext cx="285750" cy="285750"/>
          </a:xfrm>
          <a:prstGeom prst="ellipse">
            <a:avLst/>
          </a:prstGeom>
          <a:solidFill>
            <a:srgbClr val="0F9ED5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逻辑标签 2"/>
          <p:cNvSpPr>
            <a:spLocks noGrp="1"/>
          </p:cNvSpPr>
          <p:nvPr/>
        </p:nvSpPr>
        <p:spPr>
          <a:xfrm>
            <a:off x="72199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共用底座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逻辑节点 3"/>
          <p:cNvSpPr>
            <a:spLocks noGrp="1"/>
          </p:cNvSpPr>
          <p:nvPr/>
        </p:nvSpPr>
        <p:spPr>
          <a:xfrm>
            <a:off x="8953500" y="2257425"/>
            <a:ext cx="285750" cy="285750"/>
          </a:xfrm>
          <a:prstGeom prst="ellipse">
            <a:avLst/>
          </a:prstGeom>
          <a:solidFill>
            <a:srgbClr val="E8742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逻辑标签 3"/>
          <p:cNvSpPr>
            <a:spLocks noGrp="1"/>
          </p:cNvSpPr>
          <p:nvPr/>
        </p:nvSpPr>
        <p:spPr>
          <a:xfrm>
            <a:off x="9315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责任治理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FC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3</a:t>
            </a:r>
            <a:endParaRPr sz="1350" b="1">
              <a:solidFill>
                <a:srgbClr val="8FC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Philips GCR AI Ambassador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00100" y="2914650"/>
            <a:ext cx="97155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这一部分介绍 GCR AI Ambassador 支持网络，以及遇到不同问题时应该找谁。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首先认识 Champion、Ambassador、Catalyst 和 Guru 的分工：有人负责方向，有人推动学习，有人梳理业务场景，也有人连接技术资源。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随后通过名单找到自己部门、业务单元或市场的联系人。学习和工具问题可以先咨询 Ambassador，业务决定与数据授权仍由本部门负责人确认。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: Rounded Corners 4"/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查看 AI Tool Lab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8" name="页码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5DB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75" b="0">
              <a:solidFill>
                <a:srgbClr val="C5DB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GCR AI Ambassador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GCR AI Network：四类角色分别提供方向、推广、场景和技术支持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Champion 负责方向，Ambassador 组织学习和推广，Catalysts 从日常流程中寻找适合 AI 的任务，Guru 把业务问题连接到合适的技术资源。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781050" y="17907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990600" y="19431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90600" y="2038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657350" y="19240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先锋｜Champion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657350" y="223837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Yiqiu Chen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857750" y="1981200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制定战略方向，聚焦高价值场景，推动 AI 创造业务价值。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: Rounded Corners 12"/>
          <p:cNvSpPr>
            <a:spLocks noGrp="1"/>
          </p:cNvSpPr>
          <p:nvPr/>
        </p:nvSpPr>
        <p:spPr>
          <a:xfrm>
            <a:off x="781050" y="2695575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990600" y="2847975"/>
            <a:ext cx="438150" cy="4381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990600" y="29432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1657350" y="28289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大使｜Ambassador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657350" y="31432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people</a:t>
            </a:r>
            <a:endParaRPr sz="1125" b="1">
              <a:solidFill>
                <a:srgbClr val="1196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857750" y="2886075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组织学习和经验分享，帮助更多团队了解并使用合适的 AI 工具。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781050" y="360045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990600" y="3752850"/>
            <a:ext cx="438150" cy="4381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990600" y="38481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657350" y="37338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推动者｜Catalysts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657350" y="40481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每个团队约 5%–10%</a:t>
            </a:r>
            <a:endParaRPr sz="112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857750" y="3790950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熟悉业务流程，从日常工作中寻找切入点，推动 AI 融入真实工作流。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: Rounded Corners 24"/>
          <p:cNvSpPr>
            <a:spLocks noGrp="1"/>
          </p:cNvSpPr>
          <p:nvPr/>
        </p:nvSpPr>
        <p:spPr>
          <a:xfrm>
            <a:off x="781050" y="4505325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Oval 25"/>
          <p:cNvSpPr>
            <a:spLocks noGrp="1"/>
          </p:cNvSpPr>
          <p:nvPr/>
        </p:nvSpPr>
        <p:spPr>
          <a:xfrm>
            <a:off x="990600" y="4657725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990600" y="47529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1657350" y="46386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专家｜Guru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657350" y="49530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每个团队约 3%</a:t>
            </a:r>
            <a:endParaRPr sz="1125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4857750" y="4695825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把业务问题连接到合适的技术资源，并在开发、运行和改进过程中提供支持。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: Rounded Corners 3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回到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32" name="Rectangle: Rounded Corners 31"/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继续探索 AI Tool Lab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GCR AI Ambassador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遇到不同问题时，需要寻找不同类型的支持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四类角色共同组成支持网络，但每一类角色承担的责任并不相同。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238250" y="1952625"/>
            <a:ext cx="9715500" cy="3000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2266950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如何找到合适的支持</a:t>
            </a:r>
            <a:endParaRPr sz="18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724150"/>
            <a:ext cx="8667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428750" y="5095875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先判断问题属于方向、推广、场景还是技术，再寻找对应角色。</a:t>
            </a:r>
            <a:endParaRPr sz="157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回到 AI Gateway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3" name="逻辑箭头 1"/>
          <p:cNvSpPr>
            <a:spLocks noGrp="1"/>
          </p:cNvSpPr>
          <p:nvPr/>
        </p:nvSpPr>
        <p:spPr>
          <a:xfrm>
            <a:off x="62865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4" name="逻辑箭头 2"/>
          <p:cNvSpPr>
            <a:spLocks noGrp="1"/>
          </p:cNvSpPr>
          <p:nvPr/>
        </p:nvSpPr>
        <p:spPr>
          <a:xfrm>
            <a:off x="83820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5" name="逻辑节点 1"/>
          <p:cNvSpPr>
            <a:spLocks noGrp="1"/>
          </p:cNvSpPr>
          <p:nvPr/>
        </p:nvSpPr>
        <p:spPr>
          <a:xfrm>
            <a:off x="4762500" y="2257425"/>
            <a:ext cx="285750" cy="285750"/>
          </a:xfrm>
          <a:prstGeom prst="ellipse">
            <a:avLst/>
          </a:prstGeom>
          <a:solidFill>
            <a:srgbClr val="0066CC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逻辑标签 1"/>
          <p:cNvSpPr>
            <a:spLocks noGrp="1"/>
          </p:cNvSpPr>
          <p:nvPr/>
        </p:nvSpPr>
        <p:spPr>
          <a:xfrm>
            <a:off x="5124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确定方向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逻辑节点 2"/>
          <p:cNvSpPr>
            <a:spLocks noGrp="1"/>
          </p:cNvSpPr>
          <p:nvPr/>
        </p:nvSpPr>
        <p:spPr>
          <a:xfrm>
            <a:off x="6858000" y="2257425"/>
            <a:ext cx="285750" cy="285750"/>
          </a:xfrm>
          <a:prstGeom prst="ellipse">
            <a:avLst/>
          </a:prstGeom>
          <a:solidFill>
            <a:srgbClr val="0F9ED5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逻辑标签 2"/>
          <p:cNvSpPr>
            <a:spLocks noGrp="1"/>
          </p:cNvSpPr>
          <p:nvPr/>
        </p:nvSpPr>
        <p:spPr>
          <a:xfrm>
            <a:off x="72199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梳理场景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逻辑节点 3"/>
          <p:cNvSpPr>
            <a:spLocks noGrp="1"/>
          </p:cNvSpPr>
          <p:nvPr/>
        </p:nvSpPr>
        <p:spPr>
          <a:xfrm>
            <a:off x="8953500" y="2257425"/>
            <a:ext cx="285750" cy="285750"/>
          </a:xfrm>
          <a:prstGeom prst="ellipse">
            <a:avLst/>
          </a:prstGeom>
          <a:solidFill>
            <a:srgbClr val="E8742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逻辑标签 3"/>
          <p:cNvSpPr>
            <a:spLocks noGrp="1"/>
          </p:cNvSpPr>
          <p:nvPr/>
        </p:nvSpPr>
        <p:spPr>
          <a:xfrm>
            <a:off x="9315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技术支持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GCR AI Ambassador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按部门或业务单元找到对应的 AI Ambassador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116"/>
            <a:ext cx="6686550" cy="3577517"/>
          </a:xfrm>
          <a:prstGeom prst="roundRect">
            <a:avLst>
              <a:gd name="adj" fmla="val 3158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657600"/>
          </a:xfrm>
          <a:prstGeom prst="roundRect">
            <a:avLst>
              <a:gd name="adj" fmla="val 3125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关键内容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首先看覆盖范围：名单包括市场、财务、法务、人力资源、战略、质量、法规、临床、创新、IT，以及各业务单元和区域市场。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接着看角色分工：Function Lead 负责业务管理；AI Ambassador 分享学习资源和实践经验，帮助团队梳理适合 AI 的问题。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使用时，先在第一列找到部门或业务单元，再查看同一行的大使；工具和学习问题可与大使交流，业务决定和数据授权仍由本部门负责人确认。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进入 Copilot 学习与实操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3" name="Rectangle: Rounded Corners 12"/>
          <p:cNvSpPr>
            <a:spLocks noGrp="1"/>
          </p:cNvSpPr>
          <p:nvPr/>
        </p:nvSpPr>
        <p:spPr>
          <a:xfrm>
            <a:off x="352425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打开 M365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FC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4</a:t>
            </a:r>
            <a:endParaRPr sz="1350" b="1">
              <a:solidFill>
                <a:srgbClr val="8FC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日常工作中的 Copilot 实操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00100" y="2914650"/>
            <a:ext cx="97155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这一部分练习怎样把资料转化为可行动的结果。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先认识 AI Skills Navigator 和 MS-4004 岗位案例，找到后续学习入口。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 algn="l">
              <a:buNone/>
              <a:def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D9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随后用绿色办公周完成练习：加入资料、写清提示词、核对冲突，生成简报与邮件草稿。</a:t>
            </a:r>
            <a:endParaRPr sz="1725" b="0">
              <a:solidFill>
                <a:srgbClr val="D9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: Rounded Corners 4"/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AI Skills Navigator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6" name="Rectangle: Rounded Corners 5"/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MS-4004 学习路径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打开 M365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9" name="页码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5DB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75" b="0">
              <a:solidFill>
                <a:srgbClr val="C5DB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Skills Navigator：从 For you 首页开始选择学习内容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Skills Navigator 是微软官方 AI 学习网站。For you 首页根据学习记录和个人资料推荐内容，左侧提供课程搜索、学习播放列表、证书和学习报告等入口。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首页怎么使用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首先看左侧导航：For you 查看个性化内容，Explore content 搜索主题，Skilling playlists 进入学习路径，Credentials 和 Reporting 查看证书与记录。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接着看首页推荐：Recommended for you 展示课程，Pick up where you left off 用于继续学习，右上角提示帮助保持学习习惯。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首次进入时先更新 profile，再按岗位或工作问题搜索；Bootcamp 结束后也可以从这里继续学习。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访问微软官方学习网站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Skilling playlists：把相关课程放进一条学习路线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当前页面打开的是 Philips: Summer 2026 M365 Copilot Courses。顶部显示学习内容数量和完成进度，下面按顺序排列 AI 基础、Copilot Chat 基础和 MS-4004 业务案例。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播放列表的结构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首先看顶部信息：截图展示学习内容数量和完成进度，Continue learning 用于回到上次位置，具体内容以登录后页面为准。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建议先完成 AI 和 Copilot Chat 基础，熟悉提示词、文件分析和协作方式，再进入 Microsoft 365 Copilot Use Cases（MS-4004）。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向下滚动可以找到 MS-4004，按岗位或工作问题选择案例。本场先认识入口，课后可继续完成课程。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打开当前播放列表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从左侧目录进入 MS-4004，再按岗位选择案例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课程页面怎么读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首先看左侧目录：点击课程名称可以展开单元；当前基础模块包括介绍、Copilot Pages、Agents、练习和总结，下方就是 MS-4004。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接着看右侧学习区：这里显示正文、提醒和学习目标，顶部还提供单元总结和播客等复习功能。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今天先记住课程入口，再进入 MS-4004 选择接近自己岗位的案例；后面的实操会练习其中可以跨岗位复用的方法。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打开 MS-4004 播放列表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3" name="Rectangle: Rounded Corners 12"/>
          <p:cNvSpPr>
            <a:spLocks noGrp="1"/>
          </p:cNvSpPr>
          <p:nvPr/>
        </p:nvSpPr>
        <p:spPr>
          <a:xfrm>
            <a:off x="35242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查看 Microsoft Learn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Rectangle 38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MS-4004 覆盖的十类岗位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7810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715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3811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29908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1813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5909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: Rounded Corners 12"/>
          <p:cNvSpPr>
            <a:spLocks noGrp="1"/>
          </p:cNvSpPr>
          <p:nvPr/>
        </p:nvSpPr>
        <p:spPr>
          <a:xfrm>
            <a:off x="52006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53911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8007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市场营销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: Rounded Corners 15"/>
          <p:cNvSpPr>
            <a:spLocks noGrp="1"/>
          </p:cNvSpPr>
          <p:nvPr/>
        </p:nvSpPr>
        <p:spPr>
          <a:xfrm>
            <a:off x="74104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6009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0105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96202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8107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02203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: Rounded Corners 21"/>
          <p:cNvSpPr>
            <a:spLocks noGrp="1"/>
          </p:cNvSpPr>
          <p:nvPr/>
        </p:nvSpPr>
        <p:spPr>
          <a:xfrm>
            <a:off x="7810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715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3811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人力资源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: Rounded Corners 24"/>
          <p:cNvSpPr>
            <a:spLocks noGrp="1"/>
          </p:cNvSpPr>
          <p:nvPr/>
        </p:nvSpPr>
        <p:spPr>
          <a:xfrm>
            <a:off x="29908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31813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35909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: Rounded Corners 27"/>
          <p:cNvSpPr>
            <a:spLocks noGrp="1"/>
          </p:cNvSpPr>
          <p:nvPr/>
        </p:nvSpPr>
        <p:spPr>
          <a:xfrm>
            <a:off x="52006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3911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58007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企业沟通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: Rounded Corners 30"/>
          <p:cNvSpPr>
            <a:spLocks noGrp="1"/>
          </p:cNvSpPr>
          <p:nvPr/>
        </p:nvSpPr>
        <p:spPr>
          <a:xfrm>
            <a:off x="74104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76009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80105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客户服务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: Rounded Corners 33"/>
          <p:cNvSpPr>
            <a:spLocks noGrp="1"/>
          </p:cNvSpPr>
          <p:nvPr/>
        </p:nvSpPr>
        <p:spPr>
          <a:xfrm>
            <a:off x="96202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98107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102203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法务</a:t>
            </a:r>
            <a:endParaRPr sz="15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1238250" y="4619625"/>
            <a:ext cx="9715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首先，可以从与自己最接近的岗位进入 MS-4004，例如管理、销售、市场、财务、IT 或人力资源。接着，不要停留在岗位名称上，而要观察案例实际解决的是阅读资料、比较来源、整理风险还是起草沟通。这样学习到的方法才能跨越岗位，迁移到自己的日常工作。</a:t>
            </a:r>
            <a:endParaRPr sz="135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: Rounded Corners 37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 MS-4004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把岗位差异提炼为四类通用任务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8763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108585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0858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6383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读：快速理解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858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阅读项目简介、会议纪要、邮件或文档，提取目标、背景和关键事实。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36385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38481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8481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4005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理：形成结构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8481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按决策、行动、风险、截止日期和负责人重新组织信息。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: Rounded Corners 16"/>
          <p:cNvSpPr>
            <a:spLocks noGrp="1"/>
          </p:cNvSpPr>
          <p:nvPr/>
        </p:nvSpPr>
        <p:spPr>
          <a:xfrm>
            <a:off x="64008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6610350" y="2209800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6103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1628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查：发现问题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6103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比较多个来源，标记冲突、缺失信息和需要人工确认的内容。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: Rounded Corners 21"/>
          <p:cNvSpPr>
            <a:spLocks noGrp="1"/>
          </p:cNvSpPr>
          <p:nvPr/>
        </p:nvSpPr>
        <p:spPr>
          <a:xfrm>
            <a:off x="91630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93726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3726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99250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写：推动行动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3726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把结果整理成项目简报或跟进邮件草稿。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: Rounded Corners 26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Microsoft 365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通用案例：快速接手一个新项目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你刚接手绿色办公周项目，需要依据三份虚构资料了解目标和记录状态，找出行动项、冲突与信息缺口，并起草跟进邮件。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781050" y="1695450"/>
            <a:ext cx="10629900" cy="1104900"/>
          </a:xfrm>
          <a:prstGeom prst="roundRect">
            <a:avLst>
              <a:gd name="adj" fmla="val 10345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66800" y="19240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你的任务</a:t>
            </a:r>
            <a:endParaRPr sz="180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066800" y="2276475"/>
            <a:ext cx="988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48"/>
          </a:bodyPr>
          <a:lstStyle/>
          <a:p>
            <a:pPr algn="l">
              <a:buNone/>
              <a:defRPr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模拟接手“绿色办公周”：先读懂三份虚构资料，再向负责人说明资料状态、风险及待确认事项。</a:t>
            </a:r>
            <a:endParaRPr sz="18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7810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477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你会拿到</a:t>
            </a:r>
            <a:endParaRPr sz="17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0477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项目简介说明背景；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会议纪要记录决定；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时间表记录里程碑。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: Rounded Corners 12"/>
          <p:cNvSpPr>
            <a:spLocks noGrp="1"/>
          </p:cNvSpPr>
          <p:nvPr/>
        </p:nvSpPr>
        <p:spPr>
          <a:xfrm>
            <a:off x="43624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6291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 Copilot 帮你</a:t>
            </a:r>
            <a:endParaRPr sz="1725" b="1">
              <a:solidFill>
                <a:srgbClr val="1196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6291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先提炼目标和资料状态；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再整理事项、负责人和期限；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最后找出冲突与信息缺口。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: Rounded Corners 15"/>
          <p:cNvSpPr>
            <a:spLocks noGrp="1"/>
          </p:cNvSpPr>
          <p:nvPr/>
        </p:nvSpPr>
        <p:spPr>
          <a:xfrm>
            <a:off x="79438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2105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最后交付</a:t>
            </a:r>
            <a:endParaRPr sz="172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2105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最后形成一页项目接手简报，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再起草一封跟进邮件，把分析转化为可执行的沟通。</a:t>
            </a:r>
            <a:endParaRPr sz="150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 Copilot 实操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 1：项目简介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GREEN OFFICE WEEK｜PROJECT BRIEF（虚构培训数据）</a:t>
            </a:r>
            <a:endParaRPr sz="1350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428750" y="2647950"/>
            <a:ext cx="9239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目的与受众：资料设定于2026年9月14–18日举行，面向约400名内部同事，鼓励可衡量的可持续办公习惯。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成功指标：报名150人，出席率达到报名人数的80%，参与者反馈达到4.2/5。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预算与范围：工作预算CNY 25,000，仅内部沟通，材料中英双语。资料记录供应商未选定、未签合同，预算不等于合同金额。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关键日期：项目简介写明8月28日开放报名，9月9日关闭报名。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 2：会议纪要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19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 MEETING NOTES｜17 AUG 2026（虚构培训数据）</a:t>
            </a:r>
            <a:endParaRPr sz="1350" b="1">
              <a:solidFill>
                <a:srgbClr val="1196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428750" y="2724150"/>
            <a:ext cx="92392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已确认：资料记录活动日期、内部沟通、双语材料和场地安排原则。</a:t>
            </a:r>
            <a:endParaRPr sz="15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行动项：项目负责人8月21日确认五天议程，设施协调人8月25日确认房间布置及回收站点，沟通负责人8月28日发布双语报名通知。</a:t>
            </a:r>
            <a:endParaRPr sz="15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开放问题：餐饮供应商和可选闭幕活动仍待确认。资料未提供已签约合同金额，不能据此推断今天的审批或签约进度。</a:t>
            </a:r>
            <a:endParaRPr sz="15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: Rounded Corners 9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 3：时间表里出现了另一个日期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时间表把报名开放写成31 Aug，项目简介写28 Aug，需要保留来源并核实。表中状态仅代表资料记录，不能据今天日期推断实际进度。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524000" y="21526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</a:t>
            </a:r>
            <a:endParaRPr sz="13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239000" y="21526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截止日期</a:t>
            </a:r>
            <a:endParaRPr sz="13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239250" y="21526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资料状态</a:t>
            </a:r>
            <a:endParaRPr sz="13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409700" y="25146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524000" y="25717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五天议程确认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239000" y="2571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Aug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239250" y="25717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409700" y="29718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1524000" y="3028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房间布局确认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239000" y="30289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 Aug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9239250" y="30289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未开始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409700" y="34290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524000" y="34861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双语公告批准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239000" y="34861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 Aug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239250" y="34861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未开始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409700" y="3886200"/>
            <a:ext cx="9182100" cy="381000"/>
          </a:xfrm>
          <a:prstGeom prst="rect">
            <a:avLst/>
          </a:prstGeom>
          <a:solidFill>
            <a:srgbClr val="FFF2E9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524000" y="39433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报名开放</a:t>
            </a:r>
            <a:endParaRPr sz="1350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7239000" y="39433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Aug</a:t>
            </a:r>
            <a:endParaRPr sz="1350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239250" y="39433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未开始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409700" y="43434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1524000" y="44005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报名关闭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7239000" y="4400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Sep</a:t>
            </a:r>
            <a:endParaRPr sz="1350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9239250" y="44005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未开始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1428750" y="49530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待确认：项目简介 28 Aug ｜ 时间表 31 Aug</a:t>
            </a:r>
            <a:endParaRPr sz="157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: Rounded Corners 31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用 Copilot 比较资料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示例提示词结构：背景、任务、输出、约束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一个可靠的提示词可以按顺序展开：先交代背景，再明确任务和输出，最后用约束限定 Copilot 的判断边界。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: Rounded Corners 7"/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首先说明背景：我刚接手绿色办公周项目，需要快速理解三份附件。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接着说明任务：请总结目标、成功指标、已确认决策、行动项、风险和开放问题，并比较不同来源。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: Rounded Corners 14"/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angle: Rounded Corners 15"/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然后规定输出：一页项目简报、行动项表和邮件草稿。表格包含事项、负责人、截止日期和资料状态。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: Rounded Corners 19"/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最后限定边界：仅依据附件，冲突保留来源与各版本，缺失标记待确认，不推断今天的实际进度。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: Rounded Corners 22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Copilot 并输入提示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Microsoft 365 Copilot：确认工作账号，加入资料，开始任务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打开页面后，先确认左下角显示工作账号，再点击输入框左侧的加号加入本次练习使用的三份资料，最后在中央输入任务。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4281"/>
            <a:ext cx="6686550" cy="3510439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/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: Rounded Corners 8"/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关键内容</a:t>
            </a:r>
            <a:endParaRPr sz="16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首先开始新任务：左侧 New chat 用于新建对话，Search 用于查找历史内容；Library、Notebooks 和 Agents 可以之后再探索。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接着加入资料：中央 Message Copilot 是任务输入框，点击左侧加号即可添加文件；下方按钮提供文件分析、邮件整理等快捷入口。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提交前再检查：确认左下角显示 Philips 工作账号，只加入当前任务需要的资料；对敏感信息有疑问时，先查看企业规则或咨询支持人员。</a:t>
            </a:r>
            <a:endParaRPr sz="120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打开 Microsoft 365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现场演示：把三份资料整理成简报和跟进邮件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接下来我会完整演示一次。请同时观察资料是否齐全、来源冲突是否保留，以及结果怎样继续调整。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Oval 6"/>
          <p:cNvSpPr>
            <a:spLocks noGrp="1"/>
          </p:cNvSpPr>
          <p:nvPr/>
        </p:nvSpPr>
        <p:spPr>
          <a:xfrm>
            <a:off x="1066800" y="17621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66800" y="18478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695450" y="17430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首先上传项目简介、会议纪要和里程碑时间表。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1066800" y="25050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66800" y="25908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695450" y="24860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接着输入“背景 + 任务 + 输出 + 约束”四段式提示词。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066800" y="32480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066800" y="3333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695450" y="32289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结果生成后，先查看项目接手简报和跟进邮件草稿是否完整。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1066800" y="39909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66800" y="40767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695450" y="39719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然后核对 28 Aug 与 31 Aug 两个报名日期，保留来源并标记待确认。</a:t>
            </a:r>
            <a:endParaRPr sz="1425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>
            <a:spLocks noGrp="1"/>
          </p:cNvSpPr>
          <p:nvPr/>
        </p:nvSpPr>
        <p:spPr>
          <a:xfrm>
            <a:off x="1066800" y="47339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066800" y="48196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695450" y="47148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确认事实后，把行动项整理成事项、负责人、截止日期和资料状态，并保留未知项。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: Rounded Corners 21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进入现场演示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绿色办公周实操｜任务、示例提示词与预期结果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练习材料在课程群内发放。以下提示词为示例，请保留资料边界；完成后核对来源、冲突和缺失信息。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: Rounded Corners 7"/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要做什么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阅读三份虚构资料，总结项目目标、资料记录状态和行动项，比较来源并找出冲突。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仅依据附件生成简报、行动项表和邮件草稿。冲突保留来源与各版本，缺失写资料中未找到。不推断当前进度，不新增事实。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: Rounded Corners 14"/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angle: Rounded Corners 15"/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一页项目接手简报（含行动项表格）＋一封跟进邮件草稿＋一份待确认事项清单。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: Rounded Corners 18"/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angle: Rounded Corners 19"/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保留8月28日与31日的报名冲突。8月27日公告审批与28日发布是不同节点，先核实再判断。</a:t>
            </a:r>
            <a:endParaRPr sz="1425" b="0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: Rounded Corners 22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Microsoft 365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日常工作中的 Copilot 实操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练习完成的标准，不是只得到一段答案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最终结果需要同时满足信息完整、来源清楚、冲突保留和沟通可执行四项要求。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238250" y="1952625"/>
            <a:ext cx="9715500" cy="3000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怎样判断练习完成</a:t>
            </a:r>
            <a:endParaRPr sz="18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724150"/>
            <a:ext cx="8667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首先核对交付：一页项目接手简报、一封邮件草稿和待确认清单。行动项需要包含事项、负责人、截止日期和资料记录状态。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接着比较来源：报名日期保留8月28日和31日两个版本。8月27日公告审批与28日公告发布是不同节点，不能直接当作冲突。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最后检查缺口：供应商、已签约合同金额等未给信息应写“资料中未找到”。不要依据今天日期推断逾期、未开工或已经完成，邮件保留为草稿。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428750" y="5095875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874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可靠结果要能说明知道什么、不知道什么，以及下一步需要谁确认。</a:t>
            </a:r>
            <a:endParaRPr sz="1575" b="1">
              <a:solidFill>
                <a:srgbClr val="E874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 Microsoft 365 Copilot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3" name="逻辑箭头 1"/>
          <p:cNvSpPr>
            <a:spLocks noGrp="1"/>
          </p:cNvSpPr>
          <p:nvPr/>
        </p:nvSpPr>
        <p:spPr>
          <a:xfrm>
            <a:off x="62865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4" name="逻辑箭头 2"/>
          <p:cNvSpPr>
            <a:spLocks noGrp="1"/>
          </p:cNvSpPr>
          <p:nvPr/>
        </p:nvSpPr>
        <p:spPr>
          <a:xfrm>
            <a:off x="8382000" y="2343150"/>
            <a:ext cx="323850" cy="133350"/>
          </a:xfrm>
          <a:prstGeom prst="rightArrow">
            <a:avLst/>
          </a:prstGeom>
          <a:solidFill>
            <a:srgbClr val="A9C7E6"/>
          </a:solidFill>
          <a:ln w="0">
            <a:solidFill>
              <a:srgbClr val="A9C7E6"/>
            </a:solidFill>
            <a:prstDash val="solid"/>
          </a:ln>
        </p:spPr>
      </p:sp>
      <p:sp>
        <p:nvSpPr>
          <p:cNvPr id="15" name="逻辑节点 1"/>
          <p:cNvSpPr>
            <a:spLocks noGrp="1"/>
          </p:cNvSpPr>
          <p:nvPr/>
        </p:nvSpPr>
        <p:spPr>
          <a:xfrm>
            <a:off x="4762500" y="2257425"/>
            <a:ext cx="285750" cy="285750"/>
          </a:xfrm>
          <a:prstGeom prst="ellipse">
            <a:avLst/>
          </a:prstGeom>
          <a:solidFill>
            <a:srgbClr val="0066CC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逻辑标签 1"/>
          <p:cNvSpPr>
            <a:spLocks noGrp="1"/>
          </p:cNvSpPr>
          <p:nvPr/>
        </p:nvSpPr>
        <p:spPr>
          <a:xfrm>
            <a:off x="5124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信息完整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逻辑节点 2"/>
          <p:cNvSpPr>
            <a:spLocks noGrp="1"/>
          </p:cNvSpPr>
          <p:nvPr/>
        </p:nvSpPr>
        <p:spPr>
          <a:xfrm>
            <a:off x="6858000" y="2257425"/>
            <a:ext cx="285750" cy="285750"/>
          </a:xfrm>
          <a:prstGeom prst="ellipse">
            <a:avLst/>
          </a:prstGeom>
          <a:solidFill>
            <a:srgbClr val="0F9ED5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逻辑标签 2"/>
          <p:cNvSpPr>
            <a:spLocks noGrp="1"/>
          </p:cNvSpPr>
          <p:nvPr/>
        </p:nvSpPr>
        <p:spPr>
          <a:xfrm>
            <a:off x="72199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来源清楚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逻辑节点 3"/>
          <p:cNvSpPr>
            <a:spLocks noGrp="1"/>
          </p:cNvSpPr>
          <p:nvPr/>
        </p:nvSpPr>
        <p:spPr>
          <a:xfrm>
            <a:off x="8953500" y="2257425"/>
            <a:ext cx="285750" cy="285750"/>
          </a:xfrm>
          <a:prstGeom prst="ellipse">
            <a:avLst/>
          </a:prstGeom>
          <a:solidFill>
            <a:srgbClr val="E8742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逻辑标签 3"/>
          <p:cNvSpPr>
            <a:spLocks noGrp="1"/>
          </p:cNvSpPr>
          <p:nvPr/>
        </p:nvSpPr>
        <p:spPr>
          <a:xfrm>
            <a:off x="9315450" y="22383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沟通可执行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下一步：Copilot Agent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Copilot 中的智能体入口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在左侧导航中可以找到“新建智能体”和“更多智能体”。界面可能随版本更新，请以实际页面为准。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71055"/>
            <a:ext cx="8077200" cy="4354116"/>
          </a:xfrm>
          <a:prstGeom prst="rect">
            <a:avLst/>
          </a:prstGeom>
        </p:spPr>
      </p:pic>
      <p:sp>
        <p:nvSpPr>
          <p:cNvPr id="30" name="新建智能体入口高亮"/>
          <p:cNvSpPr>
            <a:spLocks noGrp="1"/>
          </p:cNvSpPr>
          <p:nvPr/>
        </p:nvSpPr>
        <p:spPr>
          <a:xfrm>
            <a:off x="742950" y="4514850"/>
            <a:ext cx="1143000" cy="228600"/>
          </a:xfrm>
          <a:prstGeom prst="roundRect">
            <a:avLst>
              <a:gd name="adj" fmla="val 33333"/>
            </a:avLst>
          </a:prstGeom>
          <a:solidFill>
            <a:srgbClr val="F47A20">
              <a:alpha val="12000"/>
            </a:srgbClr>
          </a:solidFill>
          <a:ln w="28575">
            <a:solidFill>
              <a:srgbClr val="F47A20"/>
            </a:solidFill>
            <a:prstDash val="solid"/>
          </a:ln>
        </p:spPr>
      </p:sp>
      <p:sp>
        <p:nvSpPr>
          <p:cNvPr id="31" name="更多智能体入口高亮"/>
          <p:cNvSpPr>
            <a:spLocks noGrp="1"/>
          </p:cNvSpPr>
          <p:nvPr/>
        </p:nvSpPr>
        <p:spPr>
          <a:xfrm>
            <a:off x="742950" y="4705350"/>
            <a:ext cx="1143000" cy="228600"/>
          </a:xfrm>
          <a:prstGeom prst="roundRect">
            <a:avLst>
              <a:gd name="adj" fmla="val 33333"/>
            </a:avLst>
          </a:prstGeom>
          <a:solidFill>
            <a:srgbClr val="F47A20">
              <a:alpha val="12000"/>
            </a:srgbClr>
          </a:solidFill>
          <a:ln w="28575">
            <a:solidFill>
              <a:srgbClr val="F47A20"/>
            </a:solidFill>
            <a:prstDash val="solid"/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1952625" y="4476750"/>
            <a:ext cx="266700" cy="266700"/>
          </a:xfrm>
          <a:prstGeom prst="ellipse">
            <a:avLst/>
          </a:prstGeom>
          <a:solidFill>
            <a:srgbClr val="F47A20"/>
          </a:solidFill>
          <a:ln w="0">
            <a:solidFill>
              <a:srgbClr val="F47A20"/>
            </a:solidFill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1952625" y="4838700"/>
            <a:ext cx="266700" cy="266700"/>
          </a:xfrm>
          <a:prstGeom prst="ellipse">
            <a:avLst/>
          </a:prstGeom>
          <a:solidFill>
            <a:srgbClr val="F47A20"/>
          </a:solidFill>
          <a:ln w="0">
            <a:solidFill>
              <a:srgbClr val="F47A20"/>
            </a:solidFill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智能体入口说明"/>
          <p:cNvSpPr>
            <a:spLocks noGrp="1"/>
          </p:cNvSpPr>
          <p:nvPr/>
        </p:nvSpPr>
        <p:spPr>
          <a:xfrm>
            <a:off x="9010650" y="1676400"/>
            <a:ext cx="2495550" cy="4543425"/>
          </a:xfrm>
          <a:prstGeom prst="roundRect">
            <a:avLst>
              <a:gd name="adj" fmla="val 4580"/>
            </a:avLst>
          </a:prstGeom>
          <a:solidFill>
            <a:srgbClr val="EFF6FC"/>
          </a:solidFill>
          <a:ln w="9525">
            <a:solidFill>
              <a:srgbClr val="C9DFF2"/>
            </a:solidFill>
            <a:prstDash val="solid"/>
          </a:ln>
        </p:spPr>
      </p:sp>
      <p:sp>
        <p:nvSpPr>
          <p:cNvPr id="35" name="入口1标题"/>
          <p:cNvSpPr>
            <a:spLocks noGrp="1"/>
          </p:cNvSpPr>
          <p:nvPr/>
        </p:nvSpPr>
        <p:spPr>
          <a:xfrm>
            <a:off x="9258300" y="19621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64F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64F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新建智能体</a:t>
            </a:r>
            <a:endParaRPr sz="1575" b="1">
              <a:solidFill>
                <a:srgbClr val="064F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入口1说明"/>
          <p:cNvSpPr>
            <a:spLocks noGrp="1"/>
          </p:cNvSpPr>
          <p:nvPr/>
        </p:nvSpPr>
        <p:spPr>
          <a:xfrm>
            <a:off x="9258300" y="2362200"/>
            <a:ext cx="19621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25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25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创建面向特定任务的 Agent，并配置工作规则、参考资料和常用问题。</a:t>
            </a:r>
            <a:endParaRPr sz="1200" b="0">
              <a:solidFill>
                <a:srgbClr val="425B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入口2标题"/>
          <p:cNvSpPr>
            <a:spLocks noGrp="1"/>
          </p:cNvSpPr>
          <p:nvPr/>
        </p:nvSpPr>
        <p:spPr>
          <a:xfrm>
            <a:off x="9258300" y="33337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064F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64F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更多智能体</a:t>
            </a:r>
            <a:endParaRPr sz="1575" b="1">
              <a:solidFill>
                <a:srgbClr val="064F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入口2说明"/>
          <p:cNvSpPr>
            <a:spLocks noGrp="1"/>
          </p:cNvSpPr>
          <p:nvPr/>
        </p:nvSpPr>
        <p:spPr>
          <a:xfrm>
            <a:off x="9258300" y="3733800"/>
            <a:ext cx="19621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25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25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查看和使用当前账号可以访问的已有 Agent。</a:t>
            </a:r>
            <a:endParaRPr sz="1200" b="0">
              <a:solidFill>
                <a:srgbClr val="425B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智能体定义标题"/>
          <p:cNvSpPr>
            <a:spLocks noGrp="1"/>
          </p:cNvSpPr>
          <p:nvPr/>
        </p:nvSpPr>
        <p:spPr>
          <a:xfrm>
            <a:off x="9258300" y="46291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是什么</a:t>
            </a:r>
            <a:endParaRPr sz="14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智能体定义"/>
          <p:cNvSpPr>
            <a:spLocks noGrp="1"/>
          </p:cNvSpPr>
          <p:nvPr/>
        </p:nvSpPr>
        <p:spPr>
          <a:xfrm>
            <a:off x="9258300" y="5010150"/>
            <a:ext cx="19621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425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25B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把一类任务的规则和资料范围预先配置好，让 Copilot 在相似任务中重复使用。</a:t>
            </a:r>
            <a:endParaRPr sz="1200" b="0">
              <a:solidFill>
                <a:srgbClr val="425B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下一步：Copilot Agent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Copilot 中的 Agent：让稳定方法可以重复使用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是 Copilot 中可以配置的功能。它把任务说明、资料范围和输出要求保存下来，供相似任务重复使用。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8763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108585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0858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6383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固定工作规则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858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把任务范围、处理步骤和输出要求预先写清楚。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: Rounded Corners 11"/>
          <p:cNvSpPr>
            <a:spLocks noGrp="1"/>
          </p:cNvSpPr>
          <p:nvPr/>
        </p:nvSpPr>
        <p:spPr>
          <a:xfrm>
            <a:off x="36385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38481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8481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4005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使用指定资料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8481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依据获准使用的文件或工作内容完成任务。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: Rounded Corners 16"/>
          <p:cNvSpPr>
            <a:spLocks noGrp="1"/>
          </p:cNvSpPr>
          <p:nvPr/>
        </p:nvSpPr>
        <p:spPr>
          <a:xfrm>
            <a:off x="64008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6610350" y="2209800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6103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1628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提供常用入口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6103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把高频问题设置成可以直接使用的 Starter prompts。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: Rounded Corners 21"/>
          <p:cNvSpPr>
            <a:spLocks noGrp="1"/>
          </p:cNvSpPr>
          <p:nvPr/>
        </p:nvSpPr>
        <p:spPr>
          <a:xfrm>
            <a:off x="91630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93726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3726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99250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先测试再分享</a:t>
            </a:r>
            <a:endParaRPr sz="16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3726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检查正常输入和信息缺失情况，再决定是否创建或分享。</a:t>
            </a:r>
            <a:endParaRPr sz="12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: Rounded Corners 26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872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下一次：进入 Agent Builder Lab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/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下一步：Copilot Agent</a:t>
            </a:r>
            <a:endParaRPr sz="1125" b="1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下次课前：带着一个真实任务和疑问来</a:t>
            </a:r>
            <a:endParaRPr sz="255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结合刚才看到的“新建智能体”和“更多智能体”，请回想自己的工作中哪些地方可能需要 Agent。带着一个真实任务和疑问参加下一次课程。</a:t>
            </a:r>
            <a:endParaRPr sz="1200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6350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167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975" b="0">
              <a:solidFill>
                <a:srgbClr val="5167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Rectangle: Rounded Corners 6"/>
          <p:cNvSpPr>
            <a:spLocks noGrp="1"/>
          </p:cNvSpPr>
          <p:nvPr/>
        </p:nvSpPr>
        <p:spPr>
          <a:xfrm>
            <a:off x="1238250" y="1952625"/>
            <a:ext cx="9715500" cy="2238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结合入口想一想</a:t>
            </a:r>
            <a:endParaRPr sz="180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743200"/>
            <a:ext cx="8667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 fontScale="95238"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我的工作中，哪一个真实任务可能需要 Agent 帮助？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我希望 Agent 在这个任务中提供什么帮助？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哪些地方我还不确定，想在下一次课程中了解？</a:t>
            </a:r>
            <a:endParaRPr sz="1425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: Rounded Corners 10"/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下一次：Agent Builder Lab  ↗</a:t>
            </a:r>
            <a:endParaRPr sz="1050" b="1">
              <a:solidFill>
                <a:srgbClr val="003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10091</Words>
  <Application>WPS 演示</Application>
  <PresentationFormat>Converted Presentation</PresentationFormat>
  <Paragraphs>900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古尼玛</cp:lastModifiedBy>
  <cp:revision>1</cp:revision>
  <dcterms:created xsi:type="dcterms:W3CDTF">2026-09-17T04:15:05Z</dcterms:created>
  <dcterms:modified xsi:type="dcterms:W3CDTF">2026-09-17T04:15:05Z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AE5D137F632C4DC99445E467DD5FCACC_12</vt:lpwstr>
  </property>
  <property fmtid="{D5CDD505-2E9C-101B-9397-08002B2CF9AE}" pid="3" name="KSOProductBuildVer">
    <vt:lpwstr>2052-12.1.0.28505</vt:lpwstr>
  </property>
</Properties>
</file>