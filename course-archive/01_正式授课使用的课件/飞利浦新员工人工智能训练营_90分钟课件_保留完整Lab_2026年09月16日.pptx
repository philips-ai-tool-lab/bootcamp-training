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9362c8d4314f59" /><Relationship Type="http://schemas.openxmlformats.org/officeDocument/2006/relationships/extended-properties" Target="/docProps/app.xml" Id="R065cf04e5ab84045" /><Relationship Type="http://schemas.openxmlformats.org/officeDocument/2006/relationships/officeDocument" Target="/ppt/presentation.xml" Id="R8b0f9698e5cb4a78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xmlns:r="http://schemas.openxmlformats.org/officeDocument/2006/relationships" id="2147483648" r:id="R17b114eff0094900"/>
  </p:sldMasterIdLst>
  <p:notesMasterIdLst>
    <p:notesMasterId xmlns:r="http://schemas.openxmlformats.org/officeDocument/2006/relationships" r:id="Rdc4345f76bce4e62"/>
  </p:notesMasterIdLst>
  <p:sldIdLst>
    <p:sldId xmlns:r="http://schemas.openxmlformats.org/officeDocument/2006/relationships" id="256" r:id="R43ce9c84bec54654"/>
    <p:sldId xmlns:r="http://schemas.openxmlformats.org/officeDocument/2006/relationships" id="257" r:id="Rc8b58e8c3c184217"/>
    <p:sldId xmlns:r="http://schemas.openxmlformats.org/officeDocument/2006/relationships" id="258" r:id="Rb0a5321644bf4e87"/>
    <p:sldId xmlns:r="http://schemas.openxmlformats.org/officeDocument/2006/relationships" id="259" r:id="Re97bf0e14d444592"/>
    <p:sldId xmlns:r="http://schemas.openxmlformats.org/officeDocument/2006/relationships" id="260" r:id="R41d879c35ef34e42"/>
    <p:sldId xmlns:r="http://schemas.openxmlformats.org/officeDocument/2006/relationships" id="261" r:id="R1b46465bb6224643"/>
    <p:sldId xmlns:r="http://schemas.openxmlformats.org/officeDocument/2006/relationships" id="262" r:id="R5169c2e946ab44d0"/>
    <p:sldId xmlns:r="http://schemas.openxmlformats.org/officeDocument/2006/relationships" id="263" r:id="Rde50af8ecabf4f7d"/>
    <p:sldId xmlns:r="http://schemas.openxmlformats.org/officeDocument/2006/relationships" id="264" r:id="Ref8cf98cc1ec4b80"/>
    <p:sldId xmlns:r="http://schemas.openxmlformats.org/officeDocument/2006/relationships" id="265" r:id="Rf63557e4cc474a0c"/>
    <p:sldId xmlns:r="http://schemas.openxmlformats.org/officeDocument/2006/relationships" id="266" r:id="Rdb6f15ca030a4c43"/>
    <p:sldId xmlns:r="http://schemas.openxmlformats.org/officeDocument/2006/relationships" id="275" r:id="Rba387283d76e44f1"/>
    <p:sldId xmlns:r="http://schemas.openxmlformats.org/officeDocument/2006/relationships" id="276" r:id="R074adc3c951447e4"/>
    <p:sldId xmlns:r="http://schemas.openxmlformats.org/officeDocument/2006/relationships" id="277" r:id="R9d2672eebf0c4cbe"/>
    <p:sldId xmlns:r="http://schemas.openxmlformats.org/officeDocument/2006/relationships" id="278" r:id="R21b9578b1d6b4582"/>
    <p:sldId xmlns:r="http://schemas.openxmlformats.org/officeDocument/2006/relationships" id="279" r:id="R38032e27e95840c4"/>
    <p:sldId xmlns:r="http://schemas.openxmlformats.org/officeDocument/2006/relationships" id="280" r:id="R8b4ab544c2b2411c"/>
    <p:sldId xmlns:r="http://schemas.openxmlformats.org/officeDocument/2006/relationships" id="281" r:id="R4418962ec78c429e"/>
    <p:sldId xmlns:r="http://schemas.openxmlformats.org/officeDocument/2006/relationships" id="282" r:id="R46ed4bc919e643e4"/>
    <p:sldId xmlns:r="http://schemas.openxmlformats.org/officeDocument/2006/relationships" id="283" r:id="R59afd6864e374196"/>
    <p:sldId xmlns:r="http://schemas.openxmlformats.org/officeDocument/2006/relationships" id="284" r:id="Rf457779fa37c44f4"/>
    <p:sldId xmlns:r="http://schemas.openxmlformats.org/officeDocument/2006/relationships" id="285" r:id="R1ba3ea1f4b774166"/>
    <p:sldId xmlns:r="http://schemas.openxmlformats.org/officeDocument/2006/relationships" id="286" r:id="Ra57030ed61a74bef"/>
    <p:sldId xmlns:r="http://schemas.openxmlformats.org/officeDocument/2006/relationships" id="287" r:id="Rec3ceca538024f09"/>
    <p:sldId xmlns:r="http://schemas.openxmlformats.org/officeDocument/2006/relationships" id="288" r:id="R1a06ecca04f64b26"/>
    <p:sldId xmlns:r="http://schemas.openxmlformats.org/officeDocument/2006/relationships" id="289" r:id="R0be287305bb04be0"/>
    <p:sldId xmlns:r="http://schemas.openxmlformats.org/officeDocument/2006/relationships" id="290" r:id="Rdec13ecca53a4d1c"/>
    <p:sldId xmlns:r="http://schemas.openxmlformats.org/officeDocument/2006/relationships" id="291" r:id="Re37e8377d14644ec"/>
    <p:sldId xmlns:r="http://schemas.openxmlformats.org/officeDocument/2006/relationships" id="292" r:id="Rdc44fb0399d74ac6"/>
    <p:sldId xmlns:r="http://schemas.openxmlformats.org/officeDocument/2006/relationships" id="293" r:id="Rc0fc2ef0cd664a76"/>
    <p:sldId xmlns:r="http://schemas.openxmlformats.org/officeDocument/2006/relationships" id="294" r:id="Rc6895e500f244bb1"/>
    <p:sldId xmlns:r="http://schemas.openxmlformats.org/officeDocument/2006/relationships" id="295" r:id="R2263b729641d421e"/>
    <p:sldId xmlns:r="http://schemas.openxmlformats.org/officeDocument/2006/relationships" id="296" r:id="R166fcf64301e47b9"/>
    <p:sldId xmlns:r="http://schemas.openxmlformats.org/officeDocument/2006/relationships" id="297" r:id="Rc50ffa967e1144ab"/>
    <p:sldId xmlns:r="http://schemas.openxmlformats.org/officeDocument/2006/relationships" id="298" r:id="Rf3bd3da0123d42be"/>
    <p:sldId xmlns:r="http://schemas.openxmlformats.org/officeDocument/2006/relationships" id="299" r:id="Rf8f5d905dca04447"/>
    <p:sldId xmlns:r="http://schemas.openxmlformats.org/officeDocument/2006/relationships" id="300" r:id="Rb264e5c9bfcf48f4"/>
    <p:sldId xmlns:r="http://schemas.openxmlformats.org/officeDocument/2006/relationships" id="301" r:id="Re7af463e061f42f1"/>
    <p:sldId xmlns:r="http://schemas.openxmlformats.org/officeDocument/2006/relationships" id="307" r:id="Rd24f4a576a3c4b09"/>
    <p:sldId xmlns:r="http://schemas.openxmlformats.org/officeDocument/2006/relationships" id="302" r:id="R64bd48f4300e4a38"/>
    <p:sldId xmlns:r="http://schemas.openxmlformats.org/officeDocument/2006/relationships" id="303" r:id="Rc7e507cb89ae45c5"/>
    <p:sldId xmlns:r="http://schemas.openxmlformats.org/officeDocument/2006/relationships" id="304" r:id="Rcb7fc43f1f1d44b6"/>
    <p:sldId xmlns:r="http://schemas.openxmlformats.org/officeDocument/2006/relationships" id="305" r:id="R4db73102df264727"/>
    <p:sldId xmlns:r="http://schemas.openxmlformats.org/officeDocument/2006/relationships" id="306" r:id="R7ed2c15731c44151"/>
    <p:sldId xmlns:r="http://schemas.openxmlformats.org/officeDocument/2006/relationships" id="308" r:id="R07b9c783e8fa4af8"/>
    <p:sldId xmlns:r="http://schemas.openxmlformats.org/officeDocument/2006/relationships" id="309" r:id="R9dd1ccab537444de"/>
    <p:sldId xmlns:r="http://schemas.openxmlformats.org/officeDocument/2006/relationships" id="310" r:id="R05b9ebdaeca249be"/>
    <p:sldId xmlns:r="http://schemas.openxmlformats.org/officeDocument/2006/relationships" id="311" r:id="R891e9eb570104b15"/>
    <p:sldId xmlns:r="http://schemas.openxmlformats.org/officeDocument/2006/relationships" id="312" r:id="Rb2ed024f7c144422"/>
    <p:sldId xmlns:r="http://schemas.openxmlformats.org/officeDocument/2006/relationships" id="313" r:id="R19a1310457964937"/>
    <p:sldId xmlns:r="http://schemas.openxmlformats.org/officeDocument/2006/relationships" id="314" r:id="R9ce55a1ed6b24ac1"/>
    <p:sldId xmlns:r="http://schemas.openxmlformats.org/officeDocument/2006/relationships" id="315" r:id="R00d08b21506d433f"/>
    <p:sldId xmlns:r="http://schemas.openxmlformats.org/officeDocument/2006/relationships" id="316" r:id="R1f42045a36294d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14a04d007dc94a93"/><Relationship Type="http://schemas.openxmlformats.org/officeDocument/2006/relationships/slideMaster" Target="/ppt/slideMasters/slideMaster1.xml" Id="R17b114eff0094900"/><Relationship Type="http://schemas.openxmlformats.org/officeDocument/2006/relationships/notesMaster" Target="/ppt/notesMasters/notesMaster1.xml" Id="Rdc4345f76bce4e62"/><Relationship Type="http://schemas.openxmlformats.org/officeDocument/2006/relationships/presProps" Target="/ppt/presProps.xml" Id="R3d18d66907db4b7e"/><Relationship Type="http://schemas.openxmlformats.org/officeDocument/2006/relationships/viewProps" Target="/ppt/viewProps.xml" Id="R71f519ff8ff240e7"/><Relationship Type="http://schemas.openxmlformats.org/officeDocument/2006/relationships/tableStyles" Target="/ppt/tableStyles.xml" Id="R33df2456b7c74d04"/><Relationship Type="http://schemas.openxmlformats.org/officeDocument/2006/relationships/slide" Target="/ppt/slides/slide1.xml" Id="R43ce9c84bec54654"/><Relationship Type="http://schemas.openxmlformats.org/officeDocument/2006/relationships/slide" Target="/ppt/slides/slide2.xml" Id="Rc8b58e8c3c184217"/><Relationship Type="http://schemas.openxmlformats.org/officeDocument/2006/relationships/slide" Target="/ppt/slides/slide3.xml" Id="Rb0a5321644bf4e87"/><Relationship Type="http://schemas.openxmlformats.org/officeDocument/2006/relationships/slide" Target="/ppt/slides/slide4.xml" Id="Re97bf0e14d444592"/><Relationship Type="http://schemas.openxmlformats.org/officeDocument/2006/relationships/slide" Target="/ppt/slides/slide5.xml" Id="R41d879c35ef34e42"/><Relationship Type="http://schemas.openxmlformats.org/officeDocument/2006/relationships/slide" Target="/ppt/slides/slide6.xml" Id="R1b46465bb6224643"/><Relationship Type="http://schemas.openxmlformats.org/officeDocument/2006/relationships/slide" Target="/ppt/slides/slide7.xml" Id="R5169c2e946ab44d0"/><Relationship Type="http://schemas.openxmlformats.org/officeDocument/2006/relationships/slide" Target="/ppt/slides/slide8.xml" Id="Rde50af8ecabf4f7d"/><Relationship Type="http://schemas.openxmlformats.org/officeDocument/2006/relationships/slide" Target="/ppt/slides/slide9.xml" Id="Ref8cf98cc1ec4b80"/><Relationship Type="http://schemas.openxmlformats.org/officeDocument/2006/relationships/slide" Target="/ppt/slides/slide10.xml" Id="Rf63557e4cc474a0c"/><Relationship Type="http://schemas.openxmlformats.org/officeDocument/2006/relationships/slide" Target="/ppt/slides/slide11.xml" Id="Rdb6f15ca030a4c43"/><Relationship Type="http://schemas.openxmlformats.org/officeDocument/2006/relationships/slide" Target="/ppt/slides/slide20.xml" Id="Rba387283d76e44f1"/><Relationship Type="http://schemas.openxmlformats.org/officeDocument/2006/relationships/slide" Target="/ppt/slides/slide21.xml" Id="R074adc3c951447e4"/><Relationship Type="http://schemas.openxmlformats.org/officeDocument/2006/relationships/slide" Target="/ppt/slides/slide22.xml" Id="R9d2672eebf0c4cbe"/><Relationship Type="http://schemas.openxmlformats.org/officeDocument/2006/relationships/slide" Target="/ppt/slides/slide23.xml" Id="R21b9578b1d6b4582"/><Relationship Type="http://schemas.openxmlformats.org/officeDocument/2006/relationships/slide" Target="/ppt/slides/slide24.xml" Id="R38032e27e95840c4"/><Relationship Type="http://schemas.openxmlformats.org/officeDocument/2006/relationships/slide" Target="/ppt/slides/slide25.xml" Id="R8b4ab544c2b2411c"/><Relationship Type="http://schemas.openxmlformats.org/officeDocument/2006/relationships/slide" Target="/ppt/slides/slide26.xml" Id="R4418962ec78c429e"/><Relationship Type="http://schemas.openxmlformats.org/officeDocument/2006/relationships/slide" Target="/ppt/slides/slide27.xml" Id="R46ed4bc919e643e4"/><Relationship Type="http://schemas.openxmlformats.org/officeDocument/2006/relationships/slide" Target="/ppt/slides/slide28.xml" Id="R59afd6864e374196"/><Relationship Type="http://schemas.openxmlformats.org/officeDocument/2006/relationships/slide" Target="/ppt/slides/slide29.xml" Id="Rf457779fa37c44f4"/><Relationship Type="http://schemas.openxmlformats.org/officeDocument/2006/relationships/slide" Target="/ppt/slides/slide30.xml" Id="R1ba3ea1f4b774166"/><Relationship Type="http://schemas.openxmlformats.org/officeDocument/2006/relationships/slide" Target="/ppt/slides/slide31.xml" Id="Ra57030ed61a74bef"/><Relationship Type="http://schemas.openxmlformats.org/officeDocument/2006/relationships/slide" Target="/ppt/slides/slide32.xml" Id="Rec3ceca538024f09"/><Relationship Type="http://schemas.openxmlformats.org/officeDocument/2006/relationships/slide" Target="/ppt/slides/slide33.xml" Id="R1a06ecca04f64b26"/><Relationship Type="http://schemas.openxmlformats.org/officeDocument/2006/relationships/slide" Target="/ppt/slides/slide34.xml" Id="R0be287305bb04be0"/><Relationship Type="http://schemas.openxmlformats.org/officeDocument/2006/relationships/slide" Target="/ppt/slides/slide35.xml" Id="Rdec13ecca53a4d1c"/><Relationship Type="http://schemas.openxmlformats.org/officeDocument/2006/relationships/slide" Target="/ppt/slides/slide36.xml" Id="Re37e8377d14644ec"/><Relationship Type="http://schemas.openxmlformats.org/officeDocument/2006/relationships/slide" Target="/ppt/slides/slide37.xml" Id="Rdc44fb0399d74ac6"/><Relationship Type="http://schemas.openxmlformats.org/officeDocument/2006/relationships/slide" Target="/ppt/slides/slide38.xml" Id="Rc0fc2ef0cd664a76"/><Relationship Type="http://schemas.openxmlformats.org/officeDocument/2006/relationships/slide" Target="/ppt/slides/slide39.xml" Id="Rc6895e500f244bb1"/><Relationship Type="http://schemas.openxmlformats.org/officeDocument/2006/relationships/slide" Target="/ppt/slides/slide40.xml" Id="R2263b729641d421e"/><Relationship Type="http://schemas.openxmlformats.org/officeDocument/2006/relationships/slide" Target="/ppt/slides/slide41.xml" Id="R166fcf64301e47b9"/><Relationship Type="http://schemas.openxmlformats.org/officeDocument/2006/relationships/slide" Target="/ppt/slides/slide42.xml" Id="Rc50ffa967e1144ab"/><Relationship Type="http://schemas.openxmlformats.org/officeDocument/2006/relationships/slide" Target="/ppt/slides/slide43.xml" Id="Rf3bd3da0123d42be"/><Relationship Type="http://schemas.openxmlformats.org/officeDocument/2006/relationships/slide" Target="/ppt/slides/slide44.xml" Id="Rf8f5d905dca04447"/><Relationship Type="http://schemas.openxmlformats.org/officeDocument/2006/relationships/slide" Target="/ppt/slides/slide45.xml" Id="Rb264e5c9bfcf48f4"/><Relationship Type="http://schemas.openxmlformats.org/officeDocument/2006/relationships/slide" Target="/ppt/slides/slide46.xml" Id="Re7af463e061f42f1"/><Relationship Type="http://schemas.openxmlformats.org/officeDocument/2006/relationships/slide" Target="/ppt/slides/slide47.xml" Id="R64bd48f4300e4a38"/><Relationship Type="http://schemas.openxmlformats.org/officeDocument/2006/relationships/slide" Target="/ppt/slides/slide48.xml" Id="Rc7e507cb89ae45c5"/><Relationship Type="http://schemas.openxmlformats.org/officeDocument/2006/relationships/slide" Target="/ppt/slides/slide49.xml" Id="Rcb7fc43f1f1d44b6"/><Relationship Type="http://schemas.openxmlformats.org/officeDocument/2006/relationships/slide" Target="/ppt/slides/slide50.xml" Id="R4db73102df264727"/><Relationship Type="http://schemas.openxmlformats.org/officeDocument/2006/relationships/slide" Target="/ppt/slides/slide51.xml" Id="R7ed2c15731c44151"/><Relationship Type="http://schemas.openxmlformats.org/officeDocument/2006/relationships/slide" Target="/ppt/slides/slide52.xml" Id="Rd24f4a576a3c4b09"/><Relationship Type="http://schemas.openxmlformats.org/officeDocument/2006/relationships/slide" Target="/ppt/slides/slide53.xml" Id="R07b9c783e8fa4af8"/><Relationship Type="http://schemas.openxmlformats.org/officeDocument/2006/relationships/slide" Target="/ppt/slides/slide54.xml" Id="R9dd1ccab537444de"/><Relationship Type="http://schemas.openxmlformats.org/officeDocument/2006/relationships/slide" Target="/ppt/slides/slide55.xml" Id="R05b9ebdaeca249be"/><Relationship Type="http://schemas.openxmlformats.org/officeDocument/2006/relationships/slide" Target="/ppt/slides/slide56.xml" Id="R891e9eb570104b15"/><Relationship Type="http://schemas.openxmlformats.org/officeDocument/2006/relationships/slide" Target="/ppt/slides/slide57.xml" Id="Rb2ed024f7c144422"/><Relationship Type="http://schemas.openxmlformats.org/officeDocument/2006/relationships/slide" Target="/ppt/slides/slide58.xml" Id="R19a1310457964937"/><Relationship Type="http://schemas.openxmlformats.org/officeDocument/2006/relationships/slide" Target="/ppt/slides/slide59.xml" Id="R9ce55a1ed6b24ac1"/><Relationship Type="http://schemas.openxmlformats.org/officeDocument/2006/relationships/slide" Target="/ppt/slides/slide60.xml" Id="R00d08b21506d433f"/><Relationship Type="http://schemas.openxmlformats.org/officeDocument/2006/relationships/slide" Target="/ppt/slides/slide61.xml" Id="R1f42045a36294db1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9aade8541d4e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614465eeeb474d" /><Relationship Type="http://schemas.openxmlformats.org/officeDocument/2006/relationships/notesMaster" Target="/ppt/notesMasters/notesMaster1.xml" Id="R51db6b2e74b241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52584e189b4809" /><Relationship Type="http://schemas.openxmlformats.org/officeDocument/2006/relationships/notesMaster" Target="/ppt/notesMasters/notesMaster1.xml" Id="Re935316010aa47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819e84501b4216" /><Relationship Type="http://schemas.openxmlformats.org/officeDocument/2006/relationships/notesMaster" Target="/ppt/notesMasters/notesMaster1.xml" Id="R2a9e180ddc3545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106ce8f6e34550" /><Relationship Type="http://schemas.openxmlformats.org/officeDocument/2006/relationships/notesMaster" Target="/ppt/notesMasters/notesMaster1.xml" Id="R5f05516f99c547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687cc333374441" /><Relationship Type="http://schemas.openxmlformats.org/officeDocument/2006/relationships/notesMaster" Target="/ppt/notesMasters/notesMaster1.xml" Id="R8e7ca712585342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99b651cf594f6a" /><Relationship Type="http://schemas.openxmlformats.org/officeDocument/2006/relationships/notesMaster" Target="/ppt/notesMasters/notesMaster1.xml" Id="Raca519f01d4245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2e65296a3f4385" /><Relationship Type="http://schemas.openxmlformats.org/officeDocument/2006/relationships/notesMaster" Target="/ppt/notesMasters/notesMaster1.xml" Id="R201be1053ddd42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336830d0504677" /><Relationship Type="http://schemas.openxmlformats.org/officeDocument/2006/relationships/notesMaster" Target="/ppt/notesMasters/notesMaster1.xml" Id="R618350c7b56c40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c59668cb564cbf" /><Relationship Type="http://schemas.openxmlformats.org/officeDocument/2006/relationships/notesMaster" Target="/ppt/notesMasters/notesMaster1.xml" Id="R7254b8bef4ea42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9760bf76064d2d" /><Relationship Type="http://schemas.openxmlformats.org/officeDocument/2006/relationships/notesMaster" Target="/ppt/notesMasters/notesMaster1.xml" Id="R0c6691b11c2a42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0c4eb11a3c4c47" /><Relationship Type="http://schemas.openxmlformats.org/officeDocument/2006/relationships/notesMaster" Target="/ppt/notesMasters/notesMaster1.xml" Id="Raea19c9045724e4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d202d1c65744b5b" /><Relationship Type="http://schemas.openxmlformats.org/officeDocument/2006/relationships/notesMaster" Target="/ppt/notesMasters/notesMaster1.xml" Id="R3911a6559d0445b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c3beb63ad074fc2" /><Relationship Type="http://schemas.openxmlformats.org/officeDocument/2006/relationships/notesMaster" Target="/ppt/notesMasters/notesMaster1.xml" Id="R23f082070c1242c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926a535cab34fe4" /><Relationship Type="http://schemas.openxmlformats.org/officeDocument/2006/relationships/notesMaster" Target="/ppt/notesMasters/notesMaster1.xml" Id="Rfc0288bf062f4f3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fd05623d779466c" /><Relationship Type="http://schemas.openxmlformats.org/officeDocument/2006/relationships/notesMaster" Target="/ppt/notesMasters/notesMaster1.xml" Id="R3fc539a517df48c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029af2f04c941e4" /><Relationship Type="http://schemas.openxmlformats.org/officeDocument/2006/relationships/notesMaster" Target="/ppt/notesMasters/notesMaster1.xml" Id="R222b9d7e5be8457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b194c4b330a423d" /><Relationship Type="http://schemas.openxmlformats.org/officeDocument/2006/relationships/notesMaster" Target="/ppt/notesMasters/notesMaster1.xml" Id="R400cfffa9489471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acc1499a7764678" /><Relationship Type="http://schemas.openxmlformats.org/officeDocument/2006/relationships/notesMaster" Target="/ppt/notesMasters/notesMaster1.xml" Id="Rd797bf83dcc5431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58e443d74754d20" /><Relationship Type="http://schemas.openxmlformats.org/officeDocument/2006/relationships/notesMaster" Target="/ppt/notesMasters/notesMaster1.xml" Id="R40ceaaf74ac34e2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1fd29a485664105" /><Relationship Type="http://schemas.openxmlformats.org/officeDocument/2006/relationships/notesMaster" Target="/ppt/notesMasters/notesMaster1.xml" Id="R6ed3e278c9c24c5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ece937bc81e4754" /><Relationship Type="http://schemas.openxmlformats.org/officeDocument/2006/relationships/notesMaster" Target="/ppt/notesMasters/notesMaster1.xml" Id="Rf990a0d6327d4f1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e56fc13e4634037" /><Relationship Type="http://schemas.openxmlformats.org/officeDocument/2006/relationships/notesMaster" Target="/ppt/notesMasters/notesMaster1.xml" Id="R2d700f698d134a8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98fb70b2f8c4510" /><Relationship Type="http://schemas.openxmlformats.org/officeDocument/2006/relationships/notesMaster" Target="/ppt/notesMasters/notesMaster1.xml" Id="R66ac3f502929429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250589eb8c74fa8" /><Relationship Type="http://schemas.openxmlformats.org/officeDocument/2006/relationships/notesMaster" Target="/ppt/notesMasters/notesMaster1.xml" Id="Rde698b4c920f494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6c754da747c4cf6" /><Relationship Type="http://schemas.openxmlformats.org/officeDocument/2006/relationships/notesMaster" Target="/ppt/notesMasters/notesMaster1.xml" Id="R43b377f228e7416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1d51c7e61674ecf" /><Relationship Type="http://schemas.openxmlformats.org/officeDocument/2006/relationships/notesMaster" Target="/ppt/notesMasters/notesMaster1.xml" Id="R08e5fca99abc454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7603a265a7f4d48" /><Relationship Type="http://schemas.openxmlformats.org/officeDocument/2006/relationships/notesMaster" Target="/ppt/notesMasters/notesMaster1.xml" Id="R3d9dc4e3843f4b5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409a4f67b314025" /><Relationship Type="http://schemas.openxmlformats.org/officeDocument/2006/relationships/notesMaster" Target="/ppt/notesMasters/notesMaster1.xml" Id="R14d1dd8d7cb449e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dca9b4d1f0c4e44" /><Relationship Type="http://schemas.openxmlformats.org/officeDocument/2006/relationships/notesMaster" Target="/ppt/notesMasters/notesMaster1.xml" Id="Rd339c09844fc42b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97133e790544386" /><Relationship Type="http://schemas.openxmlformats.org/officeDocument/2006/relationships/notesMaster" Target="/ppt/notesMasters/notesMaster1.xml" Id="Re5b6eb3f585c4f1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590402b62c04273" /><Relationship Type="http://schemas.openxmlformats.org/officeDocument/2006/relationships/notesMaster" Target="/ppt/notesMasters/notesMaster1.xml" Id="R468d47a3aae645e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b1d7405bac341dd" /><Relationship Type="http://schemas.openxmlformats.org/officeDocument/2006/relationships/notesMaster" Target="/ppt/notesMasters/notesMaster1.xml" Id="R5fcccc28bb2e46b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bd171f7df0c49a0" /><Relationship Type="http://schemas.openxmlformats.org/officeDocument/2006/relationships/notesMaster" Target="/ppt/notesMasters/notesMaster1.xml" Id="Rcd0bdb3f969c441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d157845e1fa42a3" /><Relationship Type="http://schemas.openxmlformats.org/officeDocument/2006/relationships/notesMaster" Target="/ppt/notesMasters/notesMaster1.xml" Id="R34dd00dba7aa4df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e5b4a012ac8462e" /><Relationship Type="http://schemas.openxmlformats.org/officeDocument/2006/relationships/notesMaster" Target="/ppt/notesMasters/notesMaster1.xml" Id="R8eae6cb20b904d5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5316faba08a4c5b" /><Relationship Type="http://schemas.openxmlformats.org/officeDocument/2006/relationships/notesMaster" Target="/ppt/notesMasters/notesMaster1.xml" Id="R84ad269a4f2343b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bf44a07011b457a" /><Relationship Type="http://schemas.openxmlformats.org/officeDocument/2006/relationships/notesMaster" Target="/ppt/notesMasters/notesMaster1.xml" Id="Rd8c1e03bc4734b3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54bc736c8e3449a" /><Relationship Type="http://schemas.openxmlformats.org/officeDocument/2006/relationships/notesMaster" Target="/ppt/notesMasters/notesMaster1.xml" Id="Rb4e11b9cb73c4f2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97cb5cb304444edc" /><Relationship Type="http://schemas.openxmlformats.org/officeDocument/2006/relationships/notesMaster" Target="/ppt/notesMasters/notesMaster1.xml" Id="R1d81450870ab462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6f419fc542c4b48" /><Relationship Type="http://schemas.openxmlformats.org/officeDocument/2006/relationships/notesMaster" Target="/ppt/notesMasters/notesMaster1.xml" Id="Ra2d296d6fe1b4aad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516cea53a1924c1f" /><Relationship Type="http://schemas.openxmlformats.org/officeDocument/2006/relationships/notesMaster" Target="/ppt/notesMasters/notesMaster1.xml" Id="Ra319212dc30a465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54dc5e4b967b460c" /><Relationship Type="http://schemas.openxmlformats.org/officeDocument/2006/relationships/notesMaster" Target="/ppt/notesMasters/notesMaster1.xml" Id="Rb737b72d9396432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d11e4028ad1d4dc0" /><Relationship Type="http://schemas.openxmlformats.org/officeDocument/2006/relationships/notesMaster" Target="/ppt/notesMasters/notesMaster1.xml" Id="R29e166ce5a094663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d19831a6d3c4330" /><Relationship Type="http://schemas.openxmlformats.org/officeDocument/2006/relationships/notesMaster" Target="/ppt/notesMasters/notesMaster1.xml" Id="R43abaadb1bfa4e82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0282806641054d5f" /><Relationship Type="http://schemas.openxmlformats.org/officeDocument/2006/relationships/notesMaster" Target="/ppt/notesMasters/notesMaster1.xml" Id="R73880c42137d4f02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22a863b5659d427d" /><Relationship Type="http://schemas.openxmlformats.org/officeDocument/2006/relationships/notesMaster" Target="/ppt/notesMasters/notesMaster1.xml" Id="R9f93b0147186491c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b3188668bc5943c9" /><Relationship Type="http://schemas.openxmlformats.org/officeDocument/2006/relationships/notesMaster" Target="/ppt/notesMasters/notesMaster1.xml" Id="R94d8801738304216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c5cca7797dda4021" /><Relationship Type="http://schemas.openxmlformats.org/officeDocument/2006/relationships/notesMaster" Target="/ppt/notesMasters/notesMaster1.xml" Id="R7fe42dd378bd4491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6d9948403970492e" /><Relationship Type="http://schemas.openxmlformats.org/officeDocument/2006/relationships/notesMaster" Target="/ppt/notesMasters/notesMaster1.xml" Id="Rafa8af5c03bb4ed0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438e25c40b6a4b24" /><Relationship Type="http://schemas.openxmlformats.org/officeDocument/2006/relationships/notesMaster" Target="/ppt/notesMasters/notesMaster1.xml" Id="R55ec88adb4c04ccf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080647861e5147d5" /><Relationship Type="http://schemas.openxmlformats.org/officeDocument/2006/relationships/notesMaster" Target="/ppt/notesMasters/notesMaster1.xml" Id="Rc01b4bb7e58e440c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c0e04bbe88d74a06" /><Relationship Type="http://schemas.openxmlformats.org/officeDocument/2006/relationships/notesMaster" Target="/ppt/notesMasters/notesMaster1.xml" Id="Rf9cb88311638438b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97aa8b974f86453f" /><Relationship Type="http://schemas.openxmlformats.org/officeDocument/2006/relationships/notesMaster" Target="/ppt/notesMasters/notesMaster1.xml" Id="R49335e53d44f449c" 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一场90分钟。0–5分钟：介绍与学习路径。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一场90分钟。0–5分钟：介绍与学习路径。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[Updated] Jul. townhall AI slide.pptx — slide 1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一场90分钟。0–5分钟：介绍与学习路径。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Philips AI strategy material already cited on slide 2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一场90分钟。0–5分钟：介绍与学习路径。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一场90分钟。0–5分钟：介绍与学习路径。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一场90分钟。5–11分钟：AI方向与企业入口。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https://www.aigateway.ai.inside.philips.com/</a:t>
            </a:r>
          </a:p>
          <a:p>
            <a:r>
              <a:t>https://m365.cloud.microsoft/</a:t>
            </a:r>
          </a:p>
          <a:p>
            <a:r>
              <a:t>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一场90分钟。5–11分钟：AI方向与企业入口。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User-provided sustainability-ai-strategy-one-pager.pptx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一场90分钟。5–11分钟：AI方向与企业入口。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User-provided sustainability-ai-strategy-one-pager.pptx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一场90分钟。5–11分钟：AI方向与企业入口。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User-provided sustainability-ai-strategy-one-pager.pptx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一场90分钟。5–11分钟：AI方向与企业入口。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[Updated] Jul. townhall AI slide.pptx — slide 2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一场90分钟。5–11分钟：AI方向与企业入口。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GCR AI roadmap material already cited on slide 8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一场90分钟。11–15分钟：AI Ambassador支持网络。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https://www.aigateway.ai.inside.philips.com/</a:t>
            </a:r>
          </a:p>
          <a:p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一场90分钟。11–15分钟：AI Ambassador支持网络。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[Updated] Jul. townhall AI slide.pptx — slide 3</a:t>
            </a:r>
          </a:p>
          <a:p>
            <a:r>
              <a:t>- https://www.aigateway.ai.inside.philips.com/</a:t>
            </a:r>
          </a:p>
          <a:p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一场90分钟。11–15分钟：AI Ambassador支持网络。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GCR AI Network role material already cited on slide 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一场90分钟。11–15分钟：AI Ambassador支持网络。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User-provided GCR AI Ambassador image</a:t>
            </a:r>
          </a:p>
          <a:p>
            <a:r>
              <a:t>- https://www.aigateway.ai.inside.philips.com/</a:t>
            </a:r>
          </a:p>
          <a:p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一场90分钟。15–19分钟：学习入口与通用任务。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https://aiskillsnavigator.microsoft.com/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一场90分钟。15–19分钟：学习入口与通用任务。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User-provided AI Skills Navigator screenshot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一场90分钟。15–19分钟：学习入口与通用任务。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User-provided AI Skills Navigator screenshot</a:t>
            </a:r>
          </a:p>
          <a:p>
            <a:r>
              <a:t>- https://aiskillsnavigator.microsoft.com/playlists/291ff1ba-c754-44f1-9814-ef8917f8c989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一场90分钟。15–19分钟：学习入口与通用任务。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User-provided AI Skills Navigator screenshot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一场90分钟。15–19分钟：学习入口与通用任务。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一场90分钟。15–19分钟：学习入口与通用任务。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Microsoft MS-4004 playlist already cited on slide 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一场90分钟。15–19分钟：学习入口与通用任务。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一场90分钟。15–19分钟：学习入口与通用任务。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Microsoft 365 Copilot workflow summarized from slides 19–23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一场90分钟。19–24分钟：绿色办公周资料与提示词。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https://m365.cloud.microsoft/chat</a:t>
            </a:r>
          </a:p>
          <a:p>
            <a:r>
              <a:t>- Local fictional Green Office Week training 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一场90分钟。19–24分钟：绿色办公周资料与提示词。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Green Office Week fictional training files described on slides 24–27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一场90分钟。19–24分钟：绿色办公周资料与提示词。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Local fictional Green Office Week Project Brief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一场90分钟。19–24分钟：绿色办公周资料与提示词。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Local fictional Green Office Week Meeting Notes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一场90分钟。19–24分钟：绿色办公周资料与提示词。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Local fictional Green Office Week Timeline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一场90分钟。19–24分钟：绿色办公周资料与提示词。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一场90分钟。19–24分钟：绿色办公周资料与提示词。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Green Office Week fictional training prompt structure on slide 28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一场90分钟。24–29分钟：Copilot现场演示与检查。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User-provided M365 Copilot screenshot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一场90分钟。24–29分钟：Copilot现场演示与检查。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一场90分钟。24–29分钟：Copilot现场演示与检查。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Green Office Week fictional training workflow on slides 24–30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一场90分钟。29–37分钟：8分钟独立练习。原42–43为同一练习环节，不重复计时。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一场90分钟。29–37分钟：8分钟独立练习。原42–43为同一练习环节，不重复计时。</a:t>
            </a:r>
          </a:p>
          <a:p>
            <a:r>
              <a:t/>
            </a:r>
          </a:p>
          <a:p>
            <a:r>
              <a:t>讲解提示：这是示例提示词，不是唯一写法。重点是把背景、任务、输出和约束说清楚。</a:t>
            </a:r>
          </a:p>
          <a:p>
            <a:r>
              <a:t>[Sources]</a:t>
            </a:r>
          </a:p>
          <a:p>
            <a:r>
              <a:t>- Bootcamp_AI培训资料汇总_20260820/02_Copilot日常实操案例/01_绿色办公周_项目简介_虚构数据.txt</a:t>
            </a:r>
          </a:p>
          <a:p>
            <a:r>
              <a:t>- Bootcamp_AI培训资料汇总_20260820/02_Copilot日常实操案例/02_绿色办公周_会议纪要_虚构数据.txt</a:t>
            </a:r>
          </a:p>
          <a:p>
            <a:r>
              <a:t>- Bootcamp_AI培训资料汇总_20260820/02_Copilot日常实操案例/03_绿色办公周_时间表_虚构数据.txt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一场90分钟。37–40分钟：核查冲突、缺失信息与资料状态。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Green Office Week fictional training files and example prompt on slides 24–32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一场90分钟。40–50分钟：AI Tool Lab、通用流程及原四个业务场景概览。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https://philips-ai-tool-lab.github.io/ai-tool-lab-preview/</a:t>
            </a:r>
          </a:p>
          <a:p>
            <a:r>
              <a:t>- https://philips-ai-tool-lab.github.io/ai-tool-lab-preview/#agent-builder-path</a:t>
            </a:r>
          </a:p>
          <a:p>
            <a:r>
              <a:t>- https://m365.cloud.microsoft/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一场90分钟。40–50分钟：AI Tool Lab、通用流程及原四个业务场景概览。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https://philips-ai-tool-lab.github.io/ai-tool-lab-preview/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一场90分钟。40–50分钟：AI Tool Lab、通用流程及原四个业务场景概览。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https://philips-ai-tool-lab.github.io/ai-tool-lab-preview/labs/chief-of-staff/</a:t>
            </a:r>
          </a:p>
          <a:p>
            <a:r>
              <a:t>- https://philips-ai-tool-lab.github.io/ai-tool-lab-preview/labs/product-manual-faq/</a:t>
            </a:r>
          </a:p>
          <a:p>
            <a:r>
              <a:t>- https://philips-ai-tool-lab.github.io/ai-tool-lab-preview/labs/meeting-follow-up/</a:t>
            </a:r>
          </a:p>
          <a:p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一场90分钟。40–50分钟：AI Tool Lab、通用流程及原四个业务场景概览。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https://philips-ai-tool-lab.github.io/ai-tool-lab-preview/labs/chief-of-staff/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一场90分钟。40–50分钟：AI Tool Lab、通用流程及原四个业务场景概览。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https://philips-ai-tool-lab.github.io/ai-tool-lab-preview/labs/product-manual-faq/</a:t>
            </a:r>
          </a:p>
          <a:p>
            <a:r>
              <a:t>- Current site screenshot: lab2-product-manual-new-ui.png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一场90分钟。40–50分钟：AI Tool Lab、通用流程及原四个业务场景概览。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https://philips-ai-tool-lab.github.io/ai-tool-lab-preview/labs/meeting-follow-up/</a:t>
            </a:r>
          </a:p>
          <a:p>
            <a:r>
              <a:t>- Current site screenshot: lab3-add-knowledge-full-ui.png</a:t>
            </a:r>
          </a:p>
          <a:p>
            <a:r>
              <a:t>配图：既有培训资源 lab3-add-knowledge-full-ui.png，展示添加知识源入口及候选文件。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一场90分钟。40–50分钟：AI Tool Lab、通用流程及原四个业务场景概览。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https://philips-ai-tool-lab.github.io/ai-tool-lab-preview/labs/funnel-data-analyst/</a:t>
            </a:r>
          </a:p>
          <a:p>
            <a:r>
              <a:t>- Current site screenshot: lab4-funnel-attachments-new-ui.png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一场90分钟。40–50分钟：AI Tool Lab、通用流程及原四个业务场景概览。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一场90分钟。50–65分钟：讲师完整演示Lab03会议跟进助手，结合步骤页操作。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https://philips-ai-tool-lab.github.io/ai-tool-lab-preview/#agent-builder-path</a:t>
            </a:r>
          </a:p>
          <a:p>
            <a:r>
              <a:t>- https://m365.cloud.microsoft/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一场90分钟。50–65分钟：讲师完整演示Lab03会议跟进助手，结合步骤页操作。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一场90分钟。50–65分钟：讲师完整演示Lab03会议跟进助手，结合步骤页操作。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一场90分钟。50–65分钟：讲师完整演示Lab03会议跟进助手，结合步骤页操作。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https://philips-ai-tool-lab.github.io/ai-tool-lab-preview/#agent-builder-path</a:t>
            </a:r>
          </a:p>
          <a:p>
            <a:r>
              <a:t>- https://philips-ai-tool-lab.github.io/ai-tool-lab-preview/labs/product-manual-faq/</a:t>
            </a:r>
          </a:p>
          <a:p>
            <a:r>
              <a:t>- https://philips-ai-tool-lab.github.io/ai-tool-lab-preview/labs/meeting-follow-up/</a:t>
            </a:r>
          </a:p>
          <a:p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一场90分钟。50–65分钟：讲师完整演示Lab03会议跟进助手，结合步骤页操作。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https://philips-ai-tool-lab.github.io/ai-tool-lab-preview/labs/meeting-follow-up/</a:t>
            </a:r>
          </a:p>
          <a:p>
            <a:r>
              <a:t>- Current site screenshot: lab3-add-knowledge-picker-ui.png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一场90分钟。50–65分钟：讲师完整演示Lab03会议跟进助手，结合步骤页操作。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一场90分钟。50–65分钟：讲师完整演示Lab03会议跟进助手，结合步骤页操作。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https://philips-ai-tool-lab.github.io/ai-tool-lab-preview/#agent-builder-path</a:t>
            </a:r>
          </a:p>
          <a:p>
            <a:r>
              <a:t>- https://m365.cloud.microsoft/</a:t>
            </a:r>
          </a:p>
          <a:p>
            <a:r>
              <a:t>- Current site screenshot: preview-create-share.png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一场90分钟。50–65分钟：讲师完整演示Lab03会议跟进助手，结合步骤页操作。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https://philips-ai-tool-lab.github.io/ai-tool-lab-preview/labs/meeting-follow-up/</a:t>
            </a:r>
          </a:p>
          <a:p>
            <a:r>
              <a:t>- Current site screenshot: meeting-output.png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一场90分钟。65–85分钟：20分钟任选Lab01–04独立实践，保留所选Lab原配置与检查要求。85–90分钟：答疑与下一步。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- https://philips-ai-tool-lab.github.io/ai-tool-lab-preview/labs/chief-of-staff/</a:t>
            </a:r>
          </a:p>
          <a:p>
            <a:r>
              <a:t>- https://philips-ai-tool-lab.github.io/ai-tool-lab-preview/labs/product-manual-faq/</a:t>
            </a:r>
          </a:p>
          <a:p>
            <a:r>
              <a:t>- https://philips-ai-tool-lab.github.io/ai-tool-lab-preview/labs/meeting-follow-up/</a:t>
            </a:r>
          </a:p>
          <a:p>
            <a:r>
              <a:t>- https://philips-ai-tool-lab.github.io/ai-tool-lab-preview/labs/funnel-data-analyst/</a:t>
            </a:r>
          </a:p>
          <a:p>
            <a:r>
              <a:t>- https://m365.cloud.microsoft/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14980e71df43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bab18cc06a463e" /><Relationship Type="http://schemas.openxmlformats.org/officeDocument/2006/relationships/slideLayout" Target="/ppt/slideLayouts/slideLayout1.xml" Id="Rdc69cdd779f546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69cdd779f546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3f4867cf6e34324"/><Relationship Type="http://schemas.openxmlformats.org/officeDocument/2006/relationships/hyperlink" Target="https://aiskillsnavigator.microsoft.com/" TargetMode="External" Id="R733973a6259d4369"/><Relationship Type="http://schemas.openxmlformats.org/officeDocument/2006/relationships/notesSlide" Target="/ppt/notesSlides/notesSlide1.xml" Id="Re209cd2b930f42a8"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1f16a3fdb2945d1"/><Relationship Type="http://schemas.openxmlformats.org/officeDocument/2006/relationships/hyperlink" Target="https://www.aigateway.ai.inside.philips.com/" TargetMode="External" Id="R4734d1283af143bb"/><Relationship Type="http://schemas.openxmlformats.org/officeDocument/2006/relationships/notesSlide" Target="/ppt/notesSlides/notesSlide2.xml" Id="R7377446e5547475e"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3c46bcce5a642d7"/><Relationship Type="http://schemas.openxmlformats.org/officeDocument/2006/relationships/hyperlink" Target="https://www.aigateway.ai.inside.philips.com/" TargetMode="External" Id="Ref3a0eb150be4667"/><Relationship Type="http://schemas.openxmlformats.org/officeDocument/2006/relationships/notesSlide" Target="/ppt/notesSlides/notesSlide3.xml" Id="R57e804c8bccb4b82"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90b792e24464d87"/><Relationship Type="http://schemas.openxmlformats.org/officeDocument/2006/relationships/hyperlink" Target="https://aiskillsnavigator.microsoft.com/" TargetMode="External" Id="Ra96e34d84b174720"/><Relationship Type="http://schemas.openxmlformats.org/officeDocument/2006/relationships/notesSlide" Target="/ppt/notesSlides/notesSlide4.xml" Id="R411cbca64c354ad7"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fa9e8b8d0594d45"/><Relationship Type="http://schemas.openxmlformats.org/officeDocument/2006/relationships/hyperlink" Target="https://aiskillsnavigator.microsoft.com/" TargetMode="External" Id="Rff766747ae1a4f2d"/><Relationship Type="http://schemas.openxmlformats.org/officeDocument/2006/relationships/notesSlide" Target="/ppt/notesSlides/notesSlide5.xml" Id="Re567bc98bc1a41d1"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582d30fe76347c9"/><Relationship Type="http://schemas.openxmlformats.org/officeDocument/2006/relationships/hyperlink" Target="https://www.aigateway.ai.inside.philips.com/" TargetMode="External" Id="Rce97535521694c55"/><Relationship Type="http://schemas.openxmlformats.org/officeDocument/2006/relationships/notesSlide" Target="/ppt/notesSlides/notesSlide6.xml" Id="Reae3c27faa3740f6"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b704c32ea2c428b"/><Relationship Type="http://schemas.openxmlformats.org/officeDocument/2006/relationships/image" Target="/ppt/media/image.png" Id="R88a919e44fc94857"/><Relationship Type="http://schemas.openxmlformats.org/officeDocument/2006/relationships/hyperlink" Target="https://www.aigateway.ai.inside.philips.com/" TargetMode="External" Id="R9a4eb6c35cb34bd4"/><Relationship Type="http://schemas.openxmlformats.org/officeDocument/2006/relationships/notesSlide" Target="/ppt/notesSlides/notesSlide7.xml" Id="Ra24ca15d25d14364"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d07d6af1dce418f"/><Relationship Type="http://schemas.openxmlformats.org/officeDocument/2006/relationships/image" Target="/ppt/media/image.png" Id="R616ec334483645d4"/><Relationship Type="http://schemas.openxmlformats.org/officeDocument/2006/relationships/hyperlink" Target="https://www.aigateway.ai.inside.philips.com/" TargetMode="External" Id="Rc34cfdaf1a0b41f6"/><Relationship Type="http://schemas.openxmlformats.org/officeDocument/2006/relationships/notesSlide" Target="/ppt/notesSlides/notesSlide8.xml" Id="R9546a2a0169c4294"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32004ad4bda477a"/><Relationship Type="http://schemas.openxmlformats.org/officeDocument/2006/relationships/image" Target="/ppt/media/image.png" Id="Rf06f4eb863ee4910"/><Relationship Type="http://schemas.openxmlformats.org/officeDocument/2006/relationships/hyperlink" Target="https://www.aigateway.ai.inside.philips.com/" TargetMode="External" Id="R843170a3f23d4d93"/><Relationship Type="http://schemas.openxmlformats.org/officeDocument/2006/relationships/notesSlide" Target="/ppt/notesSlides/notesSlide9.xml" Id="Reddcb6547d20405a"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f1a2e9c77144b12"/><Relationship Type="http://schemas.openxmlformats.org/officeDocument/2006/relationships/hyperlink" Target="https://www.aigateway.ai.inside.philips.com/" TargetMode="External" Id="R9cdac7a92b2e4e89"/><Relationship Type="http://schemas.openxmlformats.org/officeDocument/2006/relationships/notesSlide" Target="/ppt/notesSlides/notesSlide10.xml" Id="Rde4772111edf428f"/></Relationships>
</file>

<file path=ppt/slides/_rels/slide1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9a0943dd40c45bc"/><Relationship Type="http://schemas.openxmlformats.org/officeDocument/2006/relationships/hyperlink" Target="https://www.aigateway.ai.inside.philips.com/" TargetMode="External" Id="R3e392483484a4c15"/><Relationship Type="http://schemas.openxmlformats.org/officeDocument/2006/relationships/notesSlide" Target="/ppt/notesSlides/notesSlide11.xml" Id="R40134d3cc2684e02"/></Relationships>
</file>

<file path=ppt/slides/_rels/slide2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e1babeac51d41b8"/><Relationship Type="http://schemas.openxmlformats.org/officeDocument/2006/relationships/hyperlink" Target="https://www.aigateway.ai.inside.philips.com/" TargetMode="External" Id="R048f985706f6426f"/><Relationship Type="http://schemas.openxmlformats.org/officeDocument/2006/relationships/hyperlink" Target="https://philips-ai-tool-lab.github.io/ai-tool-lab-preview/" TargetMode="External" Id="R6e10747fa7584410"/><Relationship Type="http://schemas.openxmlformats.org/officeDocument/2006/relationships/notesSlide" Target="/ppt/notesSlides/notesSlide20.xml" Id="R637f1b0a17424055"/></Relationships>
</file>

<file path=ppt/slides/_rels/slide2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5f307f843a746a2"/><Relationship Type="http://schemas.openxmlformats.org/officeDocument/2006/relationships/hyperlink" Target="https://www.aigateway.ai.inside.philips.com/" TargetMode="External" Id="R26169fe1ff074579"/><Relationship Type="http://schemas.openxmlformats.org/officeDocument/2006/relationships/hyperlink" Target="https://philips-ai-tool-lab.github.io/ai-tool-lab-preview/" TargetMode="External" Id="R4682e9adfb4d46ab"/><Relationship Type="http://schemas.openxmlformats.org/officeDocument/2006/relationships/notesSlide" Target="/ppt/notesSlides/notesSlide21.xml" Id="Ra67c93b24cbc4fce"/></Relationships>
</file>

<file path=ppt/slides/_rels/slide2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c8e428e14804b5d"/><Relationship Type="http://schemas.openxmlformats.org/officeDocument/2006/relationships/hyperlink" Target="https://www.aigateway.ai.inside.philips.com/" TargetMode="External" Id="R92adc8ae579c44c2"/><Relationship Type="http://schemas.openxmlformats.org/officeDocument/2006/relationships/notesSlide" Target="/ppt/notesSlides/notesSlide22.xml" Id="R3dfe5e2f796a48d4"/></Relationships>
</file>

<file path=ppt/slides/_rels/slide2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6a73e8e4575471f"/><Relationship Type="http://schemas.openxmlformats.org/officeDocument/2006/relationships/image" Target="/ppt/media/image6.png" Id="Rae9db0a6318144e2"/><Relationship Type="http://schemas.openxmlformats.org/officeDocument/2006/relationships/hyperlink" Target="https://aiskillsnavigator.microsoft.com/" TargetMode="External" Id="Re493ec952a234e74"/><Relationship Type="http://schemas.openxmlformats.org/officeDocument/2006/relationships/hyperlink" Target="https://m365.cloud.microsoft/chat" TargetMode="External" Id="R8ae0141e77b446e6"/><Relationship Type="http://schemas.openxmlformats.org/officeDocument/2006/relationships/notesSlide" Target="/ppt/notesSlides/notesSlide23.xml" Id="Rf23cbf1e23ba4991"/></Relationships>
</file>

<file path=ppt/slides/_rels/slide2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b7ee28fdb284640"/><Relationship Type="http://schemas.openxmlformats.org/officeDocument/2006/relationships/hyperlink" Target="https://aiskillsnavigator.microsoft.com/" TargetMode="External" Id="Rc57d8be15054439c"/><Relationship Type="http://schemas.openxmlformats.org/officeDocument/2006/relationships/hyperlink" Target="https://aiskillsnavigator.microsoft.com/playlists/291ff1ba-c754-44f1-9814-ef8917f8c989" TargetMode="External" Id="Rf07a42d075314104"/><Relationship Type="http://schemas.openxmlformats.org/officeDocument/2006/relationships/hyperlink" Target="https://m365.cloud.microsoft/chat" TargetMode="External" Id="R0b701f497d274b7d"/><Relationship Type="http://schemas.openxmlformats.org/officeDocument/2006/relationships/notesSlide" Target="/ppt/notesSlides/notesSlide24.xml" Id="R5e04800390234080"/></Relationships>
</file>

<file path=ppt/slides/_rels/slide2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3c7d40d09b344c0"/><Relationship Type="http://schemas.openxmlformats.org/officeDocument/2006/relationships/image" Target="/ppt/media/image7.png" Id="R0a887a9545c44709"/><Relationship Type="http://schemas.openxmlformats.org/officeDocument/2006/relationships/hyperlink" Target="https://aiskillsnavigator.microsoft.com/" TargetMode="External" Id="R363b1af7d03041ff"/><Relationship Type="http://schemas.openxmlformats.org/officeDocument/2006/relationships/notesSlide" Target="/ppt/notesSlides/notesSlide25.xml" Id="Rdef6b62506d24c04"/></Relationships>
</file>

<file path=ppt/slides/_rels/slide2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1a454523c3a4986"/><Relationship Type="http://schemas.openxmlformats.org/officeDocument/2006/relationships/image" Target="/ppt/media/image8.png" Id="R5aae278b22874d22"/><Relationship Type="http://schemas.openxmlformats.org/officeDocument/2006/relationships/hyperlink" Target="https://aiskillsnavigator.microsoft.com/playlists/291ff1ba-c754-44f1-9814-ef8917f8c989" TargetMode="External" Id="Ra3a6ec04d7384491"/><Relationship Type="http://schemas.openxmlformats.org/officeDocument/2006/relationships/notesSlide" Target="/ppt/notesSlides/notesSlide26.xml" Id="R0bb8900c1e744948"/></Relationships>
</file>

<file path=ppt/slides/_rels/slide2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a7aaa713cb64237"/><Relationship Type="http://schemas.openxmlformats.org/officeDocument/2006/relationships/image" Target="/ppt/media/image9.png" Id="Re1a0c162ef194e25"/><Relationship Type="http://schemas.openxmlformats.org/officeDocument/2006/relationships/hyperlink" Target="https://aiskillsnavigator.microsoft.com/playlists/291ff1ba-c754-44f1-9814-ef8917f8c989" TargetMode="External" Id="R0ea3ed0ae55143b3"/><Relationship Type="http://schemas.openxmlformats.org/officeDocument/2006/relationships/hyperlink" Target="https://learn.microsoft.com/zh-cn/training/courses/ms-4004" TargetMode="External" Id="Rad1d2984650d4da2"/><Relationship Type="http://schemas.openxmlformats.org/officeDocument/2006/relationships/notesSlide" Target="/ppt/notesSlides/notesSlide27.xml" Id="R31e5e17275554bbc"/></Relationships>
</file>

<file path=ppt/slides/_rels/slide2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1cf784bfc0f4b7f"/><Relationship Type="http://schemas.openxmlformats.org/officeDocument/2006/relationships/hyperlink" Target="https://aiskillsnavigator.microsoft.com/playlists/291ff1ba-c754-44f1-9814-ef8917f8c989" TargetMode="External" Id="Ra5b20b6c18a949f1"/><Relationship Type="http://schemas.openxmlformats.org/officeDocument/2006/relationships/notesSlide" Target="/ppt/notesSlides/notesSlide28.xml" Id="Rd1476ab57e4348c8"/></Relationships>
</file>

<file path=ppt/slides/_rels/slide2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9feb6539d10429b"/><Relationship Type="http://schemas.openxmlformats.org/officeDocument/2006/relationships/hyperlink" Target="https://aiskillsnavigator.microsoft.com/playlists/291ff1ba-c754-44f1-9814-ef8917f8c989" TargetMode="External" Id="Re2253c3f96984390"/><Relationship Type="http://schemas.openxmlformats.org/officeDocument/2006/relationships/notesSlide" Target="/ppt/notesSlides/notesSlide29.xml" Id="R0fcbba48f4644a4d"/></Relationships>
</file>

<file path=ppt/slides/_rels/slide3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a83bc4a9c4a4a50"/><Relationship Type="http://schemas.openxmlformats.org/officeDocument/2006/relationships/hyperlink" Target="https://m365.cloud.microsoft/chat" TargetMode="External" Id="R48eaf1bcede94e7e"/><Relationship Type="http://schemas.openxmlformats.org/officeDocument/2006/relationships/notesSlide" Target="/ppt/notesSlides/notesSlide30.xml" Id="Re41ecc5217734864"/></Relationships>
</file>

<file path=ppt/slides/_rels/slide3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9ac0f5d37054c7b"/><Relationship Type="http://schemas.openxmlformats.org/officeDocument/2006/relationships/hyperlink" Target="https://m365.cloud.microsoft/chat" TargetMode="External" Id="Rb8bf4c3e8ac34eac"/><Relationship Type="http://schemas.openxmlformats.org/officeDocument/2006/relationships/notesSlide" Target="/ppt/notesSlides/notesSlide31.xml" Id="R8c7ec84413854336"/></Relationships>
</file>

<file path=ppt/slides/_rels/slide3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35a27ef2d334cc1"/><Relationship Type="http://schemas.openxmlformats.org/officeDocument/2006/relationships/hyperlink" Target="https://m365.cloud.microsoft/chat" TargetMode="External" Id="Rc4896ff5091c483b"/><Relationship Type="http://schemas.openxmlformats.org/officeDocument/2006/relationships/notesSlide" Target="/ppt/notesSlides/notesSlide32.xml" Id="R5a1ae79352854ed9"/></Relationships>
</file>

<file path=ppt/slides/_rels/slide3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6ecd5685dce46a7"/><Relationship Type="http://schemas.openxmlformats.org/officeDocument/2006/relationships/hyperlink" Target="https://m365.cloud.microsoft/chat" TargetMode="External" Id="R04ed959cf709441a"/><Relationship Type="http://schemas.openxmlformats.org/officeDocument/2006/relationships/notesSlide" Target="/ppt/notesSlides/notesSlide33.xml" Id="R61c2a1f284ec4dcf"/></Relationships>
</file>

<file path=ppt/slides/_rels/slide3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547d4e2a1804075"/><Relationship Type="http://schemas.openxmlformats.org/officeDocument/2006/relationships/hyperlink" Target="https://m365.cloud.microsoft/chat" TargetMode="External" Id="R8edcd21aaa0d40b3"/><Relationship Type="http://schemas.openxmlformats.org/officeDocument/2006/relationships/notesSlide" Target="/ppt/notesSlides/notesSlide34.xml" Id="R45d7675b003d422b"/></Relationships>
</file>

<file path=ppt/slides/_rels/slide3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7b1f37acaa64203"/><Relationship Type="http://schemas.openxmlformats.org/officeDocument/2006/relationships/hyperlink" Target="https://m365.cloud.microsoft/chat" TargetMode="External" Id="Rd0ea93149c4d41e3"/><Relationship Type="http://schemas.openxmlformats.org/officeDocument/2006/relationships/notesSlide" Target="/ppt/notesSlides/notesSlide35.xml" Id="R130779412fdf45d8"/></Relationships>
</file>

<file path=ppt/slides/_rels/slide3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6fbd50103b9442e"/><Relationship Type="http://schemas.openxmlformats.org/officeDocument/2006/relationships/hyperlink" Target="https://m365.cloud.microsoft/chat" TargetMode="External" Id="R1954c0c41e764ac8"/><Relationship Type="http://schemas.openxmlformats.org/officeDocument/2006/relationships/notesSlide" Target="/ppt/notesSlides/notesSlide36.xml" Id="Rf0c1556b65674140"/></Relationships>
</file>

<file path=ppt/slides/_rels/slide3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bd8c2f68b7d4d2e"/><Relationship Type="http://schemas.openxmlformats.org/officeDocument/2006/relationships/hyperlink" Target="https://m365.cloud.microsoft/chat" TargetMode="External" Id="R480630006141487a"/><Relationship Type="http://schemas.openxmlformats.org/officeDocument/2006/relationships/notesSlide" Target="/ppt/notesSlides/notesSlide37.xml" Id="R103e479123714f33"/></Relationships>
</file>

<file path=ppt/slides/_rels/slide3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65428d86c914a4e"/><Relationship Type="http://schemas.openxmlformats.org/officeDocument/2006/relationships/hyperlink" Target="https://m365.cloud.microsoft/chat" TargetMode="External" Id="Rbd833f3197f04a9e"/><Relationship Type="http://schemas.openxmlformats.org/officeDocument/2006/relationships/notesSlide" Target="/ppt/notesSlides/notesSlide38.xml" Id="R94e824a59fdc4856"/></Relationships>
</file>

<file path=ppt/slides/_rels/slide3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e1d3dda295645a4"/><Relationship Type="http://schemas.openxmlformats.org/officeDocument/2006/relationships/image" Target="/ppt/media/image10.png" Id="Rff932c9a258c4b82"/><Relationship Type="http://schemas.openxmlformats.org/officeDocument/2006/relationships/hyperlink" Target="https://m365.cloud.microsoft/chat" TargetMode="External" Id="R3778623769374714"/><Relationship Type="http://schemas.openxmlformats.org/officeDocument/2006/relationships/notesSlide" Target="/ppt/notesSlides/notesSlide39.xml" Id="R19175977dc984f98"/></Relationships>
</file>

<file path=ppt/slides/_rels/slide4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97db589d0dc44f8"/><Relationship Type="http://schemas.openxmlformats.org/officeDocument/2006/relationships/hyperlink" Target="https://m365.cloud.microsoft/chat" TargetMode="External" Id="Re06a29a99c4e435e"/><Relationship Type="http://schemas.openxmlformats.org/officeDocument/2006/relationships/notesSlide" Target="/ppt/notesSlides/notesSlide40.xml" Id="R54edc65a6d5141be"/></Relationships>
</file>

<file path=ppt/slides/_rels/slide4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1a1fd3451b946b5"/><Relationship Type="http://schemas.openxmlformats.org/officeDocument/2006/relationships/hyperlink" Target="https://m365.cloud.microsoft/chat" TargetMode="External" Id="Rb07468e5afb345fd"/><Relationship Type="http://schemas.openxmlformats.org/officeDocument/2006/relationships/notesSlide" Target="/ppt/notesSlides/notesSlide41.xml" Id="Rbb65c279155c4389"/></Relationships>
</file>

<file path=ppt/slides/_rels/slide4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838f419ab86400a"/><Relationship Type="http://schemas.openxmlformats.org/officeDocument/2006/relationships/hyperlink" Target="https://m365.cloud.microsoft/chat" TargetMode="External" Id="R1bd4a0bb7b744373"/><Relationship Type="http://schemas.openxmlformats.org/officeDocument/2006/relationships/notesSlide" Target="/ppt/notesSlides/notesSlide42.xml" Id="R1bf006e43a04467d"/></Relationships>
</file>

<file path=ppt/slides/_rels/slide4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36b5443edab47d1"/><Relationship Type="http://schemas.openxmlformats.org/officeDocument/2006/relationships/hyperlink" Target="https://m365.cloud.microsoft/chat" TargetMode="External" Id="R6a353577f04042f1"/><Relationship Type="http://schemas.openxmlformats.org/officeDocument/2006/relationships/notesSlide" Target="/ppt/notesSlides/notesSlide43.xml" Id="R25f200a951be4080"/></Relationships>
</file>

<file path=ppt/slides/_rels/slide4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c18751d065b41d4"/><Relationship Type="http://schemas.openxmlformats.org/officeDocument/2006/relationships/hyperlink" Target="https://m365.cloud.microsoft/chat" TargetMode="External" Id="R7ddf77c6e5ee4bca"/><Relationship Type="http://schemas.openxmlformats.org/officeDocument/2006/relationships/notesSlide" Target="/ppt/notesSlides/notesSlide44.xml" Id="R6b7a056c289c48b2"/></Relationships>
</file>

<file path=ppt/slides/_rels/slide4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5093e6640f84813"/><Relationship Type="http://schemas.openxmlformats.org/officeDocument/2006/relationships/hyperlink" Target="https://philips-ai-tool-lab.github.io/ai-tool-lab-preview/" TargetMode="External" Id="R3cff2cec528046c7"/><Relationship Type="http://schemas.openxmlformats.org/officeDocument/2006/relationships/hyperlink" Target="https://philips-ai-tool-lab.github.io/ai-tool-lab-preview/#agent-builder-path" TargetMode="External" Id="R62c1e45ee7df4797"/><Relationship Type="http://schemas.openxmlformats.org/officeDocument/2006/relationships/hyperlink" Target="https://m365.cloud.microsoft/" TargetMode="External" Id="R968380ad729e4337"/><Relationship Type="http://schemas.openxmlformats.org/officeDocument/2006/relationships/notesSlide" Target="/ppt/notesSlides/notesSlide45.xml" Id="R848e8e1327b9447b"/></Relationships>
</file>

<file path=ppt/slides/_rels/slide4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0e5fdd7995f46b5"/><Relationship Type="http://schemas.openxmlformats.org/officeDocument/2006/relationships/image" Target="/ppt/media/image11.png" Id="R9e47e38461de4c5d"/><Relationship Type="http://schemas.openxmlformats.org/officeDocument/2006/relationships/hyperlink" Target="https://philips-ai-tool-lab.github.io/ai-tool-lab-preview/" TargetMode="External" Id="R51bee05c1ce74fee"/><Relationship Type="http://schemas.openxmlformats.org/officeDocument/2006/relationships/hyperlink" Target="https://philips-ai-tool-lab.github.io/ai-tool-lab-preview/#agent-builder-path" TargetMode="External" Id="Rd37a437d64074617"/><Relationship Type="http://schemas.openxmlformats.org/officeDocument/2006/relationships/notesSlide" Target="/ppt/notesSlides/notesSlide46.xml" Id="R0584ae4df34d423b"/></Relationships>
</file>

<file path=ppt/slides/_rels/slide4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f95e0d425bc467f"/><Relationship Type="http://schemas.openxmlformats.org/officeDocument/2006/relationships/hyperlink" Target="https://philips-ai-tool-lab.github.io/ai-tool-lab-preview/labs/chief-of-staff/" TargetMode="External" Id="R799698c112f64506"/><Relationship Type="http://schemas.openxmlformats.org/officeDocument/2006/relationships/hyperlink" Target="https://philips-ai-tool-lab.github.io/ai-tool-lab-preview/labs/product-manual-faq/" TargetMode="External" Id="R1608d30d5e1e4cd4"/><Relationship Type="http://schemas.openxmlformats.org/officeDocument/2006/relationships/hyperlink" Target="https://philips-ai-tool-lab.github.io/ai-tool-lab-preview/labs/meeting-follow-up/" TargetMode="External" Id="R38bce2ca958f467a"/><Relationship Type="http://schemas.openxmlformats.org/officeDocument/2006/relationships/hyperlink" Target="https://philips-ai-tool-lab.github.io/ai-tool-lab-preview/labs/funnel-data-analyst/" TargetMode="External" Id="R7b978472f66f446f"/><Relationship Type="http://schemas.openxmlformats.org/officeDocument/2006/relationships/notesSlide" Target="/ppt/notesSlides/notesSlide47.xml" Id="R3bfbd828b85145da"/></Relationships>
</file>

<file path=ppt/slides/_rels/slide4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b48c8a079544ea0"/><Relationship Type="http://schemas.openxmlformats.org/officeDocument/2006/relationships/image" Target="/ppt/media/image12.png" Id="Rd6e138da35c84421"/><Relationship Type="http://schemas.openxmlformats.org/officeDocument/2006/relationships/hyperlink" Target="https://philips-ai-tool-lab.github.io/ai-tool-lab-preview/labs/chief-of-staff/" TargetMode="External" Id="R4a7ff746ff304523"/><Relationship Type="http://schemas.openxmlformats.org/officeDocument/2006/relationships/notesSlide" Target="/ppt/notesSlides/notesSlide48.xml" Id="Rf0ad1ed067fa41db"/></Relationships>
</file>

<file path=ppt/slides/_rels/slide4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a6c053797cf45f0"/><Relationship Type="http://schemas.openxmlformats.org/officeDocument/2006/relationships/image" Target="/ppt/media/image13.png" Id="Ra99aba33bde1449c"/><Relationship Type="http://schemas.openxmlformats.org/officeDocument/2006/relationships/hyperlink" Target="https://philips-ai-tool-lab.github.io/ai-tool-lab-preview/labs/product-manual-faq/" TargetMode="External" Id="R1478eec76b0b4413"/><Relationship Type="http://schemas.openxmlformats.org/officeDocument/2006/relationships/notesSlide" Target="/ppt/notesSlides/notesSlide49.xml" Id="R81961a1920bc4ff4"/></Relationships>
</file>

<file path=ppt/slides/_rels/slide5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8ab299631d347ac"/><Relationship Type="http://schemas.openxmlformats.org/officeDocument/2006/relationships/image" Target="/ppt/media/image14.png" Id="R5e546392d6754176"/><Relationship Type="http://schemas.openxmlformats.org/officeDocument/2006/relationships/hyperlink" Target="https://philips-ai-tool-lab.github.io/ai-tool-lab-preview/labs/meeting-follow-up/" TargetMode="External" Id="Re6fd211add324b39"/><Relationship Type="http://schemas.openxmlformats.org/officeDocument/2006/relationships/notesSlide" Target="/ppt/notesSlides/notesSlide50.xml" Id="R40ae4d0068f44530"/><Relationship Id="rIdFullLabsImage" Type="http://schemas.openxmlformats.org/officeDocument/2006/relationships/image" Target="../media/full-labs-lab3-add-knowledge-full-ui.png"/></Relationships>
</file>

<file path=ppt/slides/_rels/slide5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b9f7b068c10431a"/><Relationship Type="http://schemas.openxmlformats.org/officeDocument/2006/relationships/image" Target="/ppt/media/image15.png" Id="R2f5643bb409e440a"/><Relationship Type="http://schemas.openxmlformats.org/officeDocument/2006/relationships/hyperlink" Target="https://philips-ai-tool-lab.github.io/ai-tool-lab-preview/labs/funnel-data-analyst/" TargetMode="External" Id="Rbf3cff0263f34551"/><Relationship Type="http://schemas.openxmlformats.org/officeDocument/2006/relationships/notesSlide" Target="/ppt/notesSlides/notesSlide51.xml" Id="R50d0fda807d749b1"/></Relationships>
</file>

<file path=ppt/slides/_rels/slide5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5a6761d91f6476d"/><Relationship Type="http://schemas.openxmlformats.org/officeDocument/2006/relationships/hyperlink" Target="https://philips-ai-tool-lab.github.io/ai-tool-lab-preview/#agent-builder-path" TargetMode="External" Id="R0a64b80258574438"/><Relationship Type="http://schemas.openxmlformats.org/officeDocument/2006/relationships/notesSlide" Target="/ppt/notesSlides/notesSlide52.xml" Id="Re6fbf580a3c749d9"/></Relationships>
</file>

<file path=ppt/slides/_rels/slide5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bfa76bcc3bc43e0"/><Relationship Type="http://schemas.openxmlformats.org/officeDocument/2006/relationships/image" Target="/ppt/media/image16.png" Id="R38b8d6723b1c4e65"/><Relationship Type="http://schemas.openxmlformats.org/officeDocument/2006/relationships/hyperlink" Target="https://m365.cloud.microsoft/" TargetMode="External" Id="Rca59a81fe7de4844"/><Relationship Type="http://schemas.openxmlformats.org/officeDocument/2006/relationships/notesSlide" Target="/ppt/notesSlides/notesSlide53.xml" Id="Ra2a15e5f94b647c0"/></Relationships>
</file>

<file path=ppt/slides/_rels/slide5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f46ed4f7e93437a"/><Relationship Type="http://schemas.openxmlformats.org/officeDocument/2006/relationships/image" Target="/ppt/media/image17.png" Id="R95d1edd537c5448f"/><Relationship Type="http://schemas.openxmlformats.org/officeDocument/2006/relationships/hyperlink" Target="https://philips-ai-tool-lab.github.io/ai-tool-lab-preview/#agent-builder-path" TargetMode="External" Id="Rbcd2aa856d6c4cd4"/><Relationship Type="http://schemas.openxmlformats.org/officeDocument/2006/relationships/notesSlide" Target="/ppt/notesSlides/notesSlide54.xml" Id="R1dc4fe602d444fe5"/></Relationships>
</file>

<file path=ppt/slides/_rels/slide5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ee8db3c063b45a8"/><Relationship Type="http://schemas.openxmlformats.org/officeDocument/2006/relationships/image" Target="/ppt/media/image18.png" Id="R72384ed2c05e44f0"/><Relationship Type="http://schemas.openxmlformats.org/officeDocument/2006/relationships/hyperlink" Target="https://philips-ai-tool-lab.github.io/ai-tool-lab-preview/labs/meeting-follow-up/" TargetMode="External" Id="R601fd7f870784d04"/><Relationship Type="http://schemas.openxmlformats.org/officeDocument/2006/relationships/notesSlide" Target="/ppt/notesSlides/notesSlide55.xml" Id="R925698b19998449f"/></Relationships>
</file>

<file path=ppt/slides/_rels/slide5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23d5f11251a4b45"/><Relationship Type="http://schemas.openxmlformats.org/officeDocument/2006/relationships/image" Target="/ppt/media/image19.png" Id="R719f4497009e4f6a"/><Relationship Type="http://schemas.openxmlformats.org/officeDocument/2006/relationships/hyperlink" Target="https://philips-ai-tool-lab.github.io/ai-tool-lab-preview/#agent-builder-path" TargetMode="External" Id="R197bb64ca848475f"/><Relationship Type="http://schemas.openxmlformats.org/officeDocument/2006/relationships/notesSlide" Target="/ppt/notesSlides/notesSlide56.xml" Id="R73c056dad065406b"/></Relationships>
</file>

<file path=ppt/slides/_rels/slide5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78b9255dbc04979"/><Relationship Type="http://schemas.openxmlformats.org/officeDocument/2006/relationships/image" Target="/ppt/media/image20.png" Id="R2687961084a84b57"/><Relationship Type="http://schemas.openxmlformats.org/officeDocument/2006/relationships/hyperlink" Target="https://philips-ai-tool-lab.github.io/ai-tool-lab-preview/labs/meeting-follow-up/" TargetMode="External" Id="R4df6ba6bc23a46e8"/><Relationship Type="http://schemas.openxmlformats.org/officeDocument/2006/relationships/notesSlide" Target="/ppt/notesSlides/notesSlide57.xml" Id="Re74cd526b569485d"/></Relationships>
</file>

<file path=ppt/slides/_rels/slide5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93c6332960745bf"/><Relationship Type="http://schemas.openxmlformats.org/officeDocument/2006/relationships/image" Target="/ppt/media/image21.png" Id="R031c396543814649"/><Relationship Type="http://schemas.openxmlformats.org/officeDocument/2006/relationships/hyperlink" Target="https://philips-ai-tool-lab.github.io/ai-tool-lab-preview/#agent-builder-path" TargetMode="External" Id="Rb8430bee99cd4375"/><Relationship Type="http://schemas.openxmlformats.org/officeDocument/2006/relationships/notesSlide" Target="/ppt/notesSlides/notesSlide58.xml" Id="Raf1f401ad90c44da"/></Relationships>
</file>

<file path=ppt/slides/_rels/slide5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f2638555b004f47"/><Relationship Type="http://schemas.openxmlformats.org/officeDocument/2006/relationships/image" Target="/ppt/media/image22.png" Id="Rba6aa71dd30f48c6"/><Relationship Type="http://schemas.openxmlformats.org/officeDocument/2006/relationships/hyperlink" Target="https://m365.cloud.microsoft/" TargetMode="External" Id="Rd2891e14149a416d"/><Relationship Type="http://schemas.openxmlformats.org/officeDocument/2006/relationships/notesSlide" Target="/ppt/notesSlides/notesSlide59.xml" Id="R512adc098b174428"/></Relationships>
</file>

<file path=ppt/slides/_rels/slide6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c4d9fd443874b75"/><Relationship Type="http://schemas.openxmlformats.org/officeDocument/2006/relationships/image" Target="/ppt/media/image14.png" Id="Ra36a756c4e4c4ceb"/><Relationship Type="http://schemas.openxmlformats.org/officeDocument/2006/relationships/hyperlink" Target="https://philips-ai-tool-lab.github.io/ai-tool-lab-preview/labs/meeting-follow-up/" TargetMode="External" Id="R0648c5474f4d4443"/><Relationship Type="http://schemas.openxmlformats.org/officeDocument/2006/relationships/notesSlide" Target="/ppt/notesSlides/notesSlide60.xml" Id="R475992df61c34165"/></Relationships>
</file>

<file path=ppt/slides/_rels/slide6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8aaaf2dfb9840b7"/><Relationship Type="http://schemas.openxmlformats.org/officeDocument/2006/relationships/hyperlink" Target="https://philips-ai-tool-lab.github.io/ai-tool-lab-preview/labs/chief-of-staff/" TargetMode="External" Id="Rc5d392f8fe314041"/><Relationship Type="http://schemas.openxmlformats.org/officeDocument/2006/relationships/hyperlink" Target="https://philips-ai-tool-lab.github.io/ai-tool-lab-preview/labs/product-manual-faq/" TargetMode="External" Id="Rbf76cd62081f41e6"/><Relationship Type="http://schemas.openxmlformats.org/officeDocument/2006/relationships/hyperlink" Target="https://philips-ai-tool-lab.github.io/ai-tool-lab-preview/labs/meeting-follow-up/" TargetMode="External" Id="Rbdfa598896a64116"/><Relationship Type="http://schemas.openxmlformats.org/officeDocument/2006/relationships/hyperlink" Target="https://philips-ai-tool-lab.github.io/ai-tool-lab-preview/labs/funnel-data-analyst/" TargetMode="External" Id="R08698bd27bcd4023"/><Relationship Type="http://schemas.openxmlformats.org/officeDocument/2006/relationships/hyperlink" Target="https://m365.cloud.microsoft/" TargetMode="External" Id="R1b088dbc8ce04ae9"/><Relationship Type="http://schemas.openxmlformats.org/officeDocument/2006/relationships/notesSlide" Target="/ppt/notesSlides/notesSlide61.xml" Id="R21da4de621494582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DDDC824-F258-4066-B2D9-630BBB59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CAAA9EA-6C66-4A14-8D7A-ADF7DBC0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rPr>
              <a:t>PHILIPS YOUNG BOOTCAMP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C5E0442-88FB-4CE4-B24C-22F74850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AI 认知到可用 Agent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49DB179-5B9E-4560-BA2C-1A79FEB0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rPr>
              <a:t>AI Gateway 导航 · GCR AI Ambassador · Copilot 实操 · Agent Builder 动手实验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9E2B246-C13F-4CB3-A067-7D1C4628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一场90分钟，讲解、演示与动手练习相结合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8C7E1C39-AF91-4AC1-9DB5-0942302C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33973a6259d4369"/>
              </a:rPr>
              <a:t>打开 AI Skills Navigator  ↗</a:t>
            </a:r>
          </a:p>
        </p:txBody>
      </p:sp>
      <p:sp>
        <p:nvSpPr>
          <p:cNvPr id="8" name="页码">
            <a:extLst xmlns:a="http://schemas.openxmlformats.org/drawingml/2006/main">
              <a:ext uri="{FF2B5EF4-FFF2-40B4-BE49-F238E27FC236}">
                <a16:creationId xmlns:a16="http://schemas.microsoft.com/office/drawing/2014/main" id="{B05A4CFD-DE1E-44CB-A288-E5E0C9CE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5DBF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70761063"/>
      </p:ext>
    </p:extLst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3E3B99B-35F0-4F46-8BE7-2C1DA57C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DEADA4C-4036-44AD-9E7F-A0DC51B3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1378166-474D-44D5-A4ED-2D82F963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Philips 的 AI 方向：创新、运营、协作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8DBF766-B74E-49B5-814E-C22B5801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今天先看 AI 怎样帮助业务创新、改善日常工作和支持跨团队协作，同时了解使用这些工具时必须遵守的企业要求。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128EDFE-D7E5-4656-8860-C4BE17E7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A9DC56C-A571-4419-99E7-1DD87907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F7527ACA-33E2-447C-AB62-0A17AAED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79D2726-10FB-4E6A-8AC9-44DA78A8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4FD9F08-C60B-4CBE-A5EB-7B080F85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创新｜How we innovate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D16A497-28D3-43F5-B6AE-C1F5679A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聚焦高价值业务场景，为患者、客户、消费者和业务创造更大价值。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2DE5CE86-D3B6-42E5-B6F7-2001E364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F194464-16AF-4557-B13E-162B37D2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6E2EBBF-BFD3-4FA2-BDA3-BA2EC351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运营｜How we operate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3C0505E-96B1-4488-9CC6-C0ABD153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重新审视工作方式，打破流程壁垒，让跨团队协作更顺畅、交付更高效。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DC3DAD63-5293-40FF-89BF-78D7FC93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160B25C-1EDE-45C0-AFB7-1D13319D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7CFFB0C-3B1A-4F47-8232-B3B3CF5D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协作｜How we collaborate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655E239-45F2-4AC5-84BD-242C042D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持续投入工具与能力建设，帮助员工成长，提升组织能力。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8D4AD7B9-7DD3-4315-83FE-F5A52E0F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ADE383-DCF2-4FC0-BD02-AF2DCEC6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975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质量、安全、合规与人工负责，是 Philips 推进 AI 规模化应用的共同原则。</a:t>
            </a:r>
          </a:p>
        </p:txBody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4B156836-0388-4D7A-9280-AFE69066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734d1283af143bb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238269044"/>
      </p:ext>
    </p:extLst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创新、运营和协作共同回答：AI怎样进入业务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三个方向并不是彼此独立的口号，而是一条从业务价值到组织能力的完整路径。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 fontScale="100000"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三者如何协同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2555"/>
          </a:bodyPr>
          <a:lstStyle xmlns:a="http://schemas.openxmlformats.org/drawingml/2006/main"/>
          <a:p xmlns:a="http://schemas.openxmlformats.org/drawingml/2006/main"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首先看创新。Philips 推进 AI，不是为了追逐工具本身，而是从患者、客户、消费者和业务的真实问题出发，优先选择能够创造明确价值的场景。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接着看运营。当一个场景证明有效以后，还需要重新设计流程、减少交接和重复劳动，让不同团队可以更顺畅地协作，并把效果稳定地交付出来。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最后看协作。要让 AI 长期发挥作用，员工需要掌握工具，组织也需要持续建设能力；无论使用什么工具，质量、安全、合规和人工负责始终是共同底线。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AI 落地是一条从价值场景到流程改变，再到组织能力的完整路径。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f3a0eb150be4667"/>
              </a:rPr>
              <a:t>进入 AI Gateway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40243D5F-F9ED-49C3-B3FA-75ADFBCC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BFE1FCA1-2CD4-4271-9A1B-CA4C7D97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07E58B72-DB8C-4C30-8924-2203213E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BB5C76F8-DFCD-4844-8D56-2EA0B682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价值场景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6AEE2033-B5CE-46B5-BE7C-8120F5E4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A2EB747D-851E-426C-B866-ABEE45AC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流程改变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7C97791C-0315-4BD9-848F-A3884CBF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8D067476-66E6-4CDC-AA39-3F1F20D2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组织能力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FED3F1D-6D7C-485C-ADE8-FA3B9A2A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21E6512-544C-4B17-B114-8275135B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89F6F45-6FC1-460B-BDBD-CAAF3773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今天的学习路径：一场90分钟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D8926B4-3CE0-4946-A07C-CB751684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先认识企业资源与支持，再用 Copilot 完成资料处理，最后进入原有四个 Agent Lab。讲师演示会议跟进助手，实践时可任选一个 Lab。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05A4CFD-DE1E-44CB-A288-E5E0C9CE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4C1508-B0F6-4E41-A6FB-B6279B35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D158B604-0BBB-48E3-9F58-F31FD649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311AE07-6459-4EA1-BDC1-434ABABE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DBA430F-3CCA-409A-A3AF-6EE00D3F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介绍与引入</a:t>
            </a:r>
          </a:p>
        </p:txBody>
      </p:sp>
      <p:sp>
        <p:nvSpPr>
          <p:cNvPr id="10" name="Arrow: Chevron 9">
            <a:extLst xmlns:a="http://schemas.openxmlformats.org/drawingml/2006/main">
              <a:ext uri="{FF2B5EF4-FFF2-40B4-BE49-F238E27FC236}">
                <a16:creationId xmlns:a16="http://schemas.microsoft.com/office/drawing/2014/main" id="{C86941AE-4273-4813-ACD4-482729B4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394E9683-FBA3-447F-8103-D881EC73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6098108-9D4C-4B31-9A5D-8A5B4043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0B77DF7-0D45-48A9-9049-89D7A7A2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全景与入口</a:t>
            </a:r>
          </a:p>
        </p:txBody>
      </p:sp>
      <p:sp>
        <p:nvSpPr>
          <p:cNvPr id="14" name="Arrow: Chevron 13">
            <a:extLst xmlns:a="http://schemas.openxmlformats.org/drawingml/2006/main">
              <a:ext uri="{FF2B5EF4-FFF2-40B4-BE49-F238E27FC236}">
                <a16:creationId xmlns:a16="http://schemas.microsoft.com/office/drawing/2014/main" id="{BC17C084-46AE-45E9-ABCD-291E475F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B626C2E2-A78E-4992-9F21-486A36B9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8013ED8-30BC-49D0-ACC9-DABCE546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14D4E7D-7D1A-4C28-AFD7-D2479DF0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Ambassador</a:t>
            </a:r>
          </a:p>
        </p:txBody>
      </p:sp>
      <p:sp>
        <p:nvSpPr>
          <p:cNvPr id="18" name="Arrow: Chevron 17">
            <a:extLst xmlns:a="http://schemas.openxmlformats.org/drawingml/2006/main">
              <a:ext uri="{FF2B5EF4-FFF2-40B4-BE49-F238E27FC236}">
                <a16:creationId xmlns:a16="http://schemas.microsoft.com/office/drawing/2014/main" id="{DBE19578-625D-4631-AE04-5F9DA721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3D1DBD3E-526C-4A71-9125-D6DF0FCF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9DE51860-27DF-4BC8-A46B-77E6014A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7F2D58C-789E-4F58-94AA-336352E6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5D98271-70FE-4CB6-A466-D953EAFC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Copilot 实操</a:t>
            </a:r>
          </a:p>
        </p:txBody>
      </p:sp>
      <p:sp>
        <p:nvSpPr>
          <p:cNvPr id="23" name="Arrow: Chevron 22">
            <a:extLst xmlns:a="http://schemas.openxmlformats.org/drawingml/2006/main">
              <a:ext uri="{FF2B5EF4-FFF2-40B4-BE49-F238E27FC236}">
                <a16:creationId xmlns:a16="http://schemas.microsoft.com/office/drawing/2014/main" id="{75D1EFFD-507F-47F8-B24A-9E22B9C0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0CF1EB32-9723-4016-8F28-DF1BAE29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FADC6DF2-EC71-4512-87C9-984F44FC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CC42F320-7700-425B-A9BF-966F15C2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D5BAC83-6D06-4A7C-8BAE-DE167FB6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 动手 Lab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D7D45A2-36AE-413D-9F23-967ACF0F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005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ctr" eaLnBrk="1" latinLnBrk="0" hangingPunct="0">
              <a:buNone/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引入5分钟，AI入口6分钟，支持网络4分钟，Copilot实操25分钟，Agent Lab45分钟，答疑5分钟。</a:t>
            </a:r>
          </a:p>
        </p:txBody>
      </p:sp>
      <p:sp>
        <p:nvSpPr>
          <p:cNvPr id="29" name="Rectangle: Rounded Corners 28">
            <a:extLst xmlns:a="http://schemas.openxmlformats.org/drawingml/2006/main">
              <a:ext uri="{FF2B5EF4-FFF2-40B4-BE49-F238E27FC236}">
                <a16:creationId xmlns:a16="http://schemas.microsoft.com/office/drawing/2014/main" id="{C391EF7E-9A79-41C7-9E8A-58CB1F93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96e34d84b174720"/>
              </a:rPr>
              <a:t>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326336697"/>
      </p:ext>
    </p:extLst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今天的学习顺序，是从会选择工具到会完成任务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每一步都为下一步建立基础，因此不需要一开始就直接进入复杂的 Agent 构建。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 fontScale="100000"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学习顺序的逻辑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首先，我们会认识 Philips 提供的企业 AI 入口和使用要求，知道不同工具分别解决什么问题，也知道遇到账号、网络和合规问题时应该从哪里开始。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接着，我们会认识 GCR AI Ambassador 支持网络，并进入 Copilot 实操。这里重点练习怎样阅读资料、整理信息、发现冲突，再把分析结果转化成邮件或简报。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最后，课程才会进入 Agent Builder。到那时，我们会把前面已经验证有效的任务步骤、参考资料和输出要求，固化成一个可以重复使用和持续调整的 Agent。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先会选工具，再会完成任务，最后才把稳定的方法固化为 Agent。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f766747ae1a4f2d"/>
              </a:rPr>
              <a:t>微软官方学习网站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41CFF1C0-285E-4457-BBD5-C3424299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69428D81-7FDA-467F-9332-E002DC22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B8B635EF-6A64-4EE2-B168-2FADE9AF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75B192AD-21D0-45A3-B0CA-E7E56A58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选择工具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78C2B8E0-848C-4EDD-BB1E-741DE405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6666490C-FC26-437E-BB5C-62EBA35C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完成任务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4FBAFA9F-FEC5-432D-B1B5-1F56FEF3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76011C5D-DD87-48CB-AC63-C76C9A35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构建 Agent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6CE7744-1283-4960-83D3-8E026186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908D7CC-5BB5-4D1A-A5E1-FBFE31EE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CE07517-8A4E-4E31-821B-7B8F3491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AI 全景与工具导航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5151211-64D1-489B-8416-A533CFDF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9715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880"/>
          </a:bodyPr>
          <a:lstStyle xmlns:a="http://schemas.openxmlformats.org/drawingml/2006/main"/>
          <a:p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这一部分先认识 Philips 的 AI 方向、企业资源和使用入口，了解不同工具怎样支持日常工作。</a:t>
            </a:r>
          </a:p>
          <a:p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Gateway 用于查找企业 AI 资源与使用要求。本场实操使用 Microsoft 365 Copilot，请提前确认 Philips 工作账号和所需功能可用。</a:t>
            </a:r>
          </a:p>
          <a:p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学习资源可以从 AI Skills Navigator 进入。实际操作时，只加入获准使用的资料，并由人工核对输出与后续行动。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34B0A741-BD93-4C65-BE52-F226C15F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e97535521694c55"/>
              </a:rPr>
              <a:t>打开 AI Gateway  ↗</a:t>
            </a:r>
          </a:p>
        </p:txBody>
      </p:sp>
      <p:sp>
        <p:nvSpPr>
          <p:cNvPr id="7" name="页码">
            <a:extLst xmlns:a="http://schemas.openxmlformats.org/drawingml/2006/main">
              <a:ext uri="{FF2B5EF4-FFF2-40B4-BE49-F238E27FC236}">
                <a16:creationId xmlns:a16="http://schemas.microsoft.com/office/drawing/2014/main" id="{B05A4CFD-DE1E-44CB-A288-E5E0C9CE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5DBF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23066714"/>
      </p:ext>
    </p:extLst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E24ACB8-0EF5-4EAE-A549-5FE91072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E230276-B807-4116-A7A4-003F98FD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D086AF1-968E-4272-8F24-567179F1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可持续发展 AI 战略：重点项目、当前进展与下一阶段计划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2E802BB-63DE-499A-BA17-82CA142F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战略资料按五条重点方向列出负责人、项目进展和后续计划。图中的 Now 与 Next 表示资料记录的阶段，不能直接作为今天的实时进度。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A055746-C1C5-4FC9-B85C-6AD8A704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B983224-5FAD-46CF-BC36-88C79260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919e44fc94857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E9E49D4-A92D-41B4-95FA-68AEBF9A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80EAE68-3737-4659-A2F7-43E66838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8924D01-A7EC-4140-834B-9FA99941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战略框架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7B51BC2-A393-4B70-AA99-3445DAF3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五条重点方向：AI Capability &amp; Adoption、Supplier Sustainability、Regulatory &amp; Compliance、Business &amp; Markets、Reporting &amp; Analysis。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Now 与 Next：Now 记录资料中的现有项目或部署工作，Next 列出后续扩展、标准化或接入流程的计划。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项目负责人：每一列底部说明业务支持、领导责任和日常推进分工。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64237A46-F379-433C-85BD-77F02149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a4eb6c35cb34bd4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99159460"/>
      </p:ext>
    </p:extLst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19E81EE-3627-4666-A103-296BD557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B40C2A1-6B01-426B-8932-29DB1E0B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4112280-0ABE-4929-A71C-92155021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三条基础工作流：能力建设、供应商风险与法规处理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02EA580-C9E6-4F98-ADEC-A47A935E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三条工作流覆盖员工能力建设、供应商风险数据和法规研读，并与战略图中的项目方向相对应。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FED2F85-EA61-4285-AAFF-533E2579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72944A0-EFA6-4F46-B1AB-95758BC4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ec334483645d4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DD23E70-B285-446F-BB64-8267FEB4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A9D80198-6923-479F-9ACD-4395AEC6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2C4F453-7777-4EBD-A961-3B5B29FF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基础工作流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22D1BB5-2D6C-44E1-AA4C-4090F131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1｜员工能力与应用推广：当前正在为不同岗位设计 AI 学习路径，并通过内部社区分享案例。下一步会收集、筛选值得推广的 AI 用例，同时建立内部推广网络。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2｜供应商可持续发展：AI 已用于发现供应商可持续风险、辅助成熟度评估，并自动筛查公开信息。下一步将进一步处理报告、问卷等非结构化资料，支持后续改进。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3｜法规与合规：AI 每年辅助整理 2,000 多项可持续发展法规，并帮助团队更快完成法规解读。下一步将把法规监测连接到质量管理和审计流程。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2F0A04C3-8E47-4E63-8ADF-DDDDC676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34cfdaf1a0b41f6"/>
              </a:rPr>
              <a:t>查看战略原图  ↗</a:t>
            </a:r>
          </a:p>
        </p:txBody>
      </p:sp>
    </p:spTree>
    <p:extLst>
      <p:ext uri="{BB962C8B-B14F-4D97-AF65-F5344CB8AC3E}">
        <p14:creationId xmlns:p14="http://schemas.microsoft.com/office/powerpoint/2010/main" val="1111922623"/>
      </p:ext>
    </p:extLst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EB4F93B-4D86-4E0E-8223-FC1486A8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0D8BC1-E516-419F-A8E9-627E56C8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713D4C1-B7E6-4EFC-9FBA-ABC43D12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商业支持、报告分析与 2026 年重点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584DA9A-57B4-4F8D-85BD-7F543CBB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Business &amp; Markets 聚焦投标和市场支持；Reporting &amp; Analysis 覆盖双重重要性评估、数据采集及披露流程。理解集团方向后，下一页会进一步说明大中华区的业务重点。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1BD22DE-21BB-4942-A706-9EBD74C0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3522286-E075-441D-915D-A84F929D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6f4eb863ee4910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CB87C4E-A6DA-460D-BBF7-EBBFE3E2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3D1C85D6-A3CB-411F-8FDA-8FF8CDE5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7D786C9-746B-4B64-B2F8-A75FE2ED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业务落地与规模化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BA8BFF4-F167-4443-9856-C554022C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4｜商业与市场支持：Tender Assistant 正在支持 150 多个销售后台团队，帮助准备投标材料并减少人工协调。下一步将在更多区域和重点投标场景中推广。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5｜报告与分析：AI 正在支持双重重要性评估，也就是同时评估可持续议题的业务影响和外部影响；同时帮助制造基地收集发票数据。下一步将支持更多可持续披露流程。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2026 年重点：扩大已经验证有效的项目，统一可重复使用的能力，并优先推进效果能够衡量的场景。每个项目都明确支持人和日常负责人。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8F1AF74-CB01-412E-8FF9-79BB03EE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43170a3f23d4d93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469372240"/>
      </p:ext>
    </p:extLst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B3071887-685F-4B69-A97E-E4C10F72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B17020D-FF74-4875-AA26-8FE27558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785613-0E31-40EA-A06F-265F701E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大中华区 AI 计划：五个业务方向和四项基础能力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DB687C-6D6D-4EF7-8137-55512A12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五个方向分别解决员工能力、销售机会、运营服务、职能工作和创新协作问题；技术平台、数据、管理机制和负责任使用为这些工作提供基础支持。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6590849-5C94-420A-B18B-98BE2DC3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894CCFC-1896-4755-874B-73ACF8ED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B861A663-D63F-42A1-A9EF-80395D4F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ED5DF0A-1A83-4677-AF2B-9600611E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73709A3-35B1-4072-B3AA-8CD4748D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提升员工</a:t>
            </a:r>
          </a:p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3C100BB-278F-4947-A75F-A840C4A5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Learn &amp; adopt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1C671E3-2EF8-4785-81A8-E642C89F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通过学习社群，</a:t>
            </a:r>
          </a:p>
          <a:p xmlns:a="http://schemas.openxmlformats.org/drawingml/2006/main"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开展岗位培训，</a:t>
            </a:r>
          </a:p>
          <a:p xmlns:a="http://schemas.openxmlformats.org/drawingml/2006/main"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并分享实践案例。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5677207-6D90-4393-81B4-928DEDFC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1F17E9F-3F12-4714-A8A7-1B2B9F59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4091FE6-D764-4C22-9AFD-201B6C55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提升商机洞察</a:t>
            </a:r>
          </a:p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和赢率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6612C49-23F6-4FE0-94F8-A2372B4E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Sales insights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1642821-14C3-4770-B47B-AA70124B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先分析销售机会，</a:t>
            </a:r>
          </a:p>
          <a:p xmlns:a="http://schemas.openxmlformats.org/drawingml/2006/main"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再复盘赢失单，</a:t>
            </a:r>
          </a:p>
          <a:p xmlns:a="http://schemas.openxmlformats.org/drawingml/2006/main"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并支持投标定价。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B07B41BC-AD49-414A-BEBB-2FF1D59A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53C171E-017A-4251-9F51-047A80AD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87540D3-1F43-492E-9129-0A6FF109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改善运营</a:t>
            </a:r>
          </a:p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和服务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E74DE86-6612-43FB-B962-FEB8A536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Operations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7E23803-CF9E-447F-AE01-114029E7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先简化订单处理，</a:t>
            </a:r>
          </a:p>
          <a:p xmlns:a="http://schemas.openxmlformats.org/drawingml/2006/main"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再改善服务运营，</a:t>
            </a:r>
          </a:p>
          <a:p xmlns:a="http://schemas.openxmlformats.org/drawingml/2006/main"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并支持工厂和供应链。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C71FAF15-0C85-4C17-9E33-B89C94E3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1BEADEC-89E5-4682-8D4E-47981E6D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36FAD41-FC27-4DF2-AD45-A85AEAAE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支持职能</a:t>
            </a:r>
          </a:p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日常工作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33A4201-09C5-41B7-96B4-65FC6DC9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Functions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479CC0E-8B68-4547-A912-083998E7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覆盖市场、财务与 HR，</a:t>
            </a:r>
          </a:p>
          <a:p xmlns:a="http://schemas.openxmlformats.org/drawingml/2006/main"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也支持法规、质量和法务，</a:t>
            </a:r>
          </a:p>
          <a:p xmlns:a="http://schemas.openxmlformats.org/drawingml/2006/main"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以及战略与竞品分析。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BF137174-9553-43DA-AF48-196968E0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F99D26E-A67E-443B-95BC-95A00E51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497F53EC-94BF-45C5-8D04-4B2B0784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连接伙伴</a:t>
            </a:r>
          </a:p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加速创新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A5D955C-C273-4E34-A3CF-9C4002F7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Innovation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449BD2A-A681-4050-ABCE-5ABACFA6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先找到本地 AI 合作方，</a:t>
            </a:r>
          </a:p>
          <a:p xmlns:a="http://schemas.openxmlformats.org/drawingml/2006/main"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再推进生态合作，</a:t>
            </a:r>
          </a:p>
          <a:p xmlns:a="http://schemas.openxmlformats.org/drawingml/2006/main">
            <a:pPr algn="ctr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从而加快创新流程。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CCFA8C1D-9185-4DF4-9C96-803B7E3A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每个支柱由业务牵头，并与支持伙伴和 AI Ambassador 协同推进。</a:t>
            </a:r>
          </a:p>
        </p:txBody>
      </p:sp>
      <p:sp>
        <p:nvSpPr>
          <p:cNvPr id="33" name="Rectangle: Rounded Corners 32">
            <a:extLst xmlns:a="http://schemas.openxmlformats.org/drawingml/2006/main">
              <a:ext uri="{FF2B5EF4-FFF2-40B4-BE49-F238E27FC236}">
                <a16:creationId xmlns:a16="http://schemas.microsoft.com/office/drawing/2014/main" id="{F0EBA6EB-97B4-45B3-8E19-8FC976D9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889AB06-2DA6-44B3-BEDE-D3D9A4E6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技术与平台</a:t>
            </a:r>
          </a:p>
        </p:txBody>
      </p:sp>
      <p:sp>
        <p:nvSpPr>
          <p:cNvPr id="35" name="Rectangle: Rounded Corners 34">
            <a:extLst xmlns:a="http://schemas.openxmlformats.org/drawingml/2006/main">
              <a:ext uri="{FF2B5EF4-FFF2-40B4-BE49-F238E27FC236}">
                <a16:creationId xmlns:a16="http://schemas.microsoft.com/office/drawing/2014/main" id="{34D52628-A31E-4C37-BD45-B1EAA5F3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54607E3F-936F-47DF-9490-59E6B394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37" name="Rectangle: Rounded Corners 36">
            <a:extLst xmlns:a="http://schemas.openxmlformats.org/drawingml/2006/main">
              <a:ext uri="{FF2B5EF4-FFF2-40B4-BE49-F238E27FC236}">
                <a16:creationId xmlns:a16="http://schemas.microsoft.com/office/drawing/2014/main" id="{9F93D25E-7AD2-41F8-93DB-CD56EE8D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00FAD82C-70AE-4A15-8B37-CEB15138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运营模式与治理</a:t>
            </a:r>
          </a:p>
        </p:txBody>
      </p:sp>
      <p:sp>
        <p:nvSpPr>
          <p:cNvPr id="39" name="Rectangle: Rounded Corners 38">
            <a:extLst xmlns:a="http://schemas.openxmlformats.org/drawingml/2006/main">
              <a:ext uri="{FF2B5EF4-FFF2-40B4-BE49-F238E27FC236}">
                <a16:creationId xmlns:a16="http://schemas.microsoft.com/office/drawing/2014/main" id="{72C8F409-6AD5-434D-9550-4504F6A5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02EBE08D-3256-4267-B049-FF4B3446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负责任的 AI 与合规</a:t>
            </a:r>
          </a:p>
        </p:txBody>
      </p:sp>
      <p:sp>
        <p:nvSpPr>
          <p:cNvPr id="41" name="Rectangle: Rounded Corners 40">
            <a:extLst xmlns:a="http://schemas.openxmlformats.org/drawingml/2006/main">
              <a:ext uri="{FF2B5EF4-FFF2-40B4-BE49-F238E27FC236}">
                <a16:creationId xmlns:a16="http://schemas.microsoft.com/office/drawing/2014/main" id="{21D02FF0-E439-4DDC-9296-F8865360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cdac7a92b2e4e89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67319917"/>
      </p:ext>
    </p:extLst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五个业务方向背后，共享同一套基础能力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业务场景可以不同，但平台、数据、治理和负责任使用必须共同建设。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 fontScale="100000"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共同基础是什么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首先，五个方向分别从员工能力、销售机会、运营服务、职能工作和创新协作切入。它们面对的是不同业务问题，因此每个方向都需要由熟悉场景的业务团队牵头。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接着，这些方向不能各自建设一套孤立能力。技术平台和数据底座需要支持重复使用，运营模式需要明确负责人、资源和衡量方式，才能把零散试点逐步扩展到稳定流程。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最后，负责任的 AI 与合规不是额外附加的一层检查，而是所有方向共同的基础。AI Ambassador 和支持伙伴会帮助团队理解工具、分享案例，并把实际问题连接到合适资源。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业务决定做什么，共享能力决定这些场景能否安全、稳定地规模化。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e392483484a4c15"/>
              </a:rPr>
              <a:t>进入 AI Gateway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CA290A01-99DC-411D-A3B4-D9074D63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78EF2982-16D6-4D0A-BC86-7451448B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04671AF4-AA4F-4F20-A315-A2592233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4023A47B-5283-4EA0-8511-2B870990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业务场景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15D83B11-5520-4EBB-BB3E-01CD9A55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D76F942A-BACC-44CB-BDB4-9B2FC8A3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共用底座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0BE7300E-0E2F-4AB1-9966-7E9826E8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A9CEDE93-AEA4-4AE3-9EAD-1D78E5A8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责任治理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10E11BD-5C50-4627-B267-5144D51D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6A06EB6-3034-4D52-86F9-3D6A3785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5ECE51-1EF7-4886-ADB5-97DB6F0C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GCR AI Ambassador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E34FDE2-B956-45F3-8A40-610B32AA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9715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这一部分介绍 GCR AI Ambassador 支持网络，以及遇到不同问题时应该找谁。</a:t>
            </a:r>
          </a:p>
          <a:p xmlns:a="http://schemas.openxmlformats.org/drawingml/2006/main"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首先认识 Champion、Ambassador、Catalyst 和 Guru 的分工：有人负责方向，有人推动学习，有人梳理业务场景，也有人连接技术资源。</a:t>
            </a:r>
          </a:p>
          <a:p xmlns:a="http://schemas.openxmlformats.org/drawingml/2006/main"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随后通过名单找到自己部门、业务单元或市场的联系人。学习和工具问题可以先咨询 Ambassador，业务决定与数据授权仍由本部门负责人确认。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CB003F00-4A80-497E-ACC6-1C2956EC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48f985706f6426f"/>
              </a:rPr>
              <a:t>进入 AI Gateway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4EDF6856-03F3-4244-817F-0026C71A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e10747fa7584410"/>
              </a:rPr>
              <a:t>查看 AI Tool Lab  ↗</a:t>
            </a:r>
          </a:p>
        </p:txBody>
      </p:sp>
      <p:sp>
        <p:nvSpPr>
          <p:cNvPr id="8" name="页码">
            <a:extLst xmlns:a="http://schemas.openxmlformats.org/drawingml/2006/main">
              <a:ext uri="{FF2B5EF4-FFF2-40B4-BE49-F238E27FC236}">
                <a16:creationId xmlns:a16="http://schemas.microsoft.com/office/drawing/2014/main" id="{B05A4CFD-DE1E-44CB-A288-E5E0C9CE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5DBF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09649181"/>
      </p:ext>
    </p:extLst>
  </p:cSld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3B35C42C-B12B-419E-A7CD-12178807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53F474D-798E-486F-824A-679C4B3B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D60D2D7-B39C-48B5-B090-37EEF21E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Network：四类角色分别提供方向、推广、场景和技术支持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C7A9889-6A9D-44A6-ACD5-773A834E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Champion 负责方向，Ambassador 组织学习和推广，Catalysts 从日常流程中寻找适合 AI 的任务，Guru 把业务问题连接到合适的技术资源。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A9B717-25C1-4975-91D7-8CC48224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3892CA-0A8D-4813-BDD8-7086AF92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E0A3A5A2-582E-4A43-9466-FCAE5796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989FAE1-96B9-42C4-A24C-C023EB97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6A907FA-AD87-447F-981B-6DF6CF33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0E2065F-95BC-4217-93E0-F4954B6B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24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先锋｜Champion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EE307B-B7B9-469A-9ACC-5972978A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383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Yiqiu Chen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236C75D-7112-4340-AD76-1C7C7F22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制定战略方向，聚焦高价值场景，推动 AI 创造业务价值。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9E84DEF1-9DDB-4C8B-B615-9FE3EE26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4AAEB248-9021-47CB-BD69-48AC44B1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47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A4A3A0E-F44B-45D8-81CC-11BD33DD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432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EE57160-811A-4D78-9450-E7033C36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289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大使｜Ambassador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9E493BE-26FC-4A4C-B04F-6C5B3E35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24 people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F6FEC6C-0E4D-42E9-8114-69D47F3C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8607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组织学习和经验分享，帮助更多团队了解并使用合适的 AI 工具。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98CC3175-ECC6-4897-A48C-31887254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DC6385CF-CFEA-4252-AD88-5B6617D9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97EF0D8-3240-4C8A-98CA-41C5CBBE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B6EEA69-5085-4D4C-8ABD-954A927C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33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推动者｜Catalysts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BC4D44B-5428-4A85-9F25-D745A559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48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每个团队约 5%–10%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F00FECA-5185-4DA3-BC28-2C5AD458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熟悉业务流程，从日常工作中寻找切入点，推动 AI 融入真实工作流。</a:t>
            </a:r>
          </a:p>
        </p:txBody>
      </p:sp>
      <p:sp>
        <p:nvSpPr>
          <p:cNvPr id="25" name="Rectangle: Rounded Corners 24">
            <a:extLst xmlns:a="http://schemas.openxmlformats.org/drawingml/2006/main">
              <a:ext uri="{FF2B5EF4-FFF2-40B4-BE49-F238E27FC236}">
                <a16:creationId xmlns:a16="http://schemas.microsoft.com/office/drawing/2014/main" id="{1C747F18-3DBF-4BA3-B0A3-2E348C47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A7A1785C-F0DA-41E1-A3B2-615ECC36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57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848CC7C-BA78-4265-87C5-E29657D7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529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045977E-2FE7-4E6E-8869-B2505BD8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386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专家｜Guru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1630DBEB-3DA9-4589-A97E-EAC9A2AF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每个团队约 3%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80AE97D-AA7B-4D1B-B633-59D3A67B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9582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把业务问题连接到合适的技术资源，并在开发、运行和改进过程中提供支持。</a:t>
            </a:r>
          </a:p>
        </p:txBody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982BB600-8735-4E2B-AB68-CA3EC08B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6169fe1ff074579"/>
              </a:rPr>
              <a:t>回到 AI Gateway  ↗</a:t>
            </a:r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D038ADA6-6CF7-49F5-8A94-9D0B53C7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682e9adfb4d46ab"/>
              </a:rPr>
              <a:t>继续探索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1117386523"/>
      </p:ext>
    </p:extLst>
  </p:cSld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遇到不同问题时，需要寻找不同类型的支持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四类角色共同组成支持网络，但每一类角色承担的责任并不相同。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 fontScale="100000"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如何找到合适的支持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Champion 负责确定整体方向和高价值场景，Ambassador 负责组织学习、分享经验，并帮助更多团队理解可以使用哪些工具。这两类角色主要解决方向和推广问题。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Catalysts 更接近日常业务流程，他们会从真实工作中寻找适合 AI 的切入点。Guru 则把业务问题连接到合适的技术资源，并在开发、运行和改进过程中提供专业支持。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因此，遇到学习和工具使用问题时，可以先联系 Ambassador；需要梳理业务场景时可以寻找 Catalysts；涉及技术实现和持续改进时，再与 Guru 及相关技术团队协作。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先判断问题属于方向、推广、场景还是技术，再寻找对应角色。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2adc8ae579c44c2"/>
              </a:rPr>
              <a:t>回到 AI Gateway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79AF075F-DC81-42A4-9283-4E27ACD7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7385D52D-939C-4BA1-8F77-2BEB386D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FCF1FF18-CDCF-4C5E-972B-7FB6800E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B5A22363-82D4-4C3B-B3EF-D3905235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确定方向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188FAE31-4C2D-4F3D-8556-341AB61B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FABAFCB3-A754-40E0-B25C-F99654F4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梳理场景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3CF707A8-8422-4850-9043-9ABA4CDE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6A26D503-EA8F-45AF-8A18-C37DC9D9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技术支持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2D5C8EC-CDA7-4142-B13A-27180792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589270-51B0-40D6-99C4-BD064A9B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C2F7314-42A9-4926-BE64-75B3CFEB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按部门或业务单元找到对应的 AI Ambassador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926C342-9567-4401-B7C3-CBEDCF74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Alison Gu 担任 GCR AI Ambassador Representative Chair。名单按部门或业务单元、管理负责人和 AI Ambassador 三列排列。找到支持网络后，接下来进入 Copilot 的具体学习和实操。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745D58-83E5-49B4-96BF-DE7AFCD3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AFDE44E-1449-4836-BDF4-01EE3CFA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db0a6318144e2"/>
          <a:stretch xmlns:a="http://schemas.openxmlformats.org/drawingml/2006/main"/>
        </p:blipFill>
        <p:spPr>
          <a:xfrm xmlns:a="http://schemas.openxmlformats.org/drawingml/2006/main">
            <a:off x="685800" y="1783116"/>
            <a:ext cx="6686550" cy="3577517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BE58FD5-26B3-4285-9455-1A4E44C0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657600"/>
          </a:xfrm>
          <a:prstGeom xmlns:a="http://schemas.openxmlformats.org/drawingml/2006/main" prst="roundRect">
            <a:avLst>
              <a:gd name="adj" fmla="val 312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1842AEB-2764-408C-BE69-99C619AB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44A8AD8-7697-4C2B-B128-025BC676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E409797-0DA3-4B5A-BB88-760A1E17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首先看覆盖范围：名单包括市场、财务、法务、人力资源、战略、质量、法规、临床、创新、IT，以及各业务单元和区域市场。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接着看角色分工：Function Lead 负责业务管理；AI Ambassador 分享学习资源和实践经验，帮助团队梳理适合 AI 的问题。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使用时，先在第一列找到部门或业务单元，再查看同一行的大使；工具和学习问题可与大使交流，业务决定和数据授权仍由本部门负责人确认。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CE3AFC3-31B2-42E7-A95E-6A1A6D61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493ec952a234e74"/>
              </a:rPr>
              <a:t>进入 Copilot 学习与实操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3F45231B-A194-4C97-A253-70AE7619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ae0141e77b446e6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16276373"/>
      </p:ext>
    </p:extLst>
  </p:cSld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568C22E-CD36-4931-A7D1-38A619BD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864FC7C-150F-455F-B149-A70679C4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A55462E-C969-4822-BA7C-1C19ADFE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日常工作中的 Copilot 实操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EA7C621-E933-4A01-99DD-E9475404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9715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这一部分练习怎样把资料转化为可行动的结果。</a:t>
            </a:r>
          </a:p>
          <a:p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先认识 AI Skills Navigator 和 MS-4004 岗位案例，找到后续学习入口。</a:t>
            </a:r>
          </a:p>
          <a:p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随后用绿色办公周完成练习：加入资料、写清提示词、核对冲突，生成简报与邮件草稿。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0101B597-DE81-499D-B076-F36B538A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57d8be15054439c"/>
              </a:rPr>
              <a:t>AI Skills Navigator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BA4B14DA-72D3-4DB0-AF58-7629560C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07a42d075314104"/>
              </a:rPr>
              <a:t>MS-4004 学习路径  ↗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4164F439-25E9-4CB8-A5DE-8E1602B6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b701f497d274b7d"/>
              </a:rPr>
              <a:t>打开 M365 Copilot  ↗</a:t>
            </a:r>
          </a:p>
        </p:txBody>
      </p:sp>
      <p:sp>
        <p:nvSpPr>
          <p:cNvPr id="9" name="页码">
            <a:extLst xmlns:a="http://schemas.openxmlformats.org/drawingml/2006/main">
              <a:ext uri="{FF2B5EF4-FFF2-40B4-BE49-F238E27FC236}">
                <a16:creationId xmlns:a16="http://schemas.microsoft.com/office/drawing/2014/main" id="{B05A4CFD-DE1E-44CB-A288-E5E0C9CE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5DBF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42023664"/>
      </p:ext>
    </p:extLst>
  </p:cSld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0492418-88B6-403F-BCF1-7F078302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A92C1FE-663A-42B2-97CC-B99AC480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8BDCFAA-0E7D-4931-9678-4A190BF3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Skills Navigator：从 For you 首页开始选择学习内容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26A9B2C-3A7D-4737-B0C7-9374F1C2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Skills Navigator 是微软官方 AI 学习网站。For you 首页根据学习记录和个人资料推荐内容，左侧提供课程搜索、学习播放列表、证书和学习报告等入口。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7757515-A826-4BD0-B69E-DCEE5B69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265ECB-F29C-4C0B-9AA7-58847313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887a9545c44709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0B2BCF77-CFFB-4C7A-9A8E-4FB462D2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1F48B00-0036-42FC-8A58-7927E5DC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B2698A7-CDD6-46D1-B04A-882D4FA5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首页怎么使用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13B0D4D-87F8-4554-A347-B892BAD7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首先看左侧导航：For you 查看个性化内容，Explore content 搜索主题，Skilling playlists 进入学习路径，Credentials 和 Reporting 查看证书与记录。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接着看首页推荐：Recommended for you 展示课程，Pick up where you left off 用于继续学习，右上角提示帮助保持学习习惯。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首次进入时先更新 profile，再按岗位或工作问题搜索；Bootcamp 结束后也可以从这里继续学习。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AEF9E8FA-8614-4AAB-8891-F4D3D95D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63b1af7d03041ff"/>
              </a:rPr>
              <a:t>访问微软官方学习网站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128702706"/>
      </p:ext>
    </p:extLst>
  </p:cSld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3B18985-588E-468F-B705-C0A66A4D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1143D05-6D69-44E8-B977-62C1E367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BA66A3C-5ED1-4498-A2ED-8D20DCAB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Skilling playlists：把相关课程放进一条学习路线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C4A6224-68CF-43A4-93A0-706ED5DE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当前页面打开的是 Philips: Summer 2026 M365 Copilot Courses。顶部显示学习内容数量和完成进度，下面按顺序排列 AI 基础、Copilot Chat 基础和 MS-4004 业务案例。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E366BF6-F1E8-4769-BCAA-54977D2A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618901F-EDF3-4B2F-934E-90AEECB1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e278b22874d22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20ABB24D-2223-4A5E-BEEC-93782E2E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E0D26EE8-DF86-49E7-B4C2-D245BF88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15CEDA-6892-472F-BF03-F3E2801A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播放列表的结构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B4D7F2-D4F6-442F-ADD4-6BB8B759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首先看顶部信息：截图展示学习内容数量和完成进度，Continue learning 用于回到上次位置，具体内容以登录后页面为准。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建议先完成 AI 和 Copilot Chat 基础，熟悉提示词、文件分析和协作方式，再进入 Microsoft 365 Copilot Use Cases（MS-4004）。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向下滚动可以找到 MS-4004，按岗位或工作问题选择案例。本场先认识入口，课后可继续完成课程。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3A10445-673B-4113-AE65-320028B3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3a6ec04d7384491"/>
              </a:rPr>
              <a:t>打开当前播放列表  ↗</a:t>
            </a:r>
          </a:p>
        </p:txBody>
      </p:sp>
    </p:spTree>
    <p:extLst>
      <p:ext uri="{BB962C8B-B14F-4D97-AF65-F5344CB8AC3E}">
        <p14:creationId xmlns:p14="http://schemas.microsoft.com/office/powerpoint/2010/main" val="1066338417"/>
      </p:ext>
    </p:extLst>
  </p:cSld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7D8677C-8816-4615-8F16-0C0792F1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7DA320-6AD1-4163-A405-6331618F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BAF0440-06BB-404B-B474-0ECE4AB8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从左侧目录进入 MS-4004，再按岗位选择案例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5FD0F6B-B824-42C9-A4D6-76192857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进入课程后，左侧目录列出播放列表中的课程和单元。当前截图选中的是 Copilot Chat Basic 的介绍单元；向下找到 MS-4004 并展开，就可以进入不同岗位的案例。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EABC377-666D-47EE-ADA9-9135631F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22FF228-DB83-495C-B851-9E1D92D8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a0c162ef194e25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8714D669-1430-4789-8BEC-78FE2CF1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5FFA04F-26EB-4446-99E7-2135062C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146C497-570D-4749-AE61-471DE6EE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课程页面怎么读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E3B6F62-995C-4080-BBD9-5F97EC43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首先看左侧目录：点击课程名称可以展开单元；当前基础模块包括介绍、Copilot Pages、Agents、练习和总结，下方就是 MS-4004。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接着看右侧学习区：这里显示正文、提醒和学习目标，顶部还提供单元总结和播客等复习功能。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今天先记住课程入口，再进入 MS-4004 选择接近自己岗位的案例；后面的实操会练习其中可以跨岗位复用的方法。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B5D3BE8-86A4-4D1C-8828-87704453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ea3ed0ae55143b3"/>
              </a:rPr>
              <a:t>打开 MS-4004 播放列表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58D1E7AF-B629-485B-B18E-51A3EBB9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d1d2984650d4da2"/>
              </a:rPr>
              <a:t>查看 Microsoft Learn  ↗</a:t>
            </a:r>
          </a:p>
        </p:txBody>
      </p:sp>
    </p:spTree>
    <p:extLst>
      <p:ext uri="{BB962C8B-B14F-4D97-AF65-F5344CB8AC3E}">
        <p14:creationId xmlns:p14="http://schemas.microsoft.com/office/powerpoint/2010/main" val="730974638"/>
      </p:ext>
    </p:extLst>
  </p:cSld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A8ACF113-38D0-4E99-BC35-7FB580DB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2FC33D5-81F1-4C2A-BE57-1E19A5DD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D7378AB-9DAE-4628-ACD3-2B6416F3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覆盖的十类岗位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4D175D0-00CF-4765-8260-70116622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按岗位组织 Copilot 案例。浏览时可以先看与自己最接近的岗位，也可以直接寻找熟悉的任务，例如读懂上下文、比较多份资料、整理风险和起草下一步沟通。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9A315D0-42BE-4DBB-A8B6-A6FF2D68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ADC8A8E-8A89-432D-BD2E-C2B5542D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AC5C9677-7571-4F46-BC21-E9AF6D26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E5383AD-9CC8-46EF-A068-A027BC37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222C82E-C3F4-45E1-91C3-1EC04854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管理者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6E6EFF4C-243F-46D2-9A9E-3AD6220F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13F4F94-B6C4-4FE8-9FD6-7EC07982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BEF8A4D-C924-4D10-B342-EE9AF0EF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B5AFC4B4-70FF-48DE-A76C-8EE9A7BF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9C33516-873F-4FB3-9C9A-5B769FCA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651EF23-0377-4AC3-AD68-309623E2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市场营销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4802920D-0BAE-4516-98BE-55FB14B1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8B77D47-E691-4E0F-B6B0-CB48B9B6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EB1FCAB-B0B2-470D-A114-FB7C1742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372C2E45-21DA-41C7-9810-4D419372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7B72868-A010-468F-AD44-8D52AB29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2B4F418-A01C-4C1A-9724-C0D55EF6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IT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5DF81C26-10F0-40AE-B822-5E6FD51F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DACBE5C-BE16-4AF5-B068-74AD72CD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B496F7-4DEB-4C72-BEE0-233FE9DD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人力资源</a:t>
            </a:r>
          </a:p>
        </p:txBody>
      </p:sp>
      <p:sp>
        <p:nvSpPr>
          <p:cNvPr id="25" name="Rectangle: Rounded Corners 24">
            <a:extLst xmlns:a="http://schemas.openxmlformats.org/drawingml/2006/main">
              <a:ext uri="{FF2B5EF4-FFF2-40B4-BE49-F238E27FC236}">
                <a16:creationId xmlns:a16="http://schemas.microsoft.com/office/drawing/2014/main" id="{B4F51F5A-ABC4-4F0C-90EB-F40A5B66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3694A76-E617-4250-8B7A-78F98F5E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A3A107F-8090-4DB3-A4EF-7061B177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2E4894E7-603D-4804-9C99-6E8CE5C4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4FE950D-C794-405E-9E9F-1803A0F4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EFE59B9-E087-4559-BE18-9F6C2F16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企业沟通</a:t>
            </a:r>
          </a:p>
        </p:txBody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08173CC7-11CA-40A1-A3CD-DA996275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FF0DE40E-FCAD-4DD5-9C01-5F6E151D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9C28F91-2170-44A1-A3D0-2B5F4FE1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客户服务</a:t>
            </a:r>
          </a:p>
        </p:txBody>
      </p:sp>
      <p:sp>
        <p:nvSpPr>
          <p:cNvPr id="34" name="Rectangle: Rounded Corners 33">
            <a:extLst xmlns:a="http://schemas.openxmlformats.org/drawingml/2006/main">
              <a:ext uri="{FF2B5EF4-FFF2-40B4-BE49-F238E27FC236}">
                <a16:creationId xmlns:a16="http://schemas.microsoft.com/office/drawing/2014/main" id="{7DB57E33-8D06-4EB6-9E58-1151032E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0359A295-BAEB-4174-98AA-37A4E67E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9AB5BFD2-DFBD-43D9-A9FA-161EB98C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法务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C31716B0-7B55-4E7E-A468-42F9C39B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首先，可以从与自己最接近的岗位进入 MS-4004，例如管理、销售、市场、财务、IT 或人力资源。接着，不要停留在岗位名称上，而要观察案例实际解决的是阅读资料、比较来源、整理风险还是起草沟通。这样学习到的方法才能跨越岗位，迁移到自己的日常工作。</a:t>
            </a:r>
          </a:p>
        </p:txBody>
      </p:sp>
      <p:sp>
        <p:nvSpPr>
          <p:cNvPr id="38" name="Rectangle: Rounded Corners 37">
            <a:extLst xmlns:a="http://schemas.openxmlformats.org/drawingml/2006/main">
              <a:ext uri="{FF2B5EF4-FFF2-40B4-BE49-F238E27FC236}">
                <a16:creationId xmlns:a16="http://schemas.microsoft.com/office/drawing/2014/main" id="{852ED640-2990-4B37-8297-3B1A708C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5b20b6c18a949f1"/>
              </a:rPr>
              <a:t>进入 MS-4004  ↗</a:t>
            </a:r>
          </a:p>
        </p:txBody>
      </p:sp>
    </p:spTree>
    <p:extLst>
      <p:ext uri="{BB962C8B-B14F-4D97-AF65-F5344CB8AC3E}">
        <p14:creationId xmlns:p14="http://schemas.microsoft.com/office/powerpoint/2010/main" val="1952200127"/>
      </p:ext>
    </p:extLst>
  </p:cSld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可以从岗位进入课程，但不要被岗位名称限制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用岗位组织案例，真正可以迁移到日常工作的，是案例背后的通用任务。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 fontScale="100000"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如何选择学习入口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首先，可以从与自己最接近的岗位开始浏览。管理者、销售、市场、财务、IT、人力资源、运营、企业沟通、客户服务和法务，都有对应的 Copilot 案例。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接着，不要只看岗位名称，还要观察案例实际解决的任务。例如，快速理解上下文、比较多份资料、整理风险、准备会议和起草沟通，这些任务通常会跨越多个岗位。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因此，学习时可以先选择熟悉的场景，再把其中的提示词结构、资料处理方式和检查方法迁移到自己的工作，而不是机械复制案例中的岗位背景。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岗位帮助你找到入口，通用任务决定方法能否迁移到自己的工作。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2253c3f96984390"/>
              </a:rPr>
              <a:t>进入 MS-4004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F5018A93-3420-4694-A786-084DA883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B83B54DC-2EBC-4AE4-A5D6-98BA6E20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FCFB7238-2F16-4221-802F-20669652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491127D8-DBDB-42DD-B38C-AC1DE8A7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选择岗位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AEF64F5C-3555-46A1-B8F1-496669AD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08565198-A31A-4DF2-9125-666B4B14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识别任务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A2053430-601B-464F-9697-659D22BF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1AB83E64-F52C-410B-BC80-2232C02C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迁移方法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5488D6D-CD3F-4E1E-B4F8-5B9EC69B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9D3FD1E-9D9E-46B7-8D0A-5C04A983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5FCD0B-7659-4ED9-8A5C-FE150B95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把岗位差异提炼为四类通用任务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EA2623D-A365-4957-B85A-D7E0DB25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无论岗位是什么，Copilot 的高频价值通常集中在“读、理、查、写”。课堂案例会把这四类动作串成完整工作流：先理解资料，再形成结构，检查问题，最后把结果转化为可执行的沟通。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B31870A-5EAA-4E6B-B673-18225FAF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DAD14C-0A0D-4C7F-B079-7C4E6B6A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889C5695-B683-476E-BB95-1025B4FA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B3CEA1DE-7413-4849-9F5D-EE22BAD4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B4CC684-1E86-49E5-B849-C0C99D79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E548E9D-1491-40DC-9DB9-A726AE22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读：快速理解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1316E8C-2674-4669-ACEC-02833E07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阅读项目简介、会议纪要、邮件或文档，提取目标、背景和关键事实。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5CD10C3-4BEE-4D30-9AC5-6E8A8A91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76C42CE-0415-4A48-BF8E-EF0D133F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29AB4DF-1D21-4DE3-80B8-7E6C68E2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2994DC8-E648-4CA1-868D-3319D35A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理：形成结构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421B3FA-2DFE-4ABC-950F-2C214AE4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按决策、行动、风险、截止日期和负责人重新组织信息。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9E281427-0D05-44FF-8D49-11A4E0AC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F7CD52D9-35F3-4D7F-A751-7C1F89B8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9D76E4D-A9FB-43F9-A999-E1C6A308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F9ABA4D-F508-464A-B2DA-06978A8D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查：发现问题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EF2349A-FCD9-4CC4-ABB0-A0DD79A6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比较多个来源，标记冲突、缺失信息和需要人工确认的内容。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D56F8564-1A68-4316-A687-439B5E0F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7FC3EB71-2AF6-4FE3-8FF4-57265DEF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7531091-91C0-4DE0-B5E8-DFD6B28E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B20D5FE-060A-4EC6-9C65-A51683A1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写：推动行动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FBB49975-86CB-4604-BC2E-2D6E3361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把结果整理成项目简报或跟进邮件草稿。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F6C2A6BA-4BBD-4FFB-A594-1E797AF8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8eaf1bcede94e7e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80339971"/>
      </p:ext>
    </p:extLst>
  </p:cSld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读、理、查、写是一条连续的工作链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Copilot 的价值不只是生成一段文字，而是帮助我们把资料逐步转化为可以采取行动的沟通。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 fontScale="100000"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怎样把资料变成沟通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第一步是读，也就是快速理解项目简介、会议纪要、邮件或其他资料，提取目标、背景、关键事实和限制条件。没有完成这一步，后面的总结很容易失去上下文。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第二步是理和查。先把信息按照决定、行动项、风险、负责人和截止日期重新组织，再比较多个来源，找出冲突、缺失信息和需要人工确认的内容。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最后一步是写。把已经核对过的分析结果转化为邮件、简报或下一步安排，同时保留待确认事项，避免把模型推测写成已经确定的事实。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先理解，再组织和核对，最后才把结果写成可执行的沟通。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8bf4c3e8ac34eac"/>
              </a:rPr>
              <a:t>打开 Microsoft 365 Copilot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25EE2E17-6CB6-4C95-8DF2-0145CC81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4469B722-7040-4BD1-B016-573636B3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9E3202DA-711C-4969-8918-32DFD117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2E07749E-65B0-4FA7-8A88-1B011A9C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阅读资料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331F7068-5311-4582-B796-DCD69D5E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AA459660-8097-4A3B-8855-B3275C30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组织核对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D2546C9D-09E6-4678-A40B-94848728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70DDA72D-AC1C-48BE-B5EF-BDA72BD9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形成沟通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46A38B2-4F6F-4D31-89D6-FCAE39D1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6D5D903-F7D3-485B-AC40-C24E30DD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4352DFF-B952-4740-B658-9C7CCF94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通用案例：快速接手一个新项目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32C3496-5321-4CF0-80FE-FD72C36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你刚接手绿色办公周项目，需要依据三份虚构资料了解目标和记录状态，找出行动项、冲突与信息缺口，并起草跟进邮件。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101D30E-BEF0-47B8-A803-39C166C6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94E2110-3EC7-4617-855D-189D74BB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54B43AAB-0CF4-4BA1-846D-6637E630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0629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29F87DC-0D35-4DC2-B4C3-4922D139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你的任务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5F21E29-E4B4-43DE-AAE8-0BAE05C9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48"/>
          </a:bodyPr>
          <a:lstStyle xmlns:a="http://schemas.openxmlformats.org/drawingml/2006/main"/>
          <a:p>
            <a:pPr algn="l" eaLnBrk="1" latinLnBrk="0" hangingPunct="0">
              <a:buNone/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模拟接手“绿色办公周”：先读懂三份虚构资料，再向负责人说明资料状态、风险及待确认事项。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5844B80B-A6AA-4593-A8B7-DEEAF4E2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2BEF8D-F723-4CB0-B0E2-46314130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你会拿到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705FEB-178E-4706-8AD7-783B7D5C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项目简介说明背景；</a:t>
            </a:r>
          </a:p>
          <a:p>
            <a:pPr algn="l" eaLnBrk="1" latinLnBrk="0" hangingPunct="0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会议纪要记录决定；</a:t>
            </a:r>
          </a:p>
          <a:p>
            <a:pPr algn="l" eaLnBrk="1" latinLnBrk="0" hangingPunct="0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时间表记录里程碑。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65EA0DFA-16D8-44D2-AB66-B86E7989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BD13297-C6C2-4DC6-8947-2AC32500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请 Copilot 帮你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DD205ED-52E8-407E-834F-93051F9D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先提炼目标和资料状态；</a:t>
            </a:r>
          </a:p>
          <a:p>
            <a:pPr algn="l" eaLnBrk="1" latinLnBrk="0" hangingPunct="0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再整理事项、负责人和期限；</a:t>
            </a:r>
          </a:p>
          <a:p>
            <a:pPr algn="l" eaLnBrk="1" latinLnBrk="0" hangingPunct="0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最后找出冲突与信息缺口。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F6D01EF1-702A-4BFB-8764-579FF24E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0ACDCF6-EF49-4F38-99C8-22070ED4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最后交付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70FBAE2-079A-4622-A623-253AB7B9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最后形成一页项目接手简报，</a:t>
            </a:r>
          </a:p>
          <a:p xmlns:a="http://schemas.openxmlformats.org/drawingml/2006/main">
            <a:pPr algn="l" eaLnBrk="1" latinLnBrk="0" hangingPunct="0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再起草一封跟进邮件，把分析转化为可执行的沟通。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0C8D5E0B-034D-4957-A22B-7755B535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4896ff5091c483b"/>
              </a:rPr>
              <a:t>进入 Copilot 实操  ↗</a:t>
            </a:r>
          </a:p>
        </p:txBody>
      </p:sp>
    </p:spTree>
    <p:extLst>
      <p:ext uri="{BB962C8B-B14F-4D97-AF65-F5344CB8AC3E}">
        <p14:creationId xmlns:p14="http://schemas.microsoft.com/office/powerpoint/2010/main" val="1348433907"/>
      </p:ext>
    </p:extLst>
  </p:cSld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绿色办公周练习，要把三份资料变成两项交付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这个练习模拟临时接手项目，因此重点不是复述附件，而是形成清楚、可靠的接手判断。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 fontScale="100000"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练习要完成什么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练习开始时，你会拿到项目简介、会议纪要和时间表。首先需要理解项目目标、成功指标、预算、范围和关键日期，同时区分已经确认的决定与仍在讨论的问题。</a:t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接着比较三份资料。报名开放日期存在两个版本，部分供应商和合同信息没有提供，需要保留来源并标记待确认。</a:t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最后形成一页项目接手简报和一封跟进邮件。简报包括资料记录的状态、行动项、风险和缺口，邮件写清需要确认的问题，不依据今天日期推断项目进度。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练习的核心是比较来源、保留不确定性，并把分析转化为行动。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4ed959cf709441a"/>
              </a:rPr>
              <a:t>进入 Copilot 实操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CB34B83D-DD13-47F3-9EB7-59234148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E53B2322-14F2-4C6F-877E-943E62BF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F81279F3-9555-4DDA-80F6-F2A6DC7F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CE53397E-CF74-4325-A369-102B1001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理解资料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ECA641DC-E529-4F9C-BE70-6675709A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D269B415-BD09-4716-AE33-FC1C09D0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发现冲突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A61D8B54-7B72-440F-8189-5CCA8854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8858620B-76F3-464E-B327-E45254A1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形成交付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4BD82BF-ED35-4FE6-BCAD-A55B80FC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BCA1C78-B57F-4ECA-A58E-F1AED031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455389-5CD8-4333-81D4-2EE3EF1D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1：项目简介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CF48A9-2AEC-4B42-B0F4-C01C0E29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先从项目简介建立全貌：项目为什么做、如何衡量、预算和范围是什么、关键日期有哪些。这里记录的报名开放日期是 28 Aug，稍后会和时间表进行对照。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A140D39-DD75-41E5-A06F-604B062C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C1680D-415D-4B14-838E-BEC17EEE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C8264DA5-F21A-4C00-A366-F563B906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A3BBFDC-9802-49AE-A19C-20FAE265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GREEN OFFICE WEEK｜PROJECT BRIEF（虚构培训数据）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5B6EEF0-0A65-4344-BE97-BC7C10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923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目的与受众：资料设定于2026年9月14–18日举行，面向约400名内部同事，鼓励可衡量的可持续办公习惯。</a:t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成功指标：报名150人，出席率达到报名人数的80%，参与者反馈达到4.2/5。</a:t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预算与范围：工作预算CNY 25,000，仅内部沟通，材料中英双语。资料记录供应商未选定、未签合同，预算不等于合同金额。</a:t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关键日期：项目简介写明8月28日开放报名，9月9日关闭报名。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8FF16BB7-CA00-4137-B6A8-262ED0CE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edcd21aaa0d40b3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2081283299"/>
      </p:ext>
    </p:extLst>
  </p:cSld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AB8232C-A286-4466-81DB-35895822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C0864C7-F94E-4B24-80B1-F2564180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1D017FD-9B6D-4A20-92EA-1365B196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2：会议纪要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393F52A-8663-4030-995D-E79317F7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会议纪要补充了负责人、截止日期和讨论状态。阅读这一份时，把内容分成“已确认”“行动项”和“开放问题”，后续简报就能清楚区分决定与待确认事项。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8CD7751-106C-4A05-84CD-CFC89354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49C199D-CD85-4DC0-B0D8-0C3838A4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2CBD7EEF-8294-44D4-B025-35AC6051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69DAAD2-A8BE-4C5E-983B-AE97B25E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PLANNING MEETING NOTES｜17 AUG 2026（虚构培训数据）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421D729-D47F-4DD3-AAB2-BB37CEF8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9239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>
            <a:pPr eaLnBrk="1" latinLnBrk="0" hangingPunct="0"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已确认：资料记录活动日期、内部沟通、双语材料和场地安排原则。</a:t>
            </a:r>
          </a:p>
          <a:p>
            <a:pPr eaLnBrk="1" latinLnBrk="0" hangingPunct="0"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行动项：项目负责人8月21日确认五天议程，设施协调人8月25日确认房间布置及回收站点，沟通负责人8月28日发布双语报名通知。</a:t>
            </a:r>
          </a:p>
          <a:p>
            <a:pPr eaLnBrk="1" latinLnBrk="0" hangingPunct="0"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开放问题：餐饮供应商和可选闭幕活动仍待确认。资料未提供已签约合同金额，不能据此推断今天的审批或签约进度。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E8FC2C2A-5230-447B-AF1B-ABDB7D51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0ea93149c4d41e3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1033376803"/>
      </p:ext>
    </p:extLst>
  </p:cSld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BC861CD-2C4C-4C8D-ADCB-7E245D99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04EC2DB-2186-47CC-B288-355DE58A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BD46BA7-0AA4-4795-98EC-87140DEB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3：时间表里出现了另一个日期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3BB6101-D4A2-4C04-B15F-CC3D1F64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时间表把报名开放写成31 Aug，项目简介写28 Aug，需要保留来源并核实。表中状态仅代表资料记录，不能据今天日期推断实际进度。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3C79F6B-718D-48F8-9A8C-E3847324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D551B8-D89F-4951-B838-2E5D888F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C430C3D-26BE-4542-95B8-ABF3C5B8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040A7E1-C0A9-4ED4-B16A-AE6F5AFB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ABC6ADD-5D6F-4698-B2D1-E7A77681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截止日期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3D9AD9C-BFCA-449C-B80D-0F18BA30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资料状态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FD298A0-529A-433E-AC21-7FC56836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146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2E61AE2-E13E-46A4-8897-9FC4C875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五天议程确认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3ACFAA0-E022-4CC3-A69A-A2C64F45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21 Aug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3F3808D-7B94-4AAB-B616-B59D5A30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A6FC537-7563-42E7-8A69-F866162B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182E271-3728-49CE-ABE4-35023C7D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房间布局确认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5DB2529-535E-4677-A847-98E48D6C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25 Aug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95D379B-EAB9-4A89-954F-E54D0C88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CC0FEC6-9FAD-4CE6-98D9-55B511AA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2D219BC-704C-412F-B3DC-C2EA018D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双语公告批准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9C72E12-7C00-4FC1-A36E-281E46D8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27 Aug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C5908E9-CEBF-4E83-9D71-7A2507AB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A763C23-1459-4B93-9C97-4A4D3970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862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BAAA520-43A3-4587-BB68-2B0D2C3F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报名开放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2DE1E6B-D397-4120-ABFC-3BF1653B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31 Aug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33643A9-B39E-47F1-BBA9-5C1F136D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977B408-FDC5-4435-8E6D-E3EE7D2A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434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42A70FC-6711-481A-BAC5-3CB7E6AD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报名关闭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E085D0A-878C-4B7A-B811-3F0A6433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09 Sep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B10B6BB-38CF-4388-8AEB-A5DC19AC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005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3032D49-CF96-45C1-90F6-C71D8085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待确认：项目简介 28 Aug ｜ 时间表 31 Aug</a:t>
            </a:r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E4635D1C-12A8-4EE0-8AB3-247E1342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954c0c41e764ac8"/>
              </a:rPr>
              <a:t>用 Copilot 比较资料  ↗</a:t>
            </a:r>
          </a:p>
        </p:txBody>
      </p:sp>
    </p:spTree>
    <p:extLst>
      <p:ext uri="{BB962C8B-B14F-4D97-AF65-F5344CB8AC3E}">
        <p14:creationId xmlns:p14="http://schemas.microsoft.com/office/powerpoint/2010/main" val="1078082563"/>
      </p:ext>
    </p:extLst>
  </p:cSld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示例提示词结构：背景、任务、输出、约束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一个可靠的提示词可以按顺序展开：先交代背景，再明确任务和输出，最后用约束限定 Copilot 的判断边界。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首先说明背景：我刚接手绿色办公周项目，需要快速理解三份附件。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接着说明任务：请总结目标、成功指标、已确认决策、行动项、风险和开放问题，并比较不同来源。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然后规定输出：一页项目简报、行动项表和邮件草稿。表格包含事项、负责人、截止日期和资料状态。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最后限定边界：仅依据附件，冲突保留来源与各版本，缺失标记待确认，不推断今天的实际进度。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80630006141487a"/>
              </a:rPr>
              <a:t>打开 Copilot 并输入提示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一个好提示词，先说明边界，再要求结果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背景、任务、输出和约束共同决定 Copilot 应该处理什么，以及不能自行补充什么。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 fontScale="100000"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提示词应该包含什么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首先说明背景，让 Copilot 知道你刚接手什么项目、手上有哪些资料，以及为什么需要完成这项工作。背景不需要很长，但要让任务拥有足够上下文。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接着写清任务和输出。任务说明需要分析什么，输出说明结果应当采用简报、表格、邮件还是其他形式，并明确需要包含哪些栏目。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最后加入约束，例如只能依据附件、冲突要列出不同来源、缺失内容要标记待确认。这里展示的结构和后面的提示词都只是示例，实际使用时应根据任务和资料进行调整。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提示词不是越长越好，而是要把上下文、交付物和判断边界说清楚。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d833f3197f04a9e"/>
              </a:rPr>
              <a:t>打开 Copilot 并输入提示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AE46DFDF-B1FC-4A20-B5C0-970986A1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27DD0425-63BB-46F8-9E51-5FCBF365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C0EEF6E0-47EC-4442-AE50-DD1B75DF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8751F696-C56C-4CD4-BC3A-9449DB36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说明背景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9091A5B1-CFF8-42BB-9429-A2A97798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3BFDDFC8-CC22-41B1-87CD-E3467382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任务与输出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0A1B5382-507B-4363-BEEF-40A525A7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29AD6CC2-6EE3-43DF-A902-E7D794F7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加入约束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67B30F2-3B2B-4790-BC54-61CFE25A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1A855B-5CC9-4954-91E6-A05D63A7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88FBB6-50AA-418E-80F3-F0F957A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Microsoft 365 Copilot：确认工作账号，加入资料，开始任务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E0BC10A-0A52-454A-B64B-5A83568D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打开页面后，先确认左下角显示工作账号，再点击输入框左侧的加号加入本次练习使用的三份资料，最后在中央输入任务。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2FACCB7-AE65-4E2B-88C6-6F0BB5D5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422145A-F41F-4B70-BB5B-75B9134E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32c9a258c4b82"/>
          <a:stretch xmlns:a="http://schemas.openxmlformats.org/drawingml/2006/main"/>
        </p:blipFill>
        <p:spPr>
          <a:xfrm xmlns:a="http://schemas.openxmlformats.org/drawingml/2006/main">
            <a:off x="685800" y="1864281"/>
            <a:ext cx="6686550" cy="3510439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D25EBF2-F1C2-47A7-B1B8-E3FA34C7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3C9EB873-0FDA-4357-913F-391C0189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636F2F2-6385-4D2B-A128-04FABFAA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68266BA-18D4-400F-9021-966E3CEF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首先开始新任务：左侧 New chat 用于新建对话，Search 用于查找历史内容；Library、Notebooks 和 Agents 可以之后再探索。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接着加入资料：中央 Message Copilot 是任务输入框，点击左侧加号即可添加文件；下方按钮提供文件分析、邮件整理等快捷入口。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提交前再检查：确认左下角显示 Philips 工作账号，只加入当前任务需要的资料；对敏感信息有疑问时，先查看企业规则或咨询支持人员。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24D0B09-9428-4482-9DE0-E458F2FC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778623769374714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08518617"/>
      </p:ext>
    </p:extLst>
  </p:cSld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2BBA476-B010-4512-B5B5-F981B713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5797568-7745-49FD-B442-CD751939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234354E-0472-4205-8DB3-8A8D216D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现场演示：把三份资料整理成简报和跟进邮件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7F8E75-25BC-47F4-BC18-42F1D93F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接下来我会在 Copilot 中完整做一遍。大家可以跟着看资料是怎样加入的、提示词怎样写，以及第一次结果出来后还可以怎样继续调整。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31FDC40-F08C-4A67-BDA3-693053AE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4C1CE48-A769-4E5D-9289-BF040BAB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B9933069-E66D-4A35-AF21-38489F00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EE5F23D-80B7-4AD2-A6DA-2373F912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C6C4561-4AE0-4D9F-992F-E89F9DE6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首先上传项目简介、会议纪要和里程碑时间表。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E9F3928-4EF9-464C-ACC7-35D2557A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05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98466DC-B16E-4475-895E-8C4C1F8C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E563CF-DCD0-467A-9D6A-034867AA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860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接着输入“背景 + 任务 + 输出 + 约束”四段式提示词。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D6F28D73-29BA-42AD-9A79-40B3BA28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F89586C-D8D4-400D-A9CB-CFD881AF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C0C1C3C-3A6A-4739-8277-2F4B7DA7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89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结果生成后，先查看项目接手简报和跟进邮件草稿是否完整。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C8A56F78-23A5-4CCE-9F5B-3D384C88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56A3A3C-0642-422E-8D50-0C200F39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5618C79-4024-40A1-88DD-61D5D96F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19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然后核对 28 Aug 与 31 Aug 两个报名日期，保留来源并标记待确认。</a:t>
            </a: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BA1ACFAA-7AA3-4CE7-8AEB-84C6C70B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5DBDC84-7C4F-4ABC-AE47-56C16339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7BFB305-B494-4FD2-8CE2-FF47C3B3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148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确认事实后，把行动项整理成事项、负责人、截止日期和资料状态，并保留未知项。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D43B4430-8761-440A-91EB-E838536E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06a29a99c4e435e"/>
              </a:rPr>
              <a:t>进入现场演示  ↗</a:t>
            </a:r>
          </a:p>
        </p:txBody>
      </p:sp>
    </p:spTree>
    <p:extLst>
      <p:ext uri="{BB962C8B-B14F-4D97-AF65-F5344CB8AC3E}">
        <p14:creationId xmlns:p14="http://schemas.microsoft.com/office/powerpoint/2010/main" val="1591113956"/>
      </p:ext>
    </p:extLst>
  </p:cSld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现场演示时，重点观察三次检查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演示不是为了得到一次漂亮答案，而是展示怎样逐步确认资料、结果和最终沟通。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 fontScale="100000"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演示中观察什么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第一次检查发生在提交以前。确认三份资料都已加入，提示词包含背景、任务、输出和约束，并使用 Philips 工作账号。</a:t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第二次检查发生在结果生成以后。查看简报和邮件是否覆盖目标、行动项、风险和待确认事项，再核对报名日期是否保留了28 Aug与31 Aug两个来源。</a:t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第三次检查是继续追问。把行动项整理成事项、负责人、截止日期和资料记录状态，并保留仍需团队确认的信息。不要依据今天日期把历史状态改为逾期或已完成。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生成只是开始，提交前、生成后和改写前都需要检查。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07468e5afb345fd"/>
              </a:rPr>
              <a:t>进入现场演示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30BC9ED8-D186-4CC5-9285-367BBC92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E6CFA1FF-DED1-4EA5-B4FA-C3A73751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CF681091-36E5-45EE-A4B4-30FB406C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C3F8A7DF-5595-41E7-B459-300CD43C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提交以前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9D7441AD-E1D8-434A-8CBC-CF50BFCF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D560D93C-11E8-4759-9512-25351294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生成以后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151699F6-E6D2-4D6E-AADB-FE601E88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0831CED4-0AF5-4753-A1E6-7E9ADF7C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改写以前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轮到你：用同样的方法完成一个小任务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用8分钟继续完成绿色办公周任务，或选择会议纪要、邮件改写等任务。写清背景、任务、输出和约束，并保留需要人工确认的信息。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练习要求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866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1. 首先用背景、任务、输出、约束四段结构写一个提示词。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2. 然后要求 Copilot 指出至少一个不确定项、冲突或需要人工核对的事实。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3. 最后把结果改写成可直接用于沟通的一段文字、邮件或简报。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完成后与同事交流：你的提示词中，哪一条约束最重要？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bd4a0bb7b744373"/>
              </a:rPr>
              <a:t>打开 Copilot 开始练习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绿色办公周实操｜任务、示例提示词与预期结果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练习材料在课程群内发放。以下提示词为示例，请保留资料边界；完成后核对来源、冲突和缺失信息。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要做什么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阅读三份虚构资料，总结项目目标、资料记录状态和行动项，比较来源并找出冲突。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示例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仅依据附件生成简报、行动项表和邮件草稿。冲突保留来源与各版本，缺失写资料中未找到。不推断当前进度，不新增事实。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一页项目接手简报（含行动项表格）＋一封跟进邮件草稿＋一份待确认事项清单。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检查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保留8月28日与31日的报名冲突。8月27日公告审批与28日发布是不同节点，先核实再判断。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a353577f04042f1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练习完成的标准，不是只得到一段答案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最终结果需要同时满足信息完整、来源清楚、冲突保留和沟通可执行四项要求。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 fontScale="100000"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怎样判断练习完成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首先核对交付：一页项目接手简报、一封邮件草稿和待确认清单。行动项需要包含事项、负责人、截止日期和资料记录状态。</a:t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接着比较来源：报名日期保留8月28日和31日两个版本。8月27日公告审批与28日公告发布是不同节点，不能直接当作冲突。</a:t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最后检查缺口：供应商、已签约合同金额等未给信息应写“资料中未找到”。不要依据今天日期推断逾期、未开工或已经完成，邮件保留为草稿。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可靠结果要能说明知道什么、不知道什么，以及下一步需要谁确认。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ddf77c6e5ee4bca"/>
              </a:rPr>
              <a:t>打开 Microsoft 365 Copilot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D2CB14B9-3025-40A6-A067-D5C88A7D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A6651D92-8F1E-43C0-A25D-C4683474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18283AEE-F584-4298-97D5-6C93DFBF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23FD8717-8BF7-49CD-9C3B-B62A1652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信息完整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4C88FD5F-F491-420F-8047-1612B95C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C3E41330-EED5-43DF-8622-D416A03D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来源清楚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ABE13F73-EB13-4F21-915C-92A78CF0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B0A43ABE-6477-4B96-8471-82460C94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沟通可执行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AF27B51-E6E4-4126-B07B-8B8E6C5A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C0521EC-3647-4053-9101-F68EABA8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5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540FC4D-6115-4B58-9946-30579D1C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826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业务案例与最佳实践：AI Tool Lab × Agent Builder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40D2617-65D3-4CC8-A5A8-26815349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Tool Lab 目前包含两条工具路线和 10 个 Lab。本课程第五部分聚焦 Microsoft 365 Copilot 路线中的前四个 Agent Builder Lab，并以第 3 个“会议跟进助手”作为讲师示范。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E0A100E1-B148-4C3D-B36B-19F3BB75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cff2cec528046c7"/>
              </a:rPr>
              <a:t>AI Tool Lab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78D9D59E-33CC-4B28-8E81-EB2DFD87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2c1e45ee7df4797"/>
              </a:rPr>
              <a:t>Agent Builder 路径  ↗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DBD4A93-0D5E-4092-825C-0B47824B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68380ad729e4337"/>
              </a:rPr>
              <a:t>M365 Copilot  ↗</a:t>
            </a:r>
          </a:p>
        </p:txBody>
      </p:sp>
      <p:sp>
        <p:nvSpPr>
          <p:cNvPr id="9" name="页码">
            <a:extLst xmlns:a="http://schemas.openxmlformats.org/drawingml/2006/main">
              <a:ext uri="{FF2B5EF4-FFF2-40B4-BE49-F238E27FC236}">
                <a16:creationId xmlns:a16="http://schemas.microsoft.com/office/drawing/2014/main" id="{B05A4CFD-DE1E-44CB-A288-E5E0C9CE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5DBF1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118785265"/>
      </p:ext>
    </p:extLst>
  </p:cSld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4F2B4C0-A430-4E42-952A-19CBB9A0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8DFF1BF-2BC6-4507-B99A-3348AC68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28981CC-1E03-4672-A63C-79B35752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Tool Lab：两条路线、十个 Lab，本课程聚焦前四个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1732CE4-9D21-40E4-940E-FADEDFD2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网站当前包含 6 个 Microsoft 365 Copilot Lab 和 4 个 Enterprise ChatGPT Lab。第五部分只展开站内 Lab 01–04，其余六个可在课后继续探索。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2AD95C-AF7F-43F1-968C-36CD7B55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9D84E89-C346-4F4E-8F42-044BF7D9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7e38461de4c5d"/>
          <a:stretch xmlns:a="http://schemas.openxmlformats.org/drawingml/2006/main"/>
        </p:blipFill>
        <p:spPr>
          <a:xfrm xmlns:a="http://schemas.openxmlformats.org/drawingml/2006/main">
            <a:off x="685800" y="1863846"/>
            <a:ext cx="6686550" cy="3511308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931C98F-B938-415A-BEAB-F1E869AD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2C7ED0E3-ED03-48C8-AA70-8ACDE350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98CB966-939A-49D6-BA8A-823F2AD5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0C67CFE-695C-48F0-ADB7-A6D6686C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首先从四个场景中选择一个：Chief of Staff、Product Manual FAQ、Meeting Follow-up Assistant 或 Funnel Data Analyst。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在课堂上，PPT 用于解释关键画面，AI Tool Lab 网站提供步骤和材料，真正的配置、预览与创建在 Microsoft 365 Copilot 中完成。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完成后，你可以沿用同样的步骤，把自己的重复任务改造成一个简单、可测试的 Agent。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ED1F8814-CDBA-461C-9691-ABB2B30D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1bee05c1ce74fee"/>
              </a:rPr>
              <a:t>打开 AI Tool Lab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132D421A-9303-4AFD-A6E3-6CB3AAF3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37a437d64074617"/>
              </a:rPr>
              <a:t>进入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590856689"/>
      </p:ext>
    </p:extLst>
  </p:cSld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52B4F15-26BD-46C9-9FF4-48CCDFB5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117414F-188D-4DA0-9EB9-532FD33E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34DD78-59D9-4680-81B4-DA03758C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课堂动手范围：站内 Lab 01–04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8D418BA-08BA-485A-9A0D-4670B03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这四个 Lab 是网站 Microsoft 365 Copilot 路线中的前四个 Agent Builder 场景，分别练习事务协调、产品资料问答、会议跟进和销售数据分析。讲师演示 Lab 03，实践时可任选一个，并以所选页面的当前检查清单为准。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6E2C948-FEE5-4862-B330-AA94CD9A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7EB603-3AA4-4706-89BB-42BA18C9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DB70CE3D-7621-4EF3-9C36-4EC41E30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90886AE5-E4EE-472F-ACF0-7B51001C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863A96B-1F21-4A8B-8860-F7BD25C7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A174DAA-2AC3-4F94-9243-6FF1A9C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Chief of Staff｜事务协调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936D60D-9E30-410A-8D44-4A236668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整理任务、优先级和会议准备，练习怎样写清 Agent 的服务对象和工作方式。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B6CDF16-CDDA-4284-B4D2-41A66145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F064F06E-FE17-4ABF-854F-B49681E0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788D73-6AC0-424E-94CF-4048DEA0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A8EEBCC-78CF-47B3-A58A-674A46E1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Product Manual FAQ｜产品问答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BA1E1FE-BA2F-421E-9D01-15BDC644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依据产品资料回答问题，练习怎样限定参考范围，以及资料不足时怎样回应。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D1E108B1-1B0E-4805-8E4C-98F45E90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16591CAC-D607-44F3-8C30-9526DB18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EBE62AE-A31C-471E-BFA1-D27CE700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A342F16-CEA1-47C2-96E4-05E8838D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Meeting Follow-up｜会议跟进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D115EC5-C03D-49CE-8639-FE22E62B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把会议内容转为摘要、行动项和跟进邮件。本次讲师示范使用这一案例。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20287981-8A7C-48B0-B006-2353BC74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D3CA374D-8FEF-4DF1-A755-EF7CC971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3A1533A-17B2-43DD-A1CE-9532379C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F12F00C-664D-42C6-B997-57E115D2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Funnel Data Analyst｜销售分析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4265981-D5B2-4B8F-9C8E-D0AC1FB0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分析销售机会数据并解释图表，练习怎样写清筛选条件、输出内容和业务问题。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2AB1C857-066F-4A1D-AA7C-84AF1B11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99698c112f64506"/>
              </a:rPr>
              <a:t>Lab 1  ↗</a:t>
            </a: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5E6F1B44-8F89-41EF-A0BD-21104B9E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608d30d5e1e4cd4"/>
              </a:rPr>
              <a:t>Lab 2  ↗</a:t>
            </a:r>
          </a:p>
        </p:txBody>
      </p:sp>
      <p:sp>
        <p:nvSpPr>
          <p:cNvPr id="29" name="Rectangle: Rounded Corners 28">
            <a:extLst xmlns:a="http://schemas.openxmlformats.org/drawingml/2006/main">
              <a:ext uri="{FF2B5EF4-FFF2-40B4-BE49-F238E27FC236}">
                <a16:creationId xmlns:a16="http://schemas.microsoft.com/office/drawing/2014/main" id="{E572848D-FC6D-4337-8BDE-D8917D9A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8bce2ca958f467a"/>
              </a:rPr>
              <a:t>Lab 3  ↗</a:t>
            </a:r>
          </a:p>
        </p:txBody>
      </p:sp>
      <p:sp>
        <p:nvSpPr>
          <p:cNvPr id="30" name="Rectangle: Rounded Corners 29">
            <a:extLst xmlns:a="http://schemas.openxmlformats.org/drawingml/2006/main">
              <a:ext uri="{FF2B5EF4-FFF2-40B4-BE49-F238E27FC236}">
                <a16:creationId xmlns:a16="http://schemas.microsoft.com/office/drawing/2014/main" id="{C299D3BC-4E3E-4796-88CC-15DB9991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b978472f66f446f"/>
              </a:rPr>
              <a:t>Lab 4  ↗</a:t>
            </a:r>
          </a:p>
        </p:txBody>
      </p:sp>
    </p:spTree>
    <p:extLst>
      <p:ext uri="{BB962C8B-B14F-4D97-AF65-F5344CB8AC3E}">
        <p14:creationId xmlns:p14="http://schemas.microsoft.com/office/powerpoint/2010/main" val="1702274955"/>
      </p:ext>
    </p:extLst>
  </p:cSld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C45E095-33C1-4667-9E3C-786E9BB5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8DDE9ED-6D29-42C4-9D5A-2F7AAF55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17C2201-87BD-431B-A7B0-8E155AF6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01｜Chief of Staff：整理日程、优先级和会议准备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54082F4-D5A9-46D9-9DB9-33134045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66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 Agent 读取本人真实的 Microsoft 365 日历、会议、邮件和任务，整理优先级、冲突和后续准备。当前网页配置的三个快捷入口是今日日程、紧急事项和明日提醒；预览图中的 Top priorities 可作为扩展入口。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D6AE9BB-0C6A-438A-B268-A325FAE6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E4E398F-FC99-497F-83F7-EAB0890B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138da35c84421"/>
          <a:stretch xmlns:a="http://schemas.openxmlformats.org/drawingml/2006/main"/>
        </p:blipFill>
        <p:spPr>
          <a:xfrm xmlns:a="http://schemas.openxmlformats.org/drawingml/2006/main">
            <a:off x="685800" y="1789939"/>
            <a:ext cx="6686550" cy="3659122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5D1123CA-C939-4582-BADB-84FC2C27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6FC96A47-ABD9-4C67-B195-98BD92D1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41377B9-E55D-4691-B5C9-AC565D73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C61F408-046A-409A-A402-9D6F454B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首先明确输入范围：日历、紧急事项和当前目标，Agent 会结合时间冲突与任务重要性进行整理。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接着按照处理规则，区分必须今天处理、可推迟和需要协调的事项，并为重要会议补充目标、风险与谈话要点。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因此你会看到带理由的优先级、清楚标出的时间冲突，以及可直接用于当天安排的建议。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789B0342-DBEB-4098-868D-1194F5B6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a7ff746ff304523"/>
              </a:rPr>
              <a:t>打开 Lab 01  ↗</a:t>
            </a:r>
          </a:p>
        </p:txBody>
      </p:sp>
    </p:spTree>
    <p:extLst>
      <p:ext uri="{BB962C8B-B14F-4D97-AF65-F5344CB8AC3E}">
        <p14:creationId xmlns:p14="http://schemas.microsoft.com/office/powerpoint/2010/main" val="78222974"/>
      </p:ext>
    </p:extLst>
  </p:cSld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AE608E7-0248-4C1A-AFF3-DCD4B8CB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B0297DA-9675-47FA-816E-6939C5A1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6E4A16-13FA-4CAC-956F-85703E24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02｜产品手册问答：验证权限、引用与拒答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F0A721D-EF62-4F8A-B365-65B060B4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 Lab 不只检查答案是否正确，还要确认 SharePoint 权限、知识源连接和拒答机制。成功标准是：资料内问题带可打开引用，资料外问题明确拒答。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8D73FF0-ED35-449C-BC7D-DE062083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8F7959F-7A17-4221-9C6C-A3730817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aba33bde1449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67658" y="1762125"/>
            <a:ext cx="6122833" cy="3714750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E732013-C854-4676-B63A-042B34D7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03E8245-212C-42A4-A53F-6D8C2691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E0364BE-0BF1-4F18-A4D7-EFB2C0FB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127F942-ACFC-4D19-AF45-236EA1D1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 Add knowledge 添加 Product Manual，开启 Cloud files，确认 SharePoint 下出现 AI Adoption。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创建者和接收者都要能打开真实手册。Outlook、Teams、Web search 和其他连接器保持关闭。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资料内问题应带可打开引用，资料外问题应拒答。仅显示站点名称不代表检索成功。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E9C7264B-03A3-4447-8774-352F9B82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478eec76b0b4413"/>
              </a:rPr>
              <a:t>打开 Lab 02  ↗</a:t>
            </a:r>
          </a:p>
        </p:txBody>
      </p:sp>
    </p:spTree>
    <p:extLst>
      <p:ext uri="{BB962C8B-B14F-4D97-AF65-F5344CB8AC3E}">
        <p14:creationId xmlns:p14="http://schemas.microsoft.com/office/powerpoint/2010/main" val="1749415442"/>
      </p:ext>
    </p:extLst>
  </p:cSld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6CA0BD5-7F49-4339-B192-0556A948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04555D7-F3CB-49DB-9AC9-B48F7F3D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FD88EF-FA3A-4889-936A-BF126DB2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03｜会议跟进：开启 Outlook、Teams 并添加模板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20BA6E-B53F-4A2E-A987-C2711F64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开启 Outlook 和 Teams，通过 Add knowledge 添加一份邮件模板：中文选择 Mail Template CN，英文选择 EN。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159ADC1-4A30-4055-86E0-34F56953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955A24E-EB4D-4550-9E33-33AB5EBF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 descr="Add knowledge入口与邮件模板候选文件，需选择并验证。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FullLabsImage"/>
          <a:stretch xmlns:a="http://schemas.openxmlformats.org/drawingml/2006/main"/>
        </p:blipFill>
        <p:spPr>
          <a:xfrm xmlns:a="http://schemas.openxmlformats.org/drawingml/2006/main" flipH="0" flipV="0">
            <a:off x="685800" y="1841644"/>
            <a:ext cx="6686550" cy="3555712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FA24A7D-0A16-4EB2-BB4D-34BE092A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BBE6E45E-00BD-4922-B9BB-7CDA8364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41686EE-0787-4552-B94E-1560562F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A0157F7-91ED-4B1F-A716-5DEBA1A7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 Work content 开启 Outlook 和 Teams，再添加与输出语言一致的一份邮件模板，让会议沿用相同的汇报结构。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提供原始会议内容、阅读对象和所需栏目，并要求标出尚未确认的信息。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结果需区分决策与讨论。行动项写明负责人和时间，未确定的产品演示继续标记待确认。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8507C14-9ABB-4C9F-9062-2F6EC878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6fd211add324b39"/>
              </a:rPr>
              <a:t>打开讲师示范 Lab 03  ↗</a:t>
            </a:r>
          </a:p>
        </p:txBody>
      </p:sp>
    </p:spTree>
    <p:extLst>
      <p:ext uri="{BB962C8B-B14F-4D97-AF65-F5344CB8AC3E}">
        <p14:creationId xmlns:p14="http://schemas.microsoft.com/office/powerpoint/2010/main" val="1300420674"/>
      </p:ext>
    </p:extLst>
  </p:cSld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A707AD7-41F3-4A41-B42D-50A10E2F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D6F52B6-D251-47E4-8AC8-0C52F5B2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BFFAC17-9BE2-4CC8-B9DF-B9E479FD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04｜销售漏斗分析：准备附件、能力与测试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3977783-C2D0-46A5-94C4-CCF16C21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添加 Excel 数据和 PPT 模板，开启创建文档和创建图片。完成分类汇总与金额达成率测试，PPT 图表更新为选做。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3B9E637-C2F2-421B-86C1-4A9039EA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E025A2C-0FC4-4BD7-9524-35F88DBA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643bb409e440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26301" y="1762125"/>
            <a:ext cx="6205548" cy="3714750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EEC2CDB1-414F-4D99-8109-DA27670C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D5E17FB-F33C-4640-94EC-F7FBC1BC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02C8A5-6DFC-4DC6-BBC1-B3C73FCA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B9F0018-594E-424A-B69E-30016854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先检查左图的 Attachments：应同时出现 Funnel Sample Data.xlsx 和 Chart Sample.pptx。Excel 提供分析数据，PPT 提供图表模板。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随后开启创建文档和创建图片能力。分析前核对筛选范围，台数使用 Quantity，金额使用 Total Price in USD。</a:t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eaLnBrk="1" latinLnBrk="0" hangingPunct="0"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运行分类汇总和金额达成率测试，核对分类顺序、金额单位及计算口径。PPT图表更新为选做。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D788CF16-3447-4672-85CB-3DE4C8AE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f3cff0263f34551"/>
              </a:rPr>
              <a:t>打开 Lab 04  ↗</a:t>
            </a:r>
          </a:p>
        </p:txBody>
      </p:sp>
    </p:spTree>
    <p:extLst>
      <p:ext uri="{BB962C8B-B14F-4D97-AF65-F5344CB8AC3E}">
        <p14:creationId xmlns:p14="http://schemas.microsoft.com/office/powerpoint/2010/main" val="1986762406"/>
      </p:ext>
    </p:extLst>
  </p:cSld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777636E8-C8A3-4F3B-9891-9ADEAF91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785165-E146-4244-939A-46AAD982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B7C41A4-002E-4FB6-90AC-441D06EC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构建 Agent 的八步流程，可以归纳成六组动作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68E832F-3EAB-46B1-95C1-9C89493E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八步流程涵盖入口、新建、构建方式、核心字段、知识源、能力、建议提示，以及测试、创建和分享。图中将相邻步骤合并展示。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B352D39-DE42-424D-B21D-84294E02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246A0E-C5FA-437C-B661-6332E447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69169182-EFC3-4FB8-BCCD-DF56AC03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578186E-1053-4F44-97A3-2A806259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D654587-1BE4-4AC0-B414-1DEB0E2C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1–2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19DD2DA-0ED1-41A9-BF0C-1C25524C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 Agents</a:t>
            </a:r>
          </a:p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并新建</a:t>
            </a:r>
          </a:p>
        </p:txBody>
      </p:sp>
      <p:sp>
        <p:nvSpPr>
          <p:cNvPr id="11" name="Arrow: Chevron 10">
            <a:extLst xmlns:a="http://schemas.openxmlformats.org/drawingml/2006/main">
              <a:ext uri="{FF2B5EF4-FFF2-40B4-BE49-F238E27FC236}">
                <a16:creationId xmlns:a16="http://schemas.microsoft.com/office/drawing/2014/main" id="{CC358ED7-963D-4E8E-B530-E63411EC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638EB2D9-2545-4EBE-92D8-9A3E1FE2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943A7893-5105-4E6C-ABC3-9F63CE10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19880FA-A20D-455D-AA59-77D7D15A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DEA8F5B-B68A-4089-92AD-A4610DF5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选择构建</a:t>
            </a:r>
          </a:p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方式</a:t>
            </a:r>
          </a:p>
        </p:txBody>
      </p:sp>
      <p:sp>
        <p:nvSpPr>
          <p:cNvPr id="16" name="Arrow: Chevron 15">
            <a:extLst xmlns:a="http://schemas.openxmlformats.org/drawingml/2006/main">
              <a:ext uri="{FF2B5EF4-FFF2-40B4-BE49-F238E27FC236}">
                <a16:creationId xmlns:a16="http://schemas.microsoft.com/office/drawing/2014/main" id="{CB33B66C-A1C8-4080-A454-D105B928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E92B5BF2-BB07-400C-AAD5-4656D1EA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BBFDB139-9B50-47BB-9E94-8DEDC680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58226BC-AF2A-40A5-BB88-2B0D2636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4B14E5B-51B2-4E01-AB60-B0AFDF5B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填写名称、用途</a:t>
            </a:r>
          </a:p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和工作规则</a:t>
            </a:r>
          </a:p>
        </p:txBody>
      </p:sp>
      <p:sp>
        <p:nvSpPr>
          <p:cNvPr id="21" name="Arrow: Chevron 20">
            <a:extLst xmlns:a="http://schemas.openxmlformats.org/drawingml/2006/main">
              <a:ext uri="{FF2B5EF4-FFF2-40B4-BE49-F238E27FC236}">
                <a16:creationId xmlns:a16="http://schemas.microsoft.com/office/drawing/2014/main" id="{0832E79A-1996-44D2-8C96-AE2E65A4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76C649D2-5628-4562-BFCC-4248D392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24416B73-6183-4C4A-9ADB-953E59FB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75BC774-2BAD-4C66-8453-4EF0B9F8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ctr" eaLnBrk="1" latinLnBrk="0" hangingPunct="0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5–6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4C0F21F-2607-4445-A44C-DC7D82A4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ctr" eaLnBrk="1" latinLnBrk="0" hangingPunct="0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验证知识源</a:t>
            </a:r>
          </a:p>
          <a:p>
            <a:pPr algn="ctr" eaLnBrk="1" latinLnBrk="0" hangingPunct="0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并设置能力</a:t>
            </a:r>
          </a:p>
        </p:txBody>
      </p:sp>
      <p:sp>
        <p:nvSpPr>
          <p:cNvPr id="26" name="Arrow: Chevron 25">
            <a:extLst xmlns:a="http://schemas.openxmlformats.org/drawingml/2006/main">
              <a:ext uri="{FF2B5EF4-FFF2-40B4-BE49-F238E27FC236}">
                <a16:creationId xmlns:a16="http://schemas.microsoft.com/office/drawing/2014/main" id="{9EE60DEB-6424-497D-BA46-A319F003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7D74AC81-00CA-421C-84A7-CE4FA7AC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9639F934-75C7-4BF7-BB12-A4EE05D3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F2B2E98-D774-4A79-B060-91AD5F9F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ctr" eaLnBrk="1" latinLnBrk="0" hangingPunct="0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A66BD076-F35A-4590-8561-F6471F0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设置常用</a:t>
            </a:r>
          </a:p>
          <a:p xmlns:a="http://schemas.openxmlformats.org/drawingml/2006/main">
            <a:pPr algn="ctr" eaLnBrk="1" latinLnBrk="0" hangingPunct="0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快捷问题</a:t>
            </a:r>
          </a:p>
        </p:txBody>
      </p:sp>
      <p:sp>
        <p:nvSpPr>
          <p:cNvPr id="31" name="Arrow: Chevron 30">
            <a:extLst xmlns:a="http://schemas.openxmlformats.org/drawingml/2006/main">
              <a:ext uri="{FF2B5EF4-FFF2-40B4-BE49-F238E27FC236}">
                <a16:creationId xmlns:a16="http://schemas.microsoft.com/office/drawing/2014/main" id="{3E169B6E-B419-4A29-831C-593270FC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F937C953-5657-4924-977C-99A57B31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E41C5C7D-632F-40ED-BC7C-9CA9B1CE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43475DB5-6D89-4696-A730-4C56FD06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ctr" eaLnBrk="1" latinLnBrk="0" hangingPunct="0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9F807B6C-E509-4EAF-9EA0-6E4082EE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ctr" eaLnBrk="1" latinLnBrk="0" hangingPunct="0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测试、创建</a:t>
            </a:r>
          </a:p>
          <a:p>
            <a:pPr algn="ctr" eaLnBrk="1" latinLnBrk="0" hangingPunct="0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并按需分享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68967858-38DF-4870-98B3-46627C90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因此，构建不止是把字段填完：定义任务以后，还要验证知识源是否真的可用、只开启必要能力，并通过试运行确认结果可靠。创建完成后再按需要分享，同时检查接收者是否拥有底层资料权限。</a:t>
            </a:r>
          </a:p>
        </p:txBody>
      </p:sp>
      <p:sp>
        <p:nvSpPr>
          <p:cNvPr id="37" name="Rectangle: Rounded Corners 36">
            <a:extLst xmlns:a="http://schemas.openxmlformats.org/drawingml/2006/main">
              <a:ext uri="{FF2B5EF4-FFF2-40B4-BE49-F238E27FC236}">
                <a16:creationId xmlns:a16="http://schemas.microsoft.com/office/drawing/2014/main" id="{77C66F4A-8932-41E7-9648-1D47C11E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a64b80258574438"/>
              </a:rPr>
              <a:t>打开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675716271"/>
      </p:ext>
    </p:extLst>
  </p:cSld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C957914-FC8B-4604-B48E-84E16E4C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636F27-3EC6-482F-9174-2E845CCF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7B34A43-E54B-429D-884E-9D07A6E4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1–2｜进入 Agent Builder 并新建 Agent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4FA2908-9EE7-43A4-9654-54C5028F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先从 Microsoft 365 Copilot 左侧进入 Agents，再点击 Create agent。网站把“进入 Agent Builder”和“新建 Agent”分为两个步骤，本页合并展示入口与动作。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F60E5B5-EBAB-4BD8-8175-46E5FCCF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F9B356B-1FC4-4A5F-9A84-CEB27784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b8d6723b1c4e65"/>
          <a:stretch xmlns:a="http://schemas.openxmlformats.org/drawingml/2006/main"/>
        </p:blipFill>
        <p:spPr>
          <a:xfrm xmlns:a="http://schemas.openxmlformats.org/drawingml/2006/main">
            <a:off x="685800" y="1831138"/>
            <a:ext cx="6991350" cy="367197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6DA7240-BB91-46C2-B9A5-FD37A9CC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47E31179-94EA-4780-BA1F-B05685FA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27AB2D5-7436-40B3-9897-06D0CCCB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494FC31-F7F4-42E0-9DD4-48B9A71B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首先从左侧导航进入 Agents；Search for an agent 用于查找已有 Agent，Your agents 显示当前可用项。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接下来点击右侧 Create agent 开始新建；Researcher、Analyst 等则是已经可以使用的 Agent。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C584D58-539D-44E1-88C6-E94ABFA6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a59a81fe7de4844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521771796"/>
      </p:ext>
    </p:extLst>
  </p:cSld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BC141C1-FB8D-49AF-968F-0188A60F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290AB7-9FCC-4086-8E19-14ACA661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DF25571-AA32-4A62-B2FC-E2BB8125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3｜选择构建方式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95A67F-3CA9-499F-88B4-29B24D42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页面提供三种方式：描述需求后自动生成草稿、点击 Skip 手动填写，或者从模板开始。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61BEBD7-920E-4DF6-A22B-987FA859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001FF1A-D65C-4F0F-96BF-0B76F032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d1edd537c5448f"/>
          <a:stretch xmlns:a="http://schemas.openxmlformats.org/drawingml/2006/main"/>
        </p:blipFill>
        <p:spPr>
          <a:xfrm xmlns:a="http://schemas.openxmlformats.org/drawingml/2006/main">
            <a:off x="685800" y="1984985"/>
            <a:ext cx="6991350" cy="336428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F85D8296-38E3-4870-99C0-25298FB7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EB6CC58-3C87-4D12-9B5E-3736BE71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59F6B3C-819B-4051-8478-71E3EB67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D084609-51C0-4801-AE47-5727C34D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进入页面后，可以在输入框描述需求并让 Builder 生成草稿，也可以点击 Skip 手动设置，或从 Templates 的现成模板开始。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本次演示选择手动填写，因此接下来会逐项查看名称、用途、工作规则和参考资料。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5E9622B7-8A6F-4819-8E10-601E26D8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cd2aa856d6c4cd4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096864634"/>
      </p:ext>
    </p:extLst>
  </p:cSld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11A725E-526F-4375-990C-9FE76C8D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B47F3D2-3783-4B0A-B54F-460DACD4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DCE6C8-C561-4766-8085-C54BA1ED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4｜填写核心字段与工作规则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8011512-51D6-4EF1-A30D-BFF7BED8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截图标出了图标（Icon）、名称（Name）、用途说明（Description）和工作规则（Instructions）。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FDF5078-20BE-4CB8-AA6D-F6015D99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7D5AAC9-712C-42E5-92CE-28114160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84ed2c05e44f0"/>
          <a:stretch xmlns:a="http://schemas.openxmlformats.org/drawingml/2006/main"/>
        </p:blipFill>
        <p:spPr>
          <a:xfrm xmlns:a="http://schemas.openxmlformats.org/drawingml/2006/main">
            <a:off x="685800" y="2122448"/>
            <a:ext cx="6991350" cy="308935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F1B1C37-7954-4957-849F-EE0284D8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BD666AB2-09A7-46A4-8497-010E64F1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F9F36D9-8E44-41F9-9D5D-3435C69F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BCAC454-DA49-4CC9-ABE4-ACC2F0F4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填写时先用图标和名称帮助用户识别 Agent，再用一句用途说明告诉大家它能做什么。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最后通过工作规则写清输入内容、处理步骤、输出栏目、参考资料范围，以及信息不足时怎样回应。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1FBB4B19-0DDA-4A2D-8D3E-A2CF4601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01fd7f870784d04"/>
              </a:rPr>
              <a:t>打开讲师示范 Lab  ↗</a:t>
            </a:r>
          </a:p>
        </p:txBody>
      </p:sp>
    </p:spTree>
    <p:extLst>
      <p:ext uri="{BB962C8B-B14F-4D97-AF65-F5344CB8AC3E}">
        <p14:creationId xmlns:p14="http://schemas.microsoft.com/office/powerpoint/2010/main" val="708828392"/>
      </p:ext>
    </p:extLst>
  </p:cSld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AA719FD-A7E2-498D-A427-5299E08F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7F24BC-E399-46EF-AFBB-BB9EB948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EF5C37-5E7F-4C32-A566-E8723701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5–6｜验证知识源，并设置所需能力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A09513-CB61-4817-8431-E9D3528E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知识源名称出现在页面上并不代表已经连接成功。添加最少必要的资料后，还要用一条能够命中的问题和一条没有答案的问题，验证检索、引用和拒答行为。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A091A5C-C963-4554-B4AF-63B0E459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7BFE954-51EF-49C6-B5AB-9C3ACF7A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f4497009e4f6a"/>
          <a:stretch xmlns:a="http://schemas.openxmlformats.org/drawingml/2006/main"/>
        </p:blipFill>
        <p:spPr>
          <a:xfrm xmlns:a="http://schemas.openxmlformats.org/drawingml/2006/main">
            <a:off x="685800" y="1807321"/>
            <a:ext cx="6991350" cy="371960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D6356265-E58A-4049-87A4-BAB98F2D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21E8DF7-A3E1-4F7B-B652-3A0AEE20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C537754-7103-4C92-8C77-A38C5A3D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779B36F-6C21-4A39-87B1-53692732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会议跟进助手在 Work content 开启 Outlook 和 Teams，再通过 Add knowledge 添加一份 Mail Template CN 或 EN。</a:t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按所选 Lab 设置能力。销售漏斗分析还需开启创建文档和创建图片，并核对两份附件。</a:t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 Preview 测试。资料内问题应返回可核对的来源，资料外问题应说明无法确认。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1769BB7D-6077-459C-90EA-644D10F3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97bb64ca848475f"/>
              </a:rPr>
              <a:t>进入 Agent Builder  ↗</a:t>
            </a:r>
          </a:p>
        </p:txBody>
      </p:sp>
    </p:spTree>
    <p:extLst>
      <p:ext uri="{BB962C8B-B14F-4D97-AF65-F5344CB8AC3E}">
        <p14:creationId xmlns:p14="http://schemas.microsoft.com/office/powerpoint/2010/main" val="1822418702"/>
      </p:ext>
    </p:extLst>
  </p:cSld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41B0A67-47B7-4E60-8E34-EEE86688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943F42-9FCC-4040-AC6F-F95F658F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4EFB505-F514-4C68-AB6D-CBEB2830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 补充｜通过 Add knowledge 查找会议模板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7EDA603-CD2E-42D3-8EA0-6F299424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在 Configure 页面点击 Add knowledge，可以按 Files、Sites、Chats 或 Meetings 筛选，也可以通过左侧 Message Agent Builder 要求添加 Mail Template。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AB8AD14-C4B0-42F0-9500-F3990583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98AB08-F0F4-4B4B-9038-1B302A83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7961084a84b5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245394" y="1714500"/>
            <a:ext cx="5872163" cy="3905250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7869B41-1A3E-4572-A94F-919F106A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9A8F385-9F1D-4913-B6D2-F2C19854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1487CE5-41F2-4404-8058-554A326F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0426A8C-3308-425A-9ED7-AEABFD9D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搜索时先输入 Mail Template，再核对修改时间、修改人和保存位置，确认模板来自哪个团队、是否为当前版本。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确认版本后，中文管理层邮件选择 Mail Template CN，英文沟通选择 EN；若有多个同名文件，再打开查看栏目和适用范围。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424168BD-ABC3-4052-9998-1122A258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df6ba6bc23a46e8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55558870"/>
      </p:ext>
    </p:extLst>
  </p:cSld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31B5AF7-A987-4FFC-B94D-464778EC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4ADDD82-F680-4153-99FC-E4D0D7F2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920D362-D61E-401A-9D3D-386E7C81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7｜添加 Starter prompts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7F9E99-D995-4D21-900C-61F4372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每条 Starter prompt 包括一个简短标题（Title）和一段可以直接执行的任务（Message）。它不是关键词，而是用户点击后会完整发送的工作请求。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5CC1DBF-0A93-4B59-A754-7A43CE92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467EF84-A9C6-4897-B6F7-E4266B27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c396543814649"/>
          <a:stretch xmlns:a="http://schemas.openxmlformats.org/drawingml/2006/main"/>
        </p:blipFill>
        <p:spPr>
          <a:xfrm xmlns:a="http://schemas.openxmlformats.org/drawingml/2006/main">
            <a:off x="685800" y="2478213"/>
            <a:ext cx="6991350" cy="237782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D21E82E-8EED-43F1-8D4D-C2A51B27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6552047-EEFC-4F01-9016-E87AAF2F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BFC9D8B-BD7B-434E-B905-7C8D2265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CCEA535-4317-47D6-AFBA-B4840390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先用 Title 简述任务，例如“行动项”。</a:t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接着在 Message 中写清输入、结果和必要限制，也可以注明负责人、截止日期与状态。</a:t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点击 Add a suggested prompt，按场景保留2–3个常用入口。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3097AC88-FFF3-4191-8DA0-A4148D80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8430bee99cd4375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902188897"/>
      </p:ext>
    </p:extLst>
  </p:cSld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FB4EC7A-7BAF-4507-A613-B5B71235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4E8449E-916A-469B-B387-2C715257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1FE8A74-1B36-49AF-97CF-9DEE6757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8｜测试、创建并按需要分享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50D71F9-B3E3-487E-B5F3-749D206F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先在 Preview 中测试，再返回 Configure 调整；确认稳定后点击 Create。创建成功以后才进入 Share，并根据培训要求选择仅自己、特定用户或组织范围。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FF4255-FDBD-4C32-96D9-453A7CA1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51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FA1BC29-B22F-46DC-8B31-D4A8E3E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aa71dd30f48c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85800" y="1817819"/>
            <a:ext cx="6991350" cy="3698613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D4096F9-A80F-4039-A78B-6A2F2E4D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38A906F-0804-4A70-BA4C-0E0BDBD1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C9B5C09-15E3-4EEA-89F2-FEC80F42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1B0A12D-F5A8-4035-BA7F-F785DB97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先用一份信息完整的材料试一次，确认任务和输出结构。再删除负责人或日期，看 Agent 会不会指出信息缺失，而不是自己补出来。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如果结果不稳定，返回 Configure 修改工作规则、参考资料或快捷问题。确认可用后再点 Create；Draft auto-saved 只表示草稿已保存。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586CFB0B-FEEE-4B22-BBC7-992346C4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2891e14149a416d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64786737"/>
      </p:ext>
    </p:extLst>
  </p:cSld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DD3CE40-22F5-4204-B14B-8D5392BF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008E935-910A-4998-BC55-45C3B422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88D40AD-6F57-4232-9CDF-88B4E7FB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讲师示范结果｜会议跟进助手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C44B262-CEE7-47B4-8F27-EE3DADBE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这是既有 Lab 的会议跟进示例。输出声称使用 Mail Template CN.docx，需打开模板引用，核对栏目和实际内容。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91CD150-3C70-4F51-81AE-FD8ADE1E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52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55E9EDE-7318-4FE4-AF5F-B9C5A778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a756c4e4c4ce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85800" y="1742381"/>
            <a:ext cx="6991350" cy="3849488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8330ADCC-11F7-4448-8D69-5AA4FF1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6C88354-A00D-445B-ADF2-7C931C41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E6C1076-BF70-4F03-9D97-39D5891B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72DC9AC-1C33-4980-B638-B124AB81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先看会议背景有没有说清楚，再看已经决定的事项是否与讨论内容分开。然后检查负责人和日期是否完整，未决定的产品演示是否仍标记为待确认。</a:t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 eaLnBrk="1" latinLnBrk="0" hangingPunct="0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最后打开模板引用，核对来源文件和栏目，再检查邮件是否可用、哪些内容仍需修改。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C87D03E-C9EE-403E-A89D-1829375D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648c5474f4d4443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32036159"/>
      </p:ext>
    </p:extLst>
  </p:cSld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5087740-8BA7-469E-B135-17131E27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099FDEA-CB17-4FFB-9E02-97925305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6DF2689-0FD1-4BF2-A98B-32E36B34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1" latinLnBrk="0" hangingPunct="0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轮到你：完成一个 Agent Lab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6D78617-C878-4E9F-947C-6BA84A2B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l" eaLnBrk="1" latinLnBrk="0" hangingPunct="0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用20分钟从站内 Lab 01–04 任选一个，按原步骤和检查清单实践。不同场景的知识源、能力和测试要求不同。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77DF0DE-C7BB-4579-A643-BA57DF83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63500" bIns="0" anchor="t">
            <a:normAutofit/>
          </a:bodyPr>
          <a:lstStyle xmlns:a="http://schemas.openxmlformats.org/drawingml/2006/main"/>
          <a:p>
            <a:pPr algn="r" eaLnBrk="1" latinLnBrk="0" hangingPunct="0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53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BE563F0-8D11-4D5B-A535-4F3FF614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58ECDDC-3AF9-47F1-8A15-5358FEE3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eaLnBrk="1" latinLnBrk="0" hangingPunct="0"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首先完成可运行版本：Chief of Staff 使用本人 M365 数据；Product Manual FAQ 验证权限、引用与拒答；Meeting Follow-up 开启 Outlook、Teams 并加入一份模板；Funnel Lab 检查附件、能力和数据口径。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接着按照该 Lab 的检查清单，运行一条正常任务，再运行一条资料缺失、来源不可用或范围不完整的任务。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eaLnBrk="1" latinLnBrk="0" hangingPunct="0"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最后检查 Agent 是否引用正确来源、指出信息缺口，并且没有自行补充事实；满足这些条件后再创建和分享。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F02CEED-B9BF-424E-B7AE-5347AF88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>
            <a:pPr algn="ctr" eaLnBrk="1" latinLnBrk="0" hangingPunct="0">
              <a:buNone/>
              <a:def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先完成场景配置，再验证正常与异常输入。最后5分钟答疑交流。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81F85775-A921-4122-B09A-D4123F60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5d392f8fe314041"/>
              </a:rPr>
              <a:t>Lab 01  ↗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1F2F8A29-D14F-4BD2-8684-1E371C15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f76cd62081f41e6"/>
              </a:rPr>
              <a:t>Lab 02  ↗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F50D2284-AD4A-4EFB-BA9C-ABEF8FE7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dfa598896a64116"/>
              </a:rPr>
              <a:t>Lab 03  ↗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E6B8BC7-BC5B-4B93-82BF-79EC8E88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8698bd27bcd4023"/>
              </a:rPr>
              <a:t>Lab 04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A7A6B260-3241-43A1-85E3-420DA155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67400"/>
            <a:ext cx="1714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eaLnBrk="1" latinLnBrk="0" hangingPunct="0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b088dbc8ce04ae9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309987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2026-09-03T02:11:13.5120000Z</dcterms:created>
  <dcterms:modified xsi:type="dcterms:W3CDTF">2026-09-03T02:11:13.5120000Z</dcterms:modified>
</coreProperties>
</file>