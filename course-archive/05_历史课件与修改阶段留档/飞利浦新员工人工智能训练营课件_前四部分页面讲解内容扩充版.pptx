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a6cf5571c9427a" /><Relationship Type="http://schemas.openxmlformats.org/officeDocument/2006/relationships/extended-properties" Target="/docProps/app.xml" Id="R76427c49c3044b61" /><Relationship Type="http://schemas.openxmlformats.org/officeDocument/2006/relationships/officeDocument" Target="/ppt/presentation.xml" Id="R54b554c9101f48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8b19ccfc504db2"/>
  </p:sldMasterIdLst>
  <p:notesMasterIdLst>
    <p:notesMasterId xmlns:r="http://schemas.openxmlformats.org/officeDocument/2006/relationships" r:id="R2de740d17eae46f6"/>
  </p:notesMasterIdLst>
  <p:sldIdLst>
    <p:sldId xmlns:r="http://schemas.openxmlformats.org/officeDocument/2006/relationships" id="256" r:id="R5b51ce5a9afd4b8b"/>
    <p:sldId xmlns:r="http://schemas.openxmlformats.org/officeDocument/2006/relationships" id="257" r:id="R36e20ad1493549d8"/>
    <p:sldId xmlns:r="http://schemas.openxmlformats.org/officeDocument/2006/relationships" id="258" r:id="R6226750678b84ac8"/>
    <p:sldId xmlns:r="http://schemas.openxmlformats.org/officeDocument/2006/relationships" id="259" r:id="Rf257bbffd984405f"/>
    <p:sldId xmlns:r="http://schemas.openxmlformats.org/officeDocument/2006/relationships" id="260" r:id="Rcc3c951903004273"/>
    <p:sldId xmlns:r="http://schemas.openxmlformats.org/officeDocument/2006/relationships" id="261" r:id="R46a66443e4ac4b30"/>
    <p:sldId xmlns:r="http://schemas.openxmlformats.org/officeDocument/2006/relationships" id="262" r:id="R026e569f61c24a03"/>
    <p:sldId xmlns:r="http://schemas.openxmlformats.org/officeDocument/2006/relationships" id="263" r:id="R731724981ee54174"/>
    <p:sldId xmlns:r="http://schemas.openxmlformats.org/officeDocument/2006/relationships" id="264" r:id="Ree596b2accdf4c62"/>
    <p:sldId xmlns:r="http://schemas.openxmlformats.org/officeDocument/2006/relationships" id="265" r:id="R427a7fdf224a43df"/>
    <p:sldId xmlns:r="http://schemas.openxmlformats.org/officeDocument/2006/relationships" id="266" r:id="Rcfafba04b1fc4a4f"/>
    <p:sldId xmlns:r="http://schemas.openxmlformats.org/officeDocument/2006/relationships" id="267" r:id="R195bfa0e89b84f68"/>
    <p:sldId xmlns:r="http://schemas.openxmlformats.org/officeDocument/2006/relationships" id="268" r:id="R34367a25f1074bdd"/>
    <p:sldId xmlns:r="http://schemas.openxmlformats.org/officeDocument/2006/relationships" id="269" r:id="Rfe186aeada6e4620"/>
    <p:sldId xmlns:r="http://schemas.openxmlformats.org/officeDocument/2006/relationships" id="270" r:id="R8dfd28b5c66947af"/>
    <p:sldId xmlns:r="http://schemas.openxmlformats.org/officeDocument/2006/relationships" id="271" r:id="Rfcf3fb72684a4e1b"/>
    <p:sldId xmlns:r="http://schemas.openxmlformats.org/officeDocument/2006/relationships" id="272" r:id="Rf952bfdd638b49e3"/>
    <p:sldId xmlns:r="http://schemas.openxmlformats.org/officeDocument/2006/relationships" id="273" r:id="R222fe5801f2043c3"/>
    <p:sldId xmlns:r="http://schemas.openxmlformats.org/officeDocument/2006/relationships" id="274" r:id="R6c3deb7dc58d49af"/>
    <p:sldId xmlns:r="http://schemas.openxmlformats.org/officeDocument/2006/relationships" id="275" r:id="Rce97b69cab9f4df9"/>
    <p:sldId xmlns:r="http://schemas.openxmlformats.org/officeDocument/2006/relationships" id="276" r:id="R6c805f4c9f5546cc"/>
    <p:sldId xmlns:r="http://schemas.openxmlformats.org/officeDocument/2006/relationships" id="277" r:id="Rbc6e4612de424d59"/>
    <p:sldId xmlns:r="http://schemas.openxmlformats.org/officeDocument/2006/relationships" id="278" r:id="R67a3bcdea9654003"/>
    <p:sldId xmlns:r="http://schemas.openxmlformats.org/officeDocument/2006/relationships" id="279" r:id="Rcddff11059294384"/>
    <p:sldId xmlns:r="http://schemas.openxmlformats.org/officeDocument/2006/relationships" id="280" r:id="R9bb24deae8a2461a"/>
    <p:sldId xmlns:r="http://schemas.openxmlformats.org/officeDocument/2006/relationships" id="281" r:id="R19d76ae29dd44387"/>
    <p:sldId xmlns:r="http://schemas.openxmlformats.org/officeDocument/2006/relationships" id="282" r:id="R69fdb90fa2af41ea"/>
    <p:sldId xmlns:r="http://schemas.openxmlformats.org/officeDocument/2006/relationships" id="283" r:id="Rfb735d9dbb55491d"/>
    <p:sldId xmlns:r="http://schemas.openxmlformats.org/officeDocument/2006/relationships" id="284" r:id="R39607990c95a43a3"/>
    <p:sldId xmlns:r="http://schemas.openxmlformats.org/officeDocument/2006/relationships" id="285" r:id="R2bfed3b519154456"/>
    <p:sldId xmlns:r="http://schemas.openxmlformats.org/officeDocument/2006/relationships" id="286" r:id="R2d5bf49cca0b41bb"/>
    <p:sldId xmlns:r="http://schemas.openxmlformats.org/officeDocument/2006/relationships" id="287" r:id="R95777cb3f62a4893"/>
    <p:sldId xmlns:r="http://schemas.openxmlformats.org/officeDocument/2006/relationships" id="288" r:id="R38add78623c5425c"/>
    <p:sldId xmlns:r="http://schemas.openxmlformats.org/officeDocument/2006/relationships" id="289" r:id="R2a099162900248c4"/>
    <p:sldId xmlns:r="http://schemas.openxmlformats.org/officeDocument/2006/relationships" id="290" r:id="Rc8db6eb3331b4c8e"/>
    <p:sldId xmlns:r="http://schemas.openxmlformats.org/officeDocument/2006/relationships" id="291" r:id="R5e4eaecadfa346e6"/>
    <p:sldId xmlns:r="http://schemas.openxmlformats.org/officeDocument/2006/relationships" id="292" r:id="Rb3e1063a5c794956"/>
    <p:sldId xmlns:r="http://schemas.openxmlformats.org/officeDocument/2006/relationships" id="293" r:id="Ra5ecbcdbd9cc49f7"/>
    <p:sldId xmlns:r="http://schemas.openxmlformats.org/officeDocument/2006/relationships" id="294" r:id="R5e4db94ece7e4c6e"/>
    <p:sldId xmlns:r="http://schemas.openxmlformats.org/officeDocument/2006/relationships" id="295" r:id="Ref42a011d3d44fd6"/>
    <p:sldId xmlns:r="http://schemas.openxmlformats.org/officeDocument/2006/relationships" id="296" r:id="R224bf7050f4e413a"/>
    <p:sldId xmlns:r="http://schemas.openxmlformats.org/officeDocument/2006/relationships" id="297" r:id="R57dbba51c43c42aa"/>
    <p:sldId xmlns:r="http://schemas.openxmlformats.org/officeDocument/2006/relationships" id="298" r:id="R86479be350f341f5"/>
    <p:sldId xmlns:r="http://schemas.openxmlformats.org/officeDocument/2006/relationships" id="299" r:id="R527bc181e5bc4750"/>
    <p:sldId xmlns:r="http://schemas.openxmlformats.org/officeDocument/2006/relationships" id="300" r:id="R92bd6491adfa4544"/>
    <p:sldId xmlns:r="http://schemas.openxmlformats.org/officeDocument/2006/relationships" id="301" r:id="Rd8a8d053b78f4bd1"/>
    <p:sldId xmlns:r="http://schemas.openxmlformats.org/officeDocument/2006/relationships" id="302" r:id="Rbeb1bf0643974fa4"/>
    <p:sldId xmlns:r="http://schemas.openxmlformats.org/officeDocument/2006/relationships" id="303" r:id="R61a68f2181e74005"/>
    <p:sldId xmlns:r="http://schemas.openxmlformats.org/officeDocument/2006/relationships" id="304" r:id="Rc223e574b1e540b7"/>
    <p:sldId xmlns:r="http://schemas.openxmlformats.org/officeDocument/2006/relationships" id="305" r:id="Rc05dbd93284546f1"/>
    <p:sldId xmlns:r="http://schemas.openxmlformats.org/officeDocument/2006/relationships" id="306" r:id="Rfc28bc6f9e204490"/>
    <p:sldId xmlns:r="http://schemas.openxmlformats.org/officeDocument/2006/relationships" id="307" r:id="R2c8fcea0b3d14501"/>
    <p:sldId xmlns:r="http://schemas.openxmlformats.org/officeDocument/2006/relationships" id="308" r:id="Reaf84976c03c40a2"/>
    <p:sldId xmlns:r="http://schemas.openxmlformats.org/officeDocument/2006/relationships" id="309" r:id="R5ba135c09d6b4494"/>
    <p:sldId xmlns:r="http://schemas.openxmlformats.org/officeDocument/2006/relationships" id="310" r:id="Re5f7cb45cef94003"/>
    <p:sldId xmlns:r="http://schemas.openxmlformats.org/officeDocument/2006/relationships" id="311" r:id="R23238d10c4244142"/>
    <p:sldId xmlns:r="http://schemas.openxmlformats.org/officeDocument/2006/relationships" id="312" r:id="Rae4f3c3cf56e4115"/>
    <p:sldId xmlns:r="http://schemas.openxmlformats.org/officeDocument/2006/relationships" id="313" r:id="R1e23b80c7f1a453f"/>
    <p:sldId xmlns:r="http://schemas.openxmlformats.org/officeDocument/2006/relationships" id="314" r:id="Rd73501a6e4ba42f4"/>
    <p:sldId xmlns:r="http://schemas.openxmlformats.org/officeDocument/2006/relationships" id="315" r:id="R58e43ee821b0465a"/>
    <p:sldId xmlns:r="http://schemas.openxmlformats.org/officeDocument/2006/relationships" id="316" r:id="R7923c94f2bad46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3174a7d08843c8" /><Relationship Type="http://schemas.openxmlformats.org/officeDocument/2006/relationships/slideMaster" Target="/ppt/slideMasters/slideMaster1.xml" Id="Rd48b19ccfc504db2" /><Relationship Type="http://schemas.openxmlformats.org/officeDocument/2006/relationships/notesMaster" Target="/ppt/notesMasters/notesMaster1.xml" Id="R2de740d17eae46f6" /><Relationship Type="http://schemas.openxmlformats.org/officeDocument/2006/relationships/presProps" Target="/ppt/presProps.xml" Id="Rbbc00fc768d94391" /><Relationship Type="http://schemas.openxmlformats.org/officeDocument/2006/relationships/viewProps" Target="/ppt/viewProps.xml" Id="R4fb56968bbfc42fa" /><Relationship Type="http://schemas.openxmlformats.org/officeDocument/2006/relationships/tableStyles" Target="/ppt/tableStyles.xml" Id="Rb63f710cc63341a4" /><Relationship Type="http://schemas.openxmlformats.org/officeDocument/2006/relationships/slide" Target="/ppt/slides/slide1.xml" Id="R5b51ce5a9afd4b8b" /><Relationship Type="http://schemas.openxmlformats.org/officeDocument/2006/relationships/slide" Target="/ppt/slides/slide2.xml" Id="R36e20ad1493549d8" /><Relationship Type="http://schemas.openxmlformats.org/officeDocument/2006/relationships/slide" Target="/ppt/slides/slide3.xml" Id="R6226750678b84ac8" /><Relationship Type="http://schemas.openxmlformats.org/officeDocument/2006/relationships/slide" Target="/ppt/slides/slide4.xml" Id="Rf257bbffd984405f" /><Relationship Type="http://schemas.openxmlformats.org/officeDocument/2006/relationships/slide" Target="/ppt/slides/slide5.xml" Id="Rcc3c951903004273" /><Relationship Type="http://schemas.openxmlformats.org/officeDocument/2006/relationships/slide" Target="/ppt/slides/slide6.xml" Id="R46a66443e4ac4b30" /><Relationship Type="http://schemas.openxmlformats.org/officeDocument/2006/relationships/slide" Target="/ppt/slides/slide7.xml" Id="R026e569f61c24a03" /><Relationship Type="http://schemas.openxmlformats.org/officeDocument/2006/relationships/slide" Target="/ppt/slides/slide8.xml" Id="R731724981ee54174" /><Relationship Type="http://schemas.openxmlformats.org/officeDocument/2006/relationships/slide" Target="/ppt/slides/slide9.xml" Id="Ree596b2accdf4c62" /><Relationship Type="http://schemas.openxmlformats.org/officeDocument/2006/relationships/slide" Target="/ppt/slides/slide10.xml" Id="R427a7fdf224a43df" /><Relationship Type="http://schemas.openxmlformats.org/officeDocument/2006/relationships/slide" Target="/ppt/slides/slide11.xml" Id="Rcfafba04b1fc4a4f" /><Relationship Type="http://schemas.openxmlformats.org/officeDocument/2006/relationships/slide" Target="/ppt/slides/slide12.xml" Id="R195bfa0e89b84f68" /><Relationship Type="http://schemas.openxmlformats.org/officeDocument/2006/relationships/slide" Target="/ppt/slides/slide13.xml" Id="R34367a25f1074bdd" /><Relationship Type="http://schemas.openxmlformats.org/officeDocument/2006/relationships/slide" Target="/ppt/slides/slide14.xml" Id="Rfe186aeada6e4620" /><Relationship Type="http://schemas.openxmlformats.org/officeDocument/2006/relationships/slide" Target="/ppt/slides/slide15.xml" Id="R8dfd28b5c66947af" /><Relationship Type="http://schemas.openxmlformats.org/officeDocument/2006/relationships/slide" Target="/ppt/slides/slide16.xml" Id="Rfcf3fb72684a4e1b" /><Relationship Type="http://schemas.openxmlformats.org/officeDocument/2006/relationships/slide" Target="/ppt/slides/slide17.xml" Id="Rf952bfdd638b49e3" /><Relationship Type="http://schemas.openxmlformats.org/officeDocument/2006/relationships/slide" Target="/ppt/slides/slide18.xml" Id="R222fe5801f2043c3" /><Relationship Type="http://schemas.openxmlformats.org/officeDocument/2006/relationships/slide" Target="/ppt/slides/slide19.xml" Id="R6c3deb7dc58d49af" /><Relationship Type="http://schemas.openxmlformats.org/officeDocument/2006/relationships/slide" Target="/ppt/slides/slide20.xml" Id="Rce97b69cab9f4df9" /><Relationship Type="http://schemas.openxmlformats.org/officeDocument/2006/relationships/slide" Target="/ppt/slides/slide21.xml" Id="R6c805f4c9f5546cc" /><Relationship Type="http://schemas.openxmlformats.org/officeDocument/2006/relationships/slide" Target="/ppt/slides/slide22.xml" Id="Rbc6e4612de424d59" /><Relationship Type="http://schemas.openxmlformats.org/officeDocument/2006/relationships/slide" Target="/ppt/slides/slide23.xml" Id="R67a3bcdea9654003" /><Relationship Type="http://schemas.openxmlformats.org/officeDocument/2006/relationships/slide" Target="/ppt/slides/slide24.xml" Id="Rcddff11059294384" /><Relationship Type="http://schemas.openxmlformats.org/officeDocument/2006/relationships/slide" Target="/ppt/slides/slide25.xml" Id="R9bb24deae8a2461a" /><Relationship Type="http://schemas.openxmlformats.org/officeDocument/2006/relationships/slide" Target="/ppt/slides/slide26.xml" Id="R19d76ae29dd44387" /><Relationship Type="http://schemas.openxmlformats.org/officeDocument/2006/relationships/slide" Target="/ppt/slides/slide27.xml" Id="R69fdb90fa2af41ea" /><Relationship Type="http://schemas.openxmlformats.org/officeDocument/2006/relationships/slide" Target="/ppt/slides/slide28.xml" Id="Rfb735d9dbb55491d" /><Relationship Type="http://schemas.openxmlformats.org/officeDocument/2006/relationships/slide" Target="/ppt/slides/slide29.xml" Id="R39607990c95a43a3" /><Relationship Type="http://schemas.openxmlformats.org/officeDocument/2006/relationships/slide" Target="/ppt/slides/slide30.xml" Id="R2bfed3b519154456" /><Relationship Type="http://schemas.openxmlformats.org/officeDocument/2006/relationships/slide" Target="/ppt/slides/slide31.xml" Id="R2d5bf49cca0b41bb" /><Relationship Type="http://schemas.openxmlformats.org/officeDocument/2006/relationships/slide" Target="/ppt/slides/slide32.xml" Id="R95777cb3f62a4893" /><Relationship Type="http://schemas.openxmlformats.org/officeDocument/2006/relationships/slide" Target="/ppt/slides/slide33.xml" Id="R38add78623c5425c" /><Relationship Type="http://schemas.openxmlformats.org/officeDocument/2006/relationships/slide" Target="/ppt/slides/slide34.xml" Id="R2a099162900248c4" /><Relationship Type="http://schemas.openxmlformats.org/officeDocument/2006/relationships/slide" Target="/ppt/slides/slide35.xml" Id="Rc8db6eb3331b4c8e" /><Relationship Type="http://schemas.openxmlformats.org/officeDocument/2006/relationships/slide" Target="/ppt/slides/slide36.xml" Id="R5e4eaecadfa346e6" /><Relationship Type="http://schemas.openxmlformats.org/officeDocument/2006/relationships/slide" Target="/ppt/slides/slide37.xml" Id="Rb3e1063a5c794956" /><Relationship Type="http://schemas.openxmlformats.org/officeDocument/2006/relationships/slide" Target="/ppt/slides/slide38.xml" Id="Ra5ecbcdbd9cc49f7" /><Relationship Type="http://schemas.openxmlformats.org/officeDocument/2006/relationships/slide" Target="/ppt/slides/slide39.xml" Id="R5e4db94ece7e4c6e" /><Relationship Type="http://schemas.openxmlformats.org/officeDocument/2006/relationships/slide" Target="/ppt/slides/slide40.xml" Id="Ref42a011d3d44fd6" /><Relationship Type="http://schemas.openxmlformats.org/officeDocument/2006/relationships/slide" Target="/ppt/slides/slide41.xml" Id="R224bf7050f4e413a" /><Relationship Type="http://schemas.openxmlformats.org/officeDocument/2006/relationships/slide" Target="/ppt/slides/slide42.xml" Id="R57dbba51c43c42aa" /><Relationship Type="http://schemas.openxmlformats.org/officeDocument/2006/relationships/slide" Target="/ppt/slides/slide43.xml" Id="R86479be350f341f5" /><Relationship Type="http://schemas.openxmlformats.org/officeDocument/2006/relationships/slide" Target="/ppt/slides/slide44.xml" Id="R527bc181e5bc4750" /><Relationship Type="http://schemas.openxmlformats.org/officeDocument/2006/relationships/slide" Target="/ppt/slides/slide45.xml" Id="R92bd6491adfa4544" /><Relationship Type="http://schemas.openxmlformats.org/officeDocument/2006/relationships/slide" Target="/ppt/slides/slide46.xml" Id="Rd8a8d053b78f4bd1" /><Relationship Type="http://schemas.openxmlformats.org/officeDocument/2006/relationships/slide" Target="/ppt/slides/slide47.xml" Id="Rbeb1bf0643974fa4" /><Relationship Type="http://schemas.openxmlformats.org/officeDocument/2006/relationships/slide" Target="/ppt/slides/slide48.xml" Id="R61a68f2181e74005" /><Relationship Type="http://schemas.openxmlformats.org/officeDocument/2006/relationships/slide" Target="/ppt/slides/slide49.xml" Id="Rc223e574b1e540b7" /><Relationship Type="http://schemas.openxmlformats.org/officeDocument/2006/relationships/slide" Target="/ppt/slides/slide50.xml" Id="Rc05dbd93284546f1" /><Relationship Type="http://schemas.openxmlformats.org/officeDocument/2006/relationships/slide" Target="/ppt/slides/slide51.xml" Id="Rfc28bc6f9e204490" /><Relationship Type="http://schemas.openxmlformats.org/officeDocument/2006/relationships/slide" Target="/ppt/slides/slide52.xml" Id="R2c8fcea0b3d14501" /><Relationship Type="http://schemas.openxmlformats.org/officeDocument/2006/relationships/slide" Target="/ppt/slides/slide53.xml" Id="Reaf84976c03c40a2" /><Relationship Type="http://schemas.openxmlformats.org/officeDocument/2006/relationships/slide" Target="/ppt/slides/slide54.xml" Id="R5ba135c09d6b4494" /><Relationship Type="http://schemas.openxmlformats.org/officeDocument/2006/relationships/slide" Target="/ppt/slides/slide55.xml" Id="Re5f7cb45cef94003" /><Relationship Type="http://schemas.openxmlformats.org/officeDocument/2006/relationships/slide" Target="/ppt/slides/slide56.xml" Id="R23238d10c4244142" /><Relationship Type="http://schemas.openxmlformats.org/officeDocument/2006/relationships/slide" Target="/ppt/slides/slide57.xml" Id="Rae4f3c3cf56e4115" /><Relationship Type="http://schemas.openxmlformats.org/officeDocument/2006/relationships/slide" Target="/ppt/slides/slide58.xml" Id="R1e23b80c7f1a453f" /><Relationship Type="http://schemas.openxmlformats.org/officeDocument/2006/relationships/slide" Target="/ppt/slides/slide59.xml" Id="Rd73501a6e4ba42f4" /><Relationship Type="http://schemas.openxmlformats.org/officeDocument/2006/relationships/slide" Target="/ppt/slides/slide60.xml" Id="R58e43ee821b0465a" /><Relationship Type="http://schemas.openxmlformats.org/officeDocument/2006/relationships/slide" Target="/ppt/slides/slide61.xml" Id="R7923c94f2bad46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b96592561a4d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b65576ab9f451c" /><Relationship Type="http://schemas.openxmlformats.org/officeDocument/2006/relationships/notesMaster" Target="/ppt/notesMasters/notesMaster1.xml" Id="R67d7d853ca374b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c14486d0b24c44" /><Relationship Type="http://schemas.openxmlformats.org/officeDocument/2006/relationships/notesMaster" Target="/ppt/notesMasters/notesMaster1.xml" Id="R15818729edc847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e44fbacfbf410a" /><Relationship Type="http://schemas.openxmlformats.org/officeDocument/2006/relationships/notesMaster" Target="/ppt/notesMasters/notesMaster1.xml" Id="R84c86decdb4e4a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0bba476e2c4677" /><Relationship Type="http://schemas.openxmlformats.org/officeDocument/2006/relationships/notesMaster" Target="/ppt/notesMasters/notesMaster1.xml" Id="Refb76011fc524a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6ac83030b448dd" /><Relationship Type="http://schemas.openxmlformats.org/officeDocument/2006/relationships/notesMaster" Target="/ppt/notesMasters/notesMaster1.xml" Id="Rbdda81042f544f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807dfbc44348ce" /><Relationship Type="http://schemas.openxmlformats.org/officeDocument/2006/relationships/notesMaster" Target="/ppt/notesMasters/notesMaster1.xml" Id="Re402e62ce88147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53426becd34dc1" /><Relationship Type="http://schemas.openxmlformats.org/officeDocument/2006/relationships/notesMaster" Target="/ppt/notesMasters/notesMaster1.xml" Id="R96837d0dd55d4c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44a73f96924008" /><Relationship Type="http://schemas.openxmlformats.org/officeDocument/2006/relationships/notesMaster" Target="/ppt/notesMasters/notesMaster1.xml" Id="R18586d5f25c148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8cfef50da74c10" /><Relationship Type="http://schemas.openxmlformats.org/officeDocument/2006/relationships/notesMaster" Target="/ppt/notesMasters/notesMaster1.xml" Id="R8d12453e97ff42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5499f8014941f3" /><Relationship Type="http://schemas.openxmlformats.org/officeDocument/2006/relationships/notesMaster" Target="/ppt/notesMasters/notesMaster1.xml" Id="Rb686e79d665d48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77806916e37428f" /><Relationship Type="http://schemas.openxmlformats.org/officeDocument/2006/relationships/notesMaster" Target="/ppt/notesMasters/notesMaster1.xml" Id="R1498e29786fe4b3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4e4d2381354775" /><Relationship Type="http://schemas.openxmlformats.org/officeDocument/2006/relationships/notesMaster" Target="/ppt/notesMasters/notesMaster1.xml" Id="Re1ed64acc4ac464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fa45e74bf684d91" /><Relationship Type="http://schemas.openxmlformats.org/officeDocument/2006/relationships/notesMaster" Target="/ppt/notesMasters/notesMaster1.xml" Id="Rf193113dfb8a456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dc619a986cf4709" /><Relationship Type="http://schemas.openxmlformats.org/officeDocument/2006/relationships/notesMaster" Target="/ppt/notesMasters/notesMaster1.xml" Id="Rbdcdb458eb12416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ecef89a3d9c4ad7" /><Relationship Type="http://schemas.openxmlformats.org/officeDocument/2006/relationships/notesMaster" Target="/ppt/notesMasters/notesMaster1.xml" Id="Rbfcacf6fafc1420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8653c9a2d97475c" /><Relationship Type="http://schemas.openxmlformats.org/officeDocument/2006/relationships/notesMaster" Target="/ppt/notesMasters/notesMaster1.xml" Id="R7cb99ce390e744b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ac91c08c9794162" /><Relationship Type="http://schemas.openxmlformats.org/officeDocument/2006/relationships/notesMaster" Target="/ppt/notesMasters/notesMaster1.xml" Id="Ra247018360174af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d9bcaed9509406c" /><Relationship Type="http://schemas.openxmlformats.org/officeDocument/2006/relationships/notesMaster" Target="/ppt/notesMasters/notesMaster1.xml" Id="Rdfab9c8df11148c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716bce3e5044b5f" /><Relationship Type="http://schemas.openxmlformats.org/officeDocument/2006/relationships/notesMaster" Target="/ppt/notesMasters/notesMaster1.xml" Id="Rcd6394ac5625464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2cf292acbf04b8b" /><Relationship Type="http://schemas.openxmlformats.org/officeDocument/2006/relationships/notesMaster" Target="/ppt/notesMasters/notesMaster1.xml" Id="Re1c1a6247788487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5de13a6cd114671" /><Relationship Type="http://schemas.openxmlformats.org/officeDocument/2006/relationships/notesMaster" Target="/ppt/notesMasters/notesMaster1.xml" Id="R5549202b3ea146c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6245987dc0448a6" /><Relationship Type="http://schemas.openxmlformats.org/officeDocument/2006/relationships/notesMaster" Target="/ppt/notesMasters/notesMaster1.xml" Id="R25e1866a345a49b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7a00e7b6971450e" /><Relationship Type="http://schemas.openxmlformats.org/officeDocument/2006/relationships/notesMaster" Target="/ppt/notesMasters/notesMaster1.xml" Id="R9bcbae3906a144c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4a2839cf31d446a" /><Relationship Type="http://schemas.openxmlformats.org/officeDocument/2006/relationships/notesMaster" Target="/ppt/notesMasters/notesMaster1.xml" Id="Raf173b848aee4cb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e1a0fc6a66c431e" /><Relationship Type="http://schemas.openxmlformats.org/officeDocument/2006/relationships/notesMaster" Target="/ppt/notesMasters/notesMaster1.xml" Id="R7b08190e8b5f44f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f3e0ae087614cf4" /><Relationship Type="http://schemas.openxmlformats.org/officeDocument/2006/relationships/notesMaster" Target="/ppt/notesMasters/notesMaster1.xml" Id="Re12b0ed327f2467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b00af7d7df34795" /><Relationship Type="http://schemas.openxmlformats.org/officeDocument/2006/relationships/notesMaster" Target="/ppt/notesMasters/notesMaster1.xml" Id="Rd0ac81a4051d4b3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7b121e342204130" /><Relationship Type="http://schemas.openxmlformats.org/officeDocument/2006/relationships/notesMaster" Target="/ppt/notesMasters/notesMaster1.xml" Id="Rc17ab405d50f49b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7b0dd64a1914553" /><Relationship Type="http://schemas.openxmlformats.org/officeDocument/2006/relationships/notesMaster" Target="/ppt/notesMasters/notesMaster1.xml" Id="Rcba063b90e21439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320e442740649dc" /><Relationship Type="http://schemas.openxmlformats.org/officeDocument/2006/relationships/notesMaster" Target="/ppt/notesMasters/notesMaster1.xml" Id="Rf8a73f9ea8ff478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017fb1c75b3418c" /><Relationship Type="http://schemas.openxmlformats.org/officeDocument/2006/relationships/notesMaster" Target="/ppt/notesMasters/notesMaster1.xml" Id="Ra72542b1811a410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6535a9b5df0458d" /><Relationship Type="http://schemas.openxmlformats.org/officeDocument/2006/relationships/notesMaster" Target="/ppt/notesMasters/notesMaster1.xml" Id="R421538671b8441d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e6aa4916726404f" /><Relationship Type="http://schemas.openxmlformats.org/officeDocument/2006/relationships/notesMaster" Target="/ppt/notesMasters/notesMaster1.xml" Id="R4c282d0ce481412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cf3d3b48cc54d25" /><Relationship Type="http://schemas.openxmlformats.org/officeDocument/2006/relationships/notesMaster" Target="/ppt/notesMasters/notesMaster1.xml" Id="R2ff228b45d22464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bd7a9c5b4184d9a" /><Relationship Type="http://schemas.openxmlformats.org/officeDocument/2006/relationships/notesMaster" Target="/ppt/notesMasters/notesMaster1.xml" Id="Rb1ac93a5312a423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7ed4e76d5de44c3" /><Relationship Type="http://schemas.openxmlformats.org/officeDocument/2006/relationships/notesMaster" Target="/ppt/notesMasters/notesMaster1.xml" Id="R42575b95d8c940c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a0dab430c064299" /><Relationship Type="http://schemas.openxmlformats.org/officeDocument/2006/relationships/notesMaster" Target="/ppt/notesMasters/notesMaster1.xml" Id="R1f592dcc4c144fa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31f764e1d044ec6" /><Relationship Type="http://schemas.openxmlformats.org/officeDocument/2006/relationships/notesMaster" Target="/ppt/notesMasters/notesMaster1.xml" Id="Rbf7d6f54715a4c2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9844327f6324bb8" /><Relationship Type="http://schemas.openxmlformats.org/officeDocument/2006/relationships/notesMaster" Target="/ppt/notesMasters/notesMaster1.xml" Id="R81ad089f197b48b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3f99b3445124574" /><Relationship Type="http://schemas.openxmlformats.org/officeDocument/2006/relationships/notesMaster" Target="/ppt/notesMasters/notesMaster1.xml" Id="R88d5db42fc42499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378ca4bf362412c" /><Relationship Type="http://schemas.openxmlformats.org/officeDocument/2006/relationships/notesMaster" Target="/ppt/notesMasters/notesMaster1.xml" Id="Rb0521c01fe104496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fa2ba927d1dd4a49" /><Relationship Type="http://schemas.openxmlformats.org/officeDocument/2006/relationships/notesMaster" Target="/ppt/notesMasters/notesMaster1.xml" Id="Re16c7aebef5e474e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4e3238a421d4ec0" /><Relationship Type="http://schemas.openxmlformats.org/officeDocument/2006/relationships/notesMaster" Target="/ppt/notesMasters/notesMaster1.xml" Id="R08c2819f594640b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bbae866660a2401b" /><Relationship Type="http://schemas.openxmlformats.org/officeDocument/2006/relationships/notesMaster" Target="/ppt/notesMasters/notesMaster1.xml" Id="R8d55232b78ee4b24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bee34ef9e9aa4446" /><Relationship Type="http://schemas.openxmlformats.org/officeDocument/2006/relationships/notesMaster" Target="/ppt/notesMasters/notesMaster1.xml" Id="R39ec39d09f284151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6bc1c58f2c7b4974" /><Relationship Type="http://schemas.openxmlformats.org/officeDocument/2006/relationships/notesMaster" Target="/ppt/notesMasters/notesMaster1.xml" Id="Rfe46f6c7bb4745a9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ca214e6e3ed24929" /><Relationship Type="http://schemas.openxmlformats.org/officeDocument/2006/relationships/notesMaster" Target="/ppt/notesMasters/notesMaster1.xml" Id="R0849a0035e524a93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d94e437498294acd" /><Relationship Type="http://schemas.openxmlformats.org/officeDocument/2006/relationships/notesMaster" Target="/ppt/notesMasters/notesMaster1.xml" Id="R6926d19001634047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d3c6cdc912ba45de" /><Relationship Type="http://schemas.openxmlformats.org/officeDocument/2006/relationships/notesMaster" Target="/ppt/notesMasters/notesMaster1.xml" Id="Re249c1ed9d304b1e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bcce47e02d8b48b6" /><Relationship Type="http://schemas.openxmlformats.org/officeDocument/2006/relationships/notesMaster" Target="/ppt/notesMasters/notesMaster1.xml" Id="Rb3789b584f494c6e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ec177d3e13a54645" /><Relationship Type="http://schemas.openxmlformats.org/officeDocument/2006/relationships/notesMaster" Target="/ppt/notesMasters/notesMaster1.xml" Id="Rb61109ccd7d74df0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d2df71947b0e4a53" /><Relationship Type="http://schemas.openxmlformats.org/officeDocument/2006/relationships/notesMaster" Target="/ppt/notesMasters/notesMaster1.xml" Id="R793f9125a5144a9f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b4bd4f1cc90541a7" /><Relationship Type="http://schemas.openxmlformats.org/officeDocument/2006/relationships/notesMaster" Target="/ppt/notesMasters/notesMaster1.xml" Id="R13a12fac660d4abf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0fbcff4c3f0f4d31" /><Relationship Type="http://schemas.openxmlformats.org/officeDocument/2006/relationships/notesMaster" Target="/ppt/notesMasters/notesMaster1.xml" Id="R06843f45e87b44d7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a98436fb9af04ae0" /><Relationship Type="http://schemas.openxmlformats.org/officeDocument/2006/relationships/notesMaster" Target="/ppt/notesMasters/notesMaster1.xml" Id="R263e243ef87b440d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ac2d1af0dcf14f37" /><Relationship Type="http://schemas.openxmlformats.org/officeDocument/2006/relationships/notesMaster" Target="/ppt/notesMasters/notesMaster1.xml" Id="Re238a1937b44436b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a51cbaba5c42446c" /><Relationship Type="http://schemas.openxmlformats.org/officeDocument/2006/relationships/notesMaster" Target="/ppt/notesMasters/notesMaster1.xml" Id="R0431606b5d0f4002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2b453dd9e4064876" /><Relationship Type="http://schemas.openxmlformats.org/officeDocument/2006/relationships/notesMaster" Target="/ppt/notesMasters/notesMaster1.xml" Id="R1bb593ac43004694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dc291bbd81b14c3a" /><Relationship Type="http://schemas.openxmlformats.org/officeDocument/2006/relationships/notesMaster" Target="/ppt/notesMasters/notesMaster1.xml" Id="Rb76c7d8cad954a88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3993418da4ca4c92" /><Relationship Type="http://schemas.openxmlformats.org/officeDocument/2006/relationships/notesMaster" Target="/ppt/notesMasters/notesMaster1.xml" Id="R68ad1cd494df4215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3e40ee74f13a4da0" /><Relationship Type="http://schemas.openxmlformats.org/officeDocument/2006/relationships/notesMaster" Target="/ppt/notesMasters/notesMaster1.xml" Id="Rb901049e081d47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1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Philips AI strategy material already cited on slide 2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2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GCR AI roadmap material already cited on slide 8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  <a:p xmlns:a="http://schemas.openxmlformats.org/drawingml/2006/main">
            <a:r>
              <a:t>- Enterprise_ChatGPT申请与使用OnePager.pptx</a:t>
            </a:r>
          </a:p>
          <a:p xmlns:a="http://schemas.openxmlformats.org/drawingml/2006/main">
            <a:r>
              <a:t>- User-provided Company Portal screenshots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KB1528249 — 飞利浦中国用户 ChatGPT 申请与使用手册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  <a:p xmlns:a="http://schemas.openxmlformats.org/drawingml/2006/main">
            <a:r>
              <a:t>- User-provided screenshot of KB1528249 v6.0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User-provided AI Gateway screenshot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Enterprise_ChatGPT申请与使用OnePager.pptx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Company Portal home screenshot</a:t>
            </a:r>
          </a:p>
          <a:p xmlns:a="http://schemas.openxmlformats.org/drawingml/2006/main">
            <a:r>
              <a:t>- User-provided ChatGPT Proxy Doctor details screenshot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Diagram summarizes the confirmed steps from slides 9–13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KB1528249 — 飞利浦中国用户 ChatGPT 申请与使用手册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3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GCR AI Network role material already cited on slide 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GCR AI Ambassador image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Microsoft MS-4004 playlist already cited on slide 22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Microsoft 365 Copilot workflow summarized from slides 19–23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  <a:p xmlns:a="http://schemas.openxmlformats.org/drawingml/2006/main">
            <a:r>
              <a:t>- Local fictional Green Office Week training 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Green Office Week fictional training files described on slides 24–27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Project Brief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Meeting Notes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Timeline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Green Office Week fictional training prompt structure on slide 28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M365 Copilot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Green Office Week fictional training workflow on slides 24–30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讲解提示：这是示例提示词，不是唯一写法。重点是把背景、任务、输出和约束说清楚。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Bootcamp_AI培训资料汇总_20260820/02_Copilot日常实操案例/01_绿色办公周_项目简介_虚构数据.txt</a:t>
            </a:r>
          </a:p>
          <a:p xmlns:a="http://schemas.openxmlformats.org/drawingml/2006/main">
            <a:r>
              <a:t>- Bootcamp_AI培训资料汇总_20260820/02_Copilot日常实操案例/02_绿色办公周_会议纪要_虚构数据.txt</a:t>
            </a:r>
          </a:p>
          <a:p xmlns:a="http://schemas.openxmlformats.org/drawingml/2006/main">
            <a:r>
              <a:t>- Bootcamp_AI培训资料汇总_20260820/02_Copilot日常实操案例/03_绿色办公周_时间表_虚构数据.txt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Green Office Week fictional training files and example prompt on slides 24–32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meeting follow-up output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048dcbcaad4a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c4352ccd8c4d12" /><Relationship Type="http://schemas.openxmlformats.org/officeDocument/2006/relationships/slideLayout" Target="/ppt/slideLayouts/slideLayout1.xml" Id="R8599406459b140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99406459b140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dad6d0d7f45fd" /><Relationship Type="http://schemas.openxmlformats.org/officeDocument/2006/relationships/hyperlink" Target="https://aiskillsnavigator.microsoft.com/" TargetMode="External" Id="R8b35080ce85942f9" /><Relationship Type="http://schemas.openxmlformats.org/officeDocument/2006/relationships/notesSlide" Target="/ppt/notesSlides/notesSlide1.xml" Id="R91abc1859c694a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1a8b5b11c24d2a" /><Relationship Type="http://schemas.openxmlformats.org/officeDocument/2006/relationships/hyperlink" Target="https://www.aigateway.ai.inside.philips.com/" TargetMode="External" Id="R86897ab133a64edb" /><Relationship Type="http://schemas.openxmlformats.org/officeDocument/2006/relationships/notesSlide" Target="/ppt/notesSlides/notesSlide2.xml" Id="R400d0fafb60741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103cc3adb48ef" /><Relationship Type="http://schemas.openxmlformats.org/officeDocument/2006/relationships/hyperlink" Target="https://www.aigateway.ai.inside.philips.com/" TargetMode="External" Id="R4a1fff4ba5b045c7" /><Relationship Type="http://schemas.openxmlformats.org/officeDocument/2006/relationships/notesSlide" Target="/ppt/notesSlides/notesSlide3.xml" Id="R22fb242a7a414f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ab77d22684e84" /><Relationship Type="http://schemas.openxmlformats.org/officeDocument/2006/relationships/hyperlink" Target="https://aiskillsnavigator.microsoft.com/" TargetMode="External" Id="R337aa75628b34873" /><Relationship Type="http://schemas.openxmlformats.org/officeDocument/2006/relationships/notesSlide" Target="/ppt/notesSlides/notesSlide4.xml" Id="R559679f1b4a941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2d88bf3e44ceb" /><Relationship Type="http://schemas.openxmlformats.org/officeDocument/2006/relationships/hyperlink" Target="https://aiskillsnavigator.microsoft.com/" TargetMode="External" Id="R56d995ecf8e645d7" /><Relationship Type="http://schemas.openxmlformats.org/officeDocument/2006/relationships/notesSlide" Target="/ppt/notesSlides/notesSlide5.xml" Id="Rbd924c32e1e14c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92cb0211f4110" /><Relationship Type="http://schemas.openxmlformats.org/officeDocument/2006/relationships/hyperlink" Target="https://www.aigateway.ai.inside.philips.com/" TargetMode="External" Id="R7d6461a9dcc34212" /><Relationship Type="http://schemas.openxmlformats.org/officeDocument/2006/relationships/notesSlide" Target="/ppt/notesSlides/notesSlide6.xml" Id="R0f565517845a43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4b0fb9aa04442" /><Relationship Type="http://schemas.openxmlformats.org/officeDocument/2006/relationships/image" Target="/ppt/media/image.png" Id="Rcf41d2473ff14be6" /><Relationship Type="http://schemas.openxmlformats.org/officeDocument/2006/relationships/hyperlink" Target="https://www.aigateway.ai.inside.philips.com/" TargetMode="External" Id="Rbc611fde140e4c93" /><Relationship Type="http://schemas.openxmlformats.org/officeDocument/2006/relationships/notesSlide" Target="/ppt/notesSlides/notesSlide7.xml" Id="Rc5840ccb396044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7d89b3386465e" /><Relationship Type="http://schemas.openxmlformats.org/officeDocument/2006/relationships/image" Target="/ppt/media/image.png" Id="R5443ea005af143a1" /><Relationship Type="http://schemas.openxmlformats.org/officeDocument/2006/relationships/hyperlink" Target="https://www.aigateway.ai.inside.philips.com/" TargetMode="External" Id="R08ffa16355d04f45" /><Relationship Type="http://schemas.openxmlformats.org/officeDocument/2006/relationships/notesSlide" Target="/ppt/notesSlides/notesSlide8.xml" Id="R031d6f1511e04c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8660e2acc4224" /><Relationship Type="http://schemas.openxmlformats.org/officeDocument/2006/relationships/image" Target="/ppt/media/image.png" Id="R0528f91c319c4c85" /><Relationship Type="http://schemas.openxmlformats.org/officeDocument/2006/relationships/hyperlink" Target="https://www.aigateway.ai.inside.philips.com/" TargetMode="External" Id="R6d6666e106e94097" /><Relationship Type="http://schemas.openxmlformats.org/officeDocument/2006/relationships/notesSlide" Target="/ppt/notesSlides/notesSlide9.xml" Id="R175ac07c996641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09b013d47e4779" /><Relationship Type="http://schemas.openxmlformats.org/officeDocument/2006/relationships/hyperlink" Target="https://www.aigateway.ai.inside.philips.com/" TargetMode="External" Id="R63817150e902442d" /><Relationship Type="http://schemas.openxmlformats.org/officeDocument/2006/relationships/notesSlide" Target="/ppt/notesSlides/notesSlide10.xml" Id="Raaef2782875e4c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5868f143642ef" /><Relationship Type="http://schemas.openxmlformats.org/officeDocument/2006/relationships/hyperlink" Target="https://www.aigateway.ai.inside.philips.com/" TargetMode="External" Id="R6fcfc2657e89474e" /><Relationship Type="http://schemas.openxmlformats.org/officeDocument/2006/relationships/notesSlide" Target="/ppt/notesSlides/notesSlide11.xml" Id="Rc9c55a08be56491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4b4becb5e4574" /><Relationship Type="http://schemas.openxmlformats.org/officeDocument/2006/relationships/hyperlink" Target="https://philips.service-now.com/itportal?id=kb_article&amp;sysparm_article=KB1528249&amp;sys_id=24240f5bfb794b54ae1afb576eefdc0f&amp;spa=1" TargetMode="External" Id="Rc11af5090451431f" /><Relationship Type="http://schemas.openxmlformats.org/officeDocument/2006/relationships/notesSlide" Target="/ppt/notesSlides/notesSlide12.xml" Id="R83163716796847b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e23d1122b471a" /><Relationship Type="http://schemas.openxmlformats.org/officeDocument/2006/relationships/hyperlink" Target="https://philips.service-now.com/itportal?id=kb_article&amp;sysparm_article=KB1528249&amp;sys_id=24240f5bfb794b54ae1afb576eefdc0f&amp;spa=1" TargetMode="External" Id="Rcd6d6a7a10d741e9" /><Relationship Type="http://schemas.openxmlformats.org/officeDocument/2006/relationships/notesSlide" Target="/ppt/notesSlides/notesSlide13.xml" Id="R0ddcafa1960d43f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9b6bdf8dad4e9e" /><Relationship Type="http://schemas.openxmlformats.org/officeDocument/2006/relationships/image" Target="/ppt/media/image2.png" Id="R7a2f2263ab944975" /><Relationship Type="http://schemas.openxmlformats.org/officeDocument/2006/relationships/hyperlink" Target="https://philips.service-now.com/itportal?id=kb_article&amp;sysparm_article=KB1528249&amp;sys_id=24240f5bfb794b54ae1afb576eefdc0f&amp;spa=1" TargetMode="External" Id="R4d2245e32d3446c2" /><Relationship Type="http://schemas.openxmlformats.org/officeDocument/2006/relationships/notesSlide" Target="/ppt/notesSlides/notesSlide14.xml" Id="Ra855ba68e2df458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96062327d4874" /><Relationship Type="http://schemas.openxmlformats.org/officeDocument/2006/relationships/hyperlink" Target="https://www.aigateway.ai.inside.philips.com/" TargetMode="External" Id="Rebbdfb25afca4acc" /><Relationship Type="http://schemas.openxmlformats.org/officeDocument/2006/relationships/hyperlink" Target="https://philips.service-now.com/itportal?id=kb_article&amp;sysparm_article=KB1528249&amp;sys_id=24240f5bfb794b54ae1afb576eefdc0f&amp;spa=1" TargetMode="External" Id="R5f9e65d43bdb4328" /><Relationship Type="http://schemas.openxmlformats.org/officeDocument/2006/relationships/image" Target="/ppt/media/image3.png" Id="Raeba86a5bce74f04" /><Relationship Type="http://schemas.openxmlformats.org/officeDocument/2006/relationships/notesSlide" Target="/ppt/notesSlides/notesSlide15.xml" Id="R3e67a8eafaff424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56d892d6d4aed" /><Relationship Type="http://schemas.openxmlformats.org/officeDocument/2006/relationships/hyperlink" Target="https://philips.service-now.com/itportal?id=kb_article&amp;sysparm_article=KB1528249&amp;sys_id=24240f5bfb794b54ae1afb576eefdc0f&amp;spa=1" TargetMode="External" Id="R2ef66c7de8d14c8f" /><Relationship Type="http://schemas.openxmlformats.org/officeDocument/2006/relationships/hyperlink" Target="https://philips.service-now.com/itportal?id=sc_cat_item&amp;table=sc_cat_item&amp;sys_id=1ca637e9c3213950b95c74c4e401318d&amp;searchTerm=china internet premium" TargetMode="External" Id="R6e95dface8ed482b" /><Relationship Type="http://schemas.openxmlformats.org/officeDocument/2006/relationships/image" Target="/ppt/media/image4.png" Id="R2b089f83199346fb" /><Relationship Type="http://schemas.openxmlformats.org/officeDocument/2006/relationships/notesSlide" Target="/ppt/notesSlides/notesSlide16.xml" Id="Reb6dee07d5b846f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4addb7f1a4f37" /><Relationship Type="http://schemas.openxmlformats.org/officeDocument/2006/relationships/image" Target="/ppt/media/image5.png" Id="R0e6581bdbbe546d0" /><Relationship Type="http://schemas.openxmlformats.org/officeDocument/2006/relationships/hyperlink" Target="https://philips.service-now.com/itportal?id=kb_article&amp;sysparm_article=KB1528249&amp;sys_id=24240f5bfb794b54ae1afb576eefdc0f&amp;spa=1" TargetMode="External" Id="Rd691c8bd07f24c08" /><Relationship Type="http://schemas.openxmlformats.org/officeDocument/2006/relationships/notesSlide" Target="/ppt/notesSlides/notesSlide17.xml" Id="R46f85360dae547c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c990647ac475d" /><Relationship Type="http://schemas.openxmlformats.org/officeDocument/2006/relationships/hyperlink" Target="https://www.aigateway.ai.inside.philips.com/" TargetMode="External" Id="R9d57ebd55e764dba" /><Relationship Type="http://schemas.openxmlformats.org/officeDocument/2006/relationships/notesSlide" Target="/ppt/notesSlides/notesSlide18.xml" Id="R7eb04203e80d498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8c28991114488" /><Relationship Type="http://schemas.openxmlformats.org/officeDocument/2006/relationships/hyperlink" Target="https://www.aigateway.ai.inside.philips.com/" TargetMode="External" Id="R7dc8e85c4d734168" /><Relationship Type="http://schemas.openxmlformats.org/officeDocument/2006/relationships/notesSlide" Target="/ppt/notesSlides/notesSlide19.xml" Id="Rf21f58c2a6f0441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59bcd42364bb7" /><Relationship Type="http://schemas.openxmlformats.org/officeDocument/2006/relationships/hyperlink" Target="https://www.aigateway.ai.inside.philips.com/" TargetMode="External" Id="R1027b368abbb415d" /><Relationship Type="http://schemas.openxmlformats.org/officeDocument/2006/relationships/hyperlink" Target="https://philips-ai-tool-lab.github.io/ai-tool-lab-preview/" TargetMode="External" Id="Rfaab5f2bc0154ea8" /><Relationship Type="http://schemas.openxmlformats.org/officeDocument/2006/relationships/notesSlide" Target="/ppt/notesSlides/notesSlide20.xml" Id="R2c7f8ab1223544a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5fbaad0bb4b2b" /><Relationship Type="http://schemas.openxmlformats.org/officeDocument/2006/relationships/hyperlink" Target="https://www.aigateway.ai.inside.philips.com/" TargetMode="External" Id="Rdc2ea42bbca74e38" /><Relationship Type="http://schemas.openxmlformats.org/officeDocument/2006/relationships/hyperlink" Target="https://philips-ai-tool-lab.github.io/ai-tool-lab-preview/" TargetMode="External" Id="Ra52a6297ea904020" /><Relationship Type="http://schemas.openxmlformats.org/officeDocument/2006/relationships/notesSlide" Target="/ppt/notesSlides/notesSlide21.xml" Id="Ra44125cb30e94db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4c6e2cd3c479e" /><Relationship Type="http://schemas.openxmlformats.org/officeDocument/2006/relationships/hyperlink" Target="https://www.aigateway.ai.inside.philips.com/" TargetMode="External" Id="Rb337e39a5c4e4221" /><Relationship Type="http://schemas.openxmlformats.org/officeDocument/2006/relationships/notesSlide" Target="/ppt/notesSlides/notesSlide22.xml" Id="R3f450ea69fe44fe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aa581f7624e5b" /><Relationship Type="http://schemas.openxmlformats.org/officeDocument/2006/relationships/image" Target="/ppt/media/image6.png" Id="Rb85211c253b0407b" /><Relationship Type="http://schemas.openxmlformats.org/officeDocument/2006/relationships/hyperlink" Target="https://aiskillsnavigator.microsoft.com/" TargetMode="External" Id="R566ee18e73574b42" /><Relationship Type="http://schemas.openxmlformats.org/officeDocument/2006/relationships/hyperlink" Target="https://m365.cloud.microsoft/chat" TargetMode="External" Id="R6c1a81be3f154139" /><Relationship Type="http://schemas.openxmlformats.org/officeDocument/2006/relationships/notesSlide" Target="/ppt/notesSlides/notesSlide23.xml" Id="R840ab3f94c45486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5207393fd4f9a" /><Relationship Type="http://schemas.openxmlformats.org/officeDocument/2006/relationships/hyperlink" Target="https://aiskillsnavigator.microsoft.com/" TargetMode="External" Id="R1538693f4cc945a6" /><Relationship Type="http://schemas.openxmlformats.org/officeDocument/2006/relationships/hyperlink" Target="https://aiskillsnavigator.microsoft.com/playlists/291ff1ba-c754-44f1-9814-ef8917f8c989" TargetMode="External" Id="R3a885ec9036b497d" /><Relationship Type="http://schemas.openxmlformats.org/officeDocument/2006/relationships/hyperlink" Target="https://m365.cloud.microsoft/chat" TargetMode="External" Id="R2597a2b92c4244dc" /><Relationship Type="http://schemas.openxmlformats.org/officeDocument/2006/relationships/notesSlide" Target="/ppt/notesSlides/notesSlide24.xml" Id="Re38344a154524a8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2363dd9304194" /><Relationship Type="http://schemas.openxmlformats.org/officeDocument/2006/relationships/image" Target="/ppt/media/image7.png" Id="Rc03fc9ae720140e7" /><Relationship Type="http://schemas.openxmlformats.org/officeDocument/2006/relationships/hyperlink" Target="https://aiskillsnavigator.microsoft.com/" TargetMode="External" Id="R233955ba9b9d4f0d" /><Relationship Type="http://schemas.openxmlformats.org/officeDocument/2006/relationships/notesSlide" Target="/ppt/notesSlides/notesSlide25.xml" Id="R3f797538ffd44c5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0dff4820846d7" /><Relationship Type="http://schemas.openxmlformats.org/officeDocument/2006/relationships/image" Target="/ppt/media/image8.png" Id="Re3258597dff3427a" /><Relationship Type="http://schemas.openxmlformats.org/officeDocument/2006/relationships/hyperlink" Target="https://aiskillsnavigator.microsoft.com/playlists/291ff1ba-c754-44f1-9814-ef8917f8c989" TargetMode="External" Id="Reb8e68e91f4442fd" /><Relationship Type="http://schemas.openxmlformats.org/officeDocument/2006/relationships/notesSlide" Target="/ppt/notesSlides/notesSlide26.xml" Id="Reba186c69d9a4c2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e5656054f465a" /><Relationship Type="http://schemas.openxmlformats.org/officeDocument/2006/relationships/image" Target="/ppt/media/image9.png" Id="R3aa0ee7d6f524f21" /><Relationship Type="http://schemas.openxmlformats.org/officeDocument/2006/relationships/hyperlink" Target="https://aiskillsnavigator.microsoft.com/playlists/291ff1ba-c754-44f1-9814-ef8917f8c989" TargetMode="External" Id="R4e003cf7842c493b" /><Relationship Type="http://schemas.openxmlformats.org/officeDocument/2006/relationships/hyperlink" Target="https://learn.microsoft.com/zh-cn/training/courses/ms-4004" TargetMode="External" Id="R81be1bc69118423e" /><Relationship Type="http://schemas.openxmlformats.org/officeDocument/2006/relationships/notesSlide" Target="/ppt/notesSlides/notesSlide27.xml" Id="R774b6d75a138489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104ad692044c9" /><Relationship Type="http://schemas.openxmlformats.org/officeDocument/2006/relationships/hyperlink" Target="https://aiskillsnavigator.microsoft.com/playlists/291ff1ba-c754-44f1-9814-ef8917f8c989" TargetMode="External" Id="R99c6a65a48d34d52" /><Relationship Type="http://schemas.openxmlformats.org/officeDocument/2006/relationships/notesSlide" Target="/ppt/notesSlides/notesSlide28.xml" Id="Rcf13afcc93984d7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6f0622adb4c2b" /><Relationship Type="http://schemas.openxmlformats.org/officeDocument/2006/relationships/hyperlink" Target="https://aiskillsnavigator.microsoft.com/playlists/291ff1ba-c754-44f1-9814-ef8917f8c989" TargetMode="External" Id="R61d312ecec9f495d" /><Relationship Type="http://schemas.openxmlformats.org/officeDocument/2006/relationships/notesSlide" Target="/ppt/notesSlides/notesSlide29.xml" Id="R552eb3f8eec1432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5391f8f204e36" /><Relationship Type="http://schemas.openxmlformats.org/officeDocument/2006/relationships/hyperlink" Target="https://m365.cloud.microsoft/chat" TargetMode="External" Id="R848e4c7c97d04359" /><Relationship Type="http://schemas.openxmlformats.org/officeDocument/2006/relationships/notesSlide" Target="/ppt/notesSlides/notesSlide30.xml" Id="R9953640d727348c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750794bda4f99" /><Relationship Type="http://schemas.openxmlformats.org/officeDocument/2006/relationships/hyperlink" Target="https://m365.cloud.microsoft/chat" TargetMode="External" Id="Rc2aa3fa63a7148a8" /><Relationship Type="http://schemas.openxmlformats.org/officeDocument/2006/relationships/notesSlide" Target="/ppt/notesSlides/notesSlide31.xml" Id="R8ad8ee76c1e8479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d6fc89e4242e8" /><Relationship Type="http://schemas.openxmlformats.org/officeDocument/2006/relationships/hyperlink" Target="https://m365.cloud.microsoft/chat" TargetMode="External" Id="R961edcf6770343c4" /><Relationship Type="http://schemas.openxmlformats.org/officeDocument/2006/relationships/notesSlide" Target="/ppt/notesSlides/notesSlide32.xml" Id="Ra4eea44cfcca413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0adc1f21c4b03" /><Relationship Type="http://schemas.openxmlformats.org/officeDocument/2006/relationships/hyperlink" Target="https://m365.cloud.microsoft/chat" TargetMode="External" Id="R48705082a72a4305" /><Relationship Type="http://schemas.openxmlformats.org/officeDocument/2006/relationships/notesSlide" Target="/ppt/notesSlides/notesSlide33.xml" Id="Re095855b07d744e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1f56987de49c4" /><Relationship Type="http://schemas.openxmlformats.org/officeDocument/2006/relationships/hyperlink" Target="https://m365.cloud.microsoft/chat" TargetMode="External" Id="R79ca1568909b443c" /><Relationship Type="http://schemas.openxmlformats.org/officeDocument/2006/relationships/notesSlide" Target="/ppt/notesSlides/notesSlide34.xml" Id="Rfcb1e68b36bb4bb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d0282a7354d51" /><Relationship Type="http://schemas.openxmlformats.org/officeDocument/2006/relationships/hyperlink" Target="https://m365.cloud.microsoft/chat" TargetMode="External" Id="Reca929f824084048" /><Relationship Type="http://schemas.openxmlformats.org/officeDocument/2006/relationships/notesSlide" Target="/ppt/notesSlides/notesSlide35.xml" Id="Rfc30d5364c3343a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321e4ed4a4f70" /><Relationship Type="http://schemas.openxmlformats.org/officeDocument/2006/relationships/hyperlink" Target="https://m365.cloud.microsoft/chat" TargetMode="External" Id="Re92510d63907491a" /><Relationship Type="http://schemas.openxmlformats.org/officeDocument/2006/relationships/notesSlide" Target="/ppt/notesSlides/notesSlide36.xml" Id="Ra5592efe4dc64f7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d5adcec6648f4" /><Relationship Type="http://schemas.openxmlformats.org/officeDocument/2006/relationships/hyperlink" Target="https://m365.cloud.microsoft/chat" TargetMode="External" Id="R5d7d9219224f4160" /><Relationship Type="http://schemas.openxmlformats.org/officeDocument/2006/relationships/notesSlide" Target="/ppt/notesSlides/notesSlide37.xml" Id="Rc2f62e975d35473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bbd6190594911" /><Relationship Type="http://schemas.openxmlformats.org/officeDocument/2006/relationships/hyperlink" Target="https://m365.cloud.microsoft/chat" TargetMode="External" Id="R814037b19a144281" /><Relationship Type="http://schemas.openxmlformats.org/officeDocument/2006/relationships/notesSlide" Target="/ppt/notesSlides/notesSlide38.xml" Id="Rfe99659445194f0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ea82e57744e17" /><Relationship Type="http://schemas.openxmlformats.org/officeDocument/2006/relationships/image" Target="/ppt/media/image10.png" Id="R38bd9b92da0c4b61" /><Relationship Type="http://schemas.openxmlformats.org/officeDocument/2006/relationships/hyperlink" Target="https://m365.cloud.microsoft/chat" TargetMode="External" Id="R577d68c2cc5e4d36" /><Relationship Type="http://schemas.openxmlformats.org/officeDocument/2006/relationships/notesSlide" Target="/ppt/notesSlides/notesSlide39.xml" Id="Rc28a25a94f67478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9928564b4474b" /><Relationship Type="http://schemas.openxmlformats.org/officeDocument/2006/relationships/hyperlink" Target="https://m365.cloud.microsoft/chat" TargetMode="External" Id="R22dad75ca5b54d03" /><Relationship Type="http://schemas.openxmlformats.org/officeDocument/2006/relationships/notesSlide" Target="/ppt/notesSlides/notesSlide40.xml" Id="Rd0d626509dea4b26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2286d0f2f4ad0" /><Relationship Type="http://schemas.openxmlformats.org/officeDocument/2006/relationships/hyperlink" Target="https://m365.cloud.microsoft/chat" TargetMode="External" Id="Rc348570df2524459" /><Relationship Type="http://schemas.openxmlformats.org/officeDocument/2006/relationships/notesSlide" Target="/ppt/notesSlides/notesSlide41.xml" Id="Rad144e738b984f4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01359f81b4e9f" /><Relationship Type="http://schemas.openxmlformats.org/officeDocument/2006/relationships/hyperlink" Target="https://m365.cloud.microsoft/chat" TargetMode="External" Id="R44a674df6b514872" /><Relationship Type="http://schemas.openxmlformats.org/officeDocument/2006/relationships/notesSlide" Target="/ppt/notesSlides/notesSlide42.xml" Id="Rc1b98a89923b4b5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eb25b2cd74daf" /><Relationship Type="http://schemas.openxmlformats.org/officeDocument/2006/relationships/hyperlink" Target="https://m365.cloud.microsoft/chat" TargetMode="External" Id="R7c2f157695954961" /><Relationship Type="http://schemas.openxmlformats.org/officeDocument/2006/relationships/notesSlide" Target="/ppt/notesSlides/notesSlide43.xml" Id="R21ea204ef4f74f8a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03607b64f48af" /><Relationship Type="http://schemas.openxmlformats.org/officeDocument/2006/relationships/hyperlink" Target="https://m365.cloud.microsoft/chat" TargetMode="External" Id="R268fee7ab7354c9b" /><Relationship Type="http://schemas.openxmlformats.org/officeDocument/2006/relationships/notesSlide" Target="/ppt/notesSlides/notesSlide44.xml" Id="R727865692a204a82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fb3ea57414cd5" /><Relationship Type="http://schemas.openxmlformats.org/officeDocument/2006/relationships/hyperlink" Target="https://philips-ai-tool-lab.github.io/ai-tool-lab-preview/" TargetMode="External" Id="R1ae00719e2534622" /><Relationship Type="http://schemas.openxmlformats.org/officeDocument/2006/relationships/hyperlink" Target="https://philips-ai-tool-lab.github.io/ai-tool-lab-preview/#agent-builder-path" TargetMode="External" Id="R17e26073b40f47f0" /><Relationship Type="http://schemas.openxmlformats.org/officeDocument/2006/relationships/hyperlink" Target="https://m365.cloud.microsoft/chat" TargetMode="External" Id="R3a63924b52214031" /><Relationship Type="http://schemas.openxmlformats.org/officeDocument/2006/relationships/notesSlide" Target="/ppt/notesSlides/notesSlide45.xml" Id="Rd953ec3b0757428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dc2b99355450d" /><Relationship Type="http://schemas.openxmlformats.org/officeDocument/2006/relationships/image" Target="/ppt/media/image11.png" Id="R19e2cecc26d344e8" /><Relationship Type="http://schemas.openxmlformats.org/officeDocument/2006/relationships/hyperlink" Target="https://philips-ai-tool-lab.github.io/ai-tool-lab-preview/" TargetMode="External" Id="R8ae930918b4345ee" /><Relationship Type="http://schemas.openxmlformats.org/officeDocument/2006/relationships/hyperlink" Target="https://philips-ai-tool-lab.github.io/ai-tool-lab-preview/#agent-builder-path" TargetMode="External" Id="R60a07986fb2942bb" /><Relationship Type="http://schemas.openxmlformats.org/officeDocument/2006/relationships/notesSlide" Target="/ppt/notesSlides/notesSlide46.xml" Id="Raebe6fc12fd94029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68ac6179e489e" /><Relationship Type="http://schemas.openxmlformats.org/officeDocument/2006/relationships/hyperlink" Target="https://philips-ai-tool-lab.github.io/ai-tool-lab-preview/labs/chief-of-staff/" TargetMode="External" Id="Rd9cd7d6005584ad7" /><Relationship Type="http://schemas.openxmlformats.org/officeDocument/2006/relationships/hyperlink" Target="https://philips-ai-tool-lab.github.io/ai-tool-lab-preview/labs/product-manual-faq/" TargetMode="External" Id="R3eb11e06475f4c4c" /><Relationship Type="http://schemas.openxmlformats.org/officeDocument/2006/relationships/hyperlink" Target="https://philips-ai-tool-lab.github.io/ai-tool-lab-preview/labs/meeting-follow-up/" TargetMode="External" Id="R1bfd07a854984bf4" /><Relationship Type="http://schemas.openxmlformats.org/officeDocument/2006/relationships/hyperlink" Target="https://philips-ai-tool-lab.github.io/ai-tool-lab-preview/labs/funnel-data-analyst/" TargetMode="External" Id="Ra066ddca911d4b5b" /><Relationship Type="http://schemas.openxmlformats.org/officeDocument/2006/relationships/notesSlide" Target="/ppt/notesSlides/notesSlide47.xml" Id="R19a0fe3e83e24525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36177c7b14526" /><Relationship Type="http://schemas.openxmlformats.org/officeDocument/2006/relationships/image" Target="/ppt/media/image12.png" Id="R1f1b3e9014f649e7" /><Relationship Type="http://schemas.openxmlformats.org/officeDocument/2006/relationships/hyperlink" Target="https://philips-ai-tool-lab.github.io/ai-tool-lab-preview/labs/chief-of-staff/" TargetMode="External" Id="R853dd6ffb6d64f00" /><Relationship Type="http://schemas.openxmlformats.org/officeDocument/2006/relationships/notesSlide" Target="/ppt/notesSlides/notesSlide48.xml" Id="Rcf0e008b8d52458a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e1429c0bc4214" /><Relationship Type="http://schemas.openxmlformats.org/officeDocument/2006/relationships/image" Target="/ppt/media/image13.png" Id="R3262cb6c2abd4071" /><Relationship Type="http://schemas.openxmlformats.org/officeDocument/2006/relationships/hyperlink" Target="https://philips-ai-tool-lab.github.io/ai-tool-lab-preview/labs/product-manual-faq/" TargetMode="External" Id="R57d55d35d5d34e4f" /><Relationship Type="http://schemas.openxmlformats.org/officeDocument/2006/relationships/notesSlide" Target="/ppt/notesSlides/notesSlide49.xml" Id="R338c23c42ae94d0c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3a2b3f42e4a0e" /><Relationship Type="http://schemas.openxmlformats.org/officeDocument/2006/relationships/image" Target="/ppt/media/image14.png" Id="R1b7c28da4e90448f" /><Relationship Type="http://schemas.openxmlformats.org/officeDocument/2006/relationships/hyperlink" Target="https://philips-ai-tool-lab.github.io/ai-tool-lab-preview/labs/meeting-follow-up/" TargetMode="External" Id="Re2ff7b6969464812" /><Relationship Type="http://schemas.openxmlformats.org/officeDocument/2006/relationships/notesSlide" Target="/ppt/notesSlides/notesSlide50.xml" Id="R1b3ea8a178a84b9e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4c815945f4118" /><Relationship Type="http://schemas.openxmlformats.org/officeDocument/2006/relationships/image" Target="/ppt/media/image15.png" Id="R5f5498f9ef03479d" /><Relationship Type="http://schemas.openxmlformats.org/officeDocument/2006/relationships/hyperlink" Target="https://philips-ai-tool-lab.github.io/ai-tool-lab-preview/labs/funnel-data-analyst/" TargetMode="External" Id="R90306e56b9d54dff" /><Relationship Type="http://schemas.openxmlformats.org/officeDocument/2006/relationships/notesSlide" Target="/ppt/notesSlides/notesSlide51.xml" Id="Ra0fbd18e25154814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4c505c2564630" /><Relationship Type="http://schemas.openxmlformats.org/officeDocument/2006/relationships/hyperlink" Target="https://philips-ai-tool-lab.github.io/ai-tool-lab-preview/#agent-builder-path" TargetMode="External" Id="R44c33672d6bc4d60" /><Relationship Type="http://schemas.openxmlformats.org/officeDocument/2006/relationships/notesSlide" Target="/ppt/notesSlides/notesSlide52.xml" Id="Rd095621cf90f4ecd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b61e767864376" /><Relationship Type="http://schemas.openxmlformats.org/officeDocument/2006/relationships/image" Target="/ppt/media/image16.png" Id="R837d2e6a250a439c" /><Relationship Type="http://schemas.openxmlformats.org/officeDocument/2006/relationships/hyperlink" Target="https://m365.cloud.microsoft/chat" TargetMode="External" Id="R6aeff307f7a74e79" /><Relationship Type="http://schemas.openxmlformats.org/officeDocument/2006/relationships/notesSlide" Target="/ppt/notesSlides/notesSlide53.xml" Id="R4c9798f759c24450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7842ab0b64166" /><Relationship Type="http://schemas.openxmlformats.org/officeDocument/2006/relationships/image" Target="/ppt/media/image17.png" Id="Re7b21652376a4431" /><Relationship Type="http://schemas.openxmlformats.org/officeDocument/2006/relationships/hyperlink" Target="https://philips-ai-tool-lab.github.io/ai-tool-lab-preview/#agent-builder-path" TargetMode="External" Id="R6a9db1b7a639494a" /><Relationship Type="http://schemas.openxmlformats.org/officeDocument/2006/relationships/notesSlide" Target="/ppt/notesSlides/notesSlide54.xml" Id="R33daa2e6c0e74b5f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4512cdd46457b" /><Relationship Type="http://schemas.openxmlformats.org/officeDocument/2006/relationships/image" Target="/ppt/media/image18.png" Id="R61802b2462844767" /><Relationship Type="http://schemas.openxmlformats.org/officeDocument/2006/relationships/hyperlink" Target="https://philips-ai-tool-lab.github.io/ai-tool-lab-preview/labs/meeting-follow-up/" TargetMode="External" Id="R125bb6339b264951" /><Relationship Type="http://schemas.openxmlformats.org/officeDocument/2006/relationships/notesSlide" Target="/ppt/notesSlides/notesSlide55.xml" Id="R151b8b4d27214d5c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4cd80806443cb" /><Relationship Type="http://schemas.openxmlformats.org/officeDocument/2006/relationships/image" Target="/ppt/media/image19.png" Id="Rd01573b6a1144e82" /><Relationship Type="http://schemas.openxmlformats.org/officeDocument/2006/relationships/hyperlink" Target="https://philips-ai-tool-lab.github.io/ai-tool-lab-preview/#agent-builder-path" TargetMode="External" Id="Rb2e3c14ccf4343a1" /><Relationship Type="http://schemas.openxmlformats.org/officeDocument/2006/relationships/notesSlide" Target="/ppt/notesSlides/notesSlide56.xml" Id="Ra864f09980554900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24152e6c6e4686" /><Relationship Type="http://schemas.openxmlformats.org/officeDocument/2006/relationships/image" Target="/ppt/media/image20.png" Id="R43daa73947094dd0" /><Relationship Type="http://schemas.openxmlformats.org/officeDocument/2006/relationships/hyperlink" Target="https://philips-ai-tool-lab.github.io/ai-tool-lab-preview/labs/meeting-follow-up/" TargetMode="External" Id="R6bca38834c434913" /><Relationship Type="http://schemas.openxmlformats.org/officeDocument/2006/relationships/notesSlide" Target="/ppt/notesSlides/notesSlide57.xml" Id="R508255f5724a4807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04a8923e948a0" /><Relationship Type="http://schemas.openxmlformats.org/officeDocument/2006/relationships/image" Target="/ppt/media/image21.png" Id="Rdd701e11f2d24176" /><Relationship Type="http://schemas.openxmlformats.org/officeDocument/2006/relationships/hyperlink" Target="https://philips-ai-tool-lab.github.io/ai-tool-lab-preview/#agent-builder-path" TargetMode="External" Id="R67bdba95cd644ca4" /><Relationship Type="http://schemas.openxmlformats.org/officeDocument/2006/relationships/notesSlide" Target="/ppt/notesSlides/notesSlide58.xml" Id="R4e678f78a5164391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33a38ffef43c8" /><Relationship Type="http://schemas.openxmlformats.org/officeDocument/2006/relationships/image" Target="/ppt/media/image22.png" Id="R1b4de076074043a1" /><Relationship Type="http://schemas.openxmlformats.org/officeDocument/2006/relationships/hyperlink" Target="https://m365.cloud.microsoft/chat" TargetMode="External" Id="Ra3a16b1aedbc426c" /><Relationship Type="http://schemas.openxmlformats.org/officeDocument/2006/relationships/notesSlide" Target="/ppt/notesSlides/notesSlide59.xml" Id="R4ae18d91e7b04780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8f3e6fd6743b2" /><Relationship Type="http://schemas.openxmlformats.org/officeDocument/2006/relationships/image" Target="/ppt/media/image14.png" Id="R842dc4dfdae14483" /><Relationship Type="http://schemas.openxmlformats.org/officeDocument/2006/relationships/hyperlink" Target="https://philips-ai-tool-lab.github.io/ai-tool-lab-preview/labs/meeting-follow-up/" TargetMode="External" Id="R1cef80b0b5054bd1" /><Relationship Type="http://schemas.openxmlformats.org/officeDocument/2006/relationships/notesSlide" Target="/ppt/notesSlides/notesSlide60.xml" Id="R9e6043062b6d4d8e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1d49121c249c1" /><Relationship Type="http://schemas.openxmlformats.org/officeDocument/2006/relationships/hyperlink" Target="https://philips-ai-tool-lab.github.io/ai-tool-lab-preview/labs/chief-of-staff/" TargetMode="External" Id="Rf5b3dce98c9445a3" /><Relationship Type="http://schemas.openxmlformats.org/officeDocument/2006/relationships/hyperlink" Target="https://philips-ai-tool-lab.github.io/ai-tool-lab-preview/labs/product-manual-faq/" TargetMode="External" Id="Rbb75748ca60848e6" /><Relationship Type="http://schemas.openxmlformats.org/officeDocument/2006/relationships/hyperlink" Target="https://philips-ai-tool-lab.github.io/ai-tool-lab-preview/labs/meeting-follow-up/" TargetMode="External" Id="Rc3c4de75fa884aad" /><Relationship Type="http://schemas.openxmlformats.org/officeDocument/2006/relationships/hyperlink" Target="https://philips-ai-tool-lab.github.io/ai-tool-lab-preview/labs/funnel-data-analyst/" TargetMode="External" Id="Rb976c20dbfd54275" /><Relationship Type="http://schemas.openxmlformats.org/officeDocument/2006/relationships/hyperlink" Target="https://m365.cloud.microsoft/chat" TargetMode="External" Id="Rdb146a41498d41c6" /><Relationship Type="http://schemas.openxmlformats.org/officeDocument/2006/relationships/notesSlide" Target="/ppt/notesSlides/notesSlide61.xml" Id="Rf9091e09292d40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DDDC824-F258-4066-B2D9-630BBB59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CAAA9EA-6C66-4A14-8D7A-ADF7DBC0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rPr>
              <a:t>PHILIPS YOUNG BOOTCAMP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C5E0442-88FB-4CE4-B24C-22F74850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 AI 认知到可用 Agent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49DB179-5B9E-4560-BA2C-1A79FEB0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rPr>
              <a:t>AI Gateway 导航 · GCR AI Ambassador · Copilot 实操 · Agent Builder 动手实验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9E2B246-C13F-4CB3-A067-7D1C4628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讲解、演示与动手练习相结合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8C7E1C39-AF91-4AC1-9DB5-0942302C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b35080ce85942f9"/>
              </a:rPr>
              <a:t>打开 AI Skills Navigator  ↗</a:t>
            </a:r>
          </a:p>
        </p:txBody>
      </p:sp>
    </p:spTree>
    <p:extLst>
      <p:ext uri="{BB962C8B-B14F-4D97-AF65-F5344CB8AC3E}">
        <p14:creationId xmlns:p14="http://schemas.microsoft.com/office/powerpoint/2010/main" val="4707610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B3E3B99B-35F0-4F46-8BE7-2C1DA57C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DEADA4C-4036-44AD-9E7F-A0DC51B3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1378166-474D-44D5-A4ED-2D82F963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Philips 的 AI 方向：创新、运营、协作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8DBF766-B74E-49B5-814E-C22B5801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今天先看 AI 怎样帮助业务创新、改善日常工作和支持跨团队协作，同时了解使用这些工具时必须遵守的企业要求。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128EDFE-D7E5-4656-8860-C4BE17E7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A9DC56C-A571-4419-99E7-1DD87907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F7527ACA-33E2-447C-AB62-0A17AAED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79D2726-10FB-4E6A-8AC9-44DA78A8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4FD9F08-C60B-4CBE-A5EB-7B080F85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创新｜How we innovate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D16A497-28D3-43F5-B6AE-C1F5679A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聚焦高价值业务场景，为患者、客户、消费者和业务创造更大价值。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2DE5CE86-D3B6-42E5-B6F7-2001E364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F194464-16AF-4557-B13E-162B37D2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6E2EBBF-BFD3-4FA2-BDA3-BA2EC351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运营｜How we operate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3C0505E-96B1-4488-9CC6-C0ABD153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重新审视工作方式，打破流程壁垒，让跨团队协作更顺畅、交付更高效。</a:t>
            </a:r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DC3DAD63-5293-40FF-89BF-78D7FC93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160B25C-1EDE-45C0-AFB7-1D13319D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7CFFB0C-3B1A-4F47-8232-B3B3CF5D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协作｜How we collaborate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655E239-45F2-4AC5-84BD-242C042D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持续投入工具与能力建设，帮助员工成长，并提升组织面向未来的竞争力。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8D4AD7B9-7DD3-4315-83FE-F5A52E0F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BADE383-DCF2-4FC0-BD02-AF2DCEC6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72025"/>
            <a:ext cx="975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质量、安全、合规与人工负责，是 Philips 推进 AI 规模化应用的共同原则。</a:t>
            </a:r>
          </a:p>
        </p:txBody>
      </p:sp>
      <p:sp>
        <p:nvSpPr>
          <p:cNvPr id="21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4B156836-0388-4D7A-9280-AFE69066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6897ab133a64edb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2382690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创新、运营和协作共同回答：AI怎样进入业务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三个方向并不是彼此独立的口号，而是一条从业务价值到组织能力的完整路径。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02A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完整讲稿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2555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首先看创新。Philips 推进 AI，不是为了追逐工具本身，而是从患者、客户、消费者和业务的真实问题出发，优先选择能够创造明确价值的场景。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接着看运营。当一个场景证明有效以后，还需要重新设计流程、减少交接和重复劳动，让不同团队可以更顺畅地协作，并把效果稳定地交付出来。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最后看协作。要让 AI 长期发挥作用，员工需要掌握工具，组织也需要持续建设能力；无论使用什么工具，质量、安全、合规和人工负责始终是共同底线。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AI 落地是一条从价值场景到流程改变，再到组织能力的完整路径。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a1fff4ba5b045c7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2FED3F1D-6D7C-485C-ADE8-FA3B9A2A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21E6512-544C-4B17-B114-8275135B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89F6F45-6FC1-460B-BDBD-CAAF3773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今天的学习路径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D8926B4-3CE0-4946-A07C-CB751684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先认识企业入口，再练习通用任务，最后把重复流程构建成 Agent。学习过程按照“观察、模仿、独立完成”逐步推进，后半程会留出较长时间进行实际操作。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05A4CFD-DE1E-44CB-A288-E5E0C9CE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B4C1508-B0F6-4E41-A6FB-B6279B35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D158B604-0BBB-48E3-9F58-F31FD649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311AE07-6459-4EA1-BDC1-434ABABE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DBA430F-3CCA-409A-A3AF-6EE00D3F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介绍与引入</a:t>
            </a:r>
          </a:p>
        </p:txBody>
      </p:sp>
      <p:sp>
        <p:nvSpPr>
          <p:cNvPr id="10" name="Arrow: Chevron 9">
            <a:extLst xmlns:a="http://schemas.openxmlformats.org/drawingml/2006/main">
              <a:ext uri="{FF2B5EF4-FFF2-40B4-BE49-F238E27FC236}">
                <a16:creationId xmlns:a16="http://schemas.microsoft.com/office/drawing/2014/main" id="{C86941AE-4273-4813-ACD4-482729B4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394E9683-FBA3-447F-8103-D881EC73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6098108-9D4C-4B31-9A5D-8A5B4043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0B77DF7-0D45-48A9-9049-89D7A7A2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全景与入口</a:t>
            </a:r>
          </a:p>
        </p:txBody>
      </p:sp>
      <p:sp>
        <p:nvSpPr>
          <p:cNvPr id="14" name="Arrow: Chevron 13">
            <a:extLst xmlns:a="http://schemas.openxmlformats.org/drawingml/2006/main">
              <a:ext uri="{FF2B5EF4-FFF2-40B4-BE49-F238E27FC236}">
                <a16:creationId xmlns:a16="http://schemas.microsoft.com/office/drawing/2014/main" id="{BC17C084-46AE-45E9-ABCD-291E475F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B626C2E2-A78E-4992-9F21-486A36B9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8013ED8-30BC-49D0-ACC9-DABCE546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14D4E7D-7D1A-4C28-AFD7-D2479DF0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Ambassador</a:t>
            </a:r>
          </a:p>
        </p:txBody>
      </p:sp>
      <p:sp>
        <p:nvSpPr>
          <p:cNvPr id="18" name="Arrow: Chevron 17">
            <a:extLst xmlns:a="http://schemas.openxmlformats.org/drawingml/2006/main">
              <a:ext uri="{FF2B5EF4-FFF2-40B4-BE49-F238E27FC236}">
                <a16:creationId xmlns:a16="http://schemas.microsoft.com/office/drawing/2014/main" id="{DBE19578-625D-4631-AE04-5F9DA721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3D1DBD3E-526C-4A71-9125-D6DF0FCF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9DE51860-27DF-4BC8-A46B-77E6014A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7F2D58C-789E-4F58-94AA-336352E6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F5D98271-70FE-4CB6-A466-D953EAFC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Copilot 实操</a:t>
            </a:r>
          </a:p>
        </p:txBody>
      </p:sp>
      <p:sp>
        <p:nvSpPr>
          <p:cNvPr id="23" name="Arrow: Chevron 22">
            <a:extLst xmlns:a="http://schemas.openxmlformats.org/drawingml/2006/main">
              <a:ext uri="{FF2B5EF4-FFF2-40B4-BE49-F238E27FC236}">
                <a16:creationId xmlns:a16="http://schemas.microsoft.com/office/drawing/2014/main" id="{75D1EFFD-507F-47F8-B24A-9E22B9C0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: Rounded Corners 23">
            <a:extLst xmlns:a="http://schemas.openxmlformats.org/drawingml/2006/main">
              <a:ext uri="{FF2B5EF4-FFF2-40B4-BE49-F238E27FC236}">
                <a16:creationId xmlns:a16="http://schemas.microsoft.com/office/drawing/2014/main" id="{0CF1EB32-9723-4016-8F28-DF1BAE29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FADC6DF2-EC71-4512-87C9-984F44FC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CC42F320-7700-425B-A9BF-966F15C2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4D5BAC83-6D06-4A7C-8BAE-DE167FB6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Agent 动手 Lab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D7D45A2-36AE-413D-9F23-967ACF0F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1005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学习方式：观察 → 模仿 → 独立完成。课堂上会保留足够的实践时间，请直接在自己的工作环境中操作。</a:t>
            </a:r>
          </a:p>
        </p:txBody>
      </p:sp>
      <p:sp>
        <p:nvSpPr>
          <p:cNvPr id="29" name="Rectangle: Rounded Corners 28">
            <a:extLst xmlns:a="http://schemas.openxmlformats.org/drawingml/2006/main">
              <a:ext uri="{FF2B5EF4-FFF2-40B4-BE49-F238E27FC236}">
                <a16:creationId xmlns:a16="http://schemas.microsoft.com/office/drawing/2014/main" id="{C391EF7E-9A79-41C7-9E8A-58CB1F93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37aa75628b34873"/>
              </a:rPr>
              <a:t>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13263366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今天的学习顺序，是从会选择工具到会完成任务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每一步都为下一步建立基础，因此不需要一开始就直接进入复杂的 Agent 构建。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03A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完整讲稿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首先，我们会认识 Philips 提供的企业 AI 入口和使用要求，知道不同工具分别解决什么问题，也知道遇到账号、网络和合规问题时应该从哪里开始。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接着，我们会认识 GCR AI Ambassador 支持网络，并进入 Copilot 实操。这里重点练习怎样阅读资料、整理信息、发现冲突，再把分析结果转化成邮件或简报。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最后，课程才会进入 Agent Builder。到那时，我们会把前面已经验证有效的任务步骤、参考资料和输出要求，固化成一个可以重复使用和持续调整的 Agent。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先会选工具，再会完成任务，最后才把稳定的方法固化为 Agent。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6d995ecf8e645d7"/>
              </a:rPr>
              <a:t>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6CE7744-1283-4960-83D3-8E026186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908D7CC-5BB5-4D1A-A5E1-FBFE31EE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CE07517-8A4E-4E31-821B-7B8F3491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AI 全景与工具导航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5151211-64D1-489B-8416-A533CFDF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AI Gateway 用于查看 Enterprise ChatGPT 的访问状态、申请入口和使用要求；微软课程在 AI Skills Navigator 学习，Copilot 操作则进入 Microsoft 365 Copilot。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34B0A741-BD93-4C65-BE52-F226C15F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d6461a9dcc34212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230667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E24ACB8-0EF5-4EAE-A549-5FE91072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E230276-B807-4116-A7A4-003F98FD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D086AF1-968E-4272-8F24-567179F1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可持续发展 AI 战略：重点项目、当前进展与下一阶段计划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2E802BB-63DE-499A-BA17-82CA142F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Group Sustainability 将 AI 工作划分为五条重点方向，每条方向都标明负责人、当前进展和下一阶段计划。绿色 Now 代表正在运行或部署的工作，橙色 Next 代表后续扩展项目。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A055746-C1C5-4FC9-B85C-6AD8A704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B983224-5FAD-46CF-BC36-88C79260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1d2473ff14be6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E9E49D4-A92D-41B4-95FA-68AEBF9A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80EAE68-3737-4659-A2F7-43E66838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8924D01-A7EC-4140-834B-9FA99941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战略框架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7B51BC2-A393-4B70-AA99-3445DAF3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五条重点方向：AI Capability &amp; Adoption、Supplier Sustainability、Regulatory &amp; Compliance、Business &amp; Markets、Reporting &amp; Analysis。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Now 与 Next：Now 记录已经投入使用或正在部署的项目；Next 列出准备扩展、标准化或接入正式流程的后续工作。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项目负责人：每一列底部都写明谁提供业务支持、谁承担领导责任、谁负责日常推进。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64237A46-F379-433C-85BD-77F02149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c611fde140e4c93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991594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19E81EE-3627-4666-A103-296BD557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B40C2A1-6B01-426B-8932-29DB1E0B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4112280-0ABE-4929-A71C-92155021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三条基础工作流：能力建设、供应商风险与法规处理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02EA580-C9E6-4F98-ADEC-A47A935E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三条工作流覆盖员工能力建设、供应商风险数据和法规研读，并与战略图中的项目方向相对应。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FED2F85-EA61-4285-AAFF-533E2579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72944A0-EFA6-4F46-B1AB-95758BC4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43ea005af143a1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DD23E70-B285-446F-BB64-8267FEB4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A9D80198-6923-479F-9ACD-4395AEC6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2C4F453-7777-4EBD-A961-3B5B29FF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基础工作流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22D1BB5-2D6C-44E1-AA4C-4090F131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1｜员工能力与应用推广：当前正在为不同岗位设计 AI 学习路径，并通过内部社区分享案例。下一步会收集、筛选值得推广的 AI 用例，同时建立内部推广网络。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2｜供应商可持续发展：AI 已用于发现供应商可持续风险、辅助成熟度评估，并自动筛查公开信息。下一步将进一步处理报告、问卷等非结构化资料，支持后续改进。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3｜法规与合规：AI 每年辅助整理 2,000 多项可持续发展法规，并帮助团队更快完成法规解读。下一步将把法规监测连接到质量管理和审计流程。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2F0A04C3-8E47-4E63-8ADF-DDDDC676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8ffa16355d04f45"/>
              </a:rPr>
              <a:t>查看战略原图  ↗</a:t>
            </a:r>
          </a:p>
        </p:txBody>
      </p:sp>
    </p:spTree>
    <p:extLst>
      <p:ext uri="{BB962C8B-B14F-4D97-AF65-F5344CB8AC3E}">
        <p14:creationId xmlns:p14="http://schemas.microsoft.com/office/powerpoint/2010/main" val="11119226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EB4F93B-4D86-4E0E-8223-FC1486A8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D0D8BC1-E516-419F-A8E9-627E56C8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713D4C1-B7E6-4EFC-9FBA-ABC43D12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商业支持、报告分析与 2026 年重点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584DA9A-57B4-4F8D-85BD-7F543CBB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Business &amp; Markets 聚焦投标和市场支持；Reporting &amp; Analysis 覆盖双重重要性评估、数据采集及披露流程。理解集团方向后，下一页会进一步说明大中华区的业务重点。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1BD22DE-21BB-4942-A706-9EBD74C0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3522286-E075-441D-915D-A84F929D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28f91c319c4c85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CB87C4E-A6DA-460D-BBF7-EBBFE3E2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3D1C85D6-A3CB-411F-8FDA-8FF8CDE5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7D786C9-746B-4B64-B2F8-A75FE2ED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业务落地与规模化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BA8BFF4-F167-4443-9856-C554022C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4｜商业与市场支持：Tender Assistant 正在支持 150 多个销售后台团队，帮助准备投标材料并减少人工协调。下一步将在更多区域和重点投标场景中推广。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5｜报告与分析：AI 正在支持双重重要性评估，也就是同时评估可持续议题的业务影响和外部影响；同时帮助制造基地收集发票数据。下一步将支持更多可持续披露流程。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2026 年重点：扩大已经验证有效的项目，统一可重复使用的能力，并优先推进效果能够衡量的场景。每个项目都明确支持人和日常负责人。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8F1AF74-CB01-412E-8FF9-79BB03EE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d6666e106e94097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4693722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B3071887-685F-4B69-A97E-E4C10F72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B17020D-FF74-4875-AA26-8FE27558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E785613-0E31-40EA-A06F-265F701E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大中华区 AI 计划：五个业务方向和四项基础能力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DB687C-6D6D-4EF7-8137-55512A12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五个方向分别解决员工能力、销售机会、运营服务、职能工作和创新协作问题；技术平台、数据、管理机制和负责任使用为这些工作提供基础支持。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6590849-5C94-420A-B18B-98BE2DC3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894CCFC-1896-4755-874B-73ACF8ED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B861A663-D63F-42A1-A9EF-80395D4F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ED5DF0A-1A83-4677-AF2B-9600611E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73709A3-35B1-4072-B3AA-8CD4748D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提升员工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能力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3C100BB-278F-4947-A75F-A840C4A5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Learn &amp; adopt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1C671E3-2EF8-4785-81A8-E642C89F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通过学习社群，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开展岗位培训，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并分享实践案例。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F5677207-6D90-4393-81B4-928DEDFC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1F17E9F-3F12-4714-A8A7-1B2B9F59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4091FE6-D764-4C22-9AFD-201B6C55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提升商机洞察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和赢率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6612C49-23F6-4FE0-94F8-A2372B4E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Sales insights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1642821-14C3-4770-B47B-AA70124B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先分析销售机会，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再复盘赢失单，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并支持投标定价。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B07B41BC-AD49-414A-BEBB-2FF1D59A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53C171E-017A-4251-9F51-047A80AD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87540D3-1F43-492E-9129-0A6FF109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改善运营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和服务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E74DE86-6612-43FB-B962-FEB8A536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Operations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7E23803-CF9E-447F-AE01-114029E7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先简化订单处理，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再改善服务运营，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并支持工厂和供应链。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C71FAF15-0C85-4C17-9E33-B89C94E3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1BEADEC-89E5-4682-8D4E-47981E6D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36FAD41-FC27-4DF2-AD45-A85AEAAE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支持职能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日常工作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33A4201-09C5-41B7-96B4-65FC6DC9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Functions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479CC0E-8B68-4547-A912-083998E7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覆盖市场、财务与 HR，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也支持法规、质量和法务，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以及战略与竞品分析。</a:t>
            </a:r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BF137174-9553-43DA-AF48-196968E0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4F99D26E-A67E-443B-95BC-95A00E51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497F53EC-94BF-45C5-8D04-4B2B0784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连接伙伴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加速创新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A5D955C-C273-4E34-A3CF-9C4002F7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Innovation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8449BD2A-A681-4050-ABCE-5ABACFA6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先找到本地 AI 合作方，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再推进生态合作，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从而加快创新流程。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CCFA8C1D-9185-4DF4-9C96-803B7E3A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79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每个支柱由业务牵头，并与支持伙伴和 AI Ambassador 协同推进。</a:t>
            </a:r>
          </a:p>
        </p:txBody>
      </p:sp>
      <p:sp>
        <p:nvSpPr>
          <p:cNvPr id="33" name="Rectangle: Rounded Corners 32">
            <a:extLst xmlns:a="http://schemas.openxmlformats.org/drawingml/2006/main">
              <a:ext uri="{FF2B5EF4-FFF2-40B4-BE49-F238E27FC236}">
                <a16:creationId xmlns:a16="http://schemas.microsoft.com/office/drawing/2014/main" id="{F0EBA6EB-97B4-45B3-8E19-8FC976D9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B889AB06-2DA6-44B3-BEDE-D3D9A4E6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技术与平台</a:t>
            </a:r>
          </a:p>
        </p:txBody>
      </p:sp>
      <p:sp>
        <p:nvSpPr>
          <p:cNvPr id="35" name="Rectangle: Rounded Corners 34">
            <a:extLst xmlns:a="http://schemas.openxmlformats.org/drawingml/2006/main">
              <a:ext uri="{FF2B5EF4-FFF2-40B4-BE49-F238E27FC236}">
                <a16:creationId xmlns:a16="http://schemas.microsoft.com/office/drawing/2014/main" id="{34D52628-A31E-4C37-BD45-B1EAA5F3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54607E3F-936F-47DF-9490-59E6B394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数据底座</a:t>
            </a:r>
          </a:p>
        </p:txBody>
      </p:sp>
      <p:sp>
        <p:nvSpPr>
          <p:cNvPr id="37" name="Rectangle: Rounded Corners 36">
            <a:extLst xmlns:a="http://schemas.openxmlformats.org/drawingml/2006/main">
              <a:ext uri="{FF2B5EF4-FFF2-40B4-BE49-F238E27FC236}">
                <a16:creationId xmlns:a16="http://schemas.microsoft.com/office/drawing/2014/main" id="{9F93D25E-7AD2-41F8-93DB-CD56EE8D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00FAD82C-70AE-4A15-8B37-CEB15138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运营模式与治理</a:t>
            </a:r>
          </a:p>
        </p:txBody>
      </p:sp>
      <p:sp>
        <p:nvSpPr>
          <p:cNvPr id="39" name="Rectangle: Rounded Corners 38">
            <a:extLst xmlns:a="http://schemas.openxmlformats.org/drawingml/2006/main">
              <a:ext uri="{FF2B5EF4-FFF2-40B4-BE49-F238E27FC236}">
                <a16:creationId xmlns:a16="http://schemas.microsoft.com/office/drawing/2014/main" id="{72C8F409-6AD5-434D-9550-4504F6A5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02EBE08D-3256-4267-B049-FF4B3446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负责任的 AI 与合规</a:t>
            </a:r>
          </a:p>
        </p:txBody>
      </p:sp>
      <p:sp>
        <p:nvSpPr>
          <p:cNvPr id="41" name="Rectangle: Rounded Corners 40">
            <a:extLst xmlns:a="http://schemas.openxmlformats.org/drawingml/2006/main">
              <a:ext uri="{FF2B5EF4-FFF2-40B4-BE49-F238E27FC236}">
                <a16:creationId xmlns:a16="http://schemas.microsoft.com/office/drawing/2014/main" id="{21D02FF0-E439-4DDC-9296-F8865360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3817150e902442d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673199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五个业务方向背后，共享同一套基础能力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业务场景可以不同，但平台、数据、治理和负责任使用必须共同建设。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08A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完整讲稿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首先，五个方向分别从员工能力、销售机会、运营服务、职能工作和创新协作切入。它们面对的是不同业务问题，因此每个方向都需要由熟悉场景的业务团队牵头。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接着，这些方向不能各自建设一套孤立能力。技术平台和数据底座需要支持重复使用，运营模式需要明确负责人、资源和衡量方式，才能把零散试点逐步扩展到稳定流程。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最后，负责任的 AI 与合规不是额外附加的一层检查，而是所有方向共同的基础。AI Ambassador 和支持伙伴会帮助团队理解工具、分享案例，并把实际问题连接到合适资源。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业务决定做什么，共享能力决定这些场景能否安全、稳定地规模化。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fcfc2657e89474e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B684A29-409B-40DE-960D-E353D107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1A56CCA-9E07-47B0-A059-0EA9F9FE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3DBC18C-27C1-4772-80DD-03CCF724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当前</a:t>
            </a: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ChatGPT</a:t>
            </a: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完整流程：先申请，再安装并登录</a:t>
            </a:r>
            <a:endParaRPr sz="2550" b="1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1E6527B-AA04-4C64-9284-F214729D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先完成部门审批，然后并行提交两项申请；收到两封确认邮件后，再进入 Company Portal 完成安装。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B1A1D26-32B6-4621-B623-515D2A83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8718699-CE00-4957-9243-499FA47A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B3FB70CA-C22B-40D1-A9B1-3277E4B0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7991F045-D0B7-437C-BEFA-81782642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6EA9900-5349-4E73-A3AA-92359F79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0833808-1182-440E-B7B8-B5DF72B7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获得 GCMT 批准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AFC513B-DD3B-479B-ABC9-852E137B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确认业务用途，并准备部门批准材料。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08447FAB-4E9E-4BAB-9D9D-B17B9A6A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3641735F-05C3-4867-980A-B28137E5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992F4DB-E573-4AD2-BE44-C34449FD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062EE9D-8CC0-4D3B-B63A-E8B3BA51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并行提交两项申请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4BDFB5D-B3E9-4DBB-A591-2DE75653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Gateway：申请 Enterprise ChatGPT 账号
ServiceNow：申请中国网络服务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FCEBC1BA-C645-4A76-B4F7-DBEC548F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4C91C41A-D055-4378-A239-89C9E8A7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227026ED-758F-44C4-A9B8-486781A7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622D0A9-7C7E-4780-9DED-D390E356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确认、安装并登录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FBF9DA31-BF04-4D1A-9D0C-57F9A2B8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收到 OpenAI 与 SNOW 邮件后，在 Company Portal 安装 Proxy Doctor；连接办公网或 VPN，再登录企业工作区。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85B5ACC-FA18-43FF-8162-16C09997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两项申请可以同时进行；两封确认邮件都收到后，再安装并登录。</a:t>
            </a:r>
          </a:p>
        </p:txBody>
      </p: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BD2049CD-A1D2-41B1-A800-7AD5F3D7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11af5090451431f"/>
              </a:rPr>
              <a:t>查看完整使用手册  ↗</a:t>
            </a:r>
          </a:p>
        </p:txBody>
      </p:sp>
      <p:sp>
        <p:nvSpPr>
          <p:cNvPr id="25" name="流程箭头 1">
            <a:extLst xmlns:a="http://schemas.openxmlformats.org/drawingml/2006/main">
              <a:ext uri="{FF2B5EF4-FFF2-40B4-BE49-F238E27FC236}">
                <a16:creationId xmlns:a16="http://schemas.microsoft.com/office/drawing/2014/main" id="{F2BD12C5-3FBD-4F76-A220-1FE188DE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95600"/>
            <a:ext cx="285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0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流程箭头 2">
            <a:extLst xmlns:a="http://schemas.openxmlformats.org/drawingml/2006/main">
              <a:ext uri="{FF2B5EF4-FFF2-40B4-BE49-F238E27FC236}">
                <a16:creationId xmlns:a16="http://schemas.microsoft.com/office/drawing/2014/main" id="{F582A810-C2CB-4180-A16E-4FE96E8C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95600"/>
            <a:ext cx="285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0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6562210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账号、网络和安装分别由三个入口负责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理解三个入口的分工以后，整个开通过程就不会因为跳步或找错网站而中断。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09A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完整讲稿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第一步是准备业务用途并取得 GCMT 批准。完成这项前提以后，可以同时提交两项申请：在 AI Gateway 申请 Enterprise ChatGPT 账号，在 ServiceNow 申请中国网络服务。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第二步是等待两封确认邮件。OpenAI 开通邮件表示账号已经准备完成，SNOW 完成邮件表示中国网络服务已经开通；两项申请可以并行，但不能只完成其中一项。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第三步是在 Windows Company Portal 中安装 ChatGPT Proxy Doctor。安装完成后连接 Philips 办公网或 VPN，再使用 Philips 账号登录企业工作区。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正确顺序是：并行申请，收到两封邮件，再安装并登录。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d6d6a7a10d741e9"/>
              </a:rPr>
              <a:t>查看完整使用手册  ↗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FC409DB-C7B5-41C6-A475-A3CF9110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8D6825F-32D2-4DF3-8362-10AE661D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AC7E150-EE12-42CB-85CC-DE78F595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完整操作以 KB1528249 使用手册为准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B2B1782-9716-461B-951D-4300D5E6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这一部分提炼当前操作路径；实际申请时，请按知识库当前版本逐项操作。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4B04E50-ED5E-4AD2-B4DA-F519F4A6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23B9F20-266A-4D94-8AB7-1949D3E2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2f2263ab944975"/>
          <a:srcRect xmlns:a="http://schemas.openxmlformats.org/drawingml/2006/main" l="16000" t="2000" r="34000" b="58000"/>
          <a:stretch xmlns:a="http://schemas.openxmlformats.org/drawingml/2006/main"/>
        </p:blipFill>
        <p:spPr>
          <a:xfrm xmlns:a="http://schemas.openxmlformats.org/drawingml/2006/main">
            <a:off x="666750" y="2047875"/>
            <a:ext cx="6734175" cy="2762250"/>
          </a:xfrm>
          <a:prstGeom xmlns:a="http://schemas.openxmlformats.org/drawingml/2006/main" prst="roundRect">
            <a:avLst/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46BAD53D-6FF9-49C6-9745-238BDDFE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0573724-3389-450A-8B70-BF59D2A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A037AB6-092B-42D8-91D5-A66CFC37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开始前确认三件事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D5133DE-B5E1-46CD-AF1F-0606857D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首先准备 Philips 账号和部门 GCMT 批准材料。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接着并行完成两项申请：在 AI Gateway 申请账号，在 ServiceNow 申请中国网络服务。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收到 OpenAI 和 SNOW 两封确认邮件后，在 Windows Company Portal 安装 ChatGPT Proxy Doctor。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0CBFFA5E-180E-4C08-BCCF-D495ACAD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d2245e32d3446c2"/>
              </a:rPr>
              <a:t>查看完整使用手册  ↗</a:t>
            </a:r>
          </a:p>
        </p:txBody>
      </p:sp>
    </p:spTree>
    <p:extLst>
      <p:ext uri="{BB962C8B-B14F-4D97-AF65-F5344CB8AC3E}">
        <p14:creationId xmlns:p14="http://schemas.microsoft.com/office/powerpoint/2010/main" val="6922285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940119D-52D7-4CC7-92B3-B49DFF7E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EC3D5E7-05A5-488D-811E-DB0A43F5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3C5CD1-B718-494F-9020-DA36BB59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第1步：在 AI Gateway 申请 Enterprise ChatGPT 账号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631ED03-7590-4542-BC11-83C3B92E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获得 GCMT 批准后，提交 Enterprise ChatGPT 访问申请，并等待 OpenAI 开通邮件。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17A1ED3-7727-40E2-A07D-68534B2F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89F9FED-EA84-4071-972C-A207AB0C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FA80B673-DD97-421C-B95A-DA16C847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818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5E11916B-61BE-495A-B5E0-AC5512FA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962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7ACDD2B-9BED-4648-ADCC-BF9703BA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怎么操作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9967401-C37F-462C-B9B4-6E5C63D2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首先打开 AI Gateway，查看当前账号状态；如果尚未开通，进入 AI Assistant。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接着输入或选择“Access”，提交 Enterprise ChatGPT 申请，并按页面要求提供 GCMT 批准材料。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完成标志是收到 OpenAI 开通邮件；收到后保留邮件，并继续确认网络申请状态。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09425299-5A47-4B9D-95B4-C550CFB9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bbdfb25afca4acc"/>
              </a:rPr>
              <a:t>打开 AI Gateway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5EC6A347-ECFE-435D-8765-5C8BB24F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f9e65d43bdb4328"/>
              </a:rPr>
              <a:t>查看完整使用手册  ↗</a:t>
            </a:r>
          </a:p>
        </p:txBody>
      </p:sp>
      <p:pic>
        <p:nvPicPr>
          <p:cNvPr id="28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a86a5bce74f0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04850" y="1865709"/>
            <a:ext cx="6705600" cy="3755231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4131337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6C5844E-46ED-41FB-B7D6-FAD1D255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7C220C6-E88B-40FD-BC12-423BC448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4B74853-3F29-4E57-9027-9791D434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第2步：在 ServiceNow 申请中国网络服务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22879E2-AE19-4ACC-9780-3B8896CF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这项申请可以和账号申请同时提交；收到 SNOW 完成邮件后，网络服务即完成开通。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2A7CC60-BEFE-4613-B73B-323A19C5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5CACF57-DF94-4B13-975F-7F948024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E0181D59-D25D-470B-AD2B-8B9471AD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818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98DCC685-A556-4389-A626-508F9DF0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962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BC9C306-B61D-4117-B39A-9CF54CE4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怎么操作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CF88624-55C7-4C7E-8EB0-9CCDC91E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首先打开 ServiceNow，搜索“China Internet Acceleration Service”，进入对应的服务申请页面。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接着填写业务需求，并按页面要求上传个人承诺书、GCMT 批准邮件或其他材料。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完成标志是收到 ServiceNow（SNOW）完成邮件；与 OpenAI 邮件一起作为进入安装步骤的确认。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8DB74832-CB41-4A37-96F2-79949E30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ef66c7de8d14c8f"/>
              </a:rPr>
              <a:t>查看完整使用手册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33C3D4CD-F938-416D-A536-AF2B9ACE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e95dface8ed482b"/>
              </a:rPr>
              <a:t>申请中国网络服务  ↗</a:t>
            </a:r>
          </a:p>
        </p:txBody>
      </p:sp>
      <p:pic>
        <p:nvPicPr>
          <p:cNvPr id="28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89f83199346fb"/>
          <a:stretch xmlns:a="http://schemas.openxmlformats.org/drawingml/2006/main"/>
        </p:blipFill>
        <p:spPr>
          <a:xfrm xmlns:a="http://schemas.openxmlformats.org/drawingml/2006/main">
            <a:off x="685800" y="1937830"/>
            <a:ext cx="6743700" cy="3610988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5254669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27C3038-4B3F-4BD5-9302-14B460F3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9F99657-B268-4336-B9CD-60A5E77B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87250B7-E289-4B68-9DAA-D7C21668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第3步：在 Company Portal 安装 ChatGPT Proxy Doctor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2B2F346-A561-4B64-8F6C-367146B7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 Windows 开始菜单打开 Company Portal，找到 ChatGPT Proxy Doctor，然后点击 Install。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84BF12B-5509-485E-A689-9201CF2D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894E557-F4E2-4FAD-A646-5BA2C6A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6581bdbbe546d0"/>
          <a:srcRect xmlns:a="http://schemas.openxmlformats.org/drawingml/2006/main" l="6000" t="7000" r="7000" b="39000"/>
          <a:stretch xmlns:a="http://schemas.openxmlformats.org/drawingml/2006/main"/>
        </p:blipFill>
        <p:spPr>
          <a:xfrm xmlns:a="http://schemas.openxmlformats.org/drawingml/2006/main">
            <a:off x="685800" y="1846659"/>
            <a:ext cx="6743700" cy="3793331"/>
          </a:xfrm>
          <a:prstGeom xmlns:a="http://schemas.openxmlformats.org/drawingml/2006/main" prst="roundRect">
            <a:avLst/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40047D95-F7E8-4B4C-8DAE-08A28432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818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9C1D392E-C7E3-4EEE-83C4-A66D9C1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962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84A8093-F6B1-4E39-AEB7-4023FA83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怎么操作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6B5B129-FA1B-4178-B5CA-1AC20915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 Windows 开始菜单打开 Company Portal。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接着搜索并打开 ChatGPT Proxy Doctor，确认应用名称后点击 Install。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安装完成后保留默认设置；如果系统提示更新，按 Company Portal 页面提示完成。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D5896220-0CF0-4FAA-9DB0-7476FF65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691c8bd07f24c08"/>
              </a:rPr>
              <a:t>查看完整使用手册  ↗</a:t>
            </a:r>
          </a:p>
        </p:txBody>
      </p:sp>
    </p:spTree>
    <p:extLst>
      <p:ext uri="{BB962C8B-B14F-4D97-AF65-F5344CB8AC3E}">
        <p14:creationId xmlns:p14="http://schemas.microsoft.com/office/powerpoint/2010/main" val="11937345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0FBD9CC-026B-4E9C-BB61-329E9E42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70D7CB4-C4CB-4B60-876F-46055DBF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46F2F51-71D2-4370-8BB7-B7E446C2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第4步：连接办公网或 VPN，并登录使用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0A40ADF-874F-4B81-9CBC-44A9FCEB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确认账号、网络和工具已经准备完成，然后连接 Philips 办公网或 VPN，登录企业工作区。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38407C8-E4D9-42E8-8BCB-50D1B030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0F75F25-1A2A-490C-B62A-3420475A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06F5F593-6356-4AC2-B8A0-4FE57335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1778027C-DF95-44B3-9428-DE32147D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98AA4F4-B742-4EEA-AD8B-B6123743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登录前检查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8B054B3-04BD-40EA-A896-32C9BBCC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先确认四项准备：收到 OpenAI 开通邮件、收到 SNOW 完成邮件、已安装 ChatGPT Proxy Doctor，并已连接 Philips 办公网或 VPN。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接着使用 Philips 账号登录 Enterprise ChatGPT。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登录后不输入禁止处理的敏感数据；AI 输出先作为草稿，重要事实、判断和决定仍由员工确认。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92EC8E7F-BCD2-42EC-ADD9-9F40C686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d57ebd55e764dba"/>
              </a:rPr>
              <a:t>打开 AI Gateway  ↗</a:t>
            </a:r>
          </a:p>
        </p:txBody>
      </p:sp>
      <p:sp>
        <p:nvSpPr>
          <p:cNvPr id="14" name="登录方向箭头">
            <a:extLst xmlns:a="http://schemas.openxmlformats.org/drawingml/2006/main">
              <a:ext uri="{FF2B5EF4-FFF2-40B4-BE49-F238E27FC236}">
                <a16:creationId xmlns:a16="http://schemas.microsoft.com/office/drawing/2014/main" id="{3C90E18E-C264-4452-99EB-5C54D061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219450"/>
            <a:ext cx="5143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0">
            <a:solidFill>
              <a:srgbClr val="C9DDF2"/>
            </a:solidFill>
            <a:prstDash val="solid"/>
          </a:ln>
        </p:spPr>
      </p:sp>
      <p:sp>
        <p:nvSpPr>
          <p:cNvPr id="15" name="检查图说明">
            <a:extLst xmlns:a="http://schemas.openxmlformats.org/drawingml/2006/main">
              <a:ext uri="{FF2B5EF4-FFF2-40B4-BE49-F238E27FC236}">
                <a16:creationId xmlns:a16="http://schemas.microsoft.com/office/drawing/2014/main" id="{EAE838B5-3E24-4F5D-B0D1-9D6D38C7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383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完成四项准备</a:t>
            </a:r>
          </a:p>
        </p:txBody>
      </p:sp>
      <p:sp>
        <p:nvSpPr>
          <p:cNvPr id="16" name="检查完成 1">
            <a:extLst xmlns:a="http://schemas.openxmlformats.org/drawingml/2006/main">
              <a:ext uri="{FF2B5EF4-FFF2-40B4-BE49-F238E27FC236}">
                <a16:creationId xmlns:a16="http://schemas.microsoft.com/office/drawing/2014/main" id="{A8496D54-7E06-4C72-84DD-533D694A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288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66C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7" name="检查项 1">
            <a:extLst xmlns:a="http://schemas.openxmlformats.org/drawingml/2006/main">
              <a:ext uri="{FF2B5EF4-FFF2-40B4-BE49-F238E27FC236}">
                <a16:creationId xmlns:a16="http://schemas.microsoft.com/office/drawing/2014/main" id="{50275404-DDB8-40B7-901E-D7A2797F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4479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rPr>
              <a:t>收到 OpenAI 开通邮件</a:t>
            </a:r>
          </a:p>
        </p:txBody>
      </p:sp>
      <p:sp>
        <p:nvSpPr>
          <p:cNvPr id="18" name="检查完成 2">
            <a:extLst xmlns:a="http://schemas.openxmlformats.org/drawingml/2006/main">
              <a:ext uri="{FF2B5EF4-FFF2-40B4-BE49-F238E27FC236}">
                <a16:creationId xmlns:a16="http://schemas.microsoft.com/office/drawing/2014/main" id="{353F28EF-C043-44A8-B27F-E0EE092C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194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0">
            <a:solidFill>
              <a:srgbClr val="11966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9" name="检查项 2">
            <a:extLst xmlns:a="http://schemas.openxmlformats.org/drawingml/2006/main">
              <a:ext uri="{FF2B5EF4-FFF2-40B4-BE49-F238E27FC236}">
                <a16:creationId xmlns:a16="http://schemas.microsoft.com/office/drawing/2014/main" id="{40EED5A4-CF57-4C0F-947C-611919F2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0384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rPr>
              <a:t>收到 SNOW 完成邮件</a:t>
            </a:r>
          </a:p>
        </p:txBody>
      </p:sp>
      <p:sp>
        <p:nvSpPr>
          <p:cNvPr id="20" name="检查完成 3">
            <a:extLst xmlns:a="http://schemas.openxmlformats.org/drawingml/2006/main">
              <a:ext uri="{FF2B5EF4-FFF2-40B4-BE49-F238E27FC236}">
                <a16:creationId xmlns:a16="http://schemas.microsoft.com/office/drawing/2014/main" id="{AFF00367-B2DB-4C83-943A-D0097D0A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99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solidFill>
              <a:srgbClr val="E8742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1" name="检查项 3">
            <a:extLst xmlns:a="http://schemas.openxmlformats.org/drawingml/2006/main">
              <a:ext uri="{FF2B5EF4-FFF2-40B4-BE49-F238E27FC236}">
                <a16:creationId xmlns:a16="http://schemas.microsoft.com/office/drawing/2014/main" id="{7574EDD7-E075-4F43-A39C-E73493CB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6290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rPr>
              <a:t>ChatGPT Proxy Doctor 已安装</a:t>
            </a:r>
          </a:p>
        </p:txBody>
      </p:sp>
      <p:sp>
        <p:nvSpPr>
          <p:cNvPr id="22" name="检查完成 4">
            <a:extLst xmlns:a="http://schemas.openxmlformats.org/drawingml/2006/main">
              <a:ext uri="{FF2B5EF4-FFF2-40B4-BE49-F238E27FC236}">
                <a16:creationId xmlns:a16="http://schemas.microsoft.com/office/drawing/2014/main" id="{73DBE552-6397-4038-832B-0A299E7F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00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solidFill>
              <a:srgbClr val="0F9ED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3" name="检查项 4">
            <a:extLst xmlns:a="http://schemas.openxmlformats.org/drawingml/2006/main">
              <a:ext uri="{FF2B5EF4-FFF2-40B4-BE49-F238E27FC236}">
                <a16:creationId xmlns:a16="http://schemas.microsoft.com/office/drawing/2014/main" id="{F06700A4-F04C-4A21-8AAC-98F3D195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2195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rPr>
              <a:t>Philips 办公网或 VPN 已连接</a:t>
            </a:r>
          </a:p>
        </p:txBody>
      </p:sp>
      <p:sp>
        <p:nvSpPr>
          <p:cNvPr id="24" name="登录企业工作区">
            <a:extLst xmlns:a="http://schemas.openxmlformats.org/drawingml/2006/main">
              <a:ext uri="{FF2B5EF4-FFF2-40B4-BE49-F238E27FC236}">
                <a16:creationId xmlns:a16="http://schemas.microsoft.com/office/drawing/2014/main" id="{818A83B2-C9C3-4C17-96EE-10BFA314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47925"/>
            <a:ext cx="1809750" cy="20955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4288">
            <a:solidFill>
              <a:srgbClr val="0066CC"/>
            </a:solidFill>
            <a:prstDash val="solid"/>
          </a:ln>
        </p:spPr>
      </p:sp>
      <p:sp>
        <p:nvSpPr>
          <p:cNvPr id="25" name="登录标志">
            <a:extLst xmlns:a="http://schemas.openxmlformats.org/drawingml/2006/main">
              <a:ext uri="{FF2B5EF4-FFF2-40B4-BE49-F238E27FC236}">
                <a16:creationId xmlns:a16="http://schemas.microsoft.com/office/drawing/2014/main" id="{9FE8F8B3-EB72-4172-9542-E8257E7E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955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66C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6" name="登录标题">
            <a:extLst xmlns:a="http://schemas.openxmlformats.org/drawingml/2006/main">
              <a:ext uri="{FF2B5EF4-FFF2-40B4-BE49-F238E27FC236}">
                <a16:creationId xmlns:a16="http://schemas.microsoft.com/office/drawing/2014/main" id="{D1F8B900-5EEC-433D-B16B-70A874B3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2956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登录企业工作区</a:t>
            </a:r>
          </a:p>
        </p:txBody>
      </p:sp>
      <p:sp>
        <p:nvSpPr>
          <p:cNvPr id="27" name="登录说明">
            <a:extLst xmlns:a="http://schemas.openxmlformats.org/drawingml/2006/main">
              <a:ext uri="{FF2B5EF4-FFF2-40B4-BE49-F238E27FC236}">
                <a16:creationId xmlns:a16="http://schemas.microsoft.com/office/drawing/2014/main" id="{1036B978-0386-453E-B428-421485B4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24275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使用 Philips 账号登录</a:t>
            </a:r>
          </a:p>
          <a:p xmlns:a="http://schemas.openxmlformats.org/drawingml/2006/main">
            <a:pPr algn="ctr">
              <a:buNone/>
              <a:defRPr sz="1125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Enterprise ChatGPT</a:t>
            </a:r>
          </a:p>
        </p:txBody>
      </p:sp>
    </p:spTree>
    <p:extLst>
      <p:ext uri="{BB962C8B-B14F-4D97-AF65-F5344CB8AC3E}">
        <p14:creationId xmlns:p14="http://schemas.microsoft.com/office/powerpoint/2010/main" val="137539317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完成登录以后，仍然需要遵守企业使用边界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账号和网络准备完成，只代表可以访问工具，并不代表可以忽略数据和人工复核要求。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14A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完整讲稿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登录以前，先确认四项准备：已经收到 OpenAI 开通邮件，已经收到 SNOW 完成邮件，已经安装 ChatGPT Proxy Doctor，并且当前连接了 Philips 办公网或 VPN。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确认以上条件以后，再使用 Philips 账号登录 Enterprise ChatGPT。如果页面无法打开，先回到四项检查中逐项排查，而不是自行配置未经批准的代理或其他网络方式。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登录以后，不要输入禁止处理的敏感数据。AI 生成的内容应先作为草稿使用，涉及重要事实、判断和决定时，仍然需要由员工核对并承担最终责任。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能够登录只是开始，数据边界和人工确认贯穿整个使用过程。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dc8e85c4d734168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10E11BD-5C50-4627-B267-5144D51D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6A06EB6-3034-4D52-86F9-3D6A3785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3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45ECE51-1EF7-4886-ADB5-97DB6F0C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GCR AI Ambassador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E34FDE2-B956-45F3-8A40-610B32AA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先了解 GCR AI Network 中四类角色的分工，再通过名单找到自己所在部门、业务单元或市场的 AI 联系人。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CB003F00-4A80-497E-ACC6-1C2956EC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027b368abbb415d"/>
              </a:rPr>
              <a:t>进入 AI Gateway  ↗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4EDF6856-03F3-4244-817F-0026C71A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aab5f2bc0154ea8"/>
              </a:rPr>
              <a:t>查看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40964918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3B35C42C-B12B-419E-A7CD-12178807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53F474D-798E-486F-824A-679C4B3B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GCR AI Ambassador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D60D2D7-B39C-48B5-B090-37EEF21E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GCR AI Network：四类角色分别提供方向、推广、场景和技术支持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C7A9889-6A9D-44A6-ACD5-773A834E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Champion 负责方向，Ambassador 组织学习和推广，Catalysts 从日常流程中寻找适合 AI 的任务，Guru 把业务问题连接到合适的技术资源。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BA9B717-25C1-4975-91D7-8CC48224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A3892CA-0A8D-4813-BDD8-7086AF92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E0A3A5A2-582E-4A43-9466-FCAE5796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0989FAE1-96B9-42C4-A24C-C023EB97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6A907FA-AD87-447F-981B-6DF6CF33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0E2065F-95BC-4217-93E0-F4954B6B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240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先锋｜Champion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EE307B-B7B9-469A-9ACC-5972978A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383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Yiqiu Chen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236C75D-7112-4340-AD76-1C7C7F22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812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制定战略方向，聚焦高价值场景，推动 AI 创造业务价值。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9E84DEF1-9DDB-4C8B-B615-9FE3EE26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4AAEB248-9021-47CB-BD69-48AC44B1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479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A4A3A0E-F44B-45D8-81CC-11BD33DD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432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EE57160-811A-4D78-9450-E7033C36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289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大使｜Ambassador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9E493BE-26FC-4A4C-B04F-6C5B3E35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432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24 people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F6FEC6C-0E4D-42E9-8114-69D47F3C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8607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组织学习和经验分享，帮助更多团队了解并使用合适的 AI 工具。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98CC3175-ECC6-4897-A48C-31887254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DC6385CF-CFEA-4252-AD88-5B6617D9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97EF0D8-3240-4C8A-98CA-41C5CBBE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B6EEA69-5085-4D4C-8ABD-954A927C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338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推动者｜Catalysts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4BC4D44B-5428-4A85-9F25-D745A559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481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每个团队约 5%–10%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F00FECA-5185-4DA3-BC28-2C5AD458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9095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熟悉业务流程，从日常工作中寻找切入点，推动 AI 融入真实工作流。</a:t>
            </a:r>
          </a:p>
        </p:txBody>
      </p:sp>
      <p:sp>
        <p:nvSpPr>
          <p:cNvPr id="25" name="Rectangle: Rounded Corners 24">
            <a:extLst xmlns:a="http://schemas.openxmlformats.org/drawingml/2006/main">
              <a:ext uri="{FF2B5EF4-FFF2-40B4-BE49-F238E27FC236}">
                <a16:creationId xmlns:a16="http://schemas.microsoft.com/office/drawing/2014/main" id="{1C747F18-3DBF-4BA3-B0A3-2E348C47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A7A1785C-F0DA-41E1-A3B2-615ECC36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57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9848CC7C-BA78-4265-87C5-E29657D7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529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9045977E-2FE7-4E6E-8869-B2505BD8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386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专家｜Guru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1630DBEB-3DA9-4589-A97E-EAC9A2AF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530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每个团队约 3%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80AE97D-AA7B-4D1B-B633-59D3A67B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9582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把业务问题连接到合适的技术资源，并在开发、运行和改进过程中提供支持。</a:t>
            </a:r>
          </a:p>
        </p:txBody>
      </p:sp>
      <p:sp>
        <p:nvSpPr>
          <p:cNvPr id="31" name="Rectangle: Rounded Corners 30">
            <a:extLst xmlns:a="http://schemas.openxmlformats.org/drawingml/2006/main">
              <a:ext uri="{FF2B5EF4-FFF2-40B4-BE49-F238E27FC236}">
                <a16:creationId xmlns:a16="http://schemas.microsoft.com/office/drawing/2014/main" id="{982BB600-8735-4E2B-AB68-CA3EC08B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c2ea42bbca74e38"/>
              </a:rPr>
              <a:t>回到 AI Gateway  ↗</a:t>
            </a:r>
          </a:p>
        </p:txBody>
      </p:sp>
      <p:sp>
        <p:nvSpPr>
          <p:cNvPr id="32" name="Rectangle: Rounded Corners 31">
            <a:extLst xmlns:a="http://schemas.openxmlformats.org/drawingml/2006/main">
              <a:ext uri="{FF2B5EF4-FFF2-40B4-BE49-F238E27FC236}">
                <a16:creationId xmlns:a16="http://schemas.microsoft.com/office/drawing/2014/main" id="{D038ADA6-6CF7-49F5-8A94-9D0B53C7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52a6297ea904020"/>
              </a:rPr>
              <a:t>继续探索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111738652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GCR AI Ambassador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遇到不同问题时，需要寻找不同类型的支持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四类角色共同组成支持网络，但每一类角色承担的责任并不相同。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16A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完整讲稿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Champion 负责确定整体方向和高价值场景，Ambassador 负责组织学习、分享经验，并帮助更多团队理解可以使用哪些工具。这两类角色主要解决方向和推广问题。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Catalysts 更接近日常业务流程，他们会从真实工作中寻找适合 AI 的切入点。Guru 则把业务问题连接到合适的技术资源，并在开发、运行和改进过程中提供专业支持。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因此，遇到学习和工具使用问题时，可以先联系 Ambassador；需要梳理业务场景时可以寻找 Catalysts；涉及技术实现和持续改进时，再与 Guru 及相关技术团队协作。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先判断问题属于方向、推广、场景还是技术，再寻找对应角色。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337e39a5c4e4221"/>
              </a:rPr>
              <a:t>回到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2D5C8EC-CDA7-4142-B13A-27180792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3589270-51B0-40D6-99C4-BD064A9B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GCR AI Ambassador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C2F7314-42A9-4926-BE64-75B3CFEB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按部门或业务单元找到对应的 AI Ambassador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926C342-9567-4401-B7C3-CBEDCF74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Alison Gu 担任 GCR AI Ambassador Representative Chair。名单按部门或业务单元、管理负责人和 AI Ambassador 三列排列。找到支持网络后，接下来进入 Copilot 的具体学习和实操。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B745D58-83E5-49B4-96BF-DE7AFCD3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AFDE44E-1449-4836-BDF4-01EE3CFA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211c253b0407b"/>
          <a:stretch xmlns:a="http://schemas.openxmlformats.org/drawingml/2006/main"/>
        </p:blipFill>
        <p:spPr>
          <a:xfrm xmlns:a="http://schemas.openxmlformats.org/drawingml/2006/main">
            <a:off x="685800" y="1783116"/>
            <a:ext cx="6686550" cy="3577517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BE58FD5-26B3-4285-9455-1A4E44C0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657600"/>
          </a:xfrm>
          <a:prstGeom xmlns:a="http://schemas.openxmlformats.org/drawingml/2006/main" prst="roundRect">
            <a:avLst>
              <a:gd name="adj" fmla="val 312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01842AEB-2764-408C-BE69-99C619AB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44A8AD8-7697-4C2B-B128-025BC676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E409797-0DA3-4B5A-BB88-760A1E17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首先看覆盖范围：名单包括市场、财务、法务、人力资源、战略、质量、法规、临床、创新、IT，以及各业务单元和区域市场。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接着看角色分工：Function Lead 负责业务管理；AI Ambassador 分享学习资源和实践经验，帮助团队梳理适合 AI 的问题。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使用时，先在第一列找到部门或业务单元，再查看同一行的大使；工具和学习问题可与大使交流，业务决定和数据授权仍由本部门负责人确认。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8CE3AFC3-31B2-42E7-A95E-6A1A6D61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66ee18e73574b42"/>
              </a:rPr>
              <a:t>进入 Copilot 学习与实操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3F45231B-A194-4C97-A253-70AE7619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c1a81be3f154139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211627637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568C22E-CD36-4931-A7D1-38A619BD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864FC7C-150F-455F-B149-A70679C4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4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A55462E-C969-4822-BA7C-1C19ADFE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日常工作中的 Copilot 实操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EA7C621-E933-4A01-99DD-E9475404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先认识微软官方 AI 学习网站和 MS-4004，再用一个跨岗位案例练习多来源总结、冲突识别和沟通输出。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0101B597-DE81-499D-B076-F36B538A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538693f4cc945a6"/>
              </a:rPr>
              <a:t>AI Skills Navigator  ↗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BA4B14DA-72D3-4DB0-AF58-7629560C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a885ec9036b497d"/>
              </a:rPr>
              <a:t>MS-4004 学习路径  ↗</a:t>
            </a:r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4164F439-25E9-4CB8-A5DE-8E1602B6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597a2b92c4244dc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14202366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0492418-88B6-403F-BCF1-7F078302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A92C1FE-663A-42B2-97CC-B99AC480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8BDCFAA-0E7D-4931-9678-4A190BF3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Skills Navigator：从 For you 首页开始选择学习内容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26A9B2C-3A7D-4737-B0C7-9374F1C2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Skills Navigator 是微软官方 AI 学习网站。For you 首页根据学习记录和个人资料推荐内容，左侧提供课程搜索、学习播放列表、证书和学习报告等入口。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7757515-A826-4BD0-B69E-DCEE5B69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A265ECB-F29C-4C0B-9AA7-58847313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3fc9ae720140e7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0B2BCF77-CFFB-4C7A-9A8E-4FB462D2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11F48B00-0036-42FC-8A58-7927E5DC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B2698A7-CDD6-46D1-B04A-882D4FA5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首页怎么使用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13B0D4D-87F8-4554-A347-B892BAD7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首先看左侧导航：For you 查看个性化内容，Explore content 搜索主题，Skilling playlists 进入学习路径，Credentials 和 Reporting 查看证书与记录。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接着看首页推荐：Recommended for you 展示课程，Pick up where you left off 用于继续学习，右上角提示帮助保持学习习惯。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首次进入时先更新 profile，再按岗位或工作问题搜索；Bootcamp 结束后也可以从这里继续学习。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AEF9E8FA-8614-4AAB-8891-F4D3D95D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33955ba9b9d4f0d"/>
              </a:rPr>
              <a:t>访问微软官方学习网站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112870270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3B18985-588E-468F-B705-C0A66A4D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1143D05-6D69-44E8-B977-62C1E367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BA66A3C-5ED1-4498-A2ED-8D20DCAB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Skilling playlists：把相关课程放进一条学习路线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C4A6224-68CF-43A4-93A0-706ED5DE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当前页面打开的是 Philips: Summer 2026 M365 Copilot Courses。顶部显示学习内容数量和完成进度，下面按顺序排列 AI 基础、Copilot Chat 基础和 MS-4004 业务案例。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E366BF6-F1E8-4769-BCAA-54977D2A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618901F-EDF3-4B2F-934E-90AEECB1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258597dff3427a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20ABB24D-2223-4A5E-BEEC-93782E2E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E0D26EE8-DF86-49E7-B4C2-D245BF88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315CEDA-6892-472F-BF03-F3E2801A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播放列表的结构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B4D7F2-D4F6-442F-ADD4-6BB8B759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首先看顶部信息：33 items 表示共有 33 项内容，进度条显示完成比例，Continue learning 用于回到上次位置。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建议先完成 AI 和 Copilot Chat 基础，熟悉提示词、文件分析和协作方式，再进入 Microsoft 365 Copilot Use Cases（MS-4004）。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向下滚动即可找到 MS-4004；其中的案例按管理者、销售、市场、财务、IT、人力资源、运营、企业沟通、客户服务和法务分类。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3A10445-673B-4113-AE65-320028B3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b8e68e91f4442fd"/>
              </a:rPr>
              <a:t>打开当前播放列表  ↗</a:t>
            </a:r>
          </a:p>
        </p:txBody>
      </p:sp>
    </p:spTree>
    <p:extLst>
      <p:ext uri="{BB962C8B-B14F-4D97-AF65-F5344CB8AC3E}">
        <p14:creationId xmlns:p14="http://schemas.microsoft.com/office/powerpoint/2010/main" val="106633841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7D8677C-8816-4615-8F16-0C0792F1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97DA320-6AD1-4163-A405-6331618F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BAF0440-06BB-404B-B474-0ECE4AB8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从左侧目录进入 MS-4004，再按岗位选择案例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5FD0F6B-B824-42C9-A4D6-76192857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进入课程后，左侧目录列出播放列表中的课程和单元。当前截图选中的是 Copilot Chat Basic 的介绍单元；向下找到 MS-4004 并展开，就可以进入不同岗位的案例。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EABC377-666D-47EE-ADA9-9135631F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22FF228-DB83-495C-B851-9E1D92D8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a0ee7d6f524f21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8714D669-1430-4789-8BEC-78FE2CF1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5FFA04F-26EB-4446-99E7-2135062C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146C497-570D-4749-AE61-471DE6EE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课程页面怎么读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E3B6F62-995C-4080-BBD9-5F97EC43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首先看左侧目录：点击课程名称可以展开单元；当前基础模块包括介绍、Copilot Pages、Agents、练习和总结，下方就是 MS-4004。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接着看右侧学习区：这里显示正文、提醒和学习目标，顶部还提供单元总结和播客等复习功能。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今天先记住课程入口，再进入 MS-4004 选择接近自己岗位的案例；后面的实操会练习其中可以跨岗位复用的方法。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B5D3BE8-86A4-4D1C-8828-87704453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e003cf7842c493b"/>
              </a:rPr>
              <a:t>打开 MS-4004 播放列表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58D1E7AF-B629-485B-B18E-51A3EBB9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1be1bc69118423e"/>
              </a:rPr>
              <a:t>查看 Microsoft Learn  ↗</a:t>
            </a:r>
          </a:p>
        </p:txBody>
      </p:sp>
    </p:spTree>
    <p:extLst>
      <p:ext uri="{BB962C8B-B14F-4D97-AF65-F5344CB8AC3E}">
        <p14:creationId xmlns:p14="http://schemas.microsoft.com/office/powerpoint/2010/main" val="73097463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A8ACF113-38D0-4E99-BC35-7FB580DB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2FC33D5-81F1-4C2A-BE57-1E19A5DD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D7378AB-9DAE-4628-ACD3-2B6416F3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MS-4004 覆盖的十类岗位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4D175D0-00CF-4765-8260-70116622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MS-4004 按岗位组织 Copilot 案例。浏览时可以先看与自己最接近的岗位，也可以直接寻找熟悉的任务，例如读懂上下文、比较多份资料、整理风险和起草下一步沟通。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9A315D0-42BE-4DBB-A8B6-A6FF2D68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ADC8A8E-8A89-432D-BD2E-C2B5542D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AC5C9677-7571-4F46-BC21-E9AF6D26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E5383AD-9CC8-46EF-A068-A027BC37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222C82E-C3F4-45E1-91C3-1EC04854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管理者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6E6EFF4C-243F-46D2-9A9E-3AD6220F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13F4F94-B6C4-4FE8-9FD6-7EC07982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BEF8A4D-C924-4D10-B342-EE9AF0EF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销售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B5AFC4B4-70FF-48DE-A76C-8EE9A7BF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9C33516-873F-4FB3-9C9A-5B769FCA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651EF23-0377-4AC3-AD68-309623E2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市场营销</a:t>
            </a:r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4802920D-0BAE-4516-98BE-55FB14B1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8B77D47-E691-4E0F-B6B0-CB48B9B6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EB1FCAB-B0B2-470D-A114-FB7C1742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财务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372C2E45-21DA-41C7-9810-4D419372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7B72868-A010-468F-AD44-8D52AB29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2B4F418-A01C-4C1A-9724-C0D55EF6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IT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5DF81C26-10F0-40AE-B822-5E6FD51F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DACBE5C-BE16-4AF5-B068-74AD72CD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B496F7-4DEB-4C72-BEE0-233FE9DD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人力资源</a:t>
            </a:r>
          </a:p>
        </p:txBody>
      </p:sp>
      <p:sp>
        <p:nvSpPr>
          <p:cNvPr id="25" name="Rectangle: Rounded Corners 24">
            <a:extLst xmlns:a="http://schemas.openxmlformats.org/drawingml/2006/main">
              <a:ext uri="{FF2B5EF4-FFF2-40B4-BE49-F238E27FC236}">
                <a16:creationId xmlns:a16="http://schemas.microsoft.com/office/drawing/2014/main" id="{B4F51F5A-ABC4-4F0C-90EB-F40A5B66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3694A76-E617-4250-8B7A-78F98F5E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A3A107F-8090-4DB3-A4EF-7061B177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28" name="Rectangle: Rounded Corners 27">
            <a:extLst xmlns:a="http://schemas.openxmlformats.org/drawingml/2006/main">
              <a:ext uri="{FF2B5EF4-FFF2-40B4-BE49-F238E27FC236}">
                <a16:creationId xmlns:a16="http://schemas.microsoft.com/office/drawing/2014/main" id="{2E4894E7-603D-4804-9C99-6E8CE5C4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4FE950D-C794-405E-9E9F-1803A0F4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EFE59B9-E087-4559-BE18-9F6C2F16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企业沟通</a:t>
            </a:r>
          </a:p>
        </p:txBody>
      </p:sp>
      <p:sp>
        <p:nvSpPr>
          <p:cNvPr id="31" name="Rectangle: Rounded Corners 30">
            <a:extLst xmlns:a="http://schemas.openxmlformats.org/drawingml/2006/main">
              <a:ext uri="{FF2B5EF4-FFF2-40B4-BE49-F238E27FC236}">
                <a16:creationId xmlns:a16="http://schemas.microsoft.com/office/drawing/2014/main" id="{08173CC7-11CA-40A1-A3CD-DA996275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FF0DE40E-FCAD-4DD5-9C01-5F6E151D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29C28F91-2170-44A1-A3D0-2B5F4FE1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客户服务</a:t>
            </a:r>
          </a:p>
        </p:txBody>
      </p:sp>
      <p:sp>
        <p:nvSpPr>
          <p:cNvPr id="34" name="Rectangle: Rounded Corners 33">
            <a:extLst xmlns:a="http://schemas.openxmlformats.org/drawingml/2006/main">
              <a:ext uri="{FF2B5EF4-FFF2-40B4-BE49-F238E27FC236}">
                <a16:creationId xmlns:a16="http://schemas.microsoft.com/office/drawing/2014/main" id="{7DB57E33-8D06-4EB6-9E58-1151032E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0359A295-BAEB-4174-98AA-37A4E67E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9AB5BFD2-DFBD-43D9-A9FA-161EB98C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法务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C31716B0-7B55-4E7E-A468-42F9C39B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跨岗位共同点：快速理解上下文、从多个来源提取关键信息、识别风险与冲突，并把分析转化为清晰的下一步沟通。</a:t>
            </a:r>
          </a:p>
        </p:txBody>
      </p:sp>
      <p:sp>
        <p:nvSpPr>
          <p:cNvPr id="38" name="Rectangle: Rounded Corners 37">
            <a:extLst xmlns:a="http://schemas.openxmlformats.org/drawingml/2006/main">
              <a:ext uri="{FF2B5EF4-FFF2-40B4-BE49-F238E27FC236}">
                <a16:creationId xmlns:a16="http://schemas.microsoft.com/office/drawing/2014/main" id="{852ED640-2990-4B37-8297-3B1A708C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9c6a65a48d34d52"/>
              </a:rPr>
              <a:t>进入 MS-4004  ↗</a:t>
            </a:r>
          </a:p>
        </p:txBody>
      </p:sp>
    </p:spTree>
    <p:extLst>
      <p:ext uri="{BB962C8B-B14F-4D97-AF65-F5344CB8AC3E}">
        <p14:creationId xmlns:p14="http://schemas.microsoft.com/office/powerpoint/2010/main" val="195220012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可以从岗位进入课程，但不要被岗位名称限制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MS-4004 用岗位组织案例，真正可以迁移到日常工作的，是案例背后的通用任务。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22A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完整讲稿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首先，可以从与自己最接近的岗位开始浏览。管理者、销售、市场、财务、IT、人力资源、运营、企业沟通、客户服务和法务，都有对应的 Copilot 案例。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接着，不要只看岗位名称，还要观察案例实际解决的任务。例如，快速理解上下文、比较多份资料、整理风险、准备会议和起草沟通，这些任务通常会跨越多个岗位。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因此，学习时可以先选择熟悉的场景，再把其中的提示词结构、资料处理方式和检查方法迁移到自己的工作，而不是机械复制案例中的岗位背景。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岗位帮助你找到入口，通用任务决定方法能否迁移到自己的工作。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1d312ecec9f495d"/>
              </a:rPr>
              <a:t>进入 MS-4004  ↗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45488D6D-CD3F-4E1E-B4F8-5B9EC69B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9D3FD1E-9D9E-46B7-8D0A-5C04A983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F5FCD0B-7659-4ED9-8A5C-FE150B95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把岗位差异提炼为四类通用任务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EA2623D-A365-4957-B85A-D7E0DB25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无论岗位是什么，Copilot 的高频价值通常集中在“读、理、查、写”。课堂案例会把这四类动作串成完整工作流：先理解资料，再形成结构，检查问题，最后把结果转化为可执行的沟通。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B31870A-5EAA-4E6B-B673-18225FAF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BDAD14C-0A0D-4C7F-B079-7C4E6B6A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889C5695-B683-476E-BB95-1025B4FA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B3CEA1DE-7413-4849-9F5D-EE22BAD4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B4CC684-1E86-49E5-B849-C0C99D79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E548E9D-1491-40DC-9DB9-A726AE22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读：快速理解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1316E8C-2674-4669-ACEC-02833E07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阅读项目简介、会议纪要、邮件或文档，提取目标、背景和关键事实。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5CD10C3-4BEE-4D30-9AC5-6E8A8A91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376C42CE-0415-4A48-BF8E-EF0D133F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29AB4DF-1D21-4DE3-80B8-7E6C68E2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2994DC8-E648-4CA1-868D-3319D35A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理：形成结构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421B3FA-2DFE-4ABC-950F-2C214AE4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按决策、行动、风险、截止日期和负责人重新组织信息。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9E281427-0D05-44FF-8D49-11A4E0AC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F7CD52D9-35F3-4D7F-A751-7C1F89B8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9D76E4D-A9FB-43F9-A999-E1C6A308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F9ABA4D-F508-464A-B2DA-06978A8D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查：发现问题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EF2349A-FCD9-4CC4-ABB0-A0DD79A6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比较多个来源，标记冲突、缺失信息和需要人工确认的内容。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D56F8564-1A68-4316-A687-439B5E0F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7FC3EB71-2AF6-4FE3-8FF4-57265DEF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7531091-91C0-4DE0-B5E8-DFD6B28E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5B20D5FE-060A-4EC6-9C65-A51683A1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写：推动行动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FBB49975-86CB-4604-BC2E-2D6E3361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把结果整理成可以发给同事的项目简报或跟进邮件。</a:t>
            </a:r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F6C2A6BA-4BBD-4FFB-A594-1E797AF8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48e4c7c97d04359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58033997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读、理、查、写是一条连续的工作链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Copilot 的价值不只是生成一段文字，而是帮助我们把资料逐步转化为可以采取行动的沟通。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23A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完整讲稿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第一步是读，也就是快速理解项目简介、会议纪要、邮件或其他资料，提取目标、背景、关键事实和限制条件。没有完成这一步，后面的总结很容易失去上下文。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第二步是理和查。先把信息按照决定、行动项、风险、负责人和截止日期重新组织，再比较多个来源，找出冲突、缺失信息和需要人工确认的内容。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最后一步是写。把已经核对过的分析结果转化为邮件、简报或下一步安排，同时保留待确认事项，避免把模型推测写成已经确定的事实。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先理解，再组织和核对，最后才把结果写成可执行的沟通。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2aa3fa63a7148a8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46A38B2-4F6F-4D31-89D6-FCAE39D1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6D5D903-F7D3-485B-AC40-C24E30DD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4352DFF-B952-4740-B658-9C7CCF94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通用案例：快速接手一个新项目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32C3496-5321-4CF0-80FE-FD72C364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我们用一组虚构的“绿色办公周”资料，完整演示一次从阅读材料到形成沟通输出的过程。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101D30E-BEF0-47B8-A803-39C166C6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94E2110-3EC7-4617-855D-189D74BB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54B43AAB-0CF4-4BA1-846D-6637E630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0629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29F87DC-0D35-4DC2-B4C3-4922D139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你的任务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5F21E29-E4B4-43DE-AAE8-0BAE05C9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76475"/>
            <a:ext cx="988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今天你将接手“绿色办公周”项目。首先读懂三份资料，再向负责人说明当前进展、主要风险和下一步安排。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5844B80B-A6AA-4593-A8B7-DEEAF4E2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2BEF8D-F723-4CB0-B0E2-46314130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你会拿到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7705FEB-178E-4706-8AD7-783B7D5C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项目简介说明背景；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会议纪要记录决定；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时间表呈现进度。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65EA0DFA-16D8-44D2-AB66-B86E7989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BD13297-C6C2-4DC6-8947-2AC32500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请 Copilot 帮你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DD205ED-52E8-407E-834F-93051F9D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先提炼目标与进展；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再整理负责人和截止日期；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最后找出冲突与待确认事项。</a:t>
            </a:r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F6D01EF1-702A-4BFB-8764-579FF24E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0ACDCF6-EF49-4F38-99C8-22070ED4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最后交付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70FBAE2-079A-4622-A623-253AB7B9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最后形成一页项目接手简报，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再起草一封跟进邮件，把分析转化为可执行的沟通。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0C8D5E0B-034D-4957-A22B-7755B535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61edcf6770343c4"/>
              </a:rPr>
              <a:t>进入 Copilot 实操  ↗</a:t>
            </a:r>
          </a:p>
        </p:txBody>
      </p:sp>
    </p:spTree>
    <p:extLst>
      <p:ext uri="{BB962C8B-B14F-4D97-AF65-F5344CB8AC3E}">
        <p14:creationId xmlns:p14="http://schemas.microsoft.com/office/powerpoint/2010/main" val="134843390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绿色办公周练习，要把三份资料变成两项交付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这个练习模拟临时接手项目，因此重点不是复述附件，而是形成清楚、可靠的接手判断。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24A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完整讲稿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练习开始时，你会拿到项目简介、会议纪要和时间表。首先需要理解项目目标、成功指标、预算、范围和关键日期，同时区分已经确认的决定与仍在讨论的问题。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接着，需要比较三份资料，而不是只做单份摘要。报名开放日期存在两个版本，部分供应商和合同信息也没有提供，这些内容都必须保留来源并标记为待确认。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最后需要形成两项交付：一页项目接手简报和一封跟进邮件。简报负责呈现进展、行动项、风险和缺口，邮件则把这些分析转化为明确的确认问题和下一步安排。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练习的核心是比较来源、保留不确定性，并把分析转化为行动。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8705082a72a4305"/>
              </a:rPr>
              <a:t>进入 Copilot 实操  ↗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4BD82BF-ED35-4FE6-BCAD-A55B80FC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BCA1C78-B57F-4ECA-A58E-F1AED031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5455389-5CD8-4333-81D4-2EE3EF1D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1：项目简介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CF48A9-2AEC-4B42-B0F4-C01C0E29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先从项目简介建立全貌：项目为什么做、如何衡量、预算和范围是什么、关键日期有哪些。这里记录的报名开放日期是 28 Aug，稍后会和时间表进行对照。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A140D39-DD75-41E5-A06F-604B062C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5C1680D-415D-4B14-838E-BEC17EEE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C8264DA5-F21A-4C00-A366-F563B906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A3BBFDC-9802-49AE-A19C-20FAE265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GREEN OFFICE WEEK｜PROJECT BRIEF（虚构培训数据）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5B6EEF0-0A65-4344-BE97-BC7C10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9239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目的与受众： 9 月 14–18 日举行，面向 400 名内部同事，鼓励简单、可衡量的可持续办公习惯。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成功指标： 报名 150 人、出席率达到报名人数的 80%、参与者反馈达到 4.2/5。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预算与范围： 工作预算 25,000 元；仅内部沟通；材料需中英双语；供应商尚未确定，也未签署合同。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关键日期： 项目简介写明 8 月 28 日开放报名，9 月 9 日关闭报名。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8FF16BB7-CA00-4137-B6A8-262ED0CE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9ca1568909b443c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208128329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AB8232C-A286-4466-81DB-35895822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C0864C7-F94E-4B24-80B1-F2564180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1D017FD-9B6D-4A20-92EA-1365B196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2：会议纪要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393F52A-8663-4030-995D-E79317F7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会议纪要补充了负责人、截止日期和讨论状态。阅读这一份时，把内容分成“已确认”“行动项”和“开放问题”，后续简报就能清楚区分决定与待确认事项。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8CD7751-106C-4A05-84CD-CFC89354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49C199D-CD85-4DC0-B0D8-0C3838A4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2CBD7EEF-8294-44D4-B025-35AC6051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69DAAD2-A8BE-4C5E-983B-AE97B25E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PLANNING MEETING NOTES｜17 AUG 2026（虚构培训数据）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421D729-D47F-4DD3-AAB2-BB37CEF8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92392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已确认： 活动日期、内部沟通、双语材料和场地原则已经明确。</a:t>
            </a:r>
          </a:p>
          <a:p xmlns:a="http://schemas.openxmlformats.org/drawingml/2006/main"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行动项： 项目负责人 8 月 21 日确认五天议程；设施协调人 8 月 25 日确认房间布置；沟通负责人 8 月 28 日发布双语报名通知。</a:t>
            </a:r>
          </a:p>
          <a:p xmlns:a="http://schemas.openxmlformats.org/drawingml/2006/main"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开放问题： 餐饮供应商未确定，合同金额尚未确定，团队尚未决定是否增加可选闭幕活动。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E8FC2C2A-5230-447B-AF1B-ABDB7D51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ca929f824084048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103337680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9BC861CD-2C4C-4C8D-ADCB-7E245D99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04EC2DB-2186-47CC-B288-355DE58A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BD46BA7-0AA4-4795-98EC-87140DEB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3：时间表里出现了另一个日期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3BB6101-D4A2-4C04-B15F-CC3D1F64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时间表把报名开放写成 31 Aug，而项目简介写的是 28 Aug。简报中保留两个日期和各自来源，并把它列为需要项目负责人确认的问题。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3C79F6B-718D-48F8-9A8C-E3847324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D551B8-D89F-4951-B838-2E5D888F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C430C3D-26BE-4542-95B8-ABF3C5B8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040A7E1-C0A9-4ED4-B16A-AE6F5AFB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52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里程碑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ABC6ADD-5D6F-4698-B2D1-E7A77681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截止日期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3D9AD9C-BFCA-449C-B80D-0F18BA30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526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FD298A0-529A-433E-AC21-7FC56836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146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2E61AE2-E13E-46A4-8897-9FC4C875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五天议程确认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3ACFAA0-E022-4CC3-A69A-A2C64F45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21 Aug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3F3808D-7B94-4AAB-B616-B59D5A30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进行中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A6FC537-7563-42E7-8A69-F866162B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718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182E271-3728-49CE-ABE4-35023C7D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289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房间布局确认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5DB2529-535E-4677-A847-98E48D6C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289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25 Aug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95D379B-EAB9-4A89-954F-E54D0C88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289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CC0FEC6-9FAD-4CE6-98D9-55B511AA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2D219BC-704C-412F-B3DC-C2EA018D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861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双语公告批准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9C72E12-7C00-4FC1-A36E-281E46D8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86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27 Aug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C5908E9-CEBF-4E83-9D71-7A2507AB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861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7A763C23-1459-4B93-9C97-4A4D3970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862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5BAAA520-43A3-4587-BB68-2B0D2C3F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报名开放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B2DE1E6B-D397-4120-ABFC-3BF1653B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31 Aug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533643A9-B39E-47F1-BBA9-5C1F136D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433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977B408-FDC5-4435-8E6D-E3EE7D2A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434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42A70FC-6711-481A-BAC5-3CB7E6AD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报名关闭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CE085D0A-878C-4B7A-B811-3F0A6433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005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09 Sep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B10B6BB-38CF-4388-8AEB-A5DC19AC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005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F3032D49-CF96-45C1-90F6-C71D8085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待确认：项目简介 28 Aug ｜ 时间表 31 Aug</a:t>
            </a:r>
          </a:p>
        </p:txBody>
      </p:sp>
      <p:sp>
        <p:nvSpPr>
          <p:cNvPr id="32" name="Rectangle: Rounded Corners 31">
            <a:extLst xmlns:a="http://schemas.openxmlformats.org/drawingml/2006/main">
              <a:ext uri="{FF2B5EF4-FFF2-40B4-BE49-F238E27FC236}">
                <a16:creationId xmlns:a16="http://schemas.microsoft.com/office/drawing/2014/main" id="{E4635D1C-12A8-4EE0-8AB3-247E1342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92510d63907491a"/>
              </a:rPr>
              <a:t>用 Copilot 比较资料  ↗</a:t>
            </a:r>
          </a:p>
        </p:txBody>
      </p:sp>
    </p:spTree>
    <p:extLst>
      <p:ext uri="{BB962C8B-B14F-4D97-AF65-F5344CB8AC3E}">
        <p14:creationId xmlns:p14="http://schemas.microsoft.com/office/powerpoint/2010/main" val="107808256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F4731D5-3AC7-48A5-A1A0-E590E412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08281-87F7-427E-8236-F9E240F9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E03E208-EA74-48C1-BB53-4529A688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提示词结构：背景 + 任务 + 输出 + 约束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C5B898-E6FC-48A8-80C0-04666947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提示词要说明为什么做、需要 Copilot 做什么、结果以什么形式呈现，以及哪些内容不能自行推断、必须由人确认。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81FDA1B-CD2B-40C6-8C0E-B228B0F4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EEF1F04-E9C1-4806-BD9C-BA766032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1C1320B3-DB9C-44A5-B565-9D300BEC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7AA1DB76-8DEC-4F8D-82FA-AC960B3D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841AF52-6A55-4B68-82C4-156A986E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3DA97B3-7D2E-424C-91B4-51538CB3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716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我刚接手绿色办公周项目，需要快速理解三份附件。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CBAE36A4-27F6-4DF0-AC7F-5C592A6C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F936FA6-CD89-4C76-A802-2C182A47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146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6240FE5-E7E8-432D-80B9-F8815E10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38F26B9-4BC8-4382-8D22-E519CE81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总结目标、成功指标、已确认决策、行动项、风险和开放问题，并比较来源。</a:t>
            </a:r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11427EC2-D2BC-4E9F-8B5E-84DF533A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081B6DFC-7BC3-4F20-AACC-FC9849CD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9644C1F-E090-48DF-A217-D007472E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1AECDAD-54F7-4227-A8FE-60470200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147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先给一页项目简报，再起草一封简洁的跟进邮件。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CE20AF8F-F9C0-463D-9B4E-3923331A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FEF3BAEC-86F3-4A02-A8E7-A2464016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C65B6ED-23E3-48D5-8592-D4E2A3C4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1872569-26C4-4CF4-A805-E2F67E87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863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不要补充资料中没有的事实；发现冲突时列出来源和两个版本，并标记“待确认”。</a:t>
            </a:r>
          </a:p>
        </p:txBody>
      </p: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67194BEA-B5FC-45C2-8DAD-E1500541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d7d9219224f4160"/>
              </a:rPr>
              <a:t>打开 Copilot 并输入提示  ↗</a:t>
            </a:r>
          </a:p>
        </p:txBody>
      </p:sp>
    </p:spTree>
    <p:extLst>
      <p:ext uri="{BB962C8B-B14F-4D97-AF65-F5344CB8AC3E}">
        <p14:creationId xmlns:p14="http://schemas.microsoft.com/office/powerpoint/2010/main" val="196833972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一个好提示词，先说明边界，再要求结果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背景、任务、输出和约束共同决定 Copilot 应该处理什么，以及不能自行补充什么。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28A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完整讲稿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首先说明背景，让 Copilot 知道你刚接手什么项目、手上有哪些资料，以及为什么需要完成这项工作。背景不需要很长，但要让任务拥有足够上下文。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接着写清任务和输出。任务说明需要分析什么，输出说明结果应当采用简报、表格、邮件还是其他形式，并明确需要包含哪些栏目。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最后加入约束，例如只能依据附件、冲突要列出不同来源、缺失内容要标记待确认。这里展示的结构和后面的提示词都只是示例，实际使用时应根据任务和资料进行调整。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提示词不是越长越好，而是要把上下文、交付物和判断边界说清楚。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14037b19a144281"/>
              </a:rPr>
              <a:t>打开 Copilot 并输入提示  ↗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67B30F2-3B2B-4790-BC54-61CFE25A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1A855B-5CC9-4954-91E6-A05D63A7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388FBB6-50AA-418E-80F3-F0F957A9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Microsoft 365 Copilot：确认工作账号，加入资料，开始任务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E0BC10A-0A52-454A-B64B-5A83568D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打开页面后，先确认左下角显示工作账号，再点击输入框左侧的加号加入本次练习使用的三份资料，最后在中央输入任务。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2FACCB7-AE65-4E2B-88C6-6F0BB5D5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422145A-F41F-4B70-BB5B-75B9134E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bd9b92da0c4b61"/>
          <a:stretch xmlns:a="http://schemas.openxmlformats.org/drawingml/2006/main"/>
        </p:blipFill>
        <p:spPr>
          <a:xfrm xmlns:a="http://schemas.openxmlformats.org/drawingml/2006/main">
            <a:off x="685800" y="1864281"/>
            <a:ext cx="6686550" cy="3510439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D25EBF2-F1C2-47A7-B1B8-E3FA34C7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3C9EB873-0FDA-4357-913F-391C0189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636F2F2-6385-4D2B-A128-04FABFAA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68266BA-18D4-400F-9021-966E3CEF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首先开始新任务：左侧 New chat 用于新建对话，Search 用于查找历史内容；Library、Notebooks 和 Agents 可以之后再探索。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接着加入资料：中央 Message Copilot 是任务输入框，点击左侧加号即可添加文件；下方按钮提供文件分析、邮件整理等快捷入口。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提交前再检查：确认左下角显示 Philips 工作账号，只加入当前任务需要的资料；对敏感信息有疑问时，先查看企业规则或咨询支持人员。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924D0B09-9428-4482-9DE0-E458F2FC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77d68c2cc5e4d36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50851861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52BBA476-B010-4512-B5B5-F981B713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5797568-7745-49FD-B442-CD751939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234354E-0472-4205-8DB3-8A8D216D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现场演示：把三份资料整理成简报和跟进邮件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7F8E75-25BC-47F4-BC18-42F1D93F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接下来我会在 Copilot 中完整做一遍。大家可以跟着看资料是怎样加入的、提示词怎样写，以及第一次结果出来后还可以怎样继续调整。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31FDC40-F08C-4A67-BDA3-693053AE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4C1CE48-A769-4E5D-9289-BF040BAB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B9933069-E66D-4A35-AF21-38489F00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62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EE5F23D-80B7-4AD2-A6DA-2373F912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C6C4561-4AE0-4D9F-992F-E89F9DE6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430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首先上传项目简介、会议纪要和里程碑时间表。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E9F3928-4EF9-464C-ACC7-35D2557A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05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98466DC-B16E-4475-895E-8C4C1F8C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7E563CF-DCD0-467A-9D6A-034867AA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860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接着输入“背景 + 任务 + 输出 + 约束”四段式提示词。</a:t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D6F28D73-29BA-42AD-9A79-40B3BA28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480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F89586C-D8D4-400D-A9CB-CFD881AF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C0C1C3C-3A6A-4739-8277-2F4B7DA7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289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结果生成后，先查看项目接手简报和跟进邮件草稿是否完整。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C8A56F78-23A5-4CCE-9F5B-3D384C88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90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56A3A3C-0642-422E-8D50-0C200F39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5618C79-4024-40A1-88DD-61D5D96F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719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然后核对 28 Aug 与 31 Aug 两个报名日期，保留来源并标记待确认。</a:t>
            </a: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BA1ACFAA-7AA3-4CE7-8AEB-84C6C70B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33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5DBDC84-7C4F-4ABC-AE47-56C16339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27BFB305-B494-4FD2-8CE2-FF47C3B3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148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确认事实后，再追问并把行动项整理成负责人、截止日期和状态三列。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D43B4430-8761-440A-91EB-E838536E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2dad75ca5b54d03"/>
              </a:rPr>
              <a:t>进入现场演示  ↗</a:t>
            </a:r>
          </a:p>
        </p:txBody>
      </p:sp>
    </p:spTree>
    <p:extLst>
      <p:ext uri="{BB962C8B-B14F-4D97-AF65-F5344CB8AC3E}">
        <p14:creationId xmlns:p14="http://schemas.microsoft.com/office/powerpoint/2010/main" val="159111395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现场演示时，重点观察三次检查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演示不是为了得到一次漂亮答案，而是展示怎样逐步确认资料、结果和最终沟通。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30A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完整讲稿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第一次检查发生在提交以前。确认三份资料都已经加入，提示词包含背景、任务、输出和约束，并且当前使用的是 Philips 工作账号。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第二次检查发生在结果生成以后。先看项目简报和邮件是否覆盖目标、行动项、风险和待确认事项，再核对报名开放日期是否保留了 28 Aug 和 31 Aug 两个来源。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第三次检查是继续追问。要求 Copilot 把行动项整理成负责人、截止日期和状态三列，并在最终沟通中保留仍需团队确认的信息。只有完成这些检查，输出才接近可以使用。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生成只是开始，提交前、生成后和改写前都需要检查。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348570df2524459"/>
              </a:rPr>
              <a:t>进入现场演示  ↗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轮到你：用同样的方法完成一个小任务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可以继续使用绿色办公周资料，也可以选择会议纪要整理、邮件改写或项目资料总结。在 Copilot 中写出背景、任务、输出和约束，并让结果列出仍需确认的信息。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练习要求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43200"/>
            <a:ext cx="866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1. 首先用背景、任务、输出、约束四段结构写一个提示词。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2. 然后要求 Copilot 指出至少一个不确定项、冲突或需要人工核对的事实。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3. 最后把结果改写成可直接用于沟通的一段文字、邮件或简报。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完成后与同事交流：你的提示词中，哪一条约束最重要？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4a674df6b514872"/>
              </a:rPr>
              <a:t>打开 Copilot 开始练习  ↗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F4731D5-3AC7-48A5-A1A0-E590E412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08281-87F7-427E-8236-F9E240F9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E03E208-EA74-48C1-BB53-4529A688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绿色办公周实操｜任务、示例提示词与预期结果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C5B898-E6FC-48A8-80C0-04666947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练习材料将在课程群内发放。下面提示词只是一种示例；重点是把背景、任务、输出和约束说清楚。完成练习后，下一部分会把同样的方法固化为可重复使用的 Agent。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81FDA1B-CD2B-40C6-8C0E-B228B0F4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31A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EEF1F04-E9C1-4806-BD9C-BA766032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1C1320B3-DB9C-44A5-B565-9D300BEC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7AA1DB76-8DEC-4F8D-82FA-AC960B3D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841AF52-6A55-4B68-82C4-156A986E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要做什么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3DA97B3-7D2E-424C-91B4-51538CB3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716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阅读群内发放的三份虚构资料，用 Copilot 总结项目目标、进展和行动项，比较来源并找出冲突。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CBAE36A4-27F6-4DF0-AC7F-5C592A6C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F936FA6-CD89-4C76-A802-2C182A47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146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6240FE5-E7E8-432D-80B9-F8815E10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示例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38F26B9-4BC8-4382-8D22-E519CE81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“仅根据三份资料，总结目标、指标、预算、日期、决定、行动项、风险和缺失；比较来源。先输出简报，再起草邮件。不要补充资料中没有的事实；冲突列出两个版本和来源，标记‘待确认’。”</a:t>
            </a:r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11427EC2-D2BC-4E9F-8B5E-84DF533A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081B6DFC-7BC3-4F20-AACC-FC9849CD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9644C1F-E090-48DF-A217-D007472E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1AECDAD-54F7-4227-A8FE-60470200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147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一页项目接手简报（含行动项表格）＋一封跟进邮件草稿＋一份待确认事项清单。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CE20AF8F-F9C0-463D-9B4E-3923331A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FEF3BAEC-86F3-4A02-A8E7-A2464016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C65B6ED-23E3-48D5-8592-D4E2A3C4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检查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1872569-26C4-4CF4-A805-E2F67E87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863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应发现“8月28日 / 8月31日”冲突；供应商、合同金额等缺失内容应写“资料中未找到”。</a:t>
            </a:r>
          </a:p>
        </p:txBody>
      </p: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67194BEA-B5FC-45C2-8DAD-E1500541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c2f157695954961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96833972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练习完成的标准，不是只得到一段答案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最终结果需要同时满足信息完整、来源清楚、冲突保留和沟通可执行四项要求。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32A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完整讲稿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练习材料会在课程群内发放。页面上的提示词只是一种示例，可以直接试用，也可以根据自己的表达方式调整；关键是保留背景、任务、输出和约束四个组成部分。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完成后，应当得到一页项目接手简报、一封跟进邮件草稿和一份待确认事项清单。行动项需要包含负责人、截止日期和状态，不能只做宽泛总结。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最后检查质量：结果应发现 8 月 28 日与 8 月 31 日的日期冲突；供应商、合同金额等未提供的信息应写成“资料中未找到”，而不是由 Copilot 自行补全。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可靠结果要能说明知道什么、不知道什么，以及下一步需要谁确认。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68fee7ab7354c9b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AF27B51-E6E4-4126-B07B-8B8E6C5A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C0521EC-3647-4053-9101-F68EABA8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5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540FC4D-6115-4B58-9946-30579D1C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业务案例与最佳实践：Agent Builder Lab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40D2617-65D3-4CC8-A5A8-26815349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AI Tool Lab 提供多个 Agent 构建实验。讲师演示第 3 个“会议跟进助手”，学员动手范围是前 4 个 Lab，可任选或分组完成。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E0A100E1-B148-4C3D-B36B-19F3BB75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ae00719e2534622"/>
              </a:rPr>
              <a:t>AI Tool Lab  ↗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78D9D59E-33CC-4B28-8E81-EB2DFD87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7e26073b40f47f0"/>
              </a:rPr>
              <a:t>Agent Builder 路径  ↗</a:t>
            </a:r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DBD4A93-0D5E-4092-825C-0B47824B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a63924b52214031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2118785265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4F2B4C0-A430-4E42-952A-19CBB9A0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8DFF1BF-2BC6-4507-B99A-3348AC68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28981CC-1E03-4672-A63C-79B35752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Tool Lab：四个业务场景，共用一套构建方法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1732CE4-9D21-40E4-940E-FADEDFD2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网站提供四个 Agent Lab 和中文分步指南。四个场景都会练习工作规则（Instructions）、参考资料、常用快捷问题（Suggested Prompts）和试运行，操作都在 Microsoft 365 Copilot 中完成。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D2AD95C-AF7F-43F1-968C-36CD7B55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9D84E89-C346-4F4E-8F42-044BF7D9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2cecc26d344e8"/>
          <a:stretch xmlns:a="http://schemas.openxmlformats.org/drawingml/2006/main"/>
        </p:blipFill>
        <p:spPr>
          <a:xfrm xmlns:a="http://schemas.openxmlformats.org/drawingml/2006/main">
            <a:off x="685800" y="1863846"/>
            <a:ext cx="6686550" cy="3511308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931C98F-B938-415A-BEAB-F1E869AD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2C7ED0E3-ED03-48C8-AA70-8ACDE350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98CB966-939A-49D6-BA8A-823F2AD5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0C67CFE-695C-48F0-ADB7-A6D6686C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首先从四个场景中选择一个：Chief of Staff、Product Manual FAQ、Meeting Follow-up Assistant 或 Funnel Data Analyst。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在课堂上，PPT 用于解释关键画面，AI Tool Lab 网站提供步骤和材料，真正的配置、预览与创建在 Microsoft 365 Copilot 中完成。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完成后，你可以沿用同样的步骤，把自己的重复任务改造成一个简单、可测试的 Agent。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ED1F8814-CDBA-461C-9691-ABB2B30D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ae930918b4345ee"/>
              </a:rPr>
              <a:t>打开 AI Tool Lab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132D421A-9303-4AFD-A6E3-6CB3AAF3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0a07986fb2942bb"/>
              </a:rPr>
              <a:t>进入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59085668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F52B4F15-26BD-46C9-9FF4-48CCDFB5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117414F-188D-4DA0-9EB9-532FD33E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534DD78-59D9-4680-81B4-DA03758C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动手范围：前四个 Agent Lab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8D418BA-08BA-485A-9A0D-4670B039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这四个 Lab 分别练习事务协调、依据资料回答问题、会议跟进和销售数据分析。讲师会演示第 3 个，学员实践时可任选一个。每个 Lab 都会完成工作规则、参考资料、快捷问题和试运行。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6E2C948-FEE5-4862-B330-AA94CD9A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7EB603-3AA4-4706-89BB-42BA18C9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DB70CE3D-7621-4EF3-9C36-4EC41E30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90886AE5-E4EE-472F-ACF0-7B51001C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863A96B-1F21-4A8B-8860-F7BD25C7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A174DAA-2AC3-4F94-9243-6FF1A9C9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Chief of Staff｜事务协调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936D60D-9E30-410A-8D44-4A236668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整理任务、优先级和会议准备，练习怎样写清 Agent 的服务对象和工作方式。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0B6CDF16-CDDA-4284-B4D2-41A66145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F064F06E-FE17-4ABF-854F-B49681E0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2788D73-6AC0-424E-94CF-4048DEA0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A8EEBCC-78CF-47B3-A58A-674A46E1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Product Manual FAQ｜产品问答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BA1E1FE-BA2F-421E-9D01-15BDC644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依据产品资料回答问题，练习怎样限定参考范围，以及资料不足时怎样回应。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D1E108B1-1B0E-4805-8E4C-98F45E90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16591CAC-D607-44F3-8C30-9526DB18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CEBE62AE-A31C-471E-BFA1-D27CE700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A342F16-CEA1-47C2-96E4-05E8838D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Meeting Follow-up｜会议跟进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D115EC5-C03D-49CE-8639-FE22E62B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把会议内容转为摘要、行动项和跟进邮件。本次讲师示范使用这一案例。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20287981-8A7C-48B0-B006-2353BC74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D3CA374D-8FEF-4DF1-A755-EF7CC971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3A1533A-17B2-43DD-A1CE-9532379C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F12F00C-664D-42C6-B997-57E115D2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Funnel Data Analyst｜销售分析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4265981-D5B2-4B8F-9C8E-D0AC1FB0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分析销售机会数据并解释图表，练习怎样写清筛选条件、输出内容和业务问题。</a:t>
            </a:r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2AB1C857-066F-4A1D-AA7C-84AF1B11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9cd7d6005584ad7"/>
              </a:rPr>
              <a:t>Lab 1  ↗</a:t>
            </a:r>
          </a:p>
        </p:txBody>
      </p:sp>
      <p:sp>
        <p:nvSpPr>
          <p:cNvPr id="28" name="Rectangle: Rounded Corners 27">
            <a:extLst xmlns:a="http://schemas.openxmlformats.org/drawingml/2006/main">
              <a:ext uri="{FF2B5EF4-FFF2-40B4-BE49-F238E27FC236}">
                <a16:creationId xmlns:a16="http://schemas.microsoft.com/office/drawing/2014/main" id="{5E6F1B44-8F89-41EF-A0BD-21104B9E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eb11e06475f4c4c"/>
              </a:rPr>
              <a:t>Lab 2  ↗</a:t>
            </a:r>
          </a:p>
        </p:txBody>
      </p:sp>
      <p:sp>
        <p:nvSpPr>
          <p:cNvPr id="29" name="Rectangle: Rounded Corners 28">
            <a:extLst xmlns:a="http://schemas.openxmlformats.org/drawingml/2006/main">
              <a:ext uri="{FF2B5EF4-FFF2-40B4-BE49-F238E27FC236}">
                <a16:creationId xmlns:a16="http://schemas.microsoft.com/office/drawing/2014/main" id="{E572848D-FC6D-4337-8BDE-D8917D9A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bfd07a854984bf4"/>
              </a:rPr>
              <a:t>Lab 3  ↗</a:t>
            </a:r>
          </a:p>
        </p:txBody>
      </p:sp>
      <p:sp>
        <p:nvSpPr>
          <p:cNvPr id="30" name="Rectangle: Rounded Corners 29">
            <a:extLst xmlns:a="http://schemas.openxmlformats.org/drawingml/2006/main">
              <a:ext uri="{FF2B5EF4-FFF2-40B4-BE49-F238E27FC236}">
                <a16:creationId xmlns:a16="http://schemas.microsoft.com/office/drawing/2014/main" id="{C299D3BC-4E3E-4796-88CC-15DB9991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066ddca911d4b5b"/>
              </a:rPr>
              <a:t>Lab 4  ↗</a:t>
            </a:r>
          </a:p>
        </p:txBody>
      </p:sp>
    </p:spTree>
    <p:extLst>
      <p:ext uri="{BB962C8B-B14F-4D97-AF65-F5344CB8AC3E}">
        <p14:creationId xmlns:p14="http://schemas.microsoft.com/office/powerpoint/2010/main" val="170227495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C45E095-33C1-4667-9E3C-786E9BB5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8DDE9ED-6D29-42C4-9D5A-2F7AAF55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17C2201-87BD-431B-A7B0-8E155AF6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01｜Chief of Staff：整理日程、优先级和会议准备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54082F4-D5A9-46D9-9DB9-33134045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主提示让 Agent 查看当天日历、安排优先级、找出时间冲突，并为重要会议准备 2–3 个谈话要点。下方三个常用快捷问题分别对应日历、紧急事项和今日重点。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D6AE9BB-0C6A-438A-B268-A325FAE6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E4E398F-FC99-497F-83F7-EAB0890B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1b3e9014f649e7"/>
          <a:stretch xmlns:a="http://schemas.openxmlformats.org/drawingml/2006/main"/>
        </p:blipFill>
        <p:spPr>
          <a:xfrm xmlns:a="http://schemas.openxmlformats.org/drawingml/2006/main">
            <a:off x="685800" y="1789939"/>
            <a:ext cx="6686550" cy="3659122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5D1123CA-C939-4582-BADB-84FC2C27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6FC96A47-ABD9-4C67-B195-98BD92D1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41377B9-E55D-4691-B5C9-AC565D73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C61F408-046A-409A-A402-9D6F454B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首先明确输入范围：日历、紧急事项和当前目标，Agent 会结合时间冲突与任务重要性进行整理。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接着按照处理规则，区分必须今天处理、可推迟和需要协调的事项，并为重要会议补充目标、风险与谈话要点。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因此你会看到带理由的优先级、清楚标出的时间冲突，以及可直接用于当天安排的建议。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789B0342-DBEB-4098-868D-1194F5B6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53dd6ffb6d64f00"/>
              </a:rPr>
              <a:t>打开 Lab 01  ↗</a:t>
            </a:r>
          </a:p>
        </p:txBody>
      </p:sp>
    </p:spTree>
    <p:extLst>
      <p:ext uri="{BB962C8B-B14F-4D97-AF65-F5344CB8AC3E}">
        <p14:creationId xmlns:p14="http://schemas.microsoft.com/office/powerpoint/2010/main" val="78222974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AE608E7-0248-4C1A-AFF3-DCD4B8CB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B0297DA-9675-47FA-816E-6939C5A1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E6E4A16-13FA-4CAC-956F-85703E24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02｜Product Manual FAQ：回答必须来自产品资料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F0A721D-EF62-4F8A-B365-65B060B4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这个示例根据已提供的 MR 5300 产品资料回答销售问题。回答先给出要点，再解释适合客户沟通的产品价值，并在具体规格旁显示资料来源。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8D73FF0-ED35-449C-BC7D-DE062083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8F7959F-7A17-4221-9C6C-A3730817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62cb6c2abd4071"/>
          <a:stretch xmlns:a="http://schemas.openxmlformats.org/drawingml/2006/main"/>
        </p:blipFill>
        <p:spPr>
          <a:xfrm xmlns:a="http://schemas.openxmlformats.org/drawingml/2006/main">
            <a:off x="967658" y="1762125"/>
            <a:ext cx="6122833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E732013-C854-4676-B63A-042B34D7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003E8245-212C-42A4-A53F-6D8C2691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E0364BE-0BF1-4F18-A4D7-EFB2C0FB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127F942-ACFC-4D19-AF45-236EA1D1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首先明确任务边界：只依据已加载的产品手册回答，不把模型常识、营销想象或其他产品信息混入答案。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在此基础上组织回答：先概括减少氦气维护、AI 辅助工作流、成像质量和长期使用成本等卖点，再把规格转化为客户价值。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最后检查来源：关键规格旁应显示资料出处；如果资料未覆盖或版本不同，回答要直接说明当前无法确认。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E9C7264B-03A3-4447-8774-352F9B82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7d55d35d5d34e4f"/>
              </a:rPr>
              <a:t>打开 Lab 02  ↗</a:t>
            </a:r>
          </a:p>
        </p:txBody>
      </p:sp>
    </p:spTree>
    <p:extLst>
      <p:ext uri="{BB962C8B-B14F-4D97-AF65-F5344CB8AC3E}">
        <p14:creationId xmlns:p14="http://schemas.microsoft.com/office/powerpoint/2010/main" val="174941544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6CA0BD5-7F49-4339-B192-0556A948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04555D7-F3CB-49DB-9AC9-B48F7F3D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FFD88EF-FA3A-4889-936A-BF126DB2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03｜Meeting Follow-up Assistant：用模板整理会议结果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A20BA6E-B53F-4A2E-A987-C2711F64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画面右侧要求 Agent 根据 Mail Template 生成管理层简报，并按背景、决定、风险、需要支持和下一步组织内容；输出注明使用了 Mail Template CN.docx 中的管理层摘要模板。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159ADC1-4A30-4055-86E0-34F56953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955A24E-EB4D-4550-9E33-33AB5EBF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7c28da4e90448f"/>
          <a:stretch xmlns:a="http://schemas.openxmlformats.org/drawingml/2006/main"/>
        </p:blipFill>
        <p:spPr>
          <a:xfrm xmlns:a="http://schemas.openxmlformats.org/drawingml/2006/main">
            <a:off x="685800" y="1778668"/>
            <a:ext cx="6686550" cy="3681663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7FA24A7D-0A16-4EB2-BB4D-34BE092A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BBE6E45E-00BD-4922-B9BB-7CDA8364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41686EE-0787-4552-B94E-1560562F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A0157F7-91ED-4B1F-A716-5DEBA1A7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首先提供原始会议内容、阅读对象和所需栏目，并要求标出尚未确认的信息，避免只生成普通会议摘要。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接着加入邮件模板作为参考资料，让不同会议沿用相同的管理层汇报结构和语言风格。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最终结果要把决策与讨论分开，行动项带负责人和时间，尚未确定的产品演示继续标记为待确认。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8507C14-9ABB-4C9F-9062-2F6EC878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2ff7b6969464812"/>
              </a:rPr>
              <a:t>打开讲师示范 Lab 03  ↗</a:t>
            </a:r>
          </a:p>
        </p:txBody>
      </p:sp>
    </p:spTree>
    <p:extLst>
      <p:ext uri="{BB962C8B-B14F-4D97-AF65-F5344CB8AC3E}">
        <p14:creationId xmlns:p14="http://schemas.microsoft.com/office/powerpoint/2010/main" val="130042067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A707AD7-41F3-4A41-B42D-50A10E2F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D6F52B6-D251-47E4-8AC8-0C52F5B2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BFFAC17-9BE2-4CC8-B9DF-B9E479FD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04｜Funnel Data Analyst：先说清筛选条件，再解释销售图表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3977783-C2D0-46A5-94C4-CCF16C21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这是一个销售机会数据分析示例。提示词限定 East 区域和 MR 业务单元，要求按预测类别统计金额，并以百万美元为单位展示柱状图。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3B9E637-C2F2-421B-86C1-4A9039EA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E025A2C-0FC4-4BD7-9524-35F88DBA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5498f9ef03479d"/>
          <a:stretch xmlns:a="http://schemas.openxmlformats.org/drawingml/2006/main"/>
        </p:blipFill>
        <p:spPr>
          <a:xfrm xmlns:a="http://schemas.openxmlformats.org/drawingml/2006/main">
            <a:off x="926301" y="1762125"/>
            <a:ext cx="6205548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EEC2CDB1-414F-4D99-8109-DA27670C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1D5E17FB-F33C-4640-94EC-F7FBC1BC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302C8A5-6DFC-4DC6-BBC1-B3C73FCA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B9F0018-594E-424A-B69E-30016854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首先理解类别：Omitted 是暂未纳入预测的机会，Pipeline 是仍在推进的机会，Best Case 是较乐观的预期，Commit 是团队承诺的预期，Closed 是已经关闭的机会。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从图上可以观察到 Omitted 最高、Pipeline 第二；不过图表只能说明金额分布，不能直接解释差异原因。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因此下一步要让 Agent 列出筛选条件、明显异常和待确认问题，例如 Omitted 由哪些机会组成、停留多久，以及其他区域是否相同。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D788CF16-3447-4672-85CB-3DE4C8AE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0306e56b9d54dff"/>
              </a:rPr>
              <a:t>打开 Lab 04  ↗</a:t>
            </a:r>
          </a:p>
        </p:txBody>
      </p:sp>
    </p:spTree>
    <p:extLst>
      <p:ext uri="{BB962C8B-B14F-4D97-AF65-F5344CB8AC3E}">
        <p14:creationId xmlns:p14="http://schemas.microsoft.com/office/powerpoint/2010/main" val="198676240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777636E8-C8A3-4F3B-9891-9ADEAF91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7785165-E146-4244-939A-46AAD982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B7C41A4-002E-4FB6-90AC-441D06EC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构建一个 Agent 的六步通用方法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68E832F-3EAB-46B1-95C1-9C89493E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四个 Lab 都沿用同一条路径：新建 Agent、选择构建方式、填写名称和工作规则、添加参考资料、设置常用快捷问题，最后试运行并调整。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B352D39-DE42-424D-B21D-84294E02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D246A0E-C5FA-437C-B661-6332E447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69169182-EFC3-4FB8-BCCD-DF56AC03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0578186E-1053-4F44-97A3-2A806259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D654587-1BE4-4AC0-B414-1DEB0E2C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19DD2DA-0ED1-41A9-BF0C-1C25524C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进入 Agents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并新建</a:t>
            </a:r>
          </a:p>
        </p:txBody>
      </p:sp>
      <p:sp>
        <p:nvSpPr>
          <p:cNvPr id="11" name="Arrow: Chevron 10">
            <a:extLst xmlns:a="http://schemas.openxmlformats.org/drawingml/2006/main">
              <a:ext uri="{FF2B5EF4-FFF2-40B4-BE49-F238E27FC236}">
                <a16:creationId xmlns:a16="http://schemas.microsoft.com/office/drawing/2014/main" id="{CC358ED7-963D-4E8E-B530-E63411EC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638EB2D9-2545-4EBE-92D8-9A3E1FE2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943A7893-5105-4E6C-ABC3-9F63CE10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19880FA-A20D-455D-AA59-77D7D15A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DEA8F5B-B68A-4089-92AD-A4610DF5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选择构建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方式</a:t>
            </a:r>
          </a:p>
        </p:txBody>
      </p:sp>
      <p:sp>
        <p:nvSpPr>
          <p:cNvPr id="16" name="Arrow: Chevron 15">
            <a:extLst xmlns:a="http://schemas.openxmlformats.org/drawingml/2006/main">
              <a:ext uri="{FF2B5EF4-FFF2-40B4-BE49-F238E27FC236}">
                <a16:creationId xmlns:a16="http://schemas.microsoft.com/office/drawing/2014/main" id="{CB33B66C-A1C8-4080-A454-D105B928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E92B5BF2-BB07-400C-AAD5-4656D1EA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BBFDB139-9B50-47BB-9E94-8DEDC680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C58226BC-AF2A-40A5-BB88-2B0D2636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4B14E5B-51B2-4E01-AB60-B0AFDF5B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填写名称、用途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和工作规则</a:t>
            </a:r>
          </a:p>
        </p:txBody>
      </p:sp>
      <p:sp>
        <p:nvSpPr>
          <p:cNvPr id="21" name="Arrow: Chevron 20">
            <a:extLst xmlns:a="http://schemas.openxmlformats.org/drawingml/2006/main">
              <a:ext uri="{FF2B5EF4-FFF2-40B4-BE49-F238E27FC236}">
                <a16:creationId xmlns:a16="http://schemas.microsoft.com/office/drawing/2014/main" id="{0832E79A-1996-44D2-8C96-AE2E65A4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76C649D2-5628-4562-BFCC-4248D392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24416B73-6183-4C4A-9ADB-953E59FB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75BC774-2BAD-4C66-8453-4EF0B9F8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4C0F21F-2607-4445-A44C-DC7D82A4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添加参考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</a:t>
            </a:r>
          </a:p>
        </p:txBody>
      </p:sp>
      <p:sp>
        <p:nvSpPr>
          <p:cNvPr id="26" name="Arrow: Chevron 25">
            <a:extLst xmlns:a="http://schemas.openxmlformats.org/drawingml/2006/main">
              <a:ext uri="{FF2B5EF4-FFF2-40B4-BE49-F238E27FC236}">
                <a16:creationId xmlns:a16="http://schemas.microsoft.com/office/drawing/2014/main" id="{9EE60DEB-6424-497D-BA46-A319F003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7D74AC81-00CA-421C-84A7-CE4FA7AC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9639F934-75C7-4BF7-BB12-A4EE05D3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F2B2E98-D774-4A79-B060-91AD5F9F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A66BD076-F35A-4590-8561-F6471F08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设置常用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快捷问题</a:t>
            </a:r>
          </a:p>
        </p:txBody>
      </p:sp>
      <p:sp>
        <p:nvSpPr>
          <p:cNvPr id="31" name="Arrow: Chevron 30">
            <a:extLst xmlns:a="http://schemas.openxmlformats.org/drawingml/2006/main">
              <a:ext uri="{FF2B5EF4-FFF2-40B4-BE49-F238E27FC236}">
                <a16:creationId xmlns:a16="http://schemas.microsoft.com/office/drawing/2014/main" id="{3E169B6E-B419-4A29-831C-593270FC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: Rounded Corners 31">
            <a:extLst xmlns:a="http://schemas.openxmlformats.org/drawingml/2006/main">
              <a:ext uri="{FF2B5EF4-FFF2-40B4-BE49-F238E27FC236}">
                <a16:creationId xmlns:a16="http://schemas.microsoft.com/office/drawing/2014/main" id="{F937C953-5657-4924-977C-99A57B31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E41C5C7D-632F-40ED-BC7C-9CA9B1CE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43475DB5-6D89-4696-A730-4C56FD06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9F807B6C-E509-4EAF-9EA0-6E4082EE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试运行并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创建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68967858-38DF-4870-98B3-46627C90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96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因此，构建不是填完设置就结束，而是先定义任务，再连接资料，最后通过试运行验证。一个清楚的 Agent 会说明为谁服务、处理什么任务、参考哪些资料，以及结果怎样呈现。</a:t>
            </a:r>
          </a:p>
        </p:txBody>
      </p:sp>
      <p:sp>
        <p:nvSpPr>
          <p:cNvPr id="37" name="Rectangle: Rounded Corners 36">
            <a:extLst xmlns:a="http://schemas.openxmlformats.org/drawingml/2006/main">
              <a:ext uri="{FF2B5EF4-FFF2-40B4-BE49-F238E27FC236}">
                <a16:creationId xmlns:a16="http://schemas.microsoft.com/office/drawing/2014/main" id="{77C66F4A-8932-41E7-9648-1D47C11E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4c33672d6bc4d60"/>
              </a:rPr>
              <a:t>打开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675716271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C957914-FC8B-4604-B48E-84E16E4C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636F27-3EC6-482F-9174-2E845CCF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7B34A43-E54B-429D-884E-9D07A6E4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1｜进入 Agents 并新建 Agent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4FA2908-9EE7-43A4-9654-54C5028F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截图展示 Agent Store：左侧 Agents 已被选中，中间列出已有 Agent，右侧 Create agent 是新建入口。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F60E5B5-EBAB-4BD8-8175-46E5FCCF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F9B356B-1FC4-4A5F-9A84-CEB27784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d2e6a250a439c"/>
          <a:stretch xmlns:a="http://schemas.openxmlformats.org/drawingml/2006/main"/>
        </p:blipFill>
        <p:spPr>
          <a:xfrm xmlns:a="http://schemas.openxmlformats.org/drawingml/2006/main">
            <a:off x="685800" y="1831138"/>
            <a:ext cx="6991350" cy="367197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6DA7240-BB91-46C2-B9A5-FD37A9CC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47E31179-94EA-4780-BA1F-B05685FA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27AB2D5-7436-40B3-9897-06D0CCCB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494FC31-F7F4-42E0-9DD4-48B9A71B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首先从左侧导航进入 Agents；Search for an agent 用于查找已有 Agent，Your agents 显示当前可用项。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接下来点击右侧 Create agent 开始新建；Researcher、Analyst 等则是已经可以使用的 Agent。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FC584D58-539D-44E1-88C6-E94ABFA6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aeff307f7a74e79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521771796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BC141C1-FB8D-49AF-968F-0188A60F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1290AB7-9FCC-4086-8E19-14ACA661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DF25571-AA32-4A62-B2FC-E2BB8125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2｜选择构建方式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295A67F-3CA9-499F-88B4-29B24D42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页面提供三种方式：描述需求后自动生成草稿、点击 Skip 手动填写，或者从模板开始。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61BEBD7-920E-4DF6-A22B-987FA859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001FF1A-D65C-4F0F-96BF-0B76F032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b21652376a4431"/>
          <a:stretch xmlns:a="http://schemas.openxmlformats.org/drawingml/2006/main"/>
        </p:blipFill>
        <p:spPr>
          <a:xfrm xmlns:a="http://schemas.openxmlformats.org/drawingml/2006/main">
            <a:off x="685800" y="1984985"/>
            <a:ext cx="6991350" cy="336428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F85D8296-38E3-4870-99C0-25298FB7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EB6CC58-3C87-4D12-9B5E-3736BE71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59F6B3C-819B-4051-8478-71E3EB67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D084609-51C0-4801-AE47-5727C34D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进入页面后，可以在输入框描述需求并让 Builder 生成草稿，也可以点击 Skip 手动设置，或从 Templates 的现成模板开始。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本次演示选择手动填写，因此接下来会逐项查看名称、用途、工作规则和参考资料。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5E9622B7-8A6F-4819-8E10-601E26D8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a9db1b7a639494a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096864634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11A725E-526F-4375-990C-9FE76C8D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B47F3D2-3783-4B0A-B54F-460DACD4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4DCE6C8-C561-4766-8085-C54BA1ED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3｜填写名称、用途与工作规则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8011512-51D6-4EF1-A30D-BFF7BED8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截图标出了图标（Icon）、名称（Name）、用途说明（Description）和工作规则（Instructions）。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FDF5078-20BE-4CB8-AA6D-F6015D99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7D5AAC9-712C-42E5-92CE-28114160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802b2462844767"/>
          <a:stretch xmlns:a="http://schemas.openxmlformats.org/drawingml/2006/main"/>
        </p:blipFill>
        <p:spPr>
          <a:xfrm xmlns:a="http://schemas.openxmlformats.org/drawingml/2006/main">
            <a:off x="685800" y="2122448"/>
            <a:ext cx="6991350" cy="308935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F1B1C37-7954-4957-849F-EE0284D8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BD666AB2-09A7-46A4-8497-010E64F1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F9F36D9-8E44-41F9-9D5D-3435C69F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BCAC454-DA49-4CC9-ABE4-ACC2F0F4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填写时先用图标和名称帮助用户识别 Agent，再用一句用途说明告诉大家它能做什么。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最后通过工作规则写清输入内容、处理步骤、输出栏目、参考资料范围，以及信息不足时怎样回应。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1FBB4B19-0DDA-4A2D-8D3E-A2CF4601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25bb6339b264951"/>
              </a:rPr>
              <a:t>打开讲师示范 Lab  ↗</a:t>
            </a:r>
          </a:p>
        </p:txBody>
      </p:sp>
    </p:spTree>
    <p:extLst>
      <p:ext uri="{BB962C8B-B14F-4D97-AF65-F5344CB8AC3E}">
        <p14:creationId xmlns:p14="http://schemas.microsoft.com/office/powerpoint/2010/main" val="708828392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AA719FD-A7E2-498D-A427-5299E08F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7F24BC-E399-46EF-AFBB-BB9EB948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FEF5C37-5E7F-4C32-A566-E8723701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4｜添加参考资料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A09513-CB61-4817-8431-E9D3528E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截图中的资料入口覆盖文件、网站、聊天、会议和邮件，并可按 Files、Sites、Chats、Meetings 分类筛选。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A091A5C-C963-4554-B4AF-63B0E459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7BFE954-51EF-49C6-B5AB-9C3ACF7A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1573b6a1144e82"/>
          <a:stretch xmlns:a="http://schemas.openxmlformats.org/drawingml/2006/main"/>
        </p:blipFill>
        <p:spPr>
          <a:xfrm xmlns:a="http://schemas.openxmlformats.org/drawingml/2006/main">
            <a:off x="685800" y="1807321"/>
            <a:ext cx="6991350" cy="3719608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D6356265-E58A-4049-87A4-BAB98F2D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21E8DF7-A3E1-4F7B-B652-3A0AEE20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C537754-7103-4C92-8C77-A38C5A3D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779B36F-6C21-4A39-87B1-53692732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添加资料时，先在上方输入网址、搜索名称或拖入文件；来源可以是 SharePoint、Teams、Outlook、网站，以及个人文件、聊天、会议和邮件。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本次会议跟进助手只加入邮件模板和会议内容，因此其他无关资料暂时不选。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1769BB7D-6077-459C-90EA-644D10F3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2e3c14ccf4343a1"/>
              </a:rPr>
              <a:t>进入 Agent Builder  ↗</a:t>
            </a:r>
          </a:p>
        </p:txBody>
      </p:sp>
    </p:spTree>
    <p:extLst>
      <p:ext uri="{BB962C8B-B14F-4D97-AF65-F5344CB8AC3E}">
        <p14:creationId xmlns:p14="http://schemas.microsoft.com/office/powerpoint/2010/main" val="1822418702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41B0A67-47B7-4E60-8E34-EEE86688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943F42-9FCC-4040-AC6F-F95F658F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4EFB505-F514-4C68-AB6D-CBEB2830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补充步骤｜查找会议模板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7EDA603-CD2E-42D3-8EA0-6F299424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搜索结果同时显示文件名、修改时间、修改人和保存位置，帮助我们区分名称相似的模板。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AB8AD14-C4B0-42F0-9500-F3990583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A98AB08-F0F4-4B4B-9038-1B302A83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daa73947094dd0"/>
          <a:stretch xmlns:a="http://schemas.openxmlformats.org/drawingml/2006/main"/>
        </p:blipFill>
        <p:spPr>
          <a:xfrm xmlns:a="http://schemas.openxmlformats.org/drawingml/2006/main">
            <a:off x="1245394" y="1714500"/>
            <a:ext cx="5872163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7869B41-1A3E-4572-A94F-919F106A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9A8F385-9F1D-4913-B6D2-F2C19854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1487CE5-41F2-4404-8058-554A326F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0426A8C-3308-425A-9ED7-AEABFD9D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搜索时先输入 Mail Template，再核对修改时间、修改人和保存位置，确认模板来自哪个团队、是否为当前版本。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确认版本后，中文管理层邮件选择 Mail Template CN，英文沟通选择 EN；若有多个同名文件，再打开查看栏目和适用范围。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424168BD-ABC3-4052-9998-1122A258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bca38834c434913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755558870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31B5AF7-A987-4FFC-B94D-464778EC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4ADDD82-F680-4153-99FC-E4D0D7F2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920D362-D61E-401A-9D3D-386E7C81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5｜设置常用快捷问题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7F9E99-D995-4D21-900C-61F4372C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每条快捷问题包括一个简短标题（Title）和一段完整任务（Message）。用户点击标题后，系统会发送对应的任务。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5CC1DBF-0A93-4B59-A754-7A43CE92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467EF84-A9C6-4897-B6F7-E4266B27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701e11f2d24176"/>
          <a:stretch xmlns:a="http://schemas.openxmlformats.org/drawingml/2006/main"/>
        </p:blipFill>
        <p:spPr>
          <a:xfrm xmlns:a="http://schemas.openxmlformats.org/drawingml/2006/main">
            <a:off x="685800" y="2478213"/>
            <a:ext cx="6991350" cy="237782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D21E82E-8EED-43F1-8D4D-C2A51B27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6552047-EEFC-4F01-9016-E87AAF2F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BFC9D8B-BD7B-434E-B905-7C8D2265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CCEA535-4317-47D6-AFBA-B4840390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首先用 Title 的短语说明任务，例如“行动项”。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接着在 Message 中写清输入、结果和必要限制，也可以注明负责人、截止日期与状态。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为了减少选择成本，最后只保留 2–3 个常用入口；新增时点击 Add a suggested prompt。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3097AC88-FFF3-4191-8DA0-A4148D80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7bdba95cd644ca4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902188897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FB4EC7A-7BAF-4507-A613-B5B71235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4E8449E-916A-469B-B387-2C715257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1FE8A74-1B36-49AF-97CF-9DEE6757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6｜试运行、调整并创建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50D71F9-B3E3-487E-B5F3-749D206F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右侧 Preview 用于试运行 Agent，左侧 Configure 用于返回修改设置，顶部 Create 用于完成创建。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9FF4255-FDBD-4C32-96D9-453A7CA1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FA1BC29-B22F-46DC-8B31-D4A8E3EE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de076074043a1"/>
          <a:stretch xmlns:a="http://schemas.openxmlformats.org/drawingml/2006/main"/>
        </p:blipFill>
        <p:spPr>
          <a:xfrm xmlns:a="http://schemas.openxmlformats.org/drawingml/2006/main">
            <a:off x="685800" y="1817819"/>
            <a:ext cx="6991350" cy="3698613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D4096F9-A80F-4039-A78B-6A2F2E4D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38A906F-0804-4A70-BA4C-0E0BDBD1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C9B5C09-15E3-4EEA-89F2-FEC80F42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1B0A12D-F5A8-4035-BA7F-F785DB97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先用一份信息完整的材料试一次，确认任务和输出结构。再删除负责人或日期，看 Agent 会不会指出信息缺失，而不是自己补出来。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如果结果不稳定，返回 Configure 修改工作规则、参考资料或快捷问题。确认可用后再点 Create；Draft auto-saved 只表示草稿已保存。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586CFB0B-FEEE-4B22-BBC7-992346C4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3a16b1aedbc426c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164786737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DD3CE40-22F5-4204-B14B-8D5392BF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008E935-910A-4998-BC55-45C3B422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88D40AD-6F57-4232-9CDF-88B4E7FB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讲师示范结果｜会议跟进助手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C44B262-CEE7-47B4-8F27-EE3DADBE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示例要求使用管理层简报结构，并把尚未确认的信息保留下来。输出注明使用了 Mail Template CN.docx 模板。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91CD150-3C70-4F51-81AE-FD8ADE1E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55E9EDE-7318-4FE4-AF5F-B9C5A778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2dc4dfdae14483"/>
          <a:stretch xmlns:a="http://schemas.openxmlformats.org/drawingml/2006/main"/>
        </p:blipFill>
        <p:spPr>
          <a:xfrm xmlns:a="http://schemas.openxmlformats.org/drawingml/2006/main">
            <a:off x="685800" y="1742381"/>
            <a:ext cx="6991350" cy="3849488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8330ADCC-11F7-4448-8D69-5AA4FF19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6C88354-A00D-445B-ADF2-7C931C41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E6C1076-BF70-4F03-9D97-39D5891B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72DC9AC-1C33-4980-B638-B124AB81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先看会议背景有没有说清楚，再看已经决定的事项是否与讨论内容分开。然后检查负责人和日期是否完整，未决定的产品演示是否仍标记为待确认。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最后确认输出确实使用了模板，并判断生成的跟进邮件是否只需少量修改就能使用。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8C87D03E-C9EE-403E-A89D-1829375D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cef80b0b5054bd1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732036159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5087740-8BA7-469E-B135-17131E27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099FDEA-CB17-4FFB-9E02-97925305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6DF2689-0FD1-4BF2-A98B-32E36B34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轮到你：完成一个 Agent Lab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6D78617-C878-4E9F-947C-6BA84A2B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从前四个 Lab 中选择一个，按照网站指南在 Microsoft 365 Copilot 中完成构建。先做出可以运行的版本，再分别用完整资料和信息不完整的资料试一次。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77DF0DE-C7BB-4579-A643-BA57DF83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BE563F0-8D11-4D5B-A535-4F3FF614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58ECDDC-3AF9-47F1-8A15-5358FEE3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首先从四个 Lab 中选择一个场景，并完成名称、用途、工作规则、参考资料和 2–3 个常用快捷问题。</a:t>
            </a:r>
          </a:p>
          <a:p xmlns:a="http://schemas.openxmlformats.org/drawingml/2006/main"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接着先用信息完整的材料运行一次，再删除一个重要信息，观察 Agent 是否依据资料回答、是否明确指出缺少什么，并避免自行补充。</a:t>
            </a:r>
          </a:p>
          <a:p xmlns:a="http://schemas.openxmlformats.org/drawingml/2006/main"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最终目标不是一次生成结果，而是确认这个 Agent 在信息完整和不完整两种情况下都表现可靠。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F02CEED-B9BF-424E-B7AE-5347AF88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148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先完成可运行版本，再用两种信息条件验证它是否可靠。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81F85775-A921-4122-B09A-D4123F60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5b3dce98c9445a3"/>
              </a:rPr>
              <a:t>Lab 01  ↗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1F2F8A29-D14F-4BD2-8684-1E371C15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b75748ca60848e6"/>
              </a:rPr>
              <a:t>Lab 02  ↗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F50D2284-AD4A-4EFB-BA9C-ABEF8FE7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3c4de75fa884aad"/>
              </a:rPr>
              <a:t>Lab 03  ↗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FE6B8BC7-BC5B-4B93-82BF-79EC8E88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976c20dbfd54275"/>
              </a:rPr>
              <a:t>Lab 04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A7A6B260-3241-43A1-85E3-420DA155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67400"/>
            <a:ext cx="1714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b146a41498d41c6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3099871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2026-09-02T06:25:32.9390000Z</dcterms:created>
  <dcterms:modified xsi:type="dcterms:W3CDTF">2026-09-02T06:25:32.9390000Z</dcterms:modified>
</coreProperties>
</file>