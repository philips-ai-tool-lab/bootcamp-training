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2" d="100"/>
          <a:sy n="72" d="100"/>
        </p:scale>
        <p:origin x="67" y="1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https://aiskillsnavigator.microsoft.com/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[Updated] Jul. townhall AI slide.pptx — slide 1</a:t>
            </a:r>
          </a:p>
          <a:p>
            <a:r>
              <a:t>- https://www.aigateway.ai.inside.philips.com/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https://aiskillsnavigator.microsoft.com/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https://www.aigateway.ai.inside.philips.com/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User-provided sustainability-ai-strategy-one-pager.pptx</a:t>
            </a:r>
          </a:p>
          <a:p>
            <a:r>
              <a:t>- https://www.aigateway.ai.inside.philips.com/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User-provided sustainability-ai-strategy-one-pager.pptx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User-provided sustainability-ai-strategy-one-pager.pptx</a:t>
            </a:r>
          </a:p>
          <a:p>
            <a:r>
              <a:t>- https://www.aigateway.ai.inside.philips.com/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[Updated] Jul. townhall AI slide.pptx — slide 2</a:t>
            </a:r>
          </a:p>
          <a:p>
            <a:r>
              <a:t>- https://www.aigateway.ai.inside.philips.com/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https://philips.service-now.com/itportal?id=kb_article&amp;sysparm_article=KB1528249&amp;sys_id=24240f5bfb794b54ae1afb576eefdc0f&amp;spa=1</a:t>
            </a:r>
          </a:p>
          <a:p>
            <a:r>
              <a:t>- Enterprise_ChatGPT申请与使用OnePager.pptx</a:t>
            </a:r>
          </a:p>
          <a:p>
            <a:r>
              <a:t>- User-provided Company Portal screenshots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https://philips.service-now.com/itportal?id=kb_article&amp;sysparm_article=KB1528249&amp;sys_id=24240f5bfb794b54ae1afb576eefdc0f&amp;spa=1</a:t>
            </a:r>
          </a:p>
          <a:p>
            <a:r>
              <a:t>- User-provided screenshot of KB1528249 v6.0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https://www.aigateway.ai.inside.philips.com/</a:t>
            </a:r>
          </a:p>
          <a:p>
            <a:r>
              <a:t>- User-provided AI Gateway screenshot</a:t>
            </a:r>
          </a:p>
          <a:p>
            <a:r>
              <a:t>- https://philips.service-now.com/itportal?id=kb_article&amp;sysparm_article=KB1528249&amp;sys_id=24240f5bfb794b54ae1afb576eefdc0f&amp;spa=1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Enterprise_ChatGPT申请与使用OnePager.pptx</a:t>
            </a:r>
          </a:p>
          <a:p>
            <a:r>
              <a:t>- https://philips.service-now.com/itportal?id=kb_article&amp;sysparm_article=KB1528249&amp;sys_id=24240f5bfb794b54ae1afb576eefdc0f&amp;spa=1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User-provided Company Portal home screenshot</a:t>
            </a:r>
          </a:p>
          <a:p>
            <a:r>
              <a:t>- User-provided ChatGPT Proxy Doctor details screenshot</a:t>
            </a:r>
          </a:p>
          <a:p>
            <a:r>
              <a:t>- https://philips.service-now.com/itportal?id=kb_article&amp;sysparm_article=KB1528249&amp;sys_id=24240f5bfb794b54ae1afb576eefdc0f&amp;spa=1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https://www.aigateway.ai.inside.philips.com/</a:t>
            </a:r>
          </a:p>
          <a:p>
            <a:r>
              <a:t>- User-provided AI Gateway responsible-use screenshot</a:t>
            </a:r>
          </a:p>
          <a:p>
            <a:r>
              <a:t>- https://philips.service-now.com/itportal?id=kb_article&amp;sysparm_article=KB1528249&amp;sys_id=24240f5bfb794b54ae1afb576eefdc0f&amp;spa=1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https://www.aigateway.ai.inside.philips.com/</a:t>
            </a:r>
          </a:p>
          <a:p>
            <a:r>
              <a:t>- https://philips-ai-tool-lab.github.io/ai-tool-lab-preview/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[Updated] Jul. townhall AI slide.pptx — slide 3</a:t>
            </a:r>
          </a:p>
          <a:p>
            <a:r>
              <a:t>- https://www.aigateway.ai.inside.philips.com/</a:t>
            </a:r>
          </a:p>
          <a:p>
            <a:r>
              <a:t>- https://philips-ai-tool-lab.github.io/ai-tool-lab-preview/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User-provided GCR AI Ambassador image</a:t>
            </a:r>
          </a:p>
          <a:p>
            <a:r>
              <a:t>- https://www.aigateway.ai.inside.philips.com/</a:t>
            </a:r>
          </a:p>
          <a:p>
            <a:r>
              <a:t>- https://philips-ai-tool-lab.github.io/ai-tool-lab-preview/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https://aiskillsnavigator.microsoft.com/</a:t>
            </a:r>
          </a:p>
          <a:p>
            <a:r>
              <a:t>- https://aiskillsnavigator.microsoft.com/playlists/291ff1ba-c754-44f1-9814-ef8917f8c989</a:t>
            </a:r>
          </a:p>
          <a:p>
            <a:r>
              <a:t>- https://m365.cloud.microsoft/chat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User-provided AI Skills Navigator screenshot</a:t>
            </a:r>
          </a:p>
          <a:p>
            <a:r>
              <a:t>- https://aiskillsnavigator.microsoft.com/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User-provided AI Skills Navigator screenshot</a:t>
            </a:r>
          </a:p>
          <a:p>
            <a:r>
              <a:t>- https://aiskillsnavigator.microsoft.com/playlists/291ff1ba-c754-44f1-9814-ef8917f8c989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User-provided AI Skills Navigator screenshot</a:t>
            </a:r>
          </a:p>
          <a:p>
            <a:r>
              <a:t>- https://aiskillsnavigator.microsoft.com/playlists/291ff1ba-c754-44f1-9814-ef8917f8c989</a:t>
            </a:r>
          </a:p>
          <a:p>
            <a:r>
              <a:t>- https://learn.microsoft.com/zh-cn/training/courses/ms-4004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https://aiskillsnavigator.microsoft.com/playlists/291ff1ba-c754-44f1-9814-ef8917f8c989</a:t>
            </a:r>
          </a:p>
          <a:p>
            <a:r>
              <a:t>- https://learn.microsoft.com/zh-cn/training/courses/ms-4004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https://aiskillsnavigator.microsoft.com/playlists/291ff1ba-c754-44f1-9814-ef8917f8c989</a:t>
            </a:r>
          </a:p>
          <a:p>
            <a:r>
              <a:t>- https://m365.cloud.microsoft/chat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https://m365.cloud.microsoft/chat</a:t>
            </a:r>
          </a:p>
          <a:p>
            <a:r>
              <a:t>- Local fictional Green Office Week training data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Local fictional Green Office Week Project Brief</a:t>
            </a:r>
          </a:p>
          <a:p>
            <a:r>
              <a:t>- https://m365.cloud.microsoft/chat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Local fictional Green Office Week Meeting Notes</a:t>
            </a:r>
          </a:p>
          <a:p>
            <a:r>
              <a:t>- https://m365.cloud.microsoft/chat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Local fictional Green Office Week Timeline</a:t>
            </a:r>
          </a:p>
          <a:p>
            <a:r>
              <a:t>- https://m365.cloud.microsoft/chat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https://m365.cloud.microsoft/chat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User-provided M365 Copilot screenshot</a:t>
            </a:r>
          </a:p>
          <a:p>
            <a:r>
              <a:t>- https://m365.cloud.microsoft/chat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https://m365.cloud.microsoft/chat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https://m365.cloud.microsoft/chat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讲解提示：这是示例提示词，不是唯一写法。重点是把背景、任务、输出和约束说清楚。</a:t>
            </a:r>
          </a:p>
          <a:p>
            <a:r>
              <a:t>[Sources]</a:t>
            </a:r>
          </a:p>
          <a:p>
            <a:r>
              <a:t>- Bootcamp_AI培训资料汇总_20260820/02_Copilot日常实操案例/01_绿色办公周_项目简介_虚构数据.txt</a:t>
            </a:r>
          </a:p>
          <a:p>
            <a:r>
              <a:t>- Bootcamp_AI培训资料汇总_20260820/02_Copilot日常实操案例/02_绿色办公周_会议纪要_虚构数据.txt</a:t>
            </a:r>
          </a:p>
          <a:p>
            <a:r>
              <a:t>- Bootcamp_AI培训资料汇总_20260820/02_Copilot日常实操案例/03_绿色办公周_时间表_虚构数据.txt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https://philips-ai-tool-lab.github.io/ai-tool-lab-preview/</a:t>
            </a:r>
          </a:p>
          <a:p>
            <a:r>
              <a:t>- https://philips-ai-tool-lab.github.io/ai-tool-lab-preview/#agent-builder-path</a:t>
            </a:r>
          </a:p>
          <a:p>
            <a:r>
              <a:t>- https://m365.cloud.microsoft/chat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https://philips-ai-tool-lab.github.io/ai-tool-lab-preview/</a:t>
            </a:r>
          </a:p>
          <a:p>
            <a:r>
              <a:t>- https://philips-ai-tool-lab.github.io/ai-tool-lab-preview/#agent-builder-path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https://philips-ai-tool-lab.github.io/ai-tool-lab-preview/labs/chief-of-staff/</a:t>
            </a:r>
          </a:p>
          <a:p>
            <a:r>
              <a:t>- https://philips-ai-tool-lab.github.io/ai-tool-lab-preview/labs/product-manual-faq/</a:t>
            </a:r>
          </a:p>
          <a:p>
            <a:r>
              <a:t>- https://philips-ai-tool-lab.github.io/ai-tool-lab-preview/labs/meeting-follow-up/</a:t>
            </a:r>
          </a:p>
          <a:p>
            <a:r>
              <a:t>- https://philips-ai-tool-lab.github.io/ai-tool-lab-preview/labs/funnel-data-analyst/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https://philips-ai-tool-lab.github.io/ai-tool-lab-preview/labs/chief-of-staff/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https://philips-ai-tool-lab.github.io/ai-tool-lab-preview/labs/product-manual-faq/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https://philips-ai-tool-lab.github.io/ai-tool-lab-preview/labs/meeting-follow-up/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https://philips-ai-tool-lab.github.io/ai-tool-lab-preview/labs/funnel-data-analyst/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https://philips-ai-tool-lab.github.io/ai-tool-lab-preview/#agent-builder-path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User-provided Agent Builder guide screenshot</a:t>
            </a:r>
          </a:p>
          <a:p>
            <a:r>
              <a:t>- https://m365.cloud.microsoft/chat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User-provided Agent Builder guide screenshot</a:t>
            </a:r>
          </a:p>
          <a:p>
            <a:r>
              <a:t>- https://philips-ai-tool-lab.github.io/ai-tool-lab-preview/#agent-builder-path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User-provided Agent Builder guide screenshot</a:t>
            </a:r>
          </a:p>
          <a:p>
            <a:r>
              <a:t>- https://philips-ai-tool-lab.github.io/ai-tool-lab-preview/labs/meeting-follow-up/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User-provided Agent Builder guide screenshot</a:t>
            </a:r>
          </a:p>
          <a:p>
            <a:r>
              <a:t>- https://philips-ai-tool-lab.github.io/ai-tool-lab-preview/#agent-builder-path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User-provided Agent Builder guide screenshot</a:t>
            </a:r>
          </a:p>
          <a:p>
            <a:r>
              <a:t>- https://philips-ai-tool-lab.github.io/ai-tool-lab-preview/labs/meeting-follow-up/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User-provided Agent Builder guide screenshot</a:t>
            </a:r>
          </a:p>
          <a:p>
            <a:r>
              <a:t>- https://philips-ai-tool-lab.github.io/ai-tool-lab-preview/#agent-builder-path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User-provided Agent Builder guide screenshot</a:t>
            </a:r>
          </a:p>
          <a:p>
            <a:r>
              <a:t>- https://m365.cloud.microsoft/chat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User-provided meeting follow-up output screenshot</a:t>
            </a:r>
          </a:p>
          <a:p>
            <a:r>
              <a:t>- https://philips-ai-tool-lab.github.io/ai-tool-lab-preview/labs/meeting-follow-up/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https://philips-ai-tool-lab.github.io/ai-tool-lab-preview/labs/chief-of-staff/</a:t>
            </a:r>
          </a:p>
          <a:p>
            <a:r>
              <a:t>- https://philips-ai-tool-lab.github.io/ai-tool-lab-preview/labs/product-manual-faq/</a:t>
            </a:r>
          </a:p>
          <a:p>
            <a:r>
              <a:t>- https://philips-ai-tool-lab.github.io/ai-tool-lab-preview/labs/meeting-follow-up/</a:t>
            </a:r>
          </a:p>
          <a:p>
            <a:r>
              <a:t>- https://philips-ai-tool-lab.github.io/ai-tool-lab-preview/labs/funnel-data-analyst/</a:t>
            </a:r>
          </a:p>
          <a:p>
            <a:r>
              <a:t>- https://m365.cloud.microsoft/chat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aiskillsnavigator.microsoft.com/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aigateway.ai.inside.philips.com/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aiskillsnavigator.microsoft.com/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aigateway.ai.inside.philips.com/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www.aigateway.ai.inside.philips.com/" TargetMode="Externa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www.aigateway.ai.inside.philips.com/" TargetMode="Externa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www.aigateway.ai.inside.philips.com/" TargetMode="Externa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aigateway.ai.inside.philips.com/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philips.service-now.com/itportal?id=kb_article&amp;sysparm_article=KB1528249&amp;sys_id=24240f5bfb794b54ae1afb576eefdc0f&amp;spa=1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philips.service-now.com/itportal?id=kb_article&amp;sysparm_article=KB1528249&amp;sys_id=24240f5bfb794b54ae1afb576eefdc0f&amp;spa=1" TargetMode="Externa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aigateway.ai.inside.philips.com/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hyperlink" Target="https://philips.service-now.com/itportal?id=kb_article&amp;sysparm_article=KB1528249&amp;sys_id=24240f5bfb794b54ae1afb576eefdc0f&amp;spa=1" TargetMode="Externa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philips.service-now.com/itportal?id=kb_article&amp;sysparm_article=KB1528249&amp;sys_id=24240f5bfb794b54ae1afb576eefdc0f&amp;spa=1" TargetMode="Externa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hyperlink" Target="https://philips.service-now.com/itportal?id=sc_cat_item&amp;table=sc_cat_item&amp;sys_id=1ca637e9c3213950b95c74c4e401318d&amp;searchTerm=china%20internet%20premium" TargetMode="Externa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philips.service-now.com/itportal?id=kb_article&amp;sysparm_article=KB1528249&amp;sys_id=24240f5bfb794b54ae1afb576eefdc0f&amp;spa=1" TargetMode="Externa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www.aigateway.ai.inside.philips.com/" TargetMode="Externa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aigateway.ai.inside.philips.com/" TargetMode="Externa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philips-ai-tool-lab.github.io/ai-tool-lab-preview/" TargetMode="Externa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aigateway.ai.inside.philips.com/" TargetMode="Externa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philips-ai-tool-lab.github.io/ai-tool-lab-preview/" TargetMode="Externa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m365.cloud.microsoft/chat" TargetMode="External"/><Relationship Id="rId4" Type="http://schemas.openxmlformats.org/officeDocument/2006/relationships/hyperlink" Target="https://aiskillsnavigator.microsoft.com/" TargetMode="Externa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aiskillsnavigator.microsoft.com/" TargetMode="Externa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m365.cloud.microsoft/chat" TargetMode="External"/><Relationship Id="rId4" Type="http://schemas.openxmlformats.org/officeDocument/2006/relationships/hyperlink" Target="https://aiskillsnavigator.microsoft.com/playlists/291ff1ba-c754-44f1-9814-ef8917f8c989" TargetMode="Externa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aiskillsnavigator.microsoft.com/" TargetMode="Externa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aiskillsnavigator.microsoft.com/playlists/291ff1ba-c754-44f1-9814-ef8917f8c989" TargetMode="Externa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learn.microsoft.com/zh-cn/training/courses/ms-4004" TargetMode="External"/><Relationship Id="rId4" Type="http://schemas.openxmlformats.org/officeDocument/2006/relationships/hyperlink" Target="https://aiskillsnavigator.microsoft.com/playlists/291ff1ba-c754-44f1-9814-ef8917f8c989" TargetMode="Externa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hyperlink" Target="https://aiskillsnavigator.microsoft.com/playlists/291ff1ba-c754-44f1-9814-ef8917f8c989" TargetMode="External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hyperlink" Target="https://m365.cloud.microsoft/chat" TargetMode="External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hyperlink" Target="https://m365.cloud.microsoft/chat" TargetMode="External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hyperlink" Target="https://m365.cloud.microsoft/chat" TargetMode="External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hyperlink" Target="https://m365.cloud.microsoft/chat" TargetMode="External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hyperlink" Target="https://m365.cloud.microsoft/chat" TargetMode="External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hyperlink" Target="https://m365.cloud.microsoft/chat" TargetMode="External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m365.cloud.microsoft/chat" TargetMode="Externa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hyperlink" Target="https://m365.cloud.microsoft/chat" TargetMode="External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hyperlink" Target="https://m365.cloud.microsoft/chat" TargetMode="External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hyperlink" Target="https://m365.cloud.microsoft/chat" TargetMode="External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hyperlink" Target="https://philips-ai-tool-lab.github.io/ai-tool-lab-preview/" TargetMode="External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m365.cloud.microsoft/chat" TargetMode="External"/><Relationship Id="rId4" Type="http://schemas.openxmlformats.org/officeDocument/2006/relationships/hyperlink" Target="https://philips-ai-tool-lab.github.io/ai-tool-lab-preview/#agent-builder-path" TargetMode="Externa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philips-ai-tool-lab.github.io/ai-tool-lab-preview/#agent-builder-path" TargetMode="External"/><Relationship Id="rId4" Type="http://schemas.openxmlformats.org/officeDocument/2006/relationships/hyperlink" Target="https://philips-ai-tool-lab.github.io/ai-tool-lab-preview/" TargetMode="Externa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hyperlink" Target="https://philips-ai-tool-lab.github.io/ai-tool-lab-preview/labs/chief-of-staff/" TargetMode="External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philips-ai-tool-lab.github.io/ai-tool-lab-preview/labs/funnel-data-analyst/" TargetMode="External"/><Relationship Id="rId5" Type="http://schemas.openxmlformats.org/officeDocument/2006/relationships/hyperlink" Target="https://philips-ai-tool-lab.github.io/ai-tool-lab-preview/labs/meeting-follow-up/" TargetMode="External"/><Relationship Id="rId4" Type="http://schemas.openxmlformats.org/officeDocument/2006/relationships/hyperlink" Target="https://philips-ai-tool-lab.github.io/ai-tool-lab-preview/labs/product-manual-faq/" TargetMode="Externa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philips-ai-tool-lab.github.io/ai-tool-lab-preview/labs/chief-of-staff/" TargetMode="Externa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philips-ai-tool-lab.github.io/ai-tool-lab-preview/labs/product-manual-faq/" TargetMode="Externa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philips-ai-tool-lab.github.io/ai-tool-lab-preview/labs/meeting-follow-up/" TargetMode="Externa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philips-ai-tool-lab.github.io/ai-tool-lab-preview/labs/funnel-data-analyst/" TargetMode="Externa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hyperlink" Target="https://philips-ai-tool-lab.github.io/ai-tool-lab-preview/#agent-builder-path" TargetMode="External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m365.cloud.microsoft/chat" TargetMode="Externa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philips-ai-tool-lab.github.io/ai-tool-lab-preview/#agent-builder-path" TargetMode="Externa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philips-ai-tool-lab.github.io/ai-tool-lab-preview/labs/meeting-follow-up/" TargetMode="Externa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philips-ai-tool-lab.github.io/ai-tool-lab-preview/#agent-builder-path" TargetMode="Externa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philips-ai-tool-lab.github.io/ai-tool-lab-preview/labs/meeting-follow-up/" TargetMode="Externa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philips-ai-tool-lab.github.io/ai-tool-lab-preview/#agent-builder-path" TargetMode="Externa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m365.cloud.microsoft/chat" TargetMode="Externa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philips-ai-tool-lab.github.io/ai-tool-lab-preview/labs/meeting-follow-up/" TargetMode="Externa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hyperlink" Target="https://philips-ai-tool-lab.github.io/ai-tool-lab-preview/labs/chief-of-staff/" TargetMode="External"/><Relationship Id="rId7" Type="http://schemas.openxmlformats.org/officeDocument/2006/relationships/hyperlink" Target="https://m365.cloud.microsoft/chat" TargetMode="External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philips-ai-tool-lab.github.io/ai-tool-lab-preview/labs/funnel-data-analyst/" TargetMode="External"/><Relationship Id="rId5" Type="http://schemas.openxmlformats.org/officeDocument/2006/relationships/hyperlink" Target="https://philips-ai-tool-lab.github.io/ai-tool-lab-preview/labs/meeting-follow-up/" TargetMode="External"/><Relationship Id="rId4" Type="http://schemas.openxmlformats.org/officeDocument/2006/relationships/hyperlink" Target="https://philips-ai-tool-lab.github.io/ai-tool-lab-preview/labs/product-manual-faq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3B7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ADDDC824-F258-4066-B2D9-630BBB59F2E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0066CC"/>
          </a:solidFill>
          <a:ln w="9525">
            <a:solidFill>
              <a:srgbClr val="0066C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CAAA9EA-6C66-4A14-8D7A-ADF7DBC00537}"/>
              </a:ext>
            </a:extLst>
          </p:cNvPr>
          <p:cNvSpPr>
            <a:spLocks noGrp="1"/>
          </p:cNvSpPr>
          <p:nvPr/>
        </p:nvSpPr>
        <p:spPr>
          <a:xfrm>
            <a:off x="800100" y="781050"/>
            <a:ext cx="5715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275" b="1">
                <a:solidFill>
                  <a:srgbClr val="89C5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89C5FF"/>
                </a:solidFill>
                <a:latin typeface="Microsoft YaHei"/>
                <a:ea typeface="Microsoft YaHei"/>
                <a:cs typeface="Microsoft YaHei"/>
              </a:rPr>
              <a:t>PHILIPS YOUNG BOOTCAMP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C5E0442-88FB-4CE4-B24C-22F74850DD0F}"/>
              </a:ext>
            </a:extLst>
          </p:cNvPr>
          <p:cNvSpPr>
            <a:spLocks noGrp="1"/>
          </p:cNvSpPr>
          <p:nvPr/>
        </p:nvSpPr>
        <p:spPr>
          <a:xfrm>
            <a:off x="800100" y="1504950"/>
            <a:ext cx="809625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3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从 AI 认知到可用 Agent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49DB179-5B9E-4560-BA2C-1A79FEB0D8FB}"/>
              </a:ext>
            </a:extLst>
          </p:cNvPr>
          <p:cNvSpPr>
            <a:spLocks noGrp="1"/>
          </p:cNvSpPr>
          <p:nvPr/>
        </p:nvSpPr>
        <p:spPr>
          <a:xfrm>
            <a:off x="800100" y="2343150"/>
            <a:ext cx="102870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800" b="0">
                <a:solidFill>
                  <a:srgbClr val="D7EA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D7EAFB"/>
                </a:solidFill>
                <a:latin typeface="Microsoft YaHei"/>
                <a:ea typeface="Microsoft YaHei"/>
                <a:cs typeface="Microsoft YaHei"/>
              </a:rPr>
              <a:t>AI Gateway 导航 · GCR AI Ambassador · Copilot 实操 · Agent Builder 动手实验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9E2B246-C13F-4CB3-A067-7D1C46286CE3}"/>
              </a:ext>
            </a:extLst>
          </p:cNvPr>
          <p:cNvSpPr>
            <a:spLocks noGrp="1"/>
          </p:cNvSpPr>
          <p:nvPr/>
        </p:nvSpPr>
        <p:spPr>
          <a:xfrm>
            <a:off x="800100" y="5048250"/>
            <a:ext cx="5715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讲解、演示与动手练习相结合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8C7E1C39-AF91-4AC1-9DB5-0942302CF968}"/>
              </a:ext>
            </a:extLst>
          </p:cNvPr>
          <p:cNvSpPr>
            <a:spLocks noGrp="1"/>
          </p:cNvSpPr>
          <p:nvPr/>
        </p:nvSpPr>
        <p:spPr>
          <a:xfrm>
            <a:off x="800100" y="5734050"/>
            <a:ext cx="2476500" cy="342900"/>
          </a:xfrm>
          <a:prstGeom prst="roundRect">
            <a:avLst>
              <a:gd name="adj" fmla="val 33333"/>
            </a:avLst>
          </a:prstGeom>
          <a:solidFill>
            <a:srgbClr val="EAF4FF"/>
          </a:solidFill>
          <a:ln w="9525">
            <a:solidFill>
              <a:srgbClr val="0066CC"/>
            </a:solidFill>
            <a:prstDash val="solid"/>
          </a:ln>
        </p:spPr>
        <p:txBody>
          <a:bodyPr wrap="none" lIns="76200" tIns="0" rIns="76200" bIns="0" anchor="ctr">
            <a:normAutofit/>
          </a:bodyPr>
          <a:lstStyle/>
          <a:p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r:id="rId3"/>
              </a:rPr>
              <a:t>打开 AI Skills Navigator  ↗</a:t>
            </a:r>
          </a:p>
        </p:txBody>
      </p:sp>
    </p:spTree>
    <p:extLst>
      <p:ext uri="{BB962C8B-B14F-4D97-AF65-F5344CB8AC3E}">
        <p14:creationId xmlns:p14="http://schemas.microsoft.com/office/powerpoint/2010/main" val="4707610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B3E3B99B-35F0-4F46-8BE7-2C1DA57CC4D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0066CC"/>
          </a:solidFill>
          <a:ln w="9525">
            <a:solidFill>
              <a:srgbClr val="0066C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DEADA4C-4036-44AD-9E7F-A0DC51B30AB4}"/>
              </a:ext>
            </a:extLst>
          </p:cNvPr>
          <p:cNvSpPr>
            <a:spLocks noGrp="1"/>
          </p:cNvSpPr>
          <p:nvPr/>
        </p:nvSpPr>
        <p:spPr>
          <a:xfrm>
            <a:off x="685800" y="285750"/>
            <a:ext cx="5048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01 介绍与引入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1378166-474D-44D5-A4ED-2D82F9634D5E}"/>
              </a:ext>
            </a:extLst>
          </p:cNvPr>
          <p:cNvSpPr>
            <a:spLocks noGrp="1"/>
          </p:cNvSpPr>
          <p:nvPr/>
        </p:nvSpPr>
        <p:spPr>
          <a:xfrm>
            <a:off x="685800" y="638175"/>
            <a:ext cx="108204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Philips 的 AI 方向：创新、运营、协作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8DBF766-B74E-49B5-814E-C22B5801D145}"/>
              </a:ext>
            </a:extLst>
          </p:cNvPr>
          <p:cNvSpPr>
            <a:spLocks noGrp="1"/>
          </p:cNvSpPr>
          <p:nvPr/>
        </p:nvSpPr>
        <p:spPr>
          <a:xfrm>
            <a:off x="685800" y="1181100"/>
            <a:ext cx="108204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今天先看 AI 怎样帮助业务创新、改善日常工作和支持跨团队协作，同时了解使用这些工具时必须遵守的企业要求。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128EDFE-D7E5-4656-8860-C4BE17E72BF7}"/>
              </a:ext>
            </a:extLst>
          </p:cNvPr>
          <p:cNvSpPr>
            <a:spLocks noGrp="1"/>
          </p:cNvSpPr>
          <p:nvPr/>
        </p:nvSpPr>
        <p:spPr>
          <a:xfrm>
            <a:off x="11049000" y="6438900"/>
            <a:ext cx="4572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A9DC56C-A571-4419-99E7-1DD87907460D}"/>
              </a:ext>
            </a:extLst>
          </p:cNvPr>
          <p:cNvSpPr>
            <a:spLocks noGrp="1"/>
          </p:cNvSpPr>
          <p:nvPr/>
        </p:nvSpPr>
        <p:spPr>
          <a:xfrm>
            <a:off x="685800" y="6334125"/>
            <a:ext cx="10820400" cy="9525"/>
          </a:xfrm>
          <a:prstGeom prst="rect">
            <a:avLst/>
          </a:prstGeom>
          <a:solidFill>
            <a:srgbClr val="C9DDF2"/>
          </a:solidFill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F7527ACA-33E2-447C-AB62-0A17AAED2966}"/>
              </a:ext>
            </a:extLst>
          </p:cNvPr>
          <p:cNvSpPr>
            <a:spLocks noGrp="1"/>
          </p:cNvSpPr>
          <p:nvPr/>
        </p:nvSpPr>
        <p:spPr>
          <a:xfrm>
            <a:off x="781050" y="1952625"/>
            <a:ext cx="3276600" cy="2286000"/>
          </a:xfrm>
          <a:prstGeom prst="roundRect">
            <a:avLst>
              <a:gd name="adj" fmla="val 5000"/>
            </a:avLst>
          </a:prstGeom>
          <a:solidFill>
            <a:srgbClr val="F6FAFE"/>
          </a:solidFill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79D2726-10FB-4E6A-8AC9-44DA78A88754}"/>
              </a:ext>
            </a:extLst>
          </p:cNvPr>
          <p:cNvSpPr>
            <a:spLocks noGrp="1"/>
          </p:cNvSpPr>
          <p:nvPr/>
        </p:nvSpPr>
        <p:spPr>
          <a:xfrm>
            <a:off x="1028700" y="2209800"/>
            <a:ext cx="4000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20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4FD9F08-C60B-4CBE-A5EB-7B080F85902D}"/>
              </a:ext>
            </a:extLst>
          </p:cNvPr>
          <p:cNvSpPr>
            <a:spLocks noGrp="1"/>
          </p:cNvSpPr>
          <p:nvPr/>
        </p:nvSpPr>
        <p:spPr>
          <a:xfrm>
            <a:off x="1028700" y="2609850"/>
            <a:ext cx="27813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创新｜How we innovate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D16A497-28D3-43F5-B6AE-C1F5679A64A9}"/>
              </a:ext>
            </a:extLst>
          </p:cNvPr>
          <p:cNvSpPr>
            <a:spLocks noGrp="1"/>
          </p:cNvSpPr>
          <p:nvPr/>
        </p:nvSpPr>
        <p:spPr>
          <a:xfrm>
            <a:off x="1028700" y="3143250"/>
            <a:ext cx="278130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35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聚焦高价值业务场景，为患者、客户、消费者和业务创造更大价值。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2DE5CE86-D3B6-42E5-B6F7-2001E364B947}"/>
              </a:ext>
            </a:extLst>
          </p:cNvPr>
          <p:cNvSpPr>
            <a:spLocks noGrp="1"/>
          </p:cNvSpPr>
          <p:nvPr/>
        </p:nvSpPr>
        <p:spPr>
          <a:xfrm>
            <a:off x="4362450" y="1952625"/>
            <a:ext cx="3276600" cy="2286000"/>
          </a:xfrm>
          <a:prstGeom prst="roundRect">
            <a:avLst>
              <a:gd name="adj" fmla="val 5000"/>
            </a:avLst>
          </a:prstGeom>
          <a:solidFill>
            <a:srgbClr val="F6FAFE"/>
          </a:solidFill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F194464-16AF-4557-B13E-162B37D28365}"/>
              </a:ext>
            </a:extLst>
          </p:cNvPr>
          <p:cNvSpPr>
            <a:spLocks noGrp="1"/>
          </p:cNvSpPr>
          <p:nvPr/>
        </p:nvSpPr>
        <p:spPr>
          <a:xfrm>
            <a:off x="4610100" y="2209800"/>
            <a:ext cx="4000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200" b="1">
                <a:solidFill>
                  <a:srgbClr val="1196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1966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6E2EBBF-BFD3-4FA2-BDA3-BA2EC3510939}"/>
              </a:ext>
            </a:extLst>
          </p:cNvPr>
          <p:cNvSpPr>
            <a:spLocks noGrp="1"/>
          </p:cNvSpPr>
          <p:nvPr/>
        </p:nvSpPr>
        <p:spPr>
          <a:xfrm>
            <a:off x="4610100" y="2609850"/>
            <a:ext cx="27813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运营｜How we operate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3C0505E-96B1-4488-9CC6-C0ABD153B98B}"/>
              </a:ext>
            </a:extLst>
          </p:cNvPr>
          <p:cNvSpPr>
            <a:spLocks noGrp="1"/>
          </p:cNvSpPr>
          <p:nvPr/>
        </p:nvSpPr>
        <p:spPr>
          <a:xfrm>
            <a:off x="4610100" y="3143250"/>
            <a:ext cx="278130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35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重新审视工作方式，打破流程壁垒，让跨团队协作更顺畅、交付更高效。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DC3DAD63-5293-40FF-89BF-78D7FC933041}"/>
              </a:ext>
            </a:extLst>
          </p:cNvPr>
          <p:cNvSpPr>
            <a:spLocks noGrp="1"/>
          </p:cNvSpPr>
          <p:nvPr/>
        </p:nvSpPr>
        <p:spPr>
          <a:xfrm>
            <a:off x="7943850" y="1952625"/>
            <a:ext cx="3276600" cy="2286000"/>
          </a:xfrm>
          <a:prstGeom prst="roundRect">
            <a:avLst>
              <a:gd name="adj" fmla="val 5000"/>
            </a:avLst>
          </a:prstGeom>
          <a:solidFill>
            <a:srgbClr val="F6FAFE"/>
          </a:solidFill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160B25C-1EDE-45C0-AFB7-1D13319D16DB}"/>
              </a:ext>
            </a:extLst>
          </p:cNvPr>
          <p:cNvSpPr>
            <a:spLocks noGrp="1"/>
          </p:cNvSpPr>
          <p:nvPr/>
        </p:nvSpPr>
        <p:spPr>
          <a:xfrm>
            <a:off x="8191500" y="2209800"/>
            <a:ext cx="4000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200" b="1">
                <a:solidFill>
                  <a:srgbClr val="E874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E8742B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7CFFB0C-3B1A-4F47-8232-B3B3CF5D6CDF}"/>
              </a:ext>
            </a:extLst>
          </p:cNvPr>
          <p:cNvSpPr>
            <a:spLocks noGrp="1"/>
          </p:cNvSpPr>
          <p:nvPr/>
        </p:nvSpPr>
        <p:spPr>
          <a:xfrm>
            <a:off x="8191500" y="2609850"/>
            <a:ext cx="27813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协作｜How we collaborate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655E239-45F2-4AC5-84BD-242C042D1976}"/>
              </a:ext>
            </a:extLst>
          </p:cNvPr>
          <p:cNvSpPr>
            <a:spLocks noGrp="1"/>
          </p:cNvSpPr>
          <p:nvPr/>
        </p:nvSpPr>
        <p:spPr>
          <a:xfrm>
            <a:off x="8191500" y="3143250"/>
            <a:ext cx="278130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35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持续投入工具与能力建设，帮助员工成长，并提升组织面向未来的竞争力。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8D4AD7B9-7DD3-4315-83FE-F5A52E0F47EC}"/>
              </a:ext>
            </a:extLst>
          </p:cNvPr>
          <p:cNvSpPr>
            <a:spLocks noGrp="1"/>
          </p:cNvSpPr>
          <p:nvPr/>
        </p:nvSpPr>
        <p:spPr>
          <a:xfrm>
            <a:off x="781050" y="4533900"/>
            <a:ext cx="10439400" cy="742950"/>
          </a:xfrm>
          <a:prstGeom prst="roundRect">
            <a:avLst>
              <a:gd name="adj" fmla="val 15385"/>
            </a:avLst>
          </a:prstGeom>
          <a:solidFill>
            <a:srgbClr val="EAF4FF"/>
          </a:solidFill>
          <a:ln w="9525">
            <a:solidFill>
              <a:srgbClr val="0066C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BADE383-DCF2-4FC0-BD02-AF2DCEC6929B}"/>
              </a:ext>
            </a:extLst>
          </p:cNvPr>
          <p:cNvSpPr>
            <a:spLocks noGrp="1"/>
          </p:cNvSpPr>
          <p:nvPr/>
        </p:nvSpPr>
        <p:spPr>
          <a:xfrm>
            <a:off x="1123950" y="4772025"/>
            <a:ext cx="97536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buNone/>
              <a:def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质量、安全、合规与人工负责，是 Philips 推进 AI 规模化应用的共同原则。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4B156836-0388-4D7A-9280-AFE690664E59}"/>
              </a:ext>
            </a:extLst>
          </p:cNvPr>
          <p:cNvSpPr>
            <a:spLocks noGrp="1"/>
          </p:cNvSpPr>
          <p:nvPr/>
        </p:nvSpPr>
        <p:spPr>
          <a:xfrm>
            <a:off x="685800" y="5867400"/>
            <a:ext cx="2190750" cy="342900"/>
          </a:xfrm>
          <a:prstGeom prst="roundRect">
            <a:avLst>
              <a:gd name="adj" fmla="val 33333"/>
            </a:avLst>
          </a:prstGeom>
          <a:solidFill>
            <a:srgbClr val="EAF4FF"/>
          </a:solidFill>
          <a:ln w="9525">
            <a:solidFill>
              <a:srgbClr val="0066CC"/>
            </a:solidFill>
            <a:prstDash val="solid"/>
          </a:ln>
        </p:spPr>
        <p:txBody>
          <a:bodyPr wrap="none" lIns="76200" tIns="0" rIns="76200" bIns="0" anchor="ctr">
            <a:normAutofit/>
          </a:bodyPr>
          <a:lstStyle/>
          <a:p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r:id="rId3"/>
              </a:rPr>
              <a:t>进入 AI Gateway  ↗</a:t>
            </a:r>
          </a:p>
        </p:txBody>
      </p:sp>
    </p:spTree>
    <p:extLst>
      <p:ext uri="{BB962C8B-B14F-4D97-AF65-F5344CB8AC3E}">
        <p14:creationId xmlns:p14="http://schemas.microsoft.com/office/powerpoint/2010/main" val="2382690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ctangle 29">
            <a:extLst>
              <a:ext uri="{FF2B5EF4-FFF2-40B4-BE49-F238E27FC236}">
                <a16:creationId xmlns:a16="http://schemas.microsoft.com/office/drawing/2014/main" id="{2FED3F1D-6D7C-485C-ADE8-FA3B9A2A676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0066CC"/>
          </a:solidFill>
          <a:ln w="9525">
            <a:solidFill>
              <a:srgbClr val="0066C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21E6512-544C-4B17-B114-8275135B817C}"/>
              </a:ext>
            </a:extLst>
          </p:cNvPr>
          <p:cNvSpPr>
            <a:spLocks noGrp="1"/>
          </p:cNvSpPr>
          <p:nvPr/>
        </p:nvSpPr>
        <p:spPr>
          <a:xfrm>
            <a:off x="685800" y="285750"/>
            <a:ext cx="5048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01 介绍与引入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89F6F45-6FC1-460B-BDBD-CAAF3773339A}"/>
              </a:ext>
            </a:extLst>
          </p:cNvPr>
          <p:cNvSpPr>
            <a:spLocks noGrp="1"/>
          </p:cNvSpPr>
          <p:nvPr/>
        </p:nvSpPr>
        <p:spPr>
          <a:xfrm>
            <a:off x="685800" y="638175"/>
            <a:ext cx="108204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今天的学习路径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D8926B4-3CE0-4946-A07C-CB75168446AC}"/>
              </a:ext>
            </a:extLst>
          </p:cNvPr>
          <p:cNvSpPr>
            <a:spLocks noGrp="1"/>
          </p:cNvSpPr>
          <p:nvPr/>
        </p:nvSpPr>
        <p:spPr>
          <a:xfrm>
            <a:off x="685800" y="1181100"/>
            <a:ext cx="108204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先认识企业入口，再练习通用任务，最后把重复流程构建成 Agent。学习过程按照“观察、模仿、独立完成”逐步推进，后半程会留出较长时间进行实际操作。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05A4CFD-DE1E-44CB-A288-E5E0C9CE542B}"/>
              </a:ext>
            </a:extLst>
          </p:cNvPr>
          <p:cNvSpPr>
            <a:spLocks noGrp="1"/>
          </p:cNvSpPr>
          <p:nvPr/>
        </p:nvSpPr>
        <p:spPr>
          <a:xfrm>
            <a:off x="11049000" y="6438900"/>
            <a:ext cx="4572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B4C1508-B0F6-4E41-A6FB-B6279B35A134}"/>
              </a:ext>
            </a:extLst>
          </p:cNvPr>
          <p:cNvSpPr>
            <a:spLocks noGrp="1"/>
          </p:cNvSpPr>
          <p:nvPr/>
        </p:nvSpPr>
        <p:spPr>
          <a:xfrm>
            <a:off x="685800" y="6334125"/>
            <a:ext cx="10820400" cy="9525"/>
          </a:xfrm>
          <a:prstGeom prst="rect">
            <a:avLst/>
          </a:prstGeom>
          <a:solidFill>
            <a:srgbClr val="C9DDF2"/>
          </a:solidFill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D158B604-0BBB-48E3-9F58-F31FD6497C76}"/>
              </a:ext>
            </a:extLst>
          </p:cNvPr>
          <p:cNvSpPr>
            <a:spLocks noGrp="1"/>
          </p:cNvSpPr>
          <p:nvPr/>
        </p:nvSpPr>
        <p:spPr>
          <a:xfrm>
            <a:off x="685800" y="2238375"/>
            <a:ext cx="1885950" cy="1809750"/>
          </a:xfrm>
          <a:prstGeom prst="roundRect">
            <a:avLst>
              <a:gd name="adj" fmla="val 6316"/>
            </a:avLst>
          </a:prstGeom>
          <a:solidFill>
            <a:srgbClr val="F6FAFE"/>
          </a:solidFill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311AE07-6459-4EA1-BDC1-434ABABEAAD1}"/>
              </a:ext>
            </a:extLst>
          </p:cNvPr>
          <p:cNvSpPr>
            <a:spLocks noGrp="1"/>
          </p:cNvSpPr>
          <p:nvPr/>
        </p:nvSpPr>
        <p:spPr>
          <a:xfrm>
            <a:off x="876300" y="2457450"/>
            <a:ext cx="4000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buNone/>
              <a:defRPr sz="180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DBA430F-3CCA-409A-A3AF-6EE00D3FBF47}"/>
              </a:ext>
            </a:extLst>
          </p:cNvPr>
          <p:cNvSpPr>
            <a:spLocks noGrp="1"/>
          </p:cNvSpPr>
          <p:nvPr/>
        </p:nvSpPr>
        <p:spPr>
          <a:xfrm>
            <a:off x="876300" y="3076575"/>
            <a:ext cx="15049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buNone/>
              <a:defRPr sz="142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介绍与引入</a:t>
            </a:r>
          </a:p>
        </p:txBody>
      </p:sp>
      <p:sp>
        <p:nvSpPr>
          <p:cNvPr id="10" name="Arrow: Chevron 9">
            <a:extLst>
              <a:ext uri="{FF2B5EF4-FFF2-40B4-BE49-F238E27FC236}">
                <a16:creationId xmlns:a16="http://schemas.microsoft.com/office/drawing/2014/main" id="{C86941AE-4273-4813-ACD4-482729B47AB7}"/>
              </a:ext>
            </a:extLst>
          </p:cNvPr>
          <p:cNvSpPr>
            <a:spLocks noGrp="1"/>
          </p:cNvSpPr>
          <p:nvPr/>
        </p:nvSpPr>
        <p:spPr>
          <a:xfrm>
            <a:off x="2581275" y="2952750"/>
            <a:ext cx="247650" cy="361950"/>
          </a:xfrm>
          <a:prstGeom prst="chevron">
            <a:avLst/>
          </a:prstGeom>
          <a:solidFill>
            <a:srgbClr val="C9DDF2"/>
          </a:solidFill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394E9683-FBA3-447F-8103-D881EC73351A}"/>
              </a:ext>
            </a:extLst>
          </p:cNvPr>
          <p:cNvSpPr>
            <a:spLocks noGrp="1"/>
          </p:cNvSpPr>
          <p:nvPr/>
        </p:nvSpPr>
        <p:spPr>
          <a:xfrm>
            <a:off x="2838450" y="2238375"/>
            <a:ext cx="1885950" cy="1809750"/>
          </a:xfrm>
          <a:prstGeom prst="roundRect">
            <a:avLst>
              <a:gd name="adj" fmla="val 6316"/>
            </a:avLst>
          </a:prstGeom>
          <a:solidFill>
            <a:srgbClr val="F6FAFE"/>
          </a:solidFill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6098108-9D4C-4B31-9A5D-8A5B4043AC08}"/>
              </a:ext>
            </a:extLst>
          </p:cNvPr>
          <p:cNvSpPr>
            <a:spLocks noGrp="1"/>
          </p:cNvSpPr>
          <p:nvPr/>
        </p:nvSpPr>
        <p:spPr>
          <a:xfrm>
            <a:off x="3028950" y="2457450"/>
            <a:ext cx="4000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buNone/>
              <a:defRPr sz="180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0B77DF7-0D45-48A9-9049-89D7A7A22010}"/>
              </a:ext>
            </a:extLst>
          </p:cNvPr>
          <p:cNvSpPr>
            <a:spLocks noGrp="1"/>
          </p:cNvSpPr>
          <p:nvPr/>
        </p:nvSpPr>
        <p:spPr>
          <a:xfrm>
            <a:off x="3028950" y="3076575"/>
            <a:ext cx="15049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buNone/>
              <a:defRPr sz="142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AI 全景与入口</a:t>
            </a:r>
          </a:p>
        </p:txBody>
      </p:sp>
      <p:sp>
        <p:nvSpPr>
          <p:cNvPr id="14" name="Arrow: Chevron 13">
            <a:extLst>
              <a:ext uri="{FF2B5EF4-FFF2-40B4-BE49-F238E27FC236}">
                <a16:creationId xmlns:a16="http://schemas.microsoft.com/office/drawing/2014/main" id="{BC17C084-46AE-45E9-ABCD-291E475F4366}"/>
              </a:ext>
            </a:extLst>
          </p:cNvPr>
          <p:cNvSpPr>
            <a:spLocks noGrp="1"/>
          </p:cNvSpPr>
          <p:nvPr/>
        </p:nvSpPr>
        <p:spPr>
          <a:xfrm>
            <a:off x="4733925" y="2952750"/>
            <a:ext cx="247650" cy="361950"/>
          </a:xfrm>
          <a:prstGeom prst="chevron">
            <a:avLst/>
          </a:prstGeom>
          <a:solidFill>
            <a:srgbClr val="C9DDF2"/>
          </a:solidFill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B626C2E2-A78E-4992-9F21-486A36B96AE7}"/>
              </a:ext>
            </a:extLst>
          </p:cNvPr>
          <p:cNvSpPr>
            <a:spLocks noGrp="1"/>
          </p:cNvSpPr>
          <p:nvPr/>
        </p:nvSpPr>
        <p:spPr>
          <a:xfrm>
            <a:off x="4991100" y="2238375"/>
            <a:ext cx="1885950" cy="1809750"/>
          </a:xfrm>
          <a:prstGeom prst="roundRect">
            <a:avLst>
              <a:gd name="adj" fmla="val 6316"/>
            </a:avLst>
          </a:prstGeom>
          <a:solidFill>
            <a:srgbClr val="F6FAFE"/>
          </a:solidFill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8013ED8-30BC-49D0-ACC9-DABCE54623A0}"/>
              </a:ext>
            </a:extLst>
          </p:cNvPr>
          <p:cNvSpPr>
            <a:spLocks noGrp="1"/>
          </p:cNvSpPr>
          <p:nvPr/>
        </p:nvSpPr>
        <p:spPr>
          <a:xfrm>
            <a:off x="5181600" y="2457450"/>
            <a:ext cx="4000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buNone/>
              <a:defRPr sz="180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14D4E7D-7D1A-4C28-AFD7-D2479DF00759}"/>
              </a:ext>
            </a:extLst>
          </p:cNvPr>
          <p:cNvSpPr>
            <a:spLocks noGrp="1"/>
          </p:cNvSpPr>
          <p:nvPr/>
        </p:nvSpPr>
        <p:spPr>
          <a:xfrm>
            <a:off x="5181600" y="3076575"/>
            <a:ext cx="15049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buNone/>
              <a:defRPr sz="142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AI Ambassador</a:t>
            </a:r>
          </a:p>
        </p:txBody>
      </p:sp>
      <p:sp>
        <p:nvSpPr>
          <p:cNvPr id="18" name="Arrow: Chevron 17">
            <a:extLst>
              <a:ext uri="{FF2B5EF4-FFF2-40B4-BE49-F238E27FC236}">
                <a16:creationId xmlns:a16="http://schemas.microsoft.com/office/drawing/2014/main" id="{DBE19578-625D-4631-AE04-5F9DA721053A}"/>
              </a:ext>
            </a:extLst>
          </p:cNvPr>
          <p:cNvSpPr>
            <a:spLocks noGrp="1"/>
          </p:cNvSpPr>
          <p:nvPr/>
        </p:nvSpPr>
        <p:spPr>
          <a:xfrm>
            <a:off x="6886575" y="2952750"/>
            <a:ext cx="247650" cy="361950"/>
          </a:xfrm>
          <a:prstGeom prst="chevron">
            <a:avLst/>
          </a:prstGeom>
          <a:solidFill>
            <a:srgbClr val="C9DDF2"/>
          </a:solidFill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3D1DBD3E-526C-4A71-9125-D6DF0FCF75A0}"/>
              </a:ext>
            </a:extLst>
          </p:cNvPr>
          <p:cNvSpPr>
            <a:spLocks noGrp="1"/>
          </p:cNvSpPr>
          <p:nvPr/>
        </p:nvSpPr>
        <p:spPr>
          <a:xfrm>
            <a:off x="7143750" y="2238375"/>
            <a:ext cx="1885950" cy="1809750"/>
          </a:xfrm>
          <a:prstGeom prst="roundRect">
            <a:avLst>
              <a:gd name="adj" fmla="val 6316"/>
            </a:avLst>
          </a:prstGeom>
          <a:solidFill>
            <a:srgbClr val="EAF4FF"/>
          </a:solidFill>
          <a:ln w="9525">
            <a:solidFill>
              <a:srgbClr val="0066C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9DE51860-27DF-4BC8-A46B-77E6014AC570}"/>
              </a:ext>
            </a:extLst>
          </p:cNvPr>
          <p:cNvSpPr>
            <a:spLocks noGrp="1"/>
          </p:cNvSpPr>
          <p:nvPr/>
        </p:nvSpPr>
        <p:spPr>
          <a:xfrm>
            <a:off x="7334250" y="2457450"/>
            <a:ext cx="400050" cy="400050"/>
          </a:xfrm>
          <a:prstGeom prst="ellipse">
            <a:avLst/>
          </a:prstGeom>
          <a:solidFill>
            <a:srgbClr val="0066CC"/>
          </a:solidFill>
          <a:ln w="9525">
            <a:solidFill>
              <a:srgbClr val="0066C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7F2D58C-789E-4F58-94AA-336352E6F150}"/>
              </a:ext>
            </a:extLst>
          </p:cNvPr>
          <p:cNvSpPr>
            <a:spLocks noGrp="1"/>
          </p:cNvSpPr>
          <p:nvPr/>
        </p:nvSpPr>
        <p:spPr>
          <a:xfrm>
            <a:off x="7334250" y="2457450"/>
            <a:ext cx="4000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buNone/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5D98271-70FE-4CB6-A466-D953EAFC6E8A}"/>
              </a:ext>
            </a:extLst>
          </p:cNvPr>
          <p:cNvSpPr>
            <a:spLocks noGrp="1"/>
          </p:cNvSpPr>
          <p:nvPr/>
        </p:nvSpPr>
        <p:spPr>
          <a:xfrm>
            <a:off x="7334250" y="3076575"/>
            <a:ext cx="15049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buNone/>
              <a:defRPr sz="142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Copilot 实操</a:t>
            </a:r>
          </a:p>
        </p:txBody>
      </p:sp>
      <p:sp>
        <p:nvSpPr>
          <p:cNvPr id="23" name="Arrow: Chevron 22">
            <a:extLst>
              <a:ext uri="{FF2B5EF4-FFF2-40B4-BE49-F238E27FC236}">
                <a16:creationId xmlns:a16="http://schemas.microsoft.com/office/drawing/2014/main" id="{75D1EFFD-507F-47F8-B24A-9E22B9C0BBD3}"/>
              </a:ext>
            </a:extLst>
          </p:cNvPr>
          <p:cNvSpPr>
            <a:spLocks noGrp="1"/>
          </p:cNvSpPr>
          <p:nvPr/>
        </p:nvSpPr>
        <p:spPr>
          <a:xfrm>
            <a:off x="9039225" y="2952750"/>
            <a:ext cx="247650" cy="361950"/>
          </a:xfrm>
          <a:prstGeom prst="chevron">
            <a:avLst/>
          </a:prstGeom>
          <a:solidFill>
            <a:srgbClr val="C9DDF2"/>
          </a:solidFill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0CF1EB32-9723-4016-8F28-DF1BAE29835A}"/>
              </a:ext>
            </a:extLst>
          </p:cNvPr>
          <p:cNvSpPr>
            <a:spLocks noGrp="1"/>
          </p:cNvSpPr>
          <p:nvPr/>
        </p:nvSpPr>
        <p:spPr>
          <a:xfrm>
            <a:off x="9296400" y="2238375"/>
            <a:ext cx="1885950" cy="1809750"/>
          </a:xfrm>
          <a:prstGeom prst="roundRect">
            <a:avLst>
              <a:gd name="adj" fmla="val 6316"/>
            </a:avLst>
          </a:prstGeom>
          <a:solidFill>
            <a:srgbClr val="EAF4FF"/>
          </a:solidFill>
          <a:ln w="9525">
            <a:solidFill>
              <a:srgbClr val="0066C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FADC6DF2-EC71-4512-87C9-984F44FCFDF5}"/>
              </a:ext>
            </a:extLst>
          </p:cNvPr>
          <p:cNvSpPr>
            <a:spLocks noGrp="1"/>
          </p:cNvSpPr>
          <p:nvPr/>
        </p:nvSpPr>
        <p:spPr>
          <a:xfrm>
            <a:off x="9486900" y="2457450"/>
            <a:ext cx="400050" cy="400050"/>
          </a:xfrm>
          <a:prstGeom prst="ellipse">
            <a:avLst/>
          </a:prstGeom>
          <a:solidFill>
            <a:srgbClr val="0066CC"/>
          </a:solidFill>
          <a:ln w="9525">
            <a:solidFill>
              <a:srgbClr val="0066C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CC42F320-7700-425B-A9BF-966F15C2A393}"/>
              </a:ext>
            </a:extLst>
          </p:cNvPr>
          <p:cNvSpPr>
            <a:spLocks noGrp="1"/>
          </p:cNvSpPr>
          <p:nvPr/>
        </p:nvSpPr>
        <p:spPr>
          <a:xfrm>
            <a:off x="9486900" y="2457450"/>
            <a:ext cx="4000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buNone/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4D5BAC83-6D06-4A7C-8BAE-DE167FB6D8BF}"/>
              </a:ext>
            </a:extLst>
          </p:cNvPr>
          <p:cNvSpPr>
            <a:spLocks noGrp="1"/>
          </p:cNvSpPr>
          <p:nvPr/>
        </p:nvSpPr>
        <p:spPr>
          <a:xfrm>
            <a:off x="9486900" y="3076575"/>
            <a:ext cx="15049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buNone/>
              <a:defRPr sz="142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Agent 动手 Lab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CD7D45A2-36AE-413D-9F23-967ACF0F72B2}"/>
              </a:ext>
            </a:extLst>
          </p:cNvPr>
          <p:cNvSpPr>
            <a:spLocks noGrp="1"/>
          </p:cNvSpPr>
          <p:nvPr/>
        </p:nvSpPr>
        <p:spPr>
          <a:xfrm>
            <a:off x="1066800" y="4667250"/>
            <a:ext cx="1005840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buNone/>
              <a:defRPr sz="15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学习方式：观察 → 模仿 → 独立完成。课堂上会保留足够的实践时间，请直接在自己的工作环境中操作。</a:t>
            </a: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C391EF7E-9A79-41C7-9E8A-58CB1F93DE12}"/>
              </a:ext>
            </a:extLst>
          </p:cNvPr>
          <p:cNvSpPr>
            <a:spLocks noGrp="1"/>
          </p:cNvSpPr>
          <p:nvPr/>
        </p:nvSpPr>
        <p:spPr>
          <a:xfrm>
            <a:off x="685800" y="5867400"/>
            <a:ext cx="2190750" cy="342900"/>
          </a:xfrm>
          <a:prstGeom prst="roundRect">
            <a:avLst>
              <a:gd name="adj" fmla="val 33333"/>
            </a:avLst>
          </a:prstGeom>
          <a:solidFill>
            <a:srgbClr val="EAF4FF"/>
          </a:solidFill>
          <a:ln w="9525">
            <a:solidFill>
              <a:srgbClr val="0066CC"/>
            </a:solidFill>
            <a:prstDash val="solid"/>
          </a:ln>
        </p:spPr>
        <p:txBody>
          <a:bodyPr wrap="none" lIns="76200" tIns="0" rIns="76200" bIns="0" anchor="ctr">
            <a:normAutofit/>
          </a:bodyPr>
          <a:lstStyle/>
          <a:p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r:id="rId3"/>
              </a:rPr>
              <a:t>微软官方学习网站  ↗</a:t>
            </a:r>
          </a:p>
        </p:txBody>
      </p:sp>
    </p:spTree>
    <p:extLst>
      <p:ext uri="{BB962C8B-B14F-4D97-AF65-F5344CB8AC3E}">
        <p14:creationId xmlns:p14="http://schemas.microsoft.com/office/powerpoint/2010/main" val="13263366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3B7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26CE7744-1283-4960-83D3-8E026186440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0066CC"/>
          </a:solidFill>
          <a:ln w="9525">
            <a:solidFill>
              <a:srgbClr val="0066C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908D7CC-5BB5-4D1A-A5E1-FBFE31EEDB70}"/>
              </a:ext>
            </a:extLst>
          </p:cNvPr>
          <p:cNvSpPr>
            <a:spLocks noGrp="1"/>
          </p:cNvSpPr>
          <p:nvPr/>
        </p:nvSpPr>
        <p:spPr>
          <a:xfrm>
            <a:off x="800100" y="838200"/>
            <a:ext cx="3333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350" b="1">
                <a:solidFill>
                  <a:srgbClr val="8FC8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8FC8FF"/>
                </a:solidFill>
                <a:latin typeface="Microsoft YaHei"/>
                <a:ea typeface="Microsoft YaHei"/>
                <a:cs typeface="Microsoft YaHei"/>
              </a:rPr>
              <a:t>PART 2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CE07517-8A4E-4E31-821B-7B8F3491BDAB}"/>
              </a:ext>
            </a:extLst>
          </p:cNvPr>
          <p:cNvSpPr>
            <a:spLocks noGrp="1"/>
          </p:cNvSpPr>
          <p:nvPr/>
        </p:nvSpPr>
        <p:spPr>
          <a:xfrm>
            <a:off x="800100" y="1524000"/>
            <a:ext cx="9810750" cy="1095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3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Philips AI 全景与工具导航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5151211-64D1-489B-8416-A533CFDFB855}"/>
              </a:ext>
            </a:extLst>
          </p:cNvPr>
          <p:cNvSpPr>
            <a:spLocks noGrp="1"/>
          </p:cNvSpPr>
          <p:nvPr/>
        </p:nvSpPr>
        <p:spPr>
          <a:xfrm>
            <a:off x="800100" y="2914650"/>
            <a:ext cx="8572500" cy="1200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725" b="0">
                <a:solidFill>
                  <a:srgbClr val="D9E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D9EBFF"/>
                </a:solidFill>
                <a:latin typeface="Microsoft YaHei"/>
                <a:ea typeface="Microsoft YaHei"/>
                <a:cs typeface="Microsoft YaHei"/>
              </a:rPr>
              <a:t>AI Gateway 用于查看 Enterprise ChatGPT 的访问状态、申请入口和使用要求；微软课程在 AI Skills Navigator 学习，Copilot 操作则进入 Microsoft 365 Copilot。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34B0A741-BD93-4C65-BE52-F226C15FCA48}"/>
              </a:ext>
            </a:extLst>
          </p:cNvPr>
          <p:cNvSpPr>
            <a:spLocks noGrp="1"/>
          </p:cNvSpPr>
          <p:nvPr/>
        </p:nvSpPr>
        <p:spPr>
          <a:xfrm>
            <a:off x="800100" y="5734050"/>
            <a:ext cx="2209800" cy="342900"/>
          </a:xfrm>
          <a:prstGeom prst="roundRect">
            <a:avLst>
              <a:gd name="adj" fmla="val 33333"/>
            </a:avLst>
          </a:prstGeom>
          <a:solidFill>
            <a:srgbClr val="EAF4FF"/>
          </a:solidFill>
          <a:ln w="9525">
            <a:solidFill>
              <a:srgbClr val="0066CC"/>
            </a:solidFill>
            <a:prstDash val="solid"/>
          </a:ln>
        </p:spPr>
        <p:txBody>
          <a:bodyPr wrap="none" lIns="76200" tIns="0" rIns="76200" bIns="0" anchor="ctr">
            <a:normAutofit/>
          </a:bodyPr>
          <a:lstStyle/>
          <a:p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r:id="rId3"/>
              </a:rPr>
              <a:t>打开 AI Gateway  ↗</a:t>
            </a:r>
          </a:p>
        </p:txBody>
      </p:sp>
    </p:spTree>
    <p:extLst>
      <p:ext uri="{BB962C8B-B14F-4D97-AF65-F5344CB8AC3E}">
        <p14:creationId xmlns:p14="http://schemas.microsoft.com/office/powerpoint/2010/main" val="18230667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FE24ACB8-0EF5-4EAE-A549-5FE910728B9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0066CC"/>
          </a:solidFill>
          <a:ln w="9525">
            <a:solidFill>
              <a:srgbClr val="0066C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E230276-B807-4116-A7A4-003F98FD8014}"/>
              </a:ext>
            </a:extLst>
          </p:cNvPr>
          <p:cNvSpPr>
            <a:spLocks noGrp="1"/>
          </p:cNvSpPr>
          <p:nvPr/>
        </p:nvSpPr>
        <p:spPr>
          <a:xfrm>
            <a:off x="685800" y="285750"/>
            <a:ext cx="5048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02 Philips AI 全景与工具导航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D086AF1-968E-4272-8F24-567179F1A5B0}"/>
              </a:ext>
            </a:extLst>
          </p:cNvPr>
          <p:cNvSpPr>
            <a:spLocks noGrp="1"/>
          </p:cNvSpPr>
          <p:nvPr/>
        </p:nvSpPr>
        <p:spPr>
          <a:xfrm>
            <a:off x="685800" y="638175"/>
            <a:ext cx="108204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可持续发展 AI 战略：重点项目、当前进展与下一阶段计划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2E802BB-63DE-499A-BA17-82CA142FECDE}"/>
              </a:ext>
            </a:extLst>
          </p:cNvPr>
          <p:cNvSpPr>
            <a:spLocks noGrp="1"/>
          </p:cNvSpPr>
          <p:nvPr/>
        </p:nvSpPr>
        <p:spPr>
          <a:xfrm>
            <a:off x="685800" y="1181100"/>
            <a:ext cx="108204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Group Sustainability 将 AI 工作划分为五条重点方向，每条方向都标明负责人、当前进展和下一阶段计划。绿色 Now 代表正在运行或部署的工作，橙色 Next 代表后续扩展项目。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A055746-C1C5-4FC9-B85C-6AD8A7040FFE}"/>
              </a:ext>
            </a:extLst>
          </p:cNvPr>
          <p:cNvSpPr>
            <a:spLocks noGrp="1"/>
          </p:cNvSpPr>
          <p:nvPr/>
        </p:nvSpPr>
        <p:spPr>
          <a:xfrm>
            <a:off x="11049000" y="6438900"/>
            <a:ext cx="4572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B983224-5FAD-46CF-BC36-88C792603412}"/>
              </a:ext>
            </a:extLst>
          </p:cNvPr>
          <p:cNvSpPr>
            <a:spLocks noGrp="1"/>
          </p:cNvSpPr>
          <p:nvPr/>
        </p:nvSpPr>
        <p:spPr>
          <a:xfrm>
            <a:off x="685800" y="6334125"/>
            <a:ext cx="10820400" cy="9525"/>
          </a:xfrm>
          <a:prstGeom prst="rect">
            <a:avLst/>
          </a:prstGeom>
          <a:solidFill>
            <a:srgbClr val="C9DDF2"/>
          </a:solidFill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21" name="Picture 20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727075" y="1762125"/>
            <a:ext cx="6604000" cy="3714750"/>
          </a:xfrm>
          <a:prstGeom prst="roundRect">
            <a:avLst>
              <a:gd name="adj" fmla="val 3077"/>
            </a:avLst>
          </a:prstGeom>
        </p:spPr>
      </p:pic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AE9E49D4-A92D-41B4-95FA-68AEBF9A3888}"/>
              </a:ext>
            </a:extLst>
          </p:cNvPr>
          <p:cNvSpPr>
            <a:spLocks noGrp="1"/>
          </p:cNvSpPr>
          <p:nvPr/>
        </p:nvSpPr>
        <p:spPr>
          <a:xfrm>
            <a:off x="666750" y="1743075"/>
            <a:ext cx="6724650" cy="3752850"/>
          </a:xfrm>
          <a:prstGeom prst="roundRect">
            <a:avLst>
              <a:gd name="adj" fmla="val 3046"/>
            </a:avLst>
          </a:prstGeom>
          <a:noFill/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780EAE68-3737-4659-A2F7-43E6683832FC}"/>
              </a:ext>
            </a:extLst>
          </p:cNvPr>
          <p:cNvSpPr>
            <a:spLocks noGrp="1"/>
          </p:cNvSpPr>
          <p:nvPr/>
        </p:nvSpPr>
        <p:spPr>
          <a:xfrm>
            <a:off x="7620000" y="1762125"/>
            <a:ext cx="3886200" cy="3714750"/>
          </a:xfrm>
          <a:prstGeom prst="roundRect">
            <a:avLst>
              <a:gd name="adj" fmla="val 3077"/>
            </a:avLst>
          </a:prstGeom>
          <a:solidFill>
            <a:srgbClr val="F6FAFE"/>
          </a:solidFill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8924D01-A7EC-4140-834B-9FA9994131A8}"/>
              </a:ext>
            </a:extLst>
          </p:cNvPr>
          <p:cNvSpPr>
            <a:spLocks noGrp="1"/>
          </p:cNvSpPr>
          <p:nvPr/>
        </p:nvSpPr>
        <p:spPr>
          <a:xfrm>
            <a:off x="7848600" y="1971675"/>
            <a:ext cx="3429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战略框架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7B51BC2-A393-4B70-AA99-3445DAF345DE}"/>
              </a:ext>
            </a:extLst>
          </p:cNvPr>
          <p:cNvSpPr>
            <a:spLocks noGrp="1"/>
          </p:cNvSpPr>
          <p:nvPr/>
        </p:nvSpPr>
        <p:spPr>
          <a:xfrm>
            <a:off x="7848600" y="2390775"/>
            <a:ext cx="3429000" cy="2876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rmAutofit/>
          </a:bodyPr>
          <a:lstStyle/>
          <a:p>
            <a:pPr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五条重点方向：AI Capability &amp; Adoption、Supplier Sustainability、Regulatory &amp; Compliance、Business &amp; Markets、Reporting &amp; Analysis。</a:t>
            </a:r>
          </a:p>
          <a:p>
            <a:endParaRPr sz="1200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>
            <a:pPr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Now 与 Next：Now 记录已经投入使用或正在部署的项目；Next 列出准备扩展、标准化或接入正式流程的后续工作。</a:t>
            </a:r>
          </a:p>
          <a:p>
            <a:endParaRPr sz="1200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>
            <a:pPr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项目负责人：每一列底部都写明谁提供业务支持、谁承担领导责任、谁负责日常推进。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64237A46-F379-433C-85BD-77F02149B989}"/>
              </a:ext>
            </a:extLst>
          </p:cNvPr>
          <p:cNvSpPr>
            <a:spLocks noGrp="1"/>
          </p:cNvSpPr>
          <p:nvPr/>
        </p:nvSpPr>
        <p:spPr>
          <a:xfrm>
            <a:off x="685800" y="5867400"/>
            <a:ext cx="2190750" cy="342900"/>
          </a:xfrm>
          <a:prstGeom prst="roundRect">
            <a:avLst>
              <a:gd name="adj" fmla="val 33333"/>
            </a:avLst>
          </a:prstGeom>
          <a:solidFill>
            <a:srgbClr val="EAF4FF"/>
          </a:solidFill>
          <a:ln w="9525">
            <a:solidFill>
              <a:srgbClr val="0066CC"/>
            </a:solidFill>
            <a:prstDash val="solid"/>
          </a:ln>
        </p:spPr>
        <p:txBody>
          <a:bodyPr wrap="none" lIns="76200" tIns="0" rIns="76200" bIns="0" anchor="ctr">
            <a:normAutofit/>
          </a:bodyPr>
          <a:lstStyle/>
          <a:p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r:id="rId4"/>
              </a:rPr>
              <a:t>打开 AI Gateway  ↗</a:t>
            </a:r>
          </a:p>
        </p:txBody>
      </p:sp>
    </p:spTree>
    <p:extLst>
      <p:ext uri="{BB962C8B-B14F-4D97-AF65-F5344CB8AC3E}">
        <p14:creationId xmlns:p14="http://schemas.microsoft.com/office/powerpoint/2010/main" val="18991594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219E81EE-3627-4666-A103-296BD557CDF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0066CC"/>
          </a:solidFill>
          <a:ln w="9525">
            <a:solidFill>
              <a:srgbClr val="0066C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B40C2A1-6B01-426B-8932-29DB1E0B3FA9}"/>
              </a:ext>
            </a:extLst>
          </p:cNvPr>
          <p:cNvSpPr>
            <a:spLocks noGrp="1"/>
          </p:cNvSpPr>
          <p:nvPr/>
        </p:nvSpPr>
        <p:spPr>
          <a:xfrm>
            <a:off x="685800" y="285750"/>
            <a:ext cx="5048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02 Philips AI 全景与工具导航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4112280-0ABE-4929-A71C-921550219F3D}"/>
              </a:ext>
            </a:extLst>
          </p:cNvPr>
          <p:cNvSpPr>
            <a:spLocks noGrp="1"/>
          </p:cNvSpPr>
          <p:nvPr/>
        </p:nvSpPr>
        <p:spPr>
          <a:xfrm>
            <a:off x="685800" y="638175"/>
            <a:ext cx="108204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三条基础工作流：能力建设、供应商风险与法规处理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02EA580-C9E6-4F98-ADEC-A47A935E8439}"/>
              </a:ext>
            </a:extLst>
          </p:cNvPr>
          <p:cNvSpPr>
            <a:spLocks noGrp="1"/>
          </p:cNvSpPr>
          <p:nvPr/>
        </p:nvSpPr>
        <p:spPr>
          <a:xfrm>
            <a:off x="685800" y="1181100"/>
            <a:ext cx="108204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三条工作流覆盖员工能力建设、供应商风险数据和法规研读，并与战略图中的项目方向相对应。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FED2F85-EA61-4285-AAFF-533E2579830C}"/>
              </a:ext>
            </a:extLst>
          </p:cNvPr>
          <p:cNvSpPr>
            <a:spLocks noGrp="1"/>
          </p:cNvSpPr>
          <p:nvPr/>
        </p:nvSpPr>
        <p:spPr>
          <a:xfrm>
            <a:off x="11049000" y="6438900"/>
            <a:ext cx="4572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72944A0-EFA6-4F46-B1AB-95758BC4F1F1}"/>
              </a:ext>
            </a:extLst>
          </p:cNvPr>
          <p:cNvSpPr>
            <a:spLocks noGrp="1"/>
          </p:cNvSpPr>
          <p:nvPr/>
        </p:nvSpPr>
        <p:spPr>
          <a:xfrm>
            <a:off x="685800" y="6334125"/>
            <a:ext cx="10820400" cy="9525"/>
          </a:xfrm>
          <a:prstGeom prst="rect">
            <a:avLst/>
          </a:prstGeom>
          <a:solidFill>
            <a:srgbClr val="C9DDF2"/>
          </a:solidFill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21" name="Picture 20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727075" y="1762125"/>
            <a:ext cx="6604000" cy="3714750"/>
          </a:xfrm>
          <a:prstGeom prst="roundRect">
            <a:avLst>
              <a:gd name="adj" fmla="val 3077"/>
            </a:avLst>
          </a:prstGeom>
        </p:spPr>
      </p:pic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ADD23E70-B285-446F-BB64-8267FEB4DED4}"/>
              </a:ext>
            </a:extLst>
          </p:cNvPr>
          <p:cNvSpPr>
            <a:spLocks noGrp="1"/>
          </p:cNvSpPr>
          <p:nvPr/>
        </p:nvSpPr>
        <p:spPr>
          <a:xfrm>
            <a:off x="666750" y="1743075"/>
            <a:ext cx="6724650" cy="3752850"/>
          </a:xfrm>
          <a:prstGeom prst="roundRect">
            <a:avLst>
              <a:gd name="adj" fmla="val 3046"/>
            </a:avLst>
          </a:prstGeom>
          <a:noFill/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A9D80198-6923-479F-9ACD-4395AEC68E2F}"/>
              </a:ext>
            </a:extLst>
          </p:cNvPr>
          <p:cNvSpPr>
            <a:spLocks noGrp="1"/>
          </p:cNvSpPr>
          <p:nvPr/>
        </p:nvSpPr>
        <p:spPr>
          <a:xfrm>
            <a:off x="7620000" y="1762125"/>
            <a:ext cx="3886200" cy="3714750"/>
          </a:xfrm>
          <a:prstGeom prst="roundRect">
            <a:avLst>
              <a:gd name="adj" fmla="val 3077"/>
            </a:avLst>
          </a:prstGeom>
          <a:solidFill>
            <a:srgbClr val="F6FAFE"/>
          </a:solidFill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2C4F453-7777-4EBD-A961-3B5B29FF19E1}"/>
              </a:ext>
            </a:extLst>
          </p:cNvPr>
          <p:cNvSpPr>
            <a:spLocks noGrp="1"/>
          </p:cNvSpPr>
          <p:nvPr/>
        </p:nvSpPr>
        <p:spPr>
          <a:xfrm>
            <a:off x="7848600" y="1971675"/>
            <a:ext cx="3429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基础工作流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22D1BB5-2D6C-44E1-AA4C-4090F1316E54}"/>
              </a:ext>
            </a:extLst>
          </p:cNvPr>
          <p:cNvSpPr>
            <a:spLocks noGrp="1"/>
          </p:cNvSpPr>
          <p:nvPr/>
        </p:nvSpPr>
        <p:spPr>
          <a:xfrm>
            <a:off x="7848600" y="2390775"/>
            <a:ext cx="3429000" cy="2876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rmAutofit/>
          </a:bodyPr>
          <a:lstStyle/>
          <a:p>
            <a:pPr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1｜员工能力与应用推广：当前正在为不同岗位设计 AI 学习路径，并通过内部社区分享案例。下一步会收集、筛选值得推广的 AI 用例，同时建立内部推广网络。</a:t>
            </a:r>
          </a:p>
          <a:p>
            <a:endParaRPr sz="1200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>
            <a:pPr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2｜供应商可持续发展：AI 已用于发现供应商可持续风险、辅助成熟度评估，并自动筛查公开信息。下一步将进一步处理报告、问卷等非结构化资料，支持后续改进。</a:t>
            </a:r>
          </a:p>
          <a:p>
            <a:endParaRPr sz="1200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>
            <a:pPr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3｜法规与合规：AI 每年辅助整理 2,000 多项可持续发展法规，并帮助团队更快完成法规解读。下一步将把法规监测连接到质量管理和审计流程。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2F0A04C3-8E47-4E63-8ADF-DDDDC676D407}"/>
              </a:ext>
            </a:extLst>
          </p:cNvPr>
          <p:cNvSpPr>
            <a:spLocks noGrp="1"/>
          </p:cNvSpPr>
          <p:nvPr/>
        </p:nvSpPr>
        <p:spPr>
          <a:xfrm>
            <a:off x="685800" y="5867400"/>
            <a:ext cx="2190750" cy="342900"/>
          </a:xfrm>
          <a:prstGeom prst="roundRect">
            <a:avLst>
              <a:gd name="adj" fmla="val 33333"/>
            </a:avLst>
          </a:prstGeom>
          <a:solidFill>
            <a:srgbClr val="EAF4FF"/>
          </a:solidFill>
          <a:ln w="9525">
            <a:solidFill>
              <a:srgbClr val="0066CC"/>
            </a:solidFill>
            <a:prstDash val="solid"/>
          </a:ln>
        </p:spPr>
        <p:txBody>
          <a:bodyPr wrap="none" lIns="76200" tIns="0" rIns="76200" bIns="0" anchor="ctr">
            <a:normAutofit/>
          </a:bodyPr>
          <a:lstStyle/>
          <a:p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r:id="rId4"/>
              </a:rPr>
              <a:t>查看战略原图  ↗</a:t>
            </a:r>
          </a:p>
        </p:txBody>
      </p:sp>
    </p:spTree>
    <p:extLst>
      <p:ext uri="{BB962C8B-B14F-4D97-AF65-F5344CB8AC3E}">
        <p14:creationId xmlns:p14="http://schemas.microsoft.com/office/powerpoint/2010/main" val="11119226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1EB4F93B-4D86-4E0E-8223-FC1486A8CBD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0066CC"/>
          </a:solidFill>
          <a:ln w="9525">
            <a:solidFill>
              <a:srgbClr val="0066C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D0D8BC1-E516-419F-A8E9-627E56C853CC}"/>
              </a:ext>
            </a:extLst>
          </p:cNvPr>
          <p:cNvSpPr>
            <a:spLocks noGrp="1"/>
          </p:cNvSpPr>
          <p:nvPr/>
        </p:nvSpPr>
        <p:spPr>
          <a:xfrm>
            <a:off x="685800" y="285750"/>
            <a:ext cx="5048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02 Philips AI 全景与工具导航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713D4C1-B7E6-4EFC-9FBA-ABC43D121602}"/>
              </a:ext>
            </a:extLst>
          </p:cNvPr>
          <p:cNvSpPr>
            <a:spLocks noGrp="1"/>
          </p:cNvSpPr>
          <p:nvPr/>
        </p:nvSpPr>
        <p:spPr>
          <a:xfrm>
            <a:off x="685800" y="638175"/>
            <a:ext cx="108204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商业支持、报告分析与 2026 年重点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584DA9A-57B4-4F8D-85BD-7F543CBB05CD}"/>
              </a:ext>
            </a:extLst>
          </p:cNvPr>
          <p:cNvSpPr>
            <a:spLocks noGrp="1"/>
          </p:cNvSpPr>
          <p:nvPr/>
        </p:nvSpPr>
        <p:spPr>
          <a:xfrm>
            <a:off x="685800" y="1181100"/>
            <a:ext cx="108204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Business &amp; Markets 聚焦投标和市场支持；Reporting &amp; Analysis 覆盖双重重要性评估、数据采集及披露流程。理解集团方向后，下一页会进一步说明大中华区的业务重点。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1BD22DE-21BB-4942-A706-9EBD74C073C6}"/>
              </a:ext>
            </a:extLst>
          </p:cNvPr>
          <p:cNvSpPr>
            <a:spLocks noGrp="1"/>
          </p:cNvSpPr>
          <p:nvPr/>
        </p:nvSpPr>
        <p:spPr>
          <a:xfrm>
            <a:off x="11049000" y="6438900"/>
            <a:ext cx="4572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3522286-E075-441D-915D-A84F929D2B8D}"/>
              </a:ext>
            </a:extLst>
          </p:cNvPr>
          <p:cNvSpPr>
            <a:spLocks noGrp="1"/>
          </p:cNvSpPr>
          <p:nvPr/>
        </p:nvSpPr>
        <p:spPr>
          <a:xfrm>
            <a:off x="685800" y="6334125"/>
            <a:ext cx="10820400" cy="9525"/>
          </a:xfrm>
          <a:prstGeom prst="rect">
            <a:avLst/>
          </a:prstGeom>
          <a:solidFill>
            <a:srgbClr val="C9DDF2"/>
          </a:solidFill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21" name="Picture 20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727075" y="1762125"/>
            <a:ext cx="6604000" cy="3714750"/>
          </a:xfrm>
          <a:prstGeom prst="roundRect">
            <a:avLst>
              <a:gd name="adj" fmla="val 3077"/>
            </a:avLst>
          </a:prstGeom>
        </p:spPr>
      </p:pic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3CB87C4E-A6DA-460D-BBF7-EBBFE3E25C30}"/>
              </a:ext>
            </a:extLst>
          </p:cNvPr>
          <p:cNvSpPr>
            <a:spLocks noGrp="1"/>
          </p:cNvSpPr>
          <p:nvPr/>
        </p:nvSpPr>
        <p:spPr>
          <a:xfrm>
            <a:off x="666750" y="1743075"/>
            <a:ext cx="6724650" cy="3752850"/>
          </a:xfrm>
          <a:prstGeom prst="roundRect">
            <a:avLst>
              <a:gd name="adj" fmla="val 3046"/>
            </a:avLst>
          </a:prstGeom>
          <a:noFill/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3D1C85D6-A3CB-411F-8FDA-8FF8CDE527DB}"/>
              </a:ext>
            </a:extLst>
          </p:cNvPr>
          <p:cNvSpPr>
            <a:spLocks noGrp="1"/>
          </p:cNvSpPr>
          <p:nvPr/>
        </p:nvSpPr>
        <p:spPr>
          <a:xfrm>
            <a:off x="7620000" y="1762125"/>
            <a:ext cx="3886200" cy="3714750"/>
          </a:xfrm>
          <a:prstGeom prst="roundRect">
            <a:avLst>
              <a:gd name="adj" fmla="val 3077"/>
            </a:avLst>
          </a:prstGeom>
          <a:solidFill>
            <a:srgbClr val="F6FAFE"/>
          </a:solidFill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7D786C9-746B-4B64-B2F8-A75FE2EDC10F}"/>
              </a:ext>
            </a:extLst>
          </p:cNvPr>
          <p:cNvSpPr>
            <a:spLocks noGrp="1"/>
          </p:cNvSpPr>
          <p:nvPr/>
        </p:nvSpPr>
        <p:spPr>
          <a:xfrm>
            <a:off x="7848600" y="1971675"/>
            <a:ext cx="3429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业务落地与规模化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BA8BFF4-F167-4443-9856-C554022CC63F}"/>
              </a:ext>
            </a:extLst>
          </p:cNvPr>
          <p:cNvSpPr>
            <a:spLocks noGrp="1"/>
          </p:cNvSpPr>
          <p:nvPr/>
        </p:nvSpPr>
        <p:spPr>
          <a:xfrm>
            <a:off x="7848600" y="2390775"/>
            <a:ext cx="3429000" cy="2876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rmAutofit/>
          </a:bodyPr>
          <a:lstStyle/>
          <a:p>
            <a:pPr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4｜商业与市场支持：Tender Assistant 正在支持 150 多个销售后台团队，帮助准备投标材料并减少人工协调。下一步将在更多区域和重点投标场景中推广。</a:t>
            </a:r>
          </a:p>
          <a:p>
            <a:endParaRPr sz="1200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>
            <a:pPr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5｜报告与分析：AI 正在支持双重重要性评估，也就是同时评估可持续议题的业务影响和外部影响；同时帮助制造基地收集发票数据。下一步将支持更多可持续披露流程。</a:t>
            </a:r>
          </a:p>
          <a:p>
            <a:endParaRPr sz="1200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>
            <a:pPr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2026 年重点：扩大已经验证有效的项目，统一可重复使用的能力，并优先推进效果能够衡量的场景。每个项目都明确支持人和日常负责人。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B8F1AF74-CB01-412E-8FF9-79BB03EECF4C}"/>
              </a:ext>
            </a:extLst>
          </p:cNvPr>
          <p:cNvSpPr>
            <a:spLocks noGrp="1"/>
          </p:cNvSpPr>
          <p:nvPr/>
        </p:nvSpPr>
        <p:spPr>
          <a:xfrm>
            <a:off x="685800" y="5867400"/>
            <a:ext cx="2190750" cy="342900"/>
          </a:xfrm>
          <a:prstGeom prst="roundRect">
            <a:avLst>
              <a:gd name="adj" fmla="val 33333"/>
            </a:avLst>
          </a:prstGeom>
          <a:solidFill>
            <a:srgbClr val="EAF4FF"/>
          </a:solidFill>
          <a:ln w="9525">
            <a:solidFill>
              <a:srgbClr val="0066CC"/>
            </a:solidFill>
            <a:prstDash val="solid"/>
          </a:ln>
        </p:spPr>
        <p:txBody>
          <a:bodyPr wrap="none" lIns="76200" tIns="0" rIns="76200" bIns="0" anchor="ctr">
            <a:normAutofit/>
          </a:bodyPr>
          <a:lstStyle/>
          <a:p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r:id="rId4"/>
              </a:rPr>
              <a:t>进入 AI Gateway  ↗</a:t>
            </a:r>
          </a:p>
        </p:txBody>
      </p:sp>
    </p:spTree>
    <p:extLst>
      <p:ext uri="{BB962C8B-B14F-4D97-AF65-F5344CB8AC3E}">
        <p14:creationId xmlns:p14="http://schemas.microsoft.com/office/powerpoint/2010/main" val="4693722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Rectangle 41">
            <a:extLst>
              <a:ext uri="{FF2B5EF4-FFF2-40B4-BE49-F238E27FC236}">
                <a16:creationId xmlns:a16="http://schemas.microsoft.com/office/drawing/2014/main" id="{B3071887-685F-4B69-A97E-E4C10F72BD4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0066CC"/>
          </a:solidFill>
          <a:ln w="9525">
            <a:solidFill>
              <a:srgbClr val="0066C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B17020D-FF74-4875-AA26-8FE27558F392}"/>
              </a:ext>
            </a:extLst>
          </p:cNvPr>
          <p:cNvSpPr>
            <a:spLocks noGrp="1"/>
          </p:cNvSpPr>
          <p:nvPr/>
        </p:nvSpPr>
        <p:spPr>
          <a:xfrm>
            <a:off x="685800" y="285750"/>
            <a:ext cx="5048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02 Philips AI 全景与工具导航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E785613-0E31-40EA-A06F-265F701EBEC6}"/>
              </a:ext>
            </a:extLst>
          </p:cNvPr>
          <p:cNvSpPr>
            <a:spLocks noGrp="1"/>
          </p:cNvSpPr>
          <p:nvPr/>
        </p:nvSpPr>
        <p:spPr>
          <a:xfrm>
            <a:off x="685800" y="638175"/>
            <a:ext cx="108204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大中华区 AI 计划：五个业务方向和四项基础能力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2DB687C-6D6D-4EF7-8137-55512A125D02}"/>
              </a:ext>
            </a:extLst>
          </p:cNvPr>
          <p:cNvSpPr>
            <a:spLocks noGrp="1"/>
          </p:cNvSpPr>
          <p:nvPr/>
        </p:nvSpPr>
        <p:spPr>
          <a:xfrm>
            <a:off x="685800" y="1181100"/>
            <a:ext cx="108204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五个方向分别解决员工能力、销售机会、运营服务、职能工作和创新协作问题；技术平台、数据、管理机制和负责任使用为这些工作提供基础支持。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6590849-5C94-420A-B18B-98BE2DC3604B}"/>
              </a:ext>
            </a:extLst>
          </p:cNvPr>
          <p:cNvSpPr>
            <a:spLocks noGrp="1"/>
          </p:cNvSpPr>
          <p:nvPr/>
        </p:nvSpPr>
        <p:spPr>
          <a:xfrm>
            <a:off x="11049000" y="6438900"/>
            <a:ext cx="4572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894CCFC-1896-4755-874B-73ACF8ED3C50}"/>
              </a:ext>
            </a:extLst>
          </p:cNvPr>
          <p:cNvSpPr>
            <a:spLocks noGrp="1"/>
          </p:cNvSpPr>
          <p:nvPr/>
        </p:nvSpPr>
        <p:spPr>
          <a:xfrm>
            <a:off x="685800" y="6334125"/>
            <a:ext cx="10820400" cy="9525"/>
          </a:xfrm>
          <a:prstGeom prst="rect">
            <a:avLst/>
          </a:prstGeom>
          <a:solidFill>
            <a:srgbClr val="C9DDF2"/>
          </a:solidFill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B861A663-D63F-42A1-A9EF-80395D4FC954}"/>
              </a:ext>
            </a:extLst>
          </p:cNvPr>
          <p:cNvSpPr>
            <a:spLocks noGrp="1"/>
          </p:cNvSpPr>
          <p:nvPr/>
        </p:nvSpPr>
        <p:spPr>
          <a:xfrm>
            <a:off x="590550" y="1809750"/>
            <a:ext cx="2114550" cy="2743200"/>
          </a:xfrm>
          <a:prstGeom prst="roundRect">
            <a:avLst>
              <a:gd name="adj" fmla="val 5405"/>
            </a:avLst>
          </a:prstGeom>
          <a:solidFill>
            <a:srgbClr val="F6FAFE"/>
          </a:solidFill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ED5DF0A-1A83-4677-AF2B-9600611E7CF9}"/>
              </a:ext>
            </a:extLst>
          </p:cNvPr>
          <p:cNvSpPr>
            <a:spLocks noGrp="1"/>
          </p:cNvSpPr>
          <p:nvPr/>
        </p:nvSpPr>
        <p:spPr>
          <a:xfrm>
            <a:off x="590550" y="1809750"/>
            <a:ext cx="2114550" cy="76200"/>
          </a:xfrm>
          <a:prstGeom prst="rect">
            <a:avLst/>
          </a:prstGeom>
          <a:solidFill>
            <a:srgbClr val="0066CC"/>
          </a:solidFill>
          <a:ln w="9525">
            <a:solidFill>
              <a:srgbClr val="0066C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73709A3-35B1-4072-B3AA-8CD4748D41AD}"/>
              </a:ext>
            </a:extLst>
          </p:cNvPr>
          <p:cNvSpPr>
            <a:spLocks noGrp="1"/>
          </p:cNvSpPr>
          <p:nvPr/>
        </p:nvSpPr>
        <p:spPr>
          <a:xfrm>
            <a:off x="762000" y="2095500"/>
            <a:ext cx="17716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buNone/>
              <a:defRPr sz="15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提升员工</a:t>
            </a:r>
          </a:p>
          <a:p>
            <a:pPr algn="ctr">
              <a:buNone/>
              <a:defRPr sz="15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AI 能力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3C100BB-278F-4947-A75F-A840C4A52168}"/>
              </a:ext>
            </a:extLst>
          </p:cNvPr>
          <p:cNvSpPr>
            <a:spLocks noGrp="1"/>
          </p:cNvSpPr>
          <p:nvPr/>
        </p:nvSpPr>
        <p:spPr>
          <a:xfrm>
            <a:off x="762000" y="2724150"/>
            <a:ext cx="17716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buNone/>
              <a:def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Learn &amp; adopt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1C671E3-2EF8-4785-81A8-E642C89F73D3}"/>
              </a:ext>
            </a:extLst>
          </p:cNvPr>
          <p:cNvSpPr>
            <a:spLocks noGrp="1"/>
          </p:cNvSpPr>
          <p:nvPr/>
        </p:nvSpPr>
        <p:spPr>
          <a:xfrm>
            <a:off x="781050" y="3143250"/>
            <a:ext cx="1733550" cy="1066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通过学习社群，</a:t>
            </a:r>
          </a:p>
          <a:p>
            <a:pPr algn="ctr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开展岗位培训，</a:t>
            </a:r>
          </a:p>
          <a:p>
            <a:pPr algn="ctr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并分享实践案例。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F5677207-6D90-4393-81B4-928DEDFCDD22}"/>
              </a:ext>
            </a:extLst>
          </p:cNvPr>
          <p:cNvSpPr>
            <a:spLocks noGrp="1"/>
          </p:cNvSpPr>
          <p:nvPr/>
        </p:nvSpPr>
        <p:spPr>
          <a:xfrm>
            <a:off x="2914650" y="1809750"/>
            <a:ext cx="2114550" cy="2743200"/>
          </a:xfrm>
          <a:prstGeom prst="roundRect">
            <a:avLst>
              <a:gd name="adj" fmla="val 5405"/>
            </a:avLst>
          </a:prstGeom>
          <a:solidFill>
            <a:srgbClr val="F6FAFE"/>
          </a:solidFill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1F17E9F-3F12-4714-A8A7-1B2B9F59B45F}"/>
              </a:ext>
            </a:extLst>
          </p:cNvPr>
          <p:cNvSpPr>
            <a:spLocks noGrp="1"/>
          </p:cNvSpPr>
          <p:nvPr/>
        </p:nvSpPr>
        <p:spPr>
          <a:xfrm>
            <a:off x="2914650" y="1809750"/>
            <a:ext cx="2114550" cy="76200"/>
          </a:xfrm>
          <a:prstGeom prst="rect">
            <a:avLst/>
          </a:prstGeom>
          <a:solidFill>
            <a:srgbClr val="11966F"/>
          </a:solidFill>
          <a:ln w="9525">
            <a:solidFill>
              <a:srgbClr val="11966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4091FE6-D764-4C22-9AFD-201B6C554470}"/>
              </a:ext>
            </a:extLst>
          </p:cNvPr>
          <p:cNvSpPr>
            <a:spLocks noGrp="1"/>
          </p:cNvSpPr>
          <p:nvPr/>
        </p:nvSpPr>
        <p:spPr>
          <a:xfrm>
            <a:off x="3086100" y="2095500"/>
            <a:ext cx="17716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buNone/>
              <a:defRPr sz="15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提升商机洞察</a:t>
            </a:r>
          </a:p>
          <a:p>
            <a:pPr algn="ctr">
              <a:buNone/>
              <a:defRPr sz="15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和赢率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612C49-23F6-4FE0-94F8-A2372B4E09A6}"/>
              </a:ext>
            </a:extLst>
          </p:cNvPr>
          <p:cNvSpPr>
            <a:spLocks noGrp="1"/>
          </p:cNvSpPr>
          <p:nvPr/>
        </p:nvSpPr>
        <p:spPr>
          <a:xfrm>
            <a:off x="3086100" y="2724150"/>
            <a:ext cx="17716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buNone/>
              <a:defRPr sz="1050" b="1">
                <a:solidFill>
                  <a:srgbClr val="1196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1966F"/>
                </a:solidFill>
                <a:latin typeface="Microsoft YaHei"/>
                <a:ea typeface="Microsoft YaHei"/>
                <a:cs typeface="Microsoft YaHei"/>
              </a:rPr>
              <a:t>Sales insights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1642821-14C3-4770-B47B-AA70124B46DD}"/>
              </a:ext>
            </a:extLst>
          </p:cNvPr>
          <p:cNvSpPr>
            <a:spLocks noGrp="1"/>
          </p:cNvSpPr>
          <p:nvPr/>
        </p:nvSpPr>
        <p:spPr>
          <a:xfrm>
            <a:off x="3105150" y="3143250"/>
            <a:ext cx="1733550" cy="1066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先分析销售机会，</a:t>
            </a:r>
          </a:p>
          <a:p>
            <a:pPr algn="ctr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再复盘赢失单，</a:t>
            </a:r>
          </a:p>
          <a:p>
            <a:pPr algn="ctr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并支持投标定价。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B07B41BC-AD49-414A-BEBB-2FF1D59A405F}"/>
              </a:ext>
            </a:extLst>
          </p:cNvPr>
          <p:cNvSpPr>
            <a:spLocks noGrp="1"/>
          </p:cNvSpPr>
          <p:nvPr/>
        </p:nvSpPr>
        <p:spPr>
          <a:xfrm>
            <a:off x="5238750" y="1809750"/>
            <a:ext cx="2114550" cy="2743200"/>
          </a:xfrm>
          <a:prstGeom prst="roundRect">
            <a:avLst>
              <a:gd name="adj" fmla="val 5405"/>
            </a:avLst>
          </a:prstGeom>
          <a:solidFill>
            <a:srgbClr val="F6FAFE"/>
          </a:solidFill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53C171E-017A-4251-9F51-047A80AD6D63}"/>
              </a:ext>
            </a:extLst>
          </p:cNvPr>
          <p:cNvSpPr>
            <a:spLocks noGrp="1"/>
          </p:cNvSpPr>
          <p:nvPr/>
        </p:nvSpPr>
        <p:spPr>
          <a:xfrm>
            <a:off x="5238750" y="1809750"/>
            <a:ext cx="2114550" cy="76200"/>
          </a:xfrm>
          <a:prstGeom prst="rect">
            <a:avLst/>
          </a:prstGeom>
          <a:solidFill>
            <a:srgbClr val="E8742B"/>
          </a:solidFill>
          <a:ln w="9525">
            <a:solidFill>
              <a:srgbClr val="E8742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87540D3-1F43-492E-9129-0A6FF109EBE2}"/>
              </a:ext>
            </a:extLst>
          </p:cNvPr>
          <p:cNvSpPr>
            <a:spLocks noGrp="1"/>
          </p:cNvSpPr>
          <p:nvPr/>
        </p:nvSpPr>
        <p:spPr>
          <a:xfrm>
            <a:off x="5410200" y="2095500"/>
            <a:ext cx="17716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buNone/>
              <a:defRPr sz="15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改善运营</a:t>
            </a:r>
          </a:p>
          <a:p>
            <a:pPr algn="ctr">
              <a:buNone/>
              <a:defRPr sz="15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和服务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E74DE86-6612-43FB-B962-FEB8A5362C20}"/>
              </a:ext>
            </a:extLst>
          </p:cNvPr>
          <p:cNvSpPr>
            <a:spLocks noGrp="1"/>
          </p:cNvSpPr>
          <p:nvPr/>
        </p:nvSpPr>
        <p:spPr>
          <a:xfrm>
            <a:off x="5410200" y="2724150"/>
            <a:ext cx="17716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buNone/>
              <a:defRPr sz="1050" b="1">
                <a:solidFill>
                  <a:srgbClr val="E874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E8742B"/>
                </a:solidFill>
                <a:latin typeface="Microsoft YaHei"/>
                <a:ea typeface="Microsoft YaHei"/>
                <a:cs typeface="Microsoft YaHei"/>
              </a:rPr>
              <a:t>Operations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7E23803-CF9E-447F-AE01-114029E71736}"/>
              </a:ext>
            </a:extLst>
          </p:cNvPr>
          <p:cNvSpPr>
            <a:spLocks noGrp="1"/>
          </p:cNvSpPr>
          <p:nvPr/>
        </p:nvSpPr>
        <p:spPr>
          <a:xfrm>
            <a:off x="5429250" y="3143250"/>
            <a:ext cx="1733550" cy="1066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先简化订单处理，</a:t>
            </a:r>
          </a:p>
          <a:p>
            <a:pPr algn="ctr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再改善服务运营，</a:t>
            </a:r>
          </a:p>
          <a:p>
            <a:pPr algn="ctr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并支持工厂和供应链。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C71FAF15-0C85-4C17-9E33-B89C94E3FD7F}"/>
              </a:ext>
            </a:extLst>
          </p:cNvPr>
          <p:cNvSpPr>
            <a:spLocks noGrp="1"/>
          </p:cNvSpPr>
          <p:nvPr/>
        </p:nvSpPr>
        <p:spPr>
          <a:xfrm>
            <a:off x="7562850" y="1809750"/>
            <a:ext cx="2114550" cy="2743200"/>
          </a:xfrm>
          <a:prstGeom prst="roundRect">
            <a:avLst>
              <a:gd name="adj" fmla="val 5405"/>
            </a:avLst>
          </a:prstGeom>
          <a:solidFill>
            <a:srgbClr val="F6FAFE"/>
          </a:solidFill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1BEADEC-89E5-4682-8D4E-47981E6D3A2B}"/>
              </a:ext>
            </a:extLst>
          </p:cNvPr>
          <p:cNvSpPr>
            <a:spLocks noGrp="1"/>
          </p:cNvSpPr>
          <p:nvPr/>
        </p:nvSpPr>
        <p:spPr>
          <a:xfrm>
            <a:off x="7562850" y="1809750"/>
            <a:ext cx="2114550" cy="76200"/>
          </a:xfrm>
          <a:prstGeom prst="rect">
            <a:avLst/>
          </a:prstGeom>
          <a:solidFill>
            <a:srgbClr val="003B78"/>
          </a:solidFill>
          <a:ln w="9525">
            <a:solidFill>
              <a:srgbClr val="003B7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636FAD41-FC27-4DF2-AD45-A85AEAAEF156}"/>
              </a:ext>
            </a:extLst>
          </p:cNvPr>
          <p:cNvSpPr>
            <a:spLocks noGrp="1"/>
          </p:cNvSpPr>
          <p:nvPr/>
        </p:nvSpPr>
        <p:spPr>
          <a:xfrm>
            <a:off x="7734300" y="2095500"/>
            <a:ext cx="17716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buNone/>
              <a:defRPr sz="15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支持职能</a:t>
            </a:r>
          </a:p>
          <a:p>
            <a:pPr algn="ctr">
              <a:buNone/>
              <a:defRPr sz="15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日常工作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333A4201-09C5-41B7-96B4-65FC6DC95B55}"/>
              </a:ext>
            </a:extLst>
          </p:cNvPr>
          <p:cNvSpPr>
            <a:spLocks noGrp="1"/>
          </p:cNvSpPr>
          <p:nvPr/>
        </p:nvSpPr>
        <p:spPr>
          <a:xfrm>
            <a:off x="7734300" y="2724150"/>
            <a:ext cx="17716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Functions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E479CC0E-8B68-4547-A912-083998E7CE06}"/>
              </a:ext>
            </a:extLst>
          </p:cNvPr>
          <p:cNvSpPr>
            <a:spLocks noGrp="1"/>
          </p:cNvSpPr>
          <p:nvPr/>
        </p:nvSpPr>
        <p:spPr>
          <a:xfrm>
            <a:off x="7753350" y="3143250"/>
            <a:ext cx="1733550" cy="1066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覆盖市场、财务与 HR，</a:t>
            </a:r>
          </a:p>
          <a:p>
            <a:pPr algn="ctr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也支持法规、质量和法务，</a:t>
            </a:r>
          </a:p>
          <a:p>
            <a:pPr algn="ctr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以及战略与竞品分析。</a:t>
            </a: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BF137174-9553-43DA-AF48-196968E0A3E5}"/>
              </a:ext>
            </a:extLst>
          </p:cNvPr>
          <p:cNvSpPr>
            <a:spLocks noGrp="1"/>
          </p:cNvSpPr>
          <p:nvPr/>
        </p:nvSpPr>
        <p:spPr>
          <a:xfrm>
            <a:off x="9886950" y="1809750"/>
            <a:ext cx="2114550" cy="2743200"/>
          </a:xfrm>
          <a:prstGeom prst="roundRect">
            <a:avLst>
              <a:gd name="adj" fmla="val 5405"/>
            </a:avLst>
          </a:prstGeom>
          <a:solidFill>
            <a:srgbClr val="F6FAFE"/>
          </a:solidFill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4F99D26E-A67E-443B-95BC-95A00E51BF3D}"/>
              </a:ext>
            </a:extLst>
          </p:cNvPr>
          <p:cNvSpPr>
            <a:spLocks noGrp="1"/>
          </p:cNvSpPr>
          <p:nvPr/>
        </p:nvSpPr>
        <p:spPr>
          <a:xfrm>
            <a:off x="9886950" y="1809750"/>
            <a:ext cx="2114550" cy="76200"/>
          </a:xfrm>
          <a:prstGeom prst="rect">
            <a:avLst/>
          </a:prstGeom>
          <a:solidFill>
            <a:srgbClr val="0066CC"/>
          </a:solidFill>
          <a:ln w="9525">
            <a:solidFill>
              <a:srgbClr val="0066C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497F53EC-94BF-45C5-8D04-4B2B0784FD6D}"/>
              </a:ext>
            </a:extLst>
          </p:cNvPr>
          <p:cNvSpPr>
            <a:spLocks noGrp="1"/>
          </p:cNvSpPr>
          <p:nvPr/>
        </p:nvSpPr>
        <p:spPr>
          <a:xfrm>
            <a:off x="10058400" y="2095500"/>
            <a:ext cx="17716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buNone/>
              <a:defRPr sz="15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连接伙伴</a:t>
            </a:r>
          </a:p>
          <a:p>
            <a:pPr algn="ctr">
              <a:buNone/>
              <a:defRPr sz="15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加速创新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6A5D955C-C273-4E34-A3CF-9C4002F7D8D8}"/>
              </a:ext>
            </a:extLst>
          </p:cNvPr>
          <p:cNvSpPr>
            <a:spLocks noGrp="1"/>
          </p:cNvSpPr>
          <p:nvPr/>
        </p:nvSpPr>
        <p:spPr>
          <a:xfrm>
            <a:off x="10058400" y="2724150"/>
            <a:ext cx="17716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buNone/>
              <a:def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Innovation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8449BD2A-A681-4050-ABCE-5ABACFA60FC3}"/>
              </a:ext>
            </a:extLst>
          </p:cNvPr>
          <p:cNvSpPr>
            <a:spLocks noGrp="1"/>
          </p:cNvSpPr>
          <p:nvPr/>
        </p:nvSpPr>
        <p:spPr>
          <a:xfrm>
            <a:off x="10077450" y="3143250"/>
            <a:ext cx="1733550" cy="1066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先找到本地 AI 合作方，</a:t>
            </a:r>
          </a:p>
          <a:p>
            <a:pPr algn="ctr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再推进生态合作，</a:t>
            </a:r>
          </a:p>
          <a:p>
            <a:pPr algn="ctr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从而加快创新流程。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CCFA8C1D-9185-4DF4-9C96-803B7E3AE9E5}"/>
              </a:ext>
            </a:extLst>
          </p:cNvPr>
          <p:cNvSpPr>
            <a:spLocks noGrp="1"/>
          </p:cNvSpPr>
          <p:nvPr/>
        </p:nvSpPr>
        <p:spPr>
          <a:xfrm>
            <a:off x="1200150" y="4686300"/>
            <a:ext cx="97917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buNone/>
              <a:def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每个支柱由业务牵头，并与支持伙伴和 AI Ambassador 协同推进。</a:t>
            </a: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F0EBA6EB-97B4-45B3-8E19-8FC976D96F0F}"/>
              </a:ext>
            </a:extLst>
          </p:cNvPr>
          <p:cNvSpPr>
            <a:spLocks noGrp="1"/>
          </p:cNvSpPr>
          <p:nvPr/>
        </p:nvSpPr>
        <p:spPr>
          <a:xfrm>
            <a:off x="781050" y="5105400"/>
            <a:ext cx="2438400" cy="419100"/>
          </a:xfrm>
          <a:prstGeom prst="roundRect">
            <a:avLst>
              <a:gd name="adj" fmla="val 27273"/>
            </a:avLst>
          </a:prstGeom>
          <a:solidFill>
            <a:srgbClr val="EAF4FF"/>
          </a:solidFill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B889AB06-2DA6-44B3-BEDE-D3D9A4E69170}"/>
              </a:ext>
            </a:extLst>
          </p:cNvPr>
          <p:cNvSpPr>
            <a:spLocks noGrp="1"/>
          </p:cNvSpPr>
          <p:nvPr/>
        </p:nvSpPr>
        <p:spPr>
          <a:xfrm>
            <a:off x="895350" y="5219700"/>
            <a:ext cx="22098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buNone/>
              <a:defRPr sz="120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技术与平台</a:t>
            </a:r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34D52628-A31E-4C37-BD45-B1EAA5F3B23F}"/>
              </a:ext>
            </a:extLst>
          </p:cNvPr>
          <p:cNvSpPr>
            <a:spLocks noGrp="1"/>
          </p:cNvSpPr>
          <p:nvPr/>
        </p:nvSpPr>
        <p:spPr>
          <a:xfrm>
            <a:off x="3448050" y="5105400"/>
            <a:ext cx="2438400" cy="419100"/>
          </a:xfrm>
          <a:prstGeom prst="roundRect">
            <a:avLst>
              <a:gd name="adj" fmla="val 27273"/>
            </a:avLst>
          </a:prstGeom>
          <a:solidFill>
            <a:srgbClr val="F6FAFE"/>
          </a:solidFill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54607E3F-936F-47DF-9490-59E6B394BAF6}"/>
              </a:ext>
            </a:extLst>
          </p:cNvPr>
          <p:cNvSpPr>
            <a:spLocks noGrp="1"/>
          </p:cNvSpPr>
          <p:nvPr/>
        </p:nvSpPr>
        <p:spPr>
          <a:xfrm>
            <a:off x="3562350" y="5219700"/>
            <a:ext cx="22098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buNone/>
              <a:defRPr sz="120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数据底座</a:t>
            </a:r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9F93D25E-7AD2-41F8-93DB-CD56EE8DC079}"/>
              </a:ext>
            </a:extLst>
          </p:cNvPr>
          <p:cNvSpPr>
            <a:spLocks noGrp="1"/>
          </p:cNvSpPr>
          <p:nvPr/>
        </p:nvSpPr>
        <p:spPr>
          <a:xfrm>
            <a:off x="6115050" y="5105400"/>
            <a:ext cx="2438400" cy="419100"/>
          </a:xfrm>
          <a:prstGeom prst="roundRect">
            <a:avLst>
              <a:gd name="adj" fmla="val 27273"/>
            </a:avLst>
          </a:prstGeom>
          <a:solidFill>
            <a:srgbClr val="EAF4FF"/>
          </a:solidFill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00FAD82C-70AE-4A15-8B37-CEB15138241E}"/>
              </a:ext>
            </a:extLst>
          </p:cNvPr>
          <p:cNvSpPr>
            <a:spLocks noGrp="1"/>
          </p:cNvSpPr>
          <p:nvPr/>
        </p:nvSpPr>
        <p:spPr>
          <a:xfrm>
            <a:off x="6229350" y="5219700"/>
            <a:ext cx="22098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buNone/>
              <a:defRPr sz="120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运营模式与治理</a:t>
            </a:r>
          </a:p>
        </p:txBody>
      </p: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72C8F409-6AD5-434D-9550-4504F6A5E2E8}"/>
              </a:ext>
            </a:extLst>
          </p:cNvPr>
          <p:cNvSpPr>
            <a:spLocks noGrp="1"/>
          </p:cNvSpPr>
          <p:nvPr/>
        </p:nvSpPr>
        <p:spPr>
          <a:xfrm>
            <a:off x="8782050" y="5105400"/>
            <a:ext cx="2438400" cy="419100"/>
          </a:xfrm>
          <a:prstGeom prst="roundRect">
            <a:avLst>
              <a:gd name="adj" fmla="val 27273"/>
            </a:avLst>
          </a:prstGeom>
          <a:solidFill>
            <a:srgbClr val="F6FAFE"/>
          </a:solidFill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02EBE08D-3256-4267-B049-FF4B3446303A}"/>
              </a:ext>
            </a:extLst>
          </p:cNvPr>
          <p:cNvSpPr>
            <a:spLocks noGrp="1"/>
          </p:cNvSpPr>
          <p:nvPr/>
        </p:nvSpPr>
        <p:spPr>
          <a:xfrm>
            <a:off x="8896350" y="5219700"/>
            <a:ext cx="22098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buNone/>
              <a:defRPr sz="120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负责任的 AI 与合规</a:t>
            </a:r>
          </a:p>
        </p:txBody>
      </p:sp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21D02FF0-E439-4DDC-9296-F88653607930}"/>
              </a:ext>
            </a:extLst>
          </p:cNvPr>
          <p:cNvSpPr>
            <a:spLocks noGrp="1"/>
          </p:cNvSpPr>
          <p:nvPr/>
        </p:nvSpPr>
        <p:spPr>
          <a:xfrm>
            <a:off x="685800" y="5867400"/>
            <a:ext cx="2190750" cy="342900"/>
          </a:xfrm>
          <a:prstGeom prst="roundRect">
            <a:avLst>
              <a:gd name="adj" fmla="val 33333"/>
            </a:avLst>
          </a:prstGeom>
          <a:solidFill>
            <a:srgbClr val="EAF4FF"/>
          </a:solidFill>
          <a:ln w="9525">
            <a:solidFill>
              <a:srgbClr val="0066CC"/>
            </a:solidFill>
            <a:prstDash val="solid"/>
          </a:ln>
        </p:spPr>
        <p:txBody>
          <a:bodyPr wrap="none" lIns="76200" tIns="0" rIns="76200" bIns="0" anchor="ctr">
            <a:normAutofit/>
          </a:bodyPr>
          <a:lstStyle/>
          <a:p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r:id="rId3"/>
              </a:rPr>
              <a:t>进入 AI Gateway  ↗</a:t>
            </a:r>
          </a:p>
        </p:txBody>
      </p:sp>
    </p:spTree>
    <p:extLst>
      <p:ext uri="{BB962C8B-B14F-4D97-AF65-F5344CB8AC3E}">
        <p14:creationId xmlns:p14="http://schemas.microsoft.com/office/powerpoint/2010/main" val="18673199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DB684A29-409B-40DE-960D-E353D107EE8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0066CC"/>
          </a:solidFill>
          <a:ln w="9525">
            <a:solidFill>
              <a:srgbClr val="0066C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1A56CCA-9E07-47B0-A059-0EA9F9FED395}"/>
              </a:ext>
            </a:extLst>
          </p:cNvPr>
          <p:cNvSpPr>
            <a:spLocks noGrp="1"/>
          </p:cNvSpPr>
          <p:nvPr/>
        </p:nvSpPr>
        <p:spPr>
          <a:xfrm>
            <a:off x="685800" y="285750"/>
            <a:ext cx="5048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02 Philips AI 全景与工具导航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3DBC18C-27C1-4772-80DD-03CCF724DBDC}"/>
              </a:ext>
            </a:extLst>
          </p:cNvPr>
          <p:cNvSpPr>
            <a:spLocks noGrp="1"/>
          </p:cNvSpPr>
          <p:nvPr/>
        </p:nvSpPr>
        <p:spPr>
          <a:xfrm>
            <a:off x="685800" y="638175"/>
            <a:ext cx="108204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 dirty="0" err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当前</a:t>
            </a:r>
            <a:r>
              <a:rPr lang="en-US" altLang="zh-CN" sz="2550" b="1" dirty="0" err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ChatGPT</a:t>
            </a:r>
            <a:r>
              <a:rPr sz="2550" b="1" dirty="0" err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完整流程：先申请，再安装并登录</a:t>
            </a:r>
            <a:endParaRPr sz="2550" b="1" dirty="0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1E6527B-AA04-4C64-9284-F214729DE601}"/>
              </a:ext>
            </a:extLst>
          </p:cNvPr>
          <p:cNvSpPr>
            <a:spLocks noGrp="1"/>
          </p:cNvSpPr>
          <p:nvPr/>
        </p:nvSpPr>
        <p:spPr>
          <a:xfrm>
            <a:off x="685800" y="1181100"/>
            <a:ext cx="108204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先完成部门审批，然后并行提交两项申请；收到两封确认邮件后，再进入 Company Portal 完成安装。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B1A1D26-32B6-4621-B623-515D2A83348F}"/>
              </a:ext>
            </a:extLst>
          </p:cNvPr>
          <p:cNvSpPr>
            <a:spLocks noGrp="1"/>
          </p:cNvSpPr>
          <p:nvPr/>
        </p:nvSpPr>
        <p:spPr>
          <a:xfrm>
            <a:off x="11049000" y="6438900"/>
            <a:ext cx="4572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8718699-CE00-4957-9243-499FA47A5555}"/>
              </a:ext>
            </a:extLst>
          </p:cNvPr>
          <p:cNvSpPr>
            <a:spLocks noGrp="1"/>
          </p:cNvSpPr>
          <p:nvPr/>
        </p:nvSpPr>
        <p:spPr>
          <a:xfrm>
            <a:off x="685800" y="6334125"/>
            <a:ext cx="10820400" cy="9525"/>
          </a:xfrm>
          <a:prstGeom prst="rect">
            <a:avLst/>
          </a:prstGeom>
          <a:solidFill>
            <a:srgbClr val="C9DDF2"/>
          </a:solidFill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B3FB70CA-C22B-40D1-A9B1-3277E4B0163F}"/>
              </a:ext>
            </a:extLst>
          </p:cNvPr>
          <p:cNvSpPr>
            <a:spLocks noGrp="1"/>
          </p:cNvSpPr>
          <p:nvPr/>
        </p:nvSpPr>
        <p:spPr>
          <a:xfrm>
            <a:off x="838200" y="1952625"/>
            <a:ext cx="3190875" cy="2381250"/>
          </a:xfrm>
          <a:prstGeom prst="roundRect">
            <a:avLst>
              <a:gd name="adj" fmla="val 4800"/>
            </a:avLst>
          </a:prstGeom>
          <a:solidFill>
            <a:srgbClr val="F6FAFE"/>
          </a:solidFill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7991F045-D0B7-437C-BEFA-81782642490C}"/>
              </a:ext>
            </a:extLst>
          </p:cNvPr>
          <p:cNvSpPr>
            <a:spLocks noGrp="1"/>
          </p:cNvSpPr>
          <p:nvPr/>
        </p:nvSpPr>
        <p:spPr>
          <a:xfrm>
            <a:off x="1047750" y="2162175"/>
            <a:ext cx="400050" cy="400050"/>
          </a:xfrm>
          <a:prstGeom prst="ellipse">
            <a:avLst/>
          </a:prstGeom>
          <a:solidFill>
            <a:srgbClr val="0066CC"/>
          </a:solidFill>
          <a:ln w="9525">
            <a:solidFill>
              <a:srgbClr val="0066C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6EA9900-5349-4E73-A3AA-92359F79D934}"/>
              </a:ext>
            </a:extLst>
          </p:cNvPr>
          <p:cNvSpPr>
            <a:spLocks noGrp="1"/>
          </p:cNvSpPr>
          <p:nvPr/>
        </p:nvSpPr>
        <p:spPr>
          <a:xfrm>
            <a:off x="1047750" y="2219325"/>
            <a:ext cx="4000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buNone/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0833808-1182-440E-B7B8-B5DF72B77C77}"/>
              </a:ext>
            </a:extLst>
          </p:cNvPr>
          <p:cNvSpPr>
            <a:spLocks noGrp="1"/>
          </p:cNvSpPr>
          <p:nvPr/>
        </p:nvSpPr>
        <p:spPr>
          <a:xfrm>
            <a:off x="1600200" y="2143125"/>
            <a:ext cx="221932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获得 GCMT 批准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AFC513B-DD3B-479B-ABC9-852E137B8329}"/>
              </a:ext>
            </a:extLst>
          </p:cNvPr>
          <p:cNvSpPr>
            <a:spLocks noGrp="1"/>
          </p:cNvSpPr>
          <p:nvPr/>
        </p:nvSpPr>
        <p:spPr>
          <a:xfrm>
            <a:off x="1047750" y="2657475"/>
            <a:ext cx="2771775" cy="1504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确认业务用途，并准备部门批准材料。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08447FAB-4E9E-4BAB-9D9D-B17B9A6AE410}"/>
              </a:ext>
            </a:extLst>
          </p:cNvPr>
          <p:cNvSpPr>
            <a:spLocks noGrp="1"/>
          </p:cNvSpPr>
          <p:nvPr/>
        </p:nvSpPr>
        <p:spPr>
          <a:xfrm>
            <a:off x="4495800" y="1952625"/>
            <a:ext cx="3190875" cy="2381250"/>
          </a:xfrm>
          <a:prstGeom prst="roundRect">
            <a:avLst>
              <a:gd name="adj" fmla="val 4800"/>
            </a:avLst>
          </a:prstGeom>
          <a:solidFill>
            <a:srgbClr val="F6FAFE"/>
          </a:solidFill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3641735F-05C3-4867-980A-B28137E5687F}"/>
              </a:ext>
            </a:extLst>
          </p:cNvPr>
          <p:cNvSpPr>
            <a:spLocks noGrp="1"/>
          </p:cNvSpPr>
          <p:nvPr/>
        </p:nvSpPr>
        <p:spPr>
          <a:xfrm>
            <a:off x="4705350" y="2162175"/>
            <a:ext cx="400050" cy="400050"/>
          </a:xfrm>
          <a:prstGeom prst="ellipse">
            <a:avLst/>
          </a:prstGeom>
          <a:solidFill>
            <a:srgbClr val="11966F"/>
          </a:solidFill>
          <a:ln w="9525">
            <a:solidFill>
              <a:srgbClr val="11966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992F4DB-E573-4AD2-BE44-C34449FD556B}"/>
              </a:ext>
            </a:extLst>
          </p:cNvPr>
          <p:cNvSpPr>
            <a:spLocks noGrp="1"/>
          </p:cNvSpPr>
          <p:nvPr/>
        </p:nvSpPr>
        <p:spPr>
          <a:xfrm>
            <a:off x="4705350" y="2219325"/>
            <a:ext cx="4000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buNone/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062EE9D-8CC0-4D3B-B63A-E8B3BA5190DA}"/>
              </a:ext>
            </a:extLst>
          </p:cNvPr>
          <p:cNvSpPr>
            <a:spLocks noGrp="1"/>
          </p:cNvSpPr>
          <p:nvPr/>
        </p:nvSpPr>
        <p:spPr>
          <a:xfrm>
            <a:off x="5257800" y="2143125"/>
            <a:ext cx="221932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并行提交两项申请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4BDFB5D-B3E9-4DBB-A591-2DE756538CEE}"/>
              </a:ext>
            </a:extLst>
          </p:cNvPr>
          <p:cNvSpPr>
            <a:spLocks noGrp="1"/>
          </p:cNvSpPr>
          <p:nvPr/>
        </p:nvSpPr>
        <p:spPr>
          <a:xfrm>
            <a:off x="4705350" y="2657475"/>
            <a:ext cx="2771775" cy="1504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AI Gateway：申请 Enterprise ChatGPT 账号
ServiceNow：申请中国网络服务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FCEBC1BA-C645-4A76-B4F7-DBEC548F2071}"/>
              </a:ext>
            </a:extLst>
          </p:cNvPr>
          <p:cNvSpPr>
            <a:spLocks noGrp="1"/>
          </p:cNvSpPr>
          <p:nvPr/>
        </p:nvSpPr>
        <p:spPr>
          <a:xfrm>
            <a:off x="8153400" y="1952625"/>
            <a:ext cx="3190875" cy="2381250"/>
          </a:xfrm>
          <a:prstGeom prst="roundRect">
            <a:avLst>
              <a:gd name="adj" fmla="val 4800"/>
            </a:avLst>
          </a:prstGeom>
          <a:solidFill>
            <a:srgbClr val="F6FAFE"/>
          </a:solidFill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4C91C41A-D055-4378-A239-89C9E8A79DFF}"/>
              </a:ext>
            </a:extLst>
          </p:cNvPr>
          <p:cNvSpPr>
            <a:spLocks noGrp="1"/>
          </p:cNvSpPr>
          <p:nvPr/>
        </p:nvSpPr>
        <p:spPr>
          <a:xfrm>
            <a:off x="8362950" y="2162175"/>
            <a:ext cx="400050" cy="400050"/>
          </a:xfrm>
          <a:prstGeom prst="ellipse">
            <a:avLst/>
          </a:prstGeom>
          <a:solidFill>
            <a:srgbClr val="E8742B"/>
          </a:solidFill>
          <a:ln w="9525">
            <a:solidFill>
              <a:srgbClr val="E8742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27026ED-758F-44C4-A9B8-486781A7B992}"/>
              </a:ext>
            </a:extLst>
          </p:cNvPr>
          <p:cNvSpPr>
            <a:spLocks noGrp="1"/>
          </p:cNvSpPr>
          <p:nvPr/>
        </p:nvSpPr>
        <p:spPr>
          <a:xfrm>
            <a:off x="8362950" y="2219325"/>
            <a:ext cx="4000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buNone/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622D0A9-7C7E-4780-9DED-D390E3560CAE}"/>
              </a:ext>
            </a:extLst>
          </p:cNvPr>
          <p:cNvSpPr>
            <a:spLocks noGrp="1"/>
          </p:cNvSpPr>
          <p:nvPr/>
        </p:nvSpPr>
        <p:spPr>
          <a:xfrm>
            <a:off x="8915400" y="2143125"/>
            <a:ext cx="221932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确认、安装并登录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BF9DA31-BF04-4D1A-9D0C-57F9A2B8150A}"/>
              </a:ext>
            </a:extLst>
          </p:cNvPr>
          <p:cNvSpPr>
            <a:spLocks noGrp="1"/>
          </p:cNvSpPr>
          <p:nvPr/>
        </p:nvSpPr>
        <p:spPr>
          <a:xfrm>
            <a:off x="8362950" y="2657475"/>
            <a:ext cx="2771775" cy="1504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收到 OpenAI 与 SNOW 邮件后，在 Company Portal 安装 Proxy Doctor；连接办公网或 VPN，再登录企业工作区。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85B5ACC-FA18-43FF-8162-16C099975B0F}"/>
              </a:ext>
            </a:extLst>
          </p:cNvPr>
          <p:cNvSpPr>
            <a:spLocks noGrp="1"/>
          </p:cNvSpPr>
          <p:nvPr/>
        </p:nvSpPr>
        <p:spPr>
          <a:xfrm>
            <a:off x="952500" y="4762500"/>
            <a:ext cx="102870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buNone/>
              <a:defRPr sz="18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两项申请可以同时进行；两封确认邮件都收到后，再安装并登录。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BD2049CD-A1D2-41B1-A800-7AD5F3D7E0D5}"/>
              </a:ext>
            </a:extLst>
          </p:cNvPr>
          <p:cNvSpPr>
            <a:spLocks noGrp="1"/>
          </p:cNvSpPr>
          <p:nvPr/>
        </p:nvSpPr>
        <p:spPr>
          <a:xfrm>
            <a:off x="685800" y="5867400"/>
            <a:ext cx="2190750" cy="342900"/>
          </a:xfrm>
          <a:prstGeom prst="roundRect">
            <a:avLst>
              <a:gd name="adj" fmla="val 33333"/>
            </a:avLst>
          </a:prstGeom>
          <a:solidFill>
            <a:srgbClr val="EAF4FF"/>
          </a:solidFill>
          <a:ln w="9525">
            <a:solidFill>
              <a:srgbClr val="0066CC"/>
            </a:solidFill>
            <a:prstDash val="solid"/>
          </a:ln>
        </p:spPr>
        <p:txBody>
          <a:bodyPr wrap="none" lIns="76200" tIns="0" rIns="76200" bIns="0" anchor="ctr">
            <a:normAutofit/>
          </a:bodyPr>
          <a:lstStyle/>
          <a:p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r:id="rId3"/>
              </a:rPr>
              <a:t>查看完整使用手册  ↗</a:t>
            </a:r>
          </a:p>
        </p:txBody>
      </p:sp>
      <p:sp>
        <p:nvSpPr>
          <p:cNvPr id="25" name="流程箭头 1">
            <a:extLst>
              <a:ext uri="{FF2B5EF4-FFF2-40B4-BE49-F238E27FC236}">
                <a16:creationId xmlns:a16="http://schemas.microsoft.com/office/drawing/2014/main" id="{F2BD12C5-3FBD-4F76-A220-1FE188DEB961}"/>
              </a:ext>
            </a:extLst>
          </p:cNvPr>
          <p:cNvSpPr>
            <a:spLocks noGrp="1"/>
          </p:cNvSpPr>
          <p:nvPr/>
        </p:nvSpPr>
        <p:spPr>
          <a:xfrm>
            <a:off x="4114800" y="2895600"/>
            <a:ext cx="285750" cy="361950"/>
          </a:xfrm>
          <a:prstGeom prst="rightArrow">
            <a:avLst/>
          </a:prstGeom>
          <a:solidFill>
            <a:srgbClr val="C9DDF2"/>
          </a:solidFill>
          <a:ln w="0">
            <a:solidFill>
              <a:srgbClr val="C9D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流程箭头 2">
            <a:extLst>
              <a:ext uri="{FF2B5EF4-FFF2-40B4-BE49-F238E27FC236}">
                <a16:creationId xmlns:a16="http://schemas.microsoft.com/office/drawing/2014/main" id="{F582A810-C2CB-4180-A16E-4FE96E8C674D}"/>
              </a:ext>
            </a:extLst>
          </p:cNvPr>
          <p:cNvSpPr>
            <a:spLocks noGrp="1"/>
          </p:cNvSpPr>
          <p:nvPr/>
        </p:nvSpPr>
        <p:spPr>
          <a:xfrm>
            <a:off x="7772400" y="2895600"/>
            <a:ext cx="285750" cy="361950"/>
          </a:xfrm>
          <a:prstGeom prst="rightArrow">
            <a:avLst/>
          </a:prstGeom>
          <a:solidFill>
            <a:srgbClr val="C9DDF2"/>
          </a:solidFill>
          <a:ln w="0">
            <a:solidFill>
              <a:srgbClr val="C9D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62210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3FC409DB-C7B5-41C6-A475-A3CF9110134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0066CC"/>
          </a:solidFill>
          <a:ln w="9525">
            <a:solidFill>
              <a:srgbClr val="0066C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8D6825F-32D2-4DF3-8362-10AE661D7426}"/>
              </a:ext>
            </a:extLst>
          </p:cNvPr>
          <p:cNvSpPr>
            <a:spLocks noGrp="1"/>
          </p:cNvSpPr>
          <p:nvPr/>
        </p:nvSpPr>
        <p:spPr>
          <a:xfrm>
            <a:off x="685800" y="285750"/>
            <a:ext cx="5048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02 Philips AI 全景与工具导航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AC7E150-EE12-42CB-85CC-DE78F595B570}"/>
              </a:ext>
            </a:extLst>
          </p:cNvPr>
          <p:cNvSpPr>
            <a:spLocks noGrp="1"/>
          </p:cNvSpPr>
          <p:nvPr/>
        </p:nvSpPr>
        <p:spPr>
          <a:xfrm>
            <a:off x="685800" y="638175"/>
            <a:ext cx="108204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完整操作以 KB1528249 使用手册为准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B2B1782-9716-461B-951D-4300D5E62299}"/>
              </a:ext>
            </a:extLst>
          </p:cNvPr>
          <p:cNvSpPr>
            <a:spLocks noGrp="1"/>
          </p:cNvSpPr>
          <p:nvPr/>
        </p:nvSpPr>
        <p:spPr>
          <a:xfrm>
            <a:off x="685800" y="1181100"/>
            <a:ext cx="108204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这一部分提炼当前操作路径；实际申请时，请按知识库当前版本逐项操作。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4B04E50-ED5E-4AD2-B4DA-F519F4A6BD89}"/>
              </a:ext>
            </a:extLst>
          </p:cNvPr>
          <p:cNvSpPr>
            <a:spLocks noGrp="1"/>
          </p:cNvSpPr>
          <p:nvPr/>
        </p:nvSpPr>
        <p:spPr>
          <a:xfrm>
            <a:off x="11049000" y="6438900"/>
            <a:ext cx="4572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23B9F20-266A-4D94-8AB7-1949D3E2E9B2}"/>
              </a:ext>
            </a:extLst>
          </p:cNvPr>
          <p:cNvSpPr>
            <a:spLocks noGrp="1"/>
          </p:cNvSpPr>
          <p:nvPr/>
        </p:nvSpPr>
        <p:spPr>
          <a:xfrm>
            <a:off x="685800" y="6334125"/>
            <a:ext cx="10820400" cy="9525"/>
          </a:xfrm>
          <a:prstGeom prst="rect">
            <a:avLst/>
          </a:prstGeom>
          <a:solidFill>
            <a:srgbClr val="C9DDF2"/>
          </a:solidFill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21" name="Picture 20"/>
          <p:cNvPicPr>
            <a:picLocks noChangeAspect="1"/>
          </p:cNvPicPr>
          <p:nvPr/>
        </p:nvPicPr>
        <p:blipFill>
          <a:blip r:embed="rId3"/>
          <a:srcRect l="16000" t="2000" r="34000" b="58000"/>
          <a:stretch/>
        </p:blipFill>
        <p:spPr>
          <a:xfrm>
            <a:off x="666750" y="2047875"/>
            <a:ext cx="6734175" cy="2762250"/>
          </a:xfrm>
          <a:prstGeom prst="roundRect">
            <a:avLst/>
          </a:prstGeom>
        </p:spPr>
      </p:pic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46BAD53D-6FF9-49C6-9745-238BDDFE70AC}"/>
              </a:ext>
            </a:extLst>
          </p:cNvPr>
          <p:cNvSpPr>
            <a:spLocks noGrp="1"/>
          </p:cNvSpPr>
          <p:nvPr/>
        </p:nvSpPr>
        <p:spPr>
          <a:xfrm>
            <a:off x="666750" y="1743075"/>
            <a:ext cx="6724650" cy="3752850"/>
          </a:xfrm>
          <a:prstGeom prst="roundRect">
            <a:avLst>
              <a:gd name="adj" fmla="val 3046"/>
            </a:avLst>
          </a:prstGeom>
          <a:noFill/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C0573724-3389-450A-8B70-BF59D2ABBA31}"/>
              </a:ext>
            </a:extLst>
          </p:cNvPr>
          <p:cNvSpPr>
            <a:spLocks noGrp="1"/>
          </p:cNvSpPr>
          <p:nvPr/>
        </p:nvSpPr>
        <p:spPr>
          <a:xfrm>
            <a:off x="7620000" y="1762125"/>
            <a:ext cx="3886200" cy="3714750"/>
          </a:xfrm>
          <a:prstGeom prst="roundRect">
            <a:avLst>
              <a:gd name="adj" fmla="val 3077"/>
            </a:avLst>
          </a:prstGeom>
          <a:solidFill>
            <a:srgbClr val="F6FAFE"/>
          </a:solidFill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A037AB6-092B-42D8-91D5-A66CFC37B7B6}"/>
              </a:ext>
            </a:extLst>
          </p:cNvPr>
          <p:cNvSpPr>
            <a:spLocks noGrp="1"/>
          </p:cNvSpPr>
          <p:nvPr/>
        </p:nvSpPr>
        <p:spPr>
          <a:xfrm>
            <a:off x="7848600" y="1971675"/>
            <a:ext cx="3429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开始前确认三件事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D5133DE-B5E1-46CD-AF1F-0606857D787E}"/>
              </a:ext>
            </a:extLst>
          </p:cNvPr>
          <p:cNvSpPr>
            <a:spLocks noGrp="1"/>
          </p:cNvSpPr>
          <p:nvPr/>
        </p:nvSpPr>
        <p:spPr>
          <a:xfrm>
            <a:off x="7848600" y="2390775"/>
            <a:ext cx="3429000" cy="2876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rmAutofit/>
          </a:bodyPr>
          <a:lstStyle/>
          <a:p>
            <a:pPr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首先准备 Philips 账号和部门 GCMT 批准材料。</a:t>
            </a:r>
          </a:p>
          <a:p>
            <a:endParaRPr sz="1200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>
            <a:pPr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接着并行完成两项申请：在 AI Gateway 申请账号，在 ServiceNow 申请中国网络服务。</a:t>
            </a:r>
          </a:p>
          <a:p>
            <a:endParaRPr sz="1200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>
            <a:pPr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收到 OpenAI 和 SNOW 两封确认邮件后，在 Windows Company Portal 安装 ChatGPT Proxy Doctor。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0CBFFA5E-180E-4C08-BCCF-D495ACAD47EC}"/>
              </a:ext>
            </a:extLst>
          </p:cNvPr>
          <p:cNvSpPr>
            <a:spLocks noGrp="1"/>
          </p:cNvSpPr>
          <p:nvPr/>
        </p:nvSpPr>
        <p:spPr>
          <a:xfrm>
            <a:off x="685800" y="5867400"/>
            <a:ext cx="2190750" cy="342900"/>
          </a:xfrm>
          <a:prstGeom prst="roundRect">
            <a:avLst>
              <a:gd name="adj" fmla="val 33333"/>
            </a:avLst>
          </a:prstGeom>
          <a:solidFill>
            <a:srgbClr val="EAF4FF"/>
          </a:solidFill>
          <a:ln w="9525">
            <a:solidFill>
              <a:srgbClr val="0066CC"/>
            </a:solidFill>
            <a:prstDash val="solid"/>
          </a:ln>
        </p:spPr>
        <p:txBody>
          <a:bodyPr wrap="none" lIns="76200" tIns="0" rIns="76200" bIns="0" anchor="ctr">
            <a:normAutofit/>
          </a:bodyPr>
          <a:lstStyle/>
          <a:p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r:id="rId4"/>
              </a:rPr>
              <a:t>查看完整使用手册  ↗</a:t>
            </a:r>
          </a:p>
        </p:txBody>
      </p:sp>
    </p:spTree>
    <p:extLst>
      <p:ext uri="{BB962C8B-B14F-4D97-AF65-F5344CB8AC3E}">
        <p14:creationId xmlns:p14="http://schemas.microsoft.com/office/powerpoint/2010/main" val="6922285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5940119D-52D7-4CC7-92B3-B49DFF7EE22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0066CC"/>
          </a:solidFill>
          <a:ln w="9525">
            <a:solidFill>
              <a:srgbClr val="0066C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EC3D5E7-05A5-488D-811E-DB0A43F52373}"/>
              </a:ext>
            </a:extLst>
          </p:cNvPr>
          <p:cNvSpPr>
            <a:spLocks noGrp="1"/>
          </p:cNvSpPr>
          <p:nvPr/>
        </p:nvSpPr>
        <p:spPr>
          <a:xfrm>
            <a:off x="685800" y="285750"/>
            <a:ext cx="5048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02 Philips AI 全景与工具导航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53C5CD1-B718-494F-9020-DA36BB597E21}"/>
              </a:ext>
            </a:extLst>
          </p:cNvPr>
          <p:cNvSpPr>
            <a:spLocks noGrp="1"/>
          </p:cNvSpPr>
          <p:nvPr/>
        </p:nvSpPr>
        <p:spPr>
          <a:xfrm>
            <a:off x="685800" y="638175"/>
            <a:ext cx="108204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第1步：在 AI Gateway 申请 Enterprise ChatGPT 账号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631ED03-7590-4542-BC11-83C3B92E24B0}"/>
              </a:ext>
            </a:extLst>
          </p:cNvPr>
          <p:cNvSpPr>
            <a:spLocks noGrp="1"/>
          </p:cNvSpPr>
          <p:nvPr/>
        </p:nvSpPr>
        <p:spPr>
          <a:xfrm>
            <a:off x="685800" y="1181100"/>
            <a:ext cx="108204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获得 GCMT 批准后，提交 Enterprise ChatGPT 访问申请，并等待 OpenAI 开通邮件。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17A1ED3-7727-40E2-A07D-68534B2FD410}"/>
              </a:ext>
            </a:extLst>
          </p:cNvPr>
          <p:cNvSpPr>
            <a:spLocks noGrp="1"/>
          </p:cNvSpPr>
          <p:nvPr/>
        </p:nvSpPr>
        <p:spPr>
          <a:xfrm>
            <a:off x="11049000" y="6438900"/>
            <a:ext cx="4572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89F9FED-EA84-4071-972C-A207AB0C2CF8}"/>
              </a:ext>
            </a:extLst>
          </p:cNvPr>
          <p:cNvSpPr>
            <a:spLocks noGrp="1"/>
          </p:cNvSpPr>
          <p:nvPr/>
        </p:nvSpPr>
        <p:spPr>
          <a:xfrm>
            <a:off x="685800" y="6334125"/>
            <a:ext cx="10820400" cy="9525"/>
          </a:xfrm>
          <a:prstGeom prst="rect">
            <a:avLst/>
          </a:prstGeom>
          <a:solidFill>
            <a:srgbClr val="C9DDF2"/>
          </a:solidFill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FA80B673-DD97-421C-B95A-DA16C847CEEA}"/>
              </a:ext>
            </a:extLst>
          </p:cNvPr>
          <p:cNvSpPr>
            <a:spLocks noGrp="1"/>
          </p:cNvSpPr>
          <p:nvPr/>
        </p:nvSpPr>
        <p:spPr>
          <a:xfrm>
            <a:off x="666750" y="1743075"/>
            <a:ext cx="6781800" cy="4000500"/>
          </a:xfrm>
          <a:prstGeom prst="roundRect">
            <a:avLst>
              <a:gd name="adj" fmla="val 2857"/>
            </a:avLst>
          </a:prstGeom>
          <a:noFill/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5E11916B-61BE-495A-B5E0-AC5512FA8990}"/>
              </a:ext>
            </a:extLst>
          </p:cNvPr>
          <p:cNvSpPr>
            <a:spLocks noGrp="1"/>
          </p:cNvSpPr>
          <p:nvPr/>
        </p:nvSpPr>
        <p:spPr>
          <a:xfrm>
            <a:off x="7620000" y="1762125"/>
            <a:ext cx="3886200" cy="3962400"/>
          </a:xfrm>
          <a:prstGeom prst="roundRect">
            <a:avLst>
              <a:gd name="adj" fmla="val 2941"/>
            </a:avLst>
          </a:prstGeom>
          <a:solidFill>
            <a:srgbClr val="F6FAFE"/>
          </a:solidFill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7ACDD2B-9BED-4648-ADCC-BF9703BA3775}"/>
              </a:ext>
            </a:extLst>
          </p:cNvPr>
          <p:cNvSpPr>
            <a:spLocks noGrp="1"/>
          </p:cNvSpPr>
          <p:nvPr/>
        </p:nvSpPr>
        <p:spPr>
          <a:xfrm>
            <a:off x="7848600" y="1971675"/>
            <a:ext cx="3429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怎么操作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9967401-C37F-462C-B9B4-6E5C63D2159A}"/>
              </a:ext>
            </a:extLst>
          </p:cNvPr>
          <p:cNvSpPr>
            <a:spLocks noGrp="1"/>
          </p:cNvSpPr>
          <p:nvPr/>
        </p:nvSpPr>
        <p:spPr>
          <a:xfrm>
            <a:off x="7848600" y="2390775"/>
            <a:ext cx="3429000" cy="3124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rmAutofit/>
          </a:bodyPr>
          <a:lstStyle/>
          <a:p>
            <a:pPr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首先打开 AI Gateway，查看当前账号状态；如果尚未开通，进入 AI Assistant。</a:t>
            </a:r>
          </a:p>
          <a:p>
            <a:endParaRPr sz="1200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>
            <a:pPr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接着输入或选择“Access”，提交 Enterprise ChatGPT 申请，并按页面要求提供 GCMT 批准材料。</a:t>
            </a:r>
          </a:p>
          <a:p>
            <a:endParaRPr sz="1200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>
            <a:pPr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完成标志是收到 OpenAI 开通邮件；收到后保留邮件，并继续确认网络申请状态。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09425299-5A47-4B9D-95B4-C550CFB99B9C}"/>
              </a:ext>
            </a:extLst>
          </p:cNvPr>
          <p:cNvSpPr>
            <a:spLocks noGrp="1"/>
          </p:cNvSpPr>
          <p:nvPr/>
        </p:nvSpPr>
        <p:spPr>
          <a:xfrm>
            <a:off x="685800" y="5867400"/>
            <a:ext cx="2190750" cy="342900"/>
          </a:xfrm>
          <a:prstGeom prst="roundRect">
            <a:avLst>
              <a:gd name="adj" fmla="val 33333"/>
            </a:avLst>
          </a:prstGeom>
          <a:solidFill>
            <a:srgbClr val="EAF4FF"/>
          </a:solidFill>
          <a:ln w="9525">
            <a:solidFill>
              <a:srgbClr val="0066CC"/>
            </a:solidFill>
            <a:prstDash val="solid"/>
          </a:ln>
        </p:spPr>
        <p:txBody>
          <a:bodyPr wrap="none" lIns="76200" tIns="0" rIns="76200" bIns="0" anchor="ctr">
            <a:normAutofit/>
          </a:bodyPr>
          <a:lstStyle/>
          <a:p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r:id="rId3"/>
              </a:rPr>
              <a:t>打开 AI Gateway  ↗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5EC6A347-ECFE-435D-8765-5C8BB24F388F}"/>
              </a:ext>
            </a:extLst>
          </p:cNvPr>
          <p:cNvSpPr>
            <a:spLocks noGrp="1"/>
          </p:cNvSpPr>
          <p:nvPr/>
        </p:nvSpPr>
        <p:spPr>
          <a:xfrm>
            <a:off x="3048000" y="5867400"/>
            <a:ext cx="2381250" cy="342900"/>
          </a:xfrm>
          <a:prstGeom prst="roundRect">
            <a:avLst>
              <a:gd name="adj" fmla="val 33333"/>
            </a:avLst>
          </a:prstGeom>
          <a:solidFill>
            <a:srgbClr val="EAF4FF"/>
          </a:solidFill>
          <a:ln w="9525">
            <a:solidFill>
              <a:srgbClr val="0066CC"/>
            </a:solidFill>
            <a:prstDash val="solid"/>
          </a:ln>
        </p:spPr>
        <p:txBody>
          <a:bodyPr wrap="none" lIns="76200" tIns="0" rIns="76200" bIns="0" anchor="ctr">
            <a:normAutofit/>
          </a:bodyPr>
          <a:lstStyle/>
          <a:p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r:id="rId4"/>
              </a:rPr>
              <a:t>查看完整使用手册  ↗</a:t>
            </a:r>
          </a:p>
        </p:txBody>
      </p:sp>
      <p:pic>
        <p:nvPicPr>
          <p:cNvPr id="28" name="Picture 27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704850" y="1865709"/>
            <a:ext cx="6705600" cy="3755231"/>
          </a:xfrm>
          <a:prstGeom prst="roundRect">
            <a:avLst/>
          </a:prstGeom>
        </p:spPr>
      </p:pic>
    </p:spTree>
    <p:extLst>
      <p:ext uri="{BB962C8B-B14F-4D97-AF65-F5344CB8AC3E}">
        <p14:creationId xmlns:p14="http://schemas.microsoft.com/office/powerpoint/2010/main" val="141313374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F6C5844E-46ED-41FB-B7D6-FAD1D2550DE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0066CC"/>
          </a:solidFill>
          <a:ln w="9525">
            <a:solidFill>
              <a:srgbClr val="0066C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7C220C6-E88B-40FD-BC12-423BC44896B3}"/>
              </a:ext>
            </a:extLst>
          </p:cNvPr>
          <p:cNvSpPr>
            <a:spLocks noGrp="1"/>
          </p:cNvSpPr>
          <p:nvPr/>
        </p:nvSpPr>
        <p:spPr>
          <a:xfrm>
            <a:off x="685800" y="285750"/>
            <a:ext cx="5048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02 Philips AI 全景与工具导航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4B74853-3F29-4E57-9027-9791D4340D8E}"/>
              </a:ext>
            </a:extLst>
          </p:cNvPr>
          <p:cNvSpPr>
            <a:spLocks noGrp="1"/>
          </p:cNvSpPr>
          <p:nvPr/>
        </p:nvSpPr>
        <p:spPr>
          <a:xfrm>
            <a:off x="685800" y="638175"/>
            <a:ext cx="108204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第2步：在 ServiceNow 申请中国网络服务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22879E2-AE19-4ACC-9780-3B8896CF4905}"/>
              </a:ext>
            </a:extLst>
          </p:cNvPr>
          <p:cNvSpPr>
            <a:spLocks noGrp="1"/>
          </p:cNvSpPr>
          <p:nvPr/>
        </p:nvSpPr>
        <p:spPr>
          <a:xfrm>
            <a:off x="685800" y="1181100"/>
            <a:ext cx="108204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这项申请可以和账号申请同时提交；收到 SNOW 完成邮件后，网络服务即完成开通。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2A7CC60-BEFE-4613-B73B-323A19C542D7}"/>
              </a:ext>
            </a:extLst>
          </p:cNvPr>
          <p:cNvSpPr>
            <a:spLocks noGrp="1"/>
          </p:cNvSpPr>
          <p:nvPr/>
        </p:nvSpPr>
        <p:spPr>
          <a:xfrm>
            <a:off x="11049000" y="6438900"/>
            <a:ext cx="4572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5CACF57-DF94-4B13-975F-7F9480241345}"/>
              </a:ext>
            </a:extLst>
          </p:cNvPr>
          <p:cNvSpPr>
            <a:spLocks noGrp="1"/>
          </p:cNvSpPr>
          <p:nvPr/>
        </p:nvSpPr>
        <p:spPr>
          <a:xfrm>
            <a:off x="685800" y="6334125"/>
            <a:ext cx="10820400" cy="9525"/>
          </a:xfrm>
          <a:prstGeom prst="rect">
            <a:avLst/>
          </a:prstGeom>
          <a:solidFill>
            <a:srgbClr val="C9DDF2"/>
          </a:solidFill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E0181D59-D25D-470B-AD2B-8B9471AD67C0}"/>
              </a:ext>
            </a:extLst>
          </p:cNvPr>
          <p:cNvSpPr>
            <a:spLocks noGrp="1"/>
          </p:cNvSpPr>
          <p:nvPr/>
        </p:nvSpPr>
        <p:spPr>
          <a:xfrm>
            <a:off x="666750" y="1743075"/>
            <a:ext cx="6781800" cy="4000500"/>
          </a:xfrm>
          <a:prstGeom prst="roundRect">
            <a:avLst>
              <a:gd name="adj" fmla="val 2857"/>
            </a:avLst>
          </a:prstGeom>
          <a:noFill/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98DCC685-A556-4389-A626-508F9DF0407C}"/>
              </a:ext>
            </a:extLst>
          </p:cNvPr>
          <p:cNvSpPr>
            <a:spLocks noGrp="1"/>
          </p:cNvSpPr>
          <p:nvPr/>
        </p:nvSpPr>
        <p:spPr>
          <a:xfrm>
            <a:off x="7620000" y="1762125"/>
            <a:ext cx="3886200" cy="3962400"/>
          </a:xfrm>
          <a:prstGeom prst="roundRect">
            <a:avLst>
              <a:gd name="adj" fmla="val 2941"/>
            </a:avLst>
          </a:prstGeom>
          <a:solidFill>
            <a:srgbClr val="F6FAFE"/>
          </a:solidFill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BC9C306-B61D-4117-B39A-9CF54CE477E1}"/>
              </a:ext>
            </a:extLst>
          </p:cNvPr>
          <p:cNvSpPr>
            <a:spLocks noGrp="1"/>
          </p:cNvSpPr>
          <p:nvPr/>
        </p:nvSpPr>
        <p:spPr>
          <a:xfrm>
            <a:off x="7848600" y="1971675"/>
            <a:ext cx="3429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怎么操作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CF88624-55C7-4C7E-8EB0-9CCDC91EF9DF}"/>
              </a:ext>
            </a:extLst>
          </p:cNvPr>
          <p:cNvSpPr>
            <a:spLocks noGrp="1"/>
          </p:cNvSpPr>
          <p:nvPr/>
        </p:nvSpPr>
        <p:spPr>
          <a:xfrm>
            <a:off x="7848600" y="2390775"/>
            <a:ext cx="3429000" cy="3124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rmAutofit/>
          </a:bodyPr>
          <a:lstStyle/>
          <a:p>
            <a:pPr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首先打开 ServiceNow，搜索“China Internet Acceleration Service”，进入对应的服务申请页面。</a:t>
            </a:r>
          </a:p>
          <a:p>
            <a:endParaRPr sz="1200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>
            <a:pPr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接着填写业务需求，并按页面要求上传个人承诺书、GCMT 批准邮件或其他材料。</a:t>
            </a:r>
          </a:p>
          <a:p>
            <a:endParaRPr sz="1200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>
            <a:pPr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完成标志是收到 ServiceNow（SNOW）完成邮件；与 OpenAI 邮件一起作为进入安装步骤的确认。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8DB74832-CB41-4A37-96F2-79949E30A62C}"/>
              </a:ext>
            </a:extLst>
          </p:cNvPr>
          <p:cNvSpPr>
            <a:spLocks noGrp="1"/>
          </p:cNvSpPr>
          <p:nvPr/>
        </p:nvSpPr>
        <p:spPr>
          <a:xfrm>
            <a:off x="685800" y="5867400"/>
            <a:ext cx="2667000" cy="342900"/>
          </a:xfrm>
          <a:prstGeom prst="roundRect">
            <a:avLst>
              <a:gd name="adj" fmla="val 33333"/>
            </a:avLst>
          </a:prstGeom>
          <a:solidFill>
            <a:srgbClr val="EAF4FF"/>
          </a:solidFill>
          <a:ln w="9525">
            <a:solidFill>
              <a:srgbClr val="0066CC"/>
            </a:solidFill>
            <a:prstDash val="solid"/>
          </a:ln>
        </p:spPr>
        <p:txBody>
          <a:bodyPr wrap="none" lIns="76200" tIns="0" rIns="76200" bIns="0" anchor="ctr">
            <a:normAutofit/>
          </a:bodyPr>
          <a:lstStyle/>
          <a:p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r:id="rId3"/>
              </a:rPr>
              <a:t>查看完整使用手册  ↗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33C3D4CD-F938-416D-A536-AF2B9ACEE910}"/>
              </a:ext>
            </a:extLst>
          </p:cNvPr>
          <p:cNvSpPr>
            <a:spLocks noGrp="1"/>
          </p:cNvSpPr>
          <p:nvPr/>
        </p:nvSpPr>
        <p:spPr>
          <a:xfrm>
            <a:off x="3524250" y="5867400"/>
            <a:ext cx="2476500" cy="342900"/>
          </a:xfrm>
          <a:prstGeom prst="roundRect">
            <a:avLst>
              <a:gd name="adj" fmla="val 33333"/>
            </a:avLst>
          </a:prstGeom>
          <a:solidFill>
            <a:srgbClr val="EAF4FF"/>
          </a:solidFill>
          <a:ln w="9525">
            <a:solidFill>
              <a:srgbClr val="0066CC"/>
            </a:solidFill>
            <a:prstDash val="solid"/>
          </a:ln>
        </p:spPr>
        <p:txBody>
          <a:bodyPr wrap="none" lIns="76200" tIns="0" rIns="76200" bIns="0" anchor="ctr">
            <a:normAutofit/>
          </a:bodyPr>
          <a:lstStyle/>
          <a:p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r:id="rId4"/>
              </a:rPr>
              <a:t>申请中国网络服务  ↗</a:t>
            </a:r>
          </a:p>
        </p:txBody>
      </p:sp>
      <p:pic>
        <p:nvPicPr>
          <p:cNvPr id="28" name="Picture 27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685800" y="1937830"/>
            <a:ext cx="6743700" cy="3610988"/>
          </a:xfrm>
          <a:prstGeom prst="roundRect">
            <a:avLst/>
          </a:prstGeom>
        </p:spPr>
      </p:pic>
    </p:spTree>
    <p:extLst>
      <p:ext uri="{BB962C8B-B14F-4D97-AF65-F5344CB8AC3E}">
        <p14:creationId xmlns:p14="http://schemas.microsoft.com/office/powerpoint/2010/main" val="152546695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E27C3038-4B3F-4BD5-9302-14B460F3582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0066CC"/>
          </a:solidFill>
          <a:ln w="9525">
            <a:solidFill>
              <a:srgbClr val="0066C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9F99657-B268-4336-B9CD-60A5E77B6673}"/>
              </a:ext>
            </a:extLst>
          </p:cNvPr>
          <p:cNvSpPr>
            <a:spLocks noGrp="1"/>
          </p:cNvSpPr>
          <p:nvPr/>
        </p:nvSpPr>
        <p:spPr>
          <a:xfrm>
            <a:off x="685800" y="285750"/>
            <a:ext cx="5048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02 Philips AI 全景与工具导航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87250B7-E289-4B68-9DAA-D7C21668DC8D}"/>
              </a:ext>
            </a:extLst>
          </p:cNvPr>
          <p:cNvSpPr>
            <a:spLocks noGrp="1"/>
          </p:cNvSpPr>
          <p:nvPr/>
        </p:nvSpPr>
        <p:spPr>
          <a:xfrm>
            <a:off x="685800" y="638175"/>
            <a:ext cx="108204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第3步：在 Company Portal 安装 ChatGPT Proxy Doctor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2B2F346-A561-4B64-8F6C-367146B7C75E}"/>
              </a:ext>
            </a:extLst>
          </p:cNvPr>
          <p:cNvSpPr>
            <a:spLocks noGrp="1"/>
          </p:cNvSpPr>
          <p:nvPr/>
        </p:nvSpPr>
        <p:spPr>
          <a:xfrm>
            <a:off x="685800" y="1181100"/>
            <a:ext cx="108204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从 Windows 开始菜单打开 Company Portal，找到 ChatGPT Proxy Doctor，然后点击 Install。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84BF12B-5509-485E-A689-9201CF2D4725}"/>
              </a:ext>
            </a:extLst>
          </p:cNvPr>
          <p:cNvSpPr>
            <a:spLocks noGrp="1"/>
          </p:cNvSpPr>
          <p:nvPr/>
        </p:nvSpPr>
        <p:spPr>
          <a:xfrm>
            <a:off x="11049000" y="6438900"/>
            <a:ext cx="4572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894E557-F4E2-4FAD-A646-5BA2C6A668DD}"/>
              </a:ext>
            </a:extLst>
          </p:cNvPr>
          <p:cNvSpPr>
            <a:spLocks noGrp="1"/>
          </p:cNvSpPr>
          <p:nvPr/>
        </p:nvSpPr>
        <p:spPr>
          <a:xfrm>
            <a:off x="685800" y="6334125"/>
            <a:ext cx="10820400" cy="9525"/>
          </a:xfrm>
          <a:prstGeom prst="rect">
            <a:avLst/>
          </a:prstGeom>
          <a:solidFill>
            <a:srgbClr val="C9DDF2"/>
          </a:solidFill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22" name="Picture 21"/>
          <p:cNvPicPr>
            <a:picLocks noChangeAspect="1"/>
          </p:cNvPicPr>
          <p:nvPr/>
        </p:nvPicPr>
        <p:blipFill>
          <a:blip r:embed="rId3"/>
          <a:srcRect l="6000" t="7000" r="7000" b="39000"/>
          <a:stretch/>
        </p:blipFill>
        <p:spPr>
          <a:xfrm>
            <a:off x="685800" y="1846659"/>
            <a:ext cx="6743700" cy="3793331"/>
          </a:xfrm>
          <a:prstGeom prst="roundRect">
            <a:avLst/>
          </a:prstGeom>
        </p:spPr>
      </p:pic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40047D95-F7E8-4B4C-8DAE-08A28432439C}"/>
              </a:ext>
            </a:extLst>
          </p:cNvPr>
          <p:cNvSpPr>
            <a:spLocks noGrp="1"/>
          </p:cNvSpPr>
          <p:nvPr/>
        </p:nvSpPr>
        <p:spPr>
          <a:xfrm>
            <a:off x="666750" y="1743075"/>
            <a:ext cx="6781800" cy="4000500"/>
          </a:xfrm>
          <a:prstGeom prst="roundRect">
            <a:avLst>
              <a:gd name="adj" fmla="val 2857"/>
            </a:avLst>
          </a:prstGeom>
          <a:noFill/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9C1D392E-C7E3-4EEE-83C4-A66D9C1641C1}"/>
              </a:ext>
            </a:extLst>
          </p:cNvPr>
          <p:cNvSpPr>
            <a:spLocks noGrp="1"/>
          </p:cNvSpPr>
          <p:nvPr/>
        </p:nvSpPr>
        <p:spPr>
          <a:xfrm>
            <a:off x="7620000" y="1762125"/>
            <a:ext cx="3886200" cy="3962400"/>
          </a:xfrm>
          <a:prstGeom prst="roundRect">
            <a:avLst>
              <a:gd name="adj" fmla="val 2941"/>
            </a:avLst>
          </a:prstGeom>
          <a:solidFill>
            <a:srgbClr val="F6FAFE"/>
          </a:solidFill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84A8093-F6B1-4E39-AEB7-4023FA8364B4}"/>
              </a:ext>
            </a:extLst>
          </p:cNvPr>
          <p:cNvSpPr>
            <a:spLocks noGrp="1"/>
          </p:cNvSpPr>
          <p:nvPr/>
        </p:nvSpPr>
        <p:spPr>
          <a:xfrm>
            <a:off x="7848600" y="1971675"/>
            <a:ext cx="3429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怎么操作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6B5B129-FA1B-4178-B5CA-1AC209154708}"/>
              </a:ext>
            </a:extLst>
          </p:cNvPr>
          <p:cNvSpPr>
            <a:spLocks noGrp="1"/>
          </p:cNvSpPr>
          <p:nvPr/>
        </p:nvSpPr>
        <p:spPr>
          <a:xfrm>
            <a:off x="7848600" y="2390775"/>
            <a:ext cx="3429000" cy="3124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rmAutofit/>
          </a:bodyPr>
          <a:lstStyle/>
          <a:p>
            <a:pPr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首先从 Windows 开始菜单打开 Company Portal。</a:t>
            </a:r>
          </a:p>
          <a:p>
            <a:endParaRPr sz="1200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>
            <a:pPr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接着搜索并打开 ChatGPT Proxy Doctor，确认应用名称后点击 Install。</a:t>
            </a:r>
          </a:p>
          <a:p>
            <a:endParaRPr sz="1200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>
            <a:pPr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安装完成后保留默认设置；如果系统提示更新，按 Company Portal 页面提示完成。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D5896220-0CF0-4FAA-9DB0-7476FF65B0EC}"/>
              </a:ext>
            </a:extLst>
          </p:cNvPr>
          <p:cNvSpPr>
            <a:spLocks noGrp="1"/>
          </p:cNvSpPr>
          <p:nvPr/>
        </p:nvSpPr>
        <p:spPr>
          <a:xfrm>
            <a:off x="3333750" y="5867400"/>
            <a:ext cx="2381250" cy="342900"/>
          </a:xfrm>
          <a:prstGeom prst="roundRect">
            <a:avLst>
              <a:gd name="adj" fmla="val 33333"/>
            </a:avLst>
          </a:prstGeom>
          <a:solidFill>
            <a:srgbClr val="EAF4FF"/>
          </a:solidFill>
          <a:ln w="9525">
            <a:solidFill>
              <a:srgbClr val="0066CC"/>
            </a:solidFill>
            <a:prstDash val="solid"/>
          </a:ln>
        </p:spPr>
        <p:txBody>
          <a:bodyPr wrap="none" lIns="76200" tIns="0" rIns="76200" bIns="0" anchor="ctr">
            <a:normAutofit/>
          </a:bodyPr>
          <a:lstStyle/>
          <a:p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r:id="rId4"/>
              </a:rPr>
              <a:t>查看完整使用手册  ↗</a:t>
            </a:r>
          </a:p>
        </p:txBody>
      </p:sp>
    </p:spTree>
    <p:extLst>
      <p:ext uri="{BB962C8B-B14F-4D97-AF65-F5344CB8AC3E}">
        <p14:creationId xmlns:p14="http://schemas.microsoft.com/office/powerpoint/2010/main" val="119373454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E0FBD9CC-026B-4E9C-BB61-329E9E42F08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0066CC"/>
          </a:solidFill>
          <a:ln w="9525">
            <a:solidFill>
              <a:srgbClr val="0066C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70D7CB4-C4CB-4B60-876F-46055DBF2769}"/>
              </a:ext>
            </a:extLst>
          </p:cNvPr>
          <p:cNvSpPr>
            <a:spLocks noGrp="1"/>
          </p:cNvSpPr>
          <p:nvPr/>
        </p:nvSpPr>
        <p:spPr>
          <a:xfrm>
            <a:off x="685800" y="285750"/>
            <a:ext cx="5048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02 Philips AI 全景与工具导航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46F2F51-71D2-4370-8BB7-B7E446C22E0C}"/>
              </a:ext>
            </a:extLst>
          </p:cNvPr>
          <p:cNvSpPr>
            <a:spLocks noGrp="1"/>
          </p:cNvSpPr>
          <p:nvPr/>
        </p:nvSpPr>
        <p:spPr>
          <a:xfrm>
            <a:off x="685800" y="638175"/>
            <a:ext cx="108204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第4步：连接办公网或 VPN，并登录使用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0A40ADF-874F-4B81-9CBC-44A9FCEB723C}"/>
              </a:ext>
            </a:extLst>
          </p:cNvPr>
          <p:cNvSpPr>
            <a:spLocks noGrp="1"/>
          </p:cNvSpPr>
          <p:nvPr/>
        </p:nvSpPr>
        <p:spPr>
          <a:xfrm>
            <a:off x="685800" y="1181100"/>
            <a:ext cx="108204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确认账号、网络和工具已经准备完成，然后连接 Philips 办公网或 VPN，登录企业工作区。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38407C8-E4D9-42E8-8BCB-50D1B0305D03}"/>
              </a:ext>
            </a:extLst>
          </p:cNvPr>
          <p:cNvSpPr>
            <a:spLocks noGrp="1"/>
          </p:cNvSpPr>
          <p:nvPr/>
        </p:nvSpPr>
        <p:spPr>
          <a:xfrm>
            <a:off x="11049000" y="6438900"/>
            <a:ext cx="4572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14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0F75F25-1A2A-490C-B62A-3420475A79B2}"/>
              </a:ext>
            </a:extLst>
          </p:cNvPr>
          <p:cNvSpPr>
            <a:spLocks noGrp="1"/>
          </p:cNvSpPr>
          <p:nvPr/>
        </p:nvSpPr>
        <p:spPr>
          <a:xfrm>
            <a:off x="685800" y="6334125"/>
            <a:ext cx="10820400" cy="9525"/>
          </a:xfrm>
          <a:prstGeom prst="rect">
            <a:avLst/>
          </a:prstGeom>
          <a:solidFill>
            <a:srgbClr val="C9DDF2"/>
          </a:solidFill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21" name="Picture 20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85800" y="1864281"/>
            <a:ext cx="6686550" cy="3510439"/>
          </a:xfrm>
          <a:prstGeom prst="roundRect">
            <a:avLst>
              <a:gd name="adj" fmla="val 3077"/>
            </a:avLst>
          </a:prstGeom>
        </p:spPr>
      </p:pic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06F5F593-6356-4AC2-B8A0-4FE57335FA6F}"/>
              </a:ext>
            </a:extLst>
          </p:cNvPr>
          <p:cNvSpPr>
            <a:spLocks noGrp="1"/>
          </p:cNvSpPr>
          <p:nvPr/>
        </p:nvSpPr>
        <p:spPr>
          <a:xfrm>
            <a:off x="666750" y="1743075"/>
            <a:ext cx="6724650" cy="3752850"/>
          </a:xfrm>
          <a:prstGeom prst="roundRect">
            <a:avLst>
              <a:gd name="adj" fmla="val 3046"/>
            </a:avLst>
          </a:prstGeom>
          <a:noFill/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1778027C-DF95-44B3-9428-DE32147D65B3}"/>
              </a:ext>
            </a:extLst>
          </p:cNvPr>
          <p:cNvSpPr>
            <a:spLocks noGrp="1"/>
          </p:cNvSpPr>
          <p:nvPr/>
        </p:nvSpPr>
        <p:spPr>
          <a:xfrm>
            <a:off x="7620000" y="1762125"/>
            <a:ext cx="3886200" cy="3714750"/>
          </a:xfrm>
          <a:prstGeom prst="roundRect">
            <a:avLst>
              <a:gd name="adj" fmla="val 3077"/>
            </a:avLst>
          </a:prstGeom>
          <a:solidFill>
            <a:srgbClr val="F6FAFE"/>
          </a:solidFill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98AA4F4-B742-4EEA-AD8B-B61237434445}"/>
              </a:ext>
            </a:extLst>
          </p:cNvPr>
          <p:cNvSpPr>
            <a:spLocks noGrp="1"/>
          </p:cNvSpPr>
          <p:nvPr/>
        </p:nvSpPr>
        <p:spPr>
          <a:xfrm>
            <a:off x="7848600" y="1971675"/>
            <a:ext cx="3429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登录前检查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8B054B3-04BD-40EA-A896-32C9BBCCB68F}"/>
              </a:ext>
            </a:extLst>
          </p:cNvPr>
          <p:cNvSpPr>
            <a:spLocks noGrp="1"/>
          </p:cNvSpPr>
          <p:nvPr/>
        </p:nvSpPr>
        <p:spPr>
          <a:xfrm>
            <a:off x="7848600" y="2390775"/>
            <a:ext cx="3429000" cy="2876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rmAutofit/>
          </a:bodyPr>
          <a:lstStyle/>
          <a:p>
            <a:pPr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先确认三项结果：收到 OpenAI 开通邮件、收到 SNOW 完成邮件，并已安装 ChatGPT Proxy Doctor。</a:t>
            </a:r>
          </a:p>
          <a:p>
            <a:endParaRPr sz="1200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>
            <a:pPr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接着连接 Philips 办公网；不在办公室时，先连接 Philips VPN，再使用 Philips 账号登录 Enterprise ChatGPT。</a:t>
            </a:r>
          </a:p>
          <a:p>
            <a:endParaRPr sz="1200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>
            <a:pPr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使用时不输入禁止处理的敏感数据；AI 输出先作为草稿，重要事实、判断和决定仍由员工确认。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92EC8E7F-BCD2-42EC-ADD9-9F40C68633E4}"/>
              </a:ext>
            </a:extLst>
          </p:cNvPr>
          <p:cNvSpPr>
            <a:spLocks noGrp="1"/>
          </p:cNvSpPr>
          <p:nvPr/>
        </p:nvSpPr>
        <p:spPr>
          <a:xfrm>
            <a:off x="685800" y="5867400"/>
            <a:ext cx="2190750" cy="342900"/>
          </a:xfrm>
          <a:prstGeom prst="roundRect">
            <a:avLst>
              <a:gd name="adj" fmla="val 33333"/>
            </a:avLst>
          </a:prstGeom>
          <a:solidFill>
            <a:srgbClr val="EAF4FF"/>
          </a:solidFill>
          <a:ln w="9525">
            <a:solidFill>
              <a:srgbClr val="0066CC"/>
            </a:solidFill>
            <a:prstDash val="solid"/>
          </a:ln>
        </p:spPr>
        <p:txBody>
          <a:bodyPr wrap="none" lIns="76200" tIns="0" rIns="76200" bIns="0" anchor="ctr">
            <a:normAutofit/>
          </a:bodyPr>
          <a:lstStyle/>
          <a:p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r:id="rId4"/>
              </a:rPr>
              <a:t>打开 AI Gateway  ↗</a:t>
            </a:r>
          </a:p>
        </p:txBody>
      </p:sp>
    </p:spTree>
    <p:extLst>
      <p:ext uri="{BB962C8B-B14F-4D97-AF65-F5344CB8AC3E}">
        <p14:creationId xmlns:p14="http://schemas.microsoft.com/office/powerpoint/2010/main" val="137539317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3B7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E10E11BD-5C50-4627-B267-5144D51D29A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0066CC"/>
          </a:solidFill>
          <a:ln w="9525">
            <a:solidFill>
              <a:srgbClr val="0066C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6A06EB6-3034-4D52-86F9-3D6A3785DEA6}"/>
              </a:ext>
            </a:extLst>
          </p:cNvPr>
          <p:cNvSpPr>
            <a:spLocks noGrp="1"/>
          </p:cNvSpPr>
          <p:nvPr/>
        </p:nvSpPr>
        <p:spPr>
          <a:xfrm>
            <a:off x="800100" y="838200"/>
            <a:ext cx="3333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350" b="1">
                <a:solidFill>
                  <a:srgbClr val="8FC8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8FC8FF"/>
                </a:solidFill>
                <a:latin typeface="Microsoft YaHei"/>
                <a:ea typeface="Microsoft YaHei"/>
                <a:cs typeface="Microsoft YaHei"/>
              </a:rPr>
              <a:t>PART 3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45ECE51-1EF7-4886-ADB5-97DB6F0C92AA}"/>
              </a:ext>
            </a:extLst>
          </p:cNvPr>
          <p:cNvSpPr>
            <a:spLocks noGrp="1"/>
          </p:cNvSpPr>
          <p:nvPr/>
        </p:nvSpPr>
        <p:spPr>
          <a:xfrm>
            <a:off x="800100" y="1524000"/>
            <a:ext cx="9810750" cy="1095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3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Philips GCR AI Ambassador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E34FDE2-B956-45F3-8A40-610B32AA6508}"/>
              </a:ext>
            </a:extLst>
          </p:cNvPr>
          <p:cNvSpPr>
            <a:spLocks noGrp="1"/>
          </p:cNvSpPr>
          <p:nvPr/>
        </p:nvSpPr>
        <p:spPr>
          <a:xfrm>
            <a:off x="800100" y="2914650"/>
            <a:ext cx="8572500" cy="1200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725" b="0">
                <a:solidFill>
                  <a:srgbClr val="D9E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D9EBFF"/>
                </a:solidFill>
                <a:latin typeface="Microsoft YaHei"/>
                <a:ea typeface="Microsoft YaHei"/>
                <a:cs typeface="Microsoft YaHei"/>
              </a:rPr>
              <a:t>先了解 GCR AI Network 中四类角色的分工，再通过名单找到自己所在部门、业务单元或市场的 AI 联系人。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CB003F00-4A80-497E-ACC6-1C2956EC7904}"/>
              </a:ext>
            </a:extLst>
          </p:cNvPr>
          <p:cNvSpPr>
            <a:spLocks noGrp="1"/>
          </p:cNvSpPr>
          <p:nvPr/>
        </p:nvSpPr>
        <p:spPr>
          <a:xfrm>
            <a:off x="800100" y="5734050"/>
            <a:ext cx="2209800" cy="342900"/>
          </a:xfrm>
          <a:prstGeom prst="roundRect">
            <a:avLst>
              <a:gd name="adj" fmla="val 33333"/>
            </a:avLst>
          </a:prstGeom>
          <a:solidFill>
            <a:srgbClr val="EAF4FF"/>
          </a:solidFill>
          <a:ln w="9525">
            <a:solidFill>
              <a:srgbClr val="0066CC"/>
            </a:solidFill>
            <a:prstDash val="solid"/>
          </a:ln>
        </p:spPr>
        <p:txBody>
          <a:bodyPr wrap="none" lIns="76200" tIns="0" rIns="76200" bIns="0" anchor="ctr">
            <a:normAutofit/>
          </a:bodyPr>
          <a:lstStyle/>
          <a:p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r:id="rId3"/>
              </a:rPr>
              <a:t>进入 AI Gateway  ↗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4EDF6856-03F3-4244-817F-0026C71AF849}"/>
              </a:ext>
            </a:extLst>
          </p:cNvPr>
          <p:cNvSpPr>
            <a:spLocks noGrp="1"/>
          </p:cNvSpPr>
          <p:nvPr/>
        </p:nvSpPr>
        <p:spPr>
          <a:xfrm>
            <a:off x="3200400" y="5734050"/>
            <a:ext cx="2209800" cy="342900"/>
          </a:xfrm>
          <a:prstGeom prst="roundRect">
            <a:avLst>
              <a:gd name="adj" fmla="val 33333"/>
            </a:avLst>
          </a:prstGeom>
          <a:solidFill>
            <a:srgbClr val="EAF4FF"/>
          </a:solidFill>
          <a:ln w="9525">
            <a:solidFill>
              <a:srgbClr val="0066CC"/>
            </a:solidFill>
            <a:prstDash val="solid"/>
          </a:ln>
        </p:spPr>
        <p:txBody>
          <a:bodyPr wrap="none" lIns="76200" tIns="0" rIns="76200" bIns="0" anchor="ctr">
            <a:normAutofit/>
          </a:bodyPr>
          <a:lstStyle/>
          <a:p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r:id="rId4"/>
              </a:rPr>
              <a:t>查看 AI Tool Lab  ↗</a:t>
            </a:r>
          </a:p>
        </p:txBody>
      </p:sp>
    </p:spTree>
    <p:extLst>
      <p:ext uri="{BB962C8B-B14F-4D97-AF65-F5344CB8AC3E}">
        <p14:creationId xmlns:p14="http://schemas.microsoft.com/office/powerpoint/2010/main" val="40964918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3B35C42C-B12B-419E-A7CD-12178807DC1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0066CC"/>
          </a:solidFill>
          <a:ln w="9525">
            <a:solidFill>
              <a:srgbClr val="0066C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53F474D-798E-486F-824A-679C4B3BAF18}"/>
              </a:ext>
            </a:extLst>
          </p:cNvPr>
          <p:cNvSpPr>
            <a:spLocks noGrp="1"/>
          </p:cNvSpPr>
          <p:nvPr/>
        </p:nvSpPr>
        <p:spPr>
          <a:xfrm>
            <a:off x="685800" y="285750"/>
            <a:ext cx="5048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03 GCR AI Ambassador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D60D2D7-B39C-48B5-B090-37EEF21E029A}"/>
              </a:ext>
            </a:extLst>
          </p:cNvPr>
          <p:cNvSpPr>
            <a:spLocks noGrp="1"/>
          </p:cNvSpPr>
          <p:nvPr/>
        </p:nvSpPr>
        <p:spPr>
          <a:xfrm>
            <a:off x="685800" y="638175"/>
            <a:ext cx="108204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GCR AI Network：四类角色分别提供方向、推广、场景和技术支持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C7A9889-6A9D-44A6-ACD5-773A834E31E0}"/>
              </a:ext>
            </a:extLst>
          </p:cNvPr>
          <p:cNvSpPr>
            <a:spLocks noGrp="1"/>
          </p:cNvSpPr>
          <p:nvPr/>
        </p:nvSpPr>
        <p:spPr>
          <a:xfrm>
            <a:off x="685800" y="1181100"/>
            <a:ext cx="108204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Champion 负责方向，Ambassador 组织学习和推广，Catalysts 从日常流程中寻找适合 AI 的任务，Guru 把业务问题连接到合适的技术资源。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BA9B717-25C1-4975-91D7-8CC482240626}"/>
              </a:ext>
            </a:extLst>
          </p:cNvPr>
          <p:cNvSpPr>
            <a:spLocks noGrp="1"/>
          </p:cNvSpPr>
          <p:nvPr/>
        </p:nvSpPr>
        <p:spPr>
          <a:xfrm>
            <a:off x="11049000" y="6438900"/>
            <a:ext cx="4572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16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A3892CA-0A8D-4813-BDD8-7086AF9279F8}"/>
              </a:ext>
            </a:extLst>
          </p:cNvPr>
          <p:cNvSpPr>
            <a:spLocks noGrp="1"/>
          </p:cNvSpPr>
          <p:nvPr/>
        </p:nvSpPr>
        <p:spPr>
          <a:xfrm>
            <a:off x="685800" y="6334125"/>
            <a:ext cx="10820400" cy="9525"/>
          </a:xfrm>
          <a:prstGeom prst="rect">
            <a:avLst/>
          </a:prstGeom>
          <a:solidFill>
            <a:srgbClr val="C9DDF2"/>
          </a:solidFill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E0A3A5A2-582E-4A43-9466-FCAE5796A991}"/>
              </a:ext>
            </a:extLst>
          </p:cNvPr>
          <p:cNvSpPr>
            <a:spLocks noGrp="1"/>
          </p:cNvSpPr>
          <p:nvPr/>
        </p:nvSpPr>
        <p:spPr>
          <a:xfrm>
            <a:off x="781050" y="1790700"/>
            <a:ext cx="10439400" cy="742950"/>
          </a:xfrm>
          <a:prstGeom prst="roundRect">
            <a:avLst>
              <a:gd name="adj" fmla="val 15385"/>
            </a:avLst>
          </a:prstGeom>
          <a:solidFill>
            <a:srgbClr val="F6FAFE"/>
          </a:solidFill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0989FAE1-96B9-42C4-A24C-C023EB97ADAF}"/>
              </a:ext>
            </a:extLst>
          </p:cNvPr>
          <p:cNvSpPr>
            <a:spLocks noGrp="1"/>
          </p:cNvSpPr>
          <p:nvPr/>
        </p:nvSpPr>
        <p:spPr>
          <a:xfrm>
            <a:off x="990600" y="1943100"/>
            <a:ext cx="438150" cy="438150"/>
          </a:xfrm>
          <a:prstGeom prst="ellipse">
            <a:avLst/>
          </a:prstGeom>
          <a:solidFill>
            <a:srgbClr val="0066CC"/>
          </a:solidFill>
          <a:ln w="9525">
            <a:solidFill>
              <a:srgbClr val="0066C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6A907FA-AD87-447F-981B-6DF6CF339EFC}"/>
              </a:ext>
            </a:extLst>
          </p:cNvPr>
          <p:cNvSpPr>
            <a:spLocks noGrp="1"/>
          </p:cNvSpPr>
          <p:nvPr/>
        </p:nvSpPr>
        <p:spPr>
          <a:xfrm>
            <a:off x="990600" y="2038350"/>
            <a:ext cx="4381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buNone/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0E2065F-95BC-4217-93E0-F4954B6BD97F}"/>
              </a:ext>
            </a:extLst>
          </p:cNvPr>
          <p:cNvSpPr>
            <a:spLocks noGrp="1"/>
          </p:cNvSpPr>
          <p:nvPr/>
        </p:nvSpPr>
        <p:spPr>
          <a:xfrm>
            <a:off x="1657350" y="1924050"/>
            <a:ext cx="2952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AI 先锋｜Champion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EEE307B-B7B9-469A-9ACC-5972978ADB95}"/>
              </a:ext>
            </a:extLst>
          </p:cNvPr>
          <p:cNvSpPr>
            <a:spLocks noGrp="1"/>
          </p:cNvSpPr>
          <p:nvPr/>
        </p:nvSpPr>
        <p:spPr>
          <a:xfrm>
            <a:off x="1657350" y="2238375"/>
            <a:ext cx="2952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Yiqiu Chen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236C75D-7112-4340-AD76-1C7C7F225E2B}"/>
              </a:ext>
            </a:extLst>
          </p:cNvPr>
          <p:cNvSpPr>
            <a:spLocks noGrp="1"/>
          </p:cNvSpPr>
          <p:nvPr/>
        </p:nvSpPr>
        <p:spPr>
          <a:xfrm>
            <a:off x="4857750" y="1981200"/>
            <a:ext cx="6000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制定战略方向，聚焦高价值场景，推动 AI 创造业务价值。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9E84DEF1-9DDB-4C8B-B615-9FE3EE26AFC4}"/>
              </a:ext>
            </a:extLst>
          </p:cNvPr>
          <p:cNvSpPr>
            <a:spLocks noGrp="1"/>
          </p:cNvSpPr>
          <p:nvPr/>
        </p:nvSpPr>
        <p:spPr>
          <a:xfrm>
            <a:off x="781050" y="2695575"/>
            <a:ext cx="10439400" cy="742950"/>
          </a:xfrm>
          <a:prstGeom prst="roundRect">
            <a:avLst>
              <a:gd name="adj" fmla="val 15385"/>
            </a:avLst>
          </a:prstGeom>
          <a:solidFill>
            <a:srgbClr val="EAF4FF"/>
          </a:solidFill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4AAEB248-9021-47CB-BD69-48AC44B1A3BE}"/>
              </a:ext>
            </a:extLst>
          </p:cNvPr>
          <p:cNvSpPr>
            <a:spLocks noGrp="1"/>
          </p:cNvSpPr>
          <p:nvPr/>
        </p:nvSpPr>
        <p:spPr>
          <a:xfrm>
            <a:off x="990600" y="2847975"/>
            <a:ext cx="438150" cy="438150"/>
          </a:xfrm>
          <a:prstGeom prst="ellipse">
            <a:avLst/>
          </a:prstGeom>
          <a:solidFill>
            <a:srgbClr val="11966F"/>
          </a:solidFill>
          <a:ln w="9525">
            <a:solidFill>
              <a:srgbClr val="11966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A4A3A0E-F44B-45D8-81CC-11BD33DD32CC}"/>
              </a:ext>
            </a:extLst>
          </p:cNvPr>
          <p:cNvSpPr>
            <a:spLocks noGrp="1"/>
          </p:cNvSpPr>
          <p:nvPr/>
        </p:nvSpPr>
        <p:spPr>
          <a:xfrm>
            <a:off x="990600" y="2943225"/>
            <a:ext cx="4381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buNone/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EE57160-811A-4D78-9450-E7033C36FDC5}"/>
              </a:ext>
            </a:extLst>
          </p:cNvPr>
          <p:cNvSpPr>
            <a:spLocks noGrp="1"/>
          </p:cNvSpPr>
          <p:nvPr/>
        </p:nvSpPr>
        <p:spPr>
          <a:xfrm>
            <a:off x="1657350" y="2828925"/>
            <a:ext cx="2952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AI 大使｜Ambassador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9E493BE-26FC-4A4C-B04F-6C5B3E355828}"/>
              </a:ext>
            </a:extLst>
          </p:cNvPr>
          <p:cNvSpPr>
            <a:spLocks noGrp="1"/>
          </p:cNvSpPr>
          <p:nvPr/>
        </p:nvSpPr>
        <p:spPr>
          <a:xfrm>
            <a:off x="1657350" y="3143250"/>
            <a:ext cx="2952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125" b="1">
                <a:solidFill>
                  <a:srgbClr val="1196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1966F"/>
                </a:solidFill>
                <a:latin typeface="Microsoft YaHei"/>
                <a:ea typeface="Microsoft YaHei"/>
                <a:cs typeface="Microsoft YaHei"/>
              </a:rPr>
              <a:t>24 people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F6FEC6C-0E4D-42E9-8114-69D47F3C9F96}"/>
              </a:ext>
            </a:extLst>
          </p:cNvPr>
          <p:cNvSpPr>
            <a:spLocks noGrp="1"/>
          </p:cNvSpPr>
          <p:nvPr/>
        </p:nvSpPr>
        <p:spPr>
          <a:xfrm>
            <a:off x="4857750" y="2886075"/>
            <a:ext cx="6000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组织学习和经验分享，帮助更多团队了解并使用合适的 AI 工具。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98CC3175-ECC6-4897-A48C-318872540215}"/>
              </a:ext>
            </a:extLst>
          </p:cNvPr>
          <p:cNvSpPr>
            <a:spLocks noGrp="1"/>
          </p:cNvSpPr>
          <p:nvPr/>
        </p:nvSpPr>
        <p:spPr>
          <a:xfrm>
            <a:off x="781050" y="3600450"/>
            <a:ext cx="10439400" cy="742950"/>
          </a:xfrm>
          <a:prstGeom prst="roundRect">
            <a:avLst>
              <a:gd name="adj" fmla="val 15385"/>
            </a:avLst>
          </a:prstGeom>
          <a:solidFill>
            <a:srgbClr val="F6FAFE"/>
          </a:solidFill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DC6385CF-CFEA-4252-AD88-5B6617D9E8F2}"/>
              </a:ext>
            </a:extLst>
          </p:cNvPr>
          <p:cNvSpPr>
            <a:spLocks noGrp="1"/>
          </p:cNvSpPr>
          <p:nvPr/>
        </p:nvSpPr>
        <p:spPr>
          <a:xfrm>
            <a:off x="990600" y="3752850"/>
            <a:ext cx="438150" cy="438150"/>
          </a:xfrm>
          <a:prstGeom prst="ellipse">
            <a:avLst/>
          </a:prstGeom>
          <a:solidFill>
            <a:srgbClr val="E8742B"/>
          </a:solidFill>
          <a:ln w="9525">
            <a:solidFill>
              <a:srgbClr val="E8742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97EF0D8-3240-4C8A-98CA-41C5CBBE3ADF}"/>
              </a:ext>
            </a:extLst>
          </p:cNvPr>
          <p:cNvSpPr>
            <a:spLocks noGrp="1"/>
          </p:cNvSpPr>
          <p:nvPr/>
        </p:nvSpPr>
        <p:spPr>
          <a:xfrm>
            <a:off x="990600" y="3848100"/>
            <a:ext cx="4381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buNone/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B6EEA69-5085-4D4C-8ABD-954A927C0B65}"/>
              </a:ext>
            </a:extLst>
          </p:cNvPr>
          <p:cNvSpPr>
            <a:spLocks noGrp="1"/>
          </p:cNvSpPr>
          <p:nvPr/>
        </p:nvSpPr>
        <p:spPr>
          <a:xfrm>
            <a:off x="1657350" y="3733800"/>
            <a:ext cx="2952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AI 推动者｜Catalysts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4BC4D44B-5428-4A85-9F25-D745A559024C}"/>
              </a:ext>
            </a:extLst>
          </p:cNvPr>
          <p:cNvSpPr>
            <a:spLocks noGrp="1"/>
          </p:cNvSpPr>
          <p:nvPr/>
        </p:nvSpPr>
        <p:spPr>
          <a:xfrm>
            <a:off x="1657350" y="4048125"/>
            <a:ext cx="2952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125" b="1">
                <a:solidFill>
                  <a:srgbClr val="E874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E8742B"/>
                </a:solidFill>
                <a:latin typeface="Microsoft YaHei"/>
                <a:ea typeface="Microsoft YaHei"/>
                <a:cs typeface="Microsoft YaHei"/>
              </a:rPr>
              <a:t>每个团队约 5%–10%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6F00FECA-5185-4DA3-BC28-2C5AD4588A0E}"/>
              </a:ext>
            </a:extLst>
          </p:cNvPr>
          <p:cNvSpPr>
            <a:spLocks noGrp="1"/>
          </p:cNvSpPr>
          <p:nvPr/>
        </p:nvSpPr>
        <p:spPr>
          <a:xfrm>
            <a:off x="4857750" y="3790950"/>
            <a:ext cx="6000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熟悉业务流程，从日常工作中寻找切入点，推动 AI 融入真实工作流。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1C747F18-3DBF-4BA3-B0A3-2E348C47E8A0}"/>
              </a:ext>
            </a:extLst>
          </p:cNvPr>
          <p:cNvSpPr>
            <a:spLocks noGrp="1"/>
          </p:cNvSpPr>
          <p:nvPr/>
        </p:nvSpPr>
        <p:spPr>
          <a:xfrm>
            <a:off x="781050" y="4505325"/>
            <a:ext cx="10439400" cy="742950"/>
          </a:xfrm>
          <a:prstGeom prst="roundRect">
            <a:avLst>
              <a:gd name="adj" fmla="val 15385"/>
            </a:avLst>
          </a:prstGeom>
          <a:solidFill>
            <a:srgbClr val="EAF4FF"/>
          </a:solidFill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A7A1785C-F0DA-41E1-A3B2-615ECC364651}"/>
              </a:ext>
            </a:extLst>
          </p:cNvPr>
          <p:cNvSpPr>
            <a:spLocks noGrp="1"/>
          </p:cNvSpPr>
          <p:nvPr/>
        </p:nvSpPr>
        <p:spPr>
          <a:xfrm>
            <a:off x="990600" y="4657725"/>
            <a:ext cx="438150" cy="438150"/>
          </a:xfrm>
          <a:prstGeom prst="ellipse">
            <a:avLst/>
          </a:prstGeom>
          <a:solidFill>
            <a:srgbClr val="003B78"/>
          </a:solidFill>
          <a:ln w="9525">
            <a:solidFill>
              <a:srgbClr val="003B7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9848CC7C-BA78-4265-87C5-E29657D7DE56}"/>
              </a:ext>
            </a:extLst>
          </p:cNvPr>
          <p:cNvSpPr>
            <a:spLocks noGrp="1"/>
          </p:cNvSpPr>
          <p:nvPr/>
        </p:nvSpPr>
        <p:spPr>
          <a:xfrm>
            <a:off x="990600" y="4752975"/>
            <a:ext cx="4381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buNone/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9045977E-2FE7-4E6E-8869-B2505BD84423}"/>
              </a:ext>
            </a:extLst>
          </p:cNvPr>
          <p:cNvSpPr>
            <a:spLocks noGrp="1"/>
          </p:cNvSpPr>
          <p:nvPr/>
        </p:nvSpPr>
        <p:spPr>
          <a:xfrm>
            <a:off x="1657350" y="4638675"/>
            <a:ext cx="2952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AI 专家｜Guru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1630DBEB-3DA9-4589-A97E-EAC9A2AF9A77}"/>
              </a:ext>
            </a:extLst>
          </p:cNvPr>
          <p:cNvSpPr>
            <a:spLocks noGrp="1"/>
          </p:cNvSpPr>
          <p:nvPr/>
        </p:nvSpPr>
        <p:spPr>
          <a:xfrm>
            <a:off x="1657350" y="4953000"/>
            <a:ext cx="2952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125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每个团队约 3%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380AE97D-AA7B-4D1B-B633-59D3A67BAC85}"/>
              </a:ext>
            </a:extLst>
          </p:cNvPr>
          <p:cNvSpPr>
            <a:spLocks noGrp="1"/>
          </p:cNvSpPr>
          <p:nvPr/>
        </p:nvSpPr>
        <p:spPr>
          <a:xfrm>
            <a:off x="4857750" y="4695825"/>
            <a:ext cx="6000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把业务问题连接到合适的技术资源，并在开发、运行和改进过程中提供支持。</a:t>
            </a: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982BB600-8735-4E2B-AB68-CA3EC08B4BE3}"/>
              </a:ext>
            </a:extLst>
          </p:cNvPr>
          <p:cNvSpPr>
            <a:spLocks noGrp="1"/>
          </p:cNvSpPr>
          <p:nvPr/>
        </p:nvSpPr>
        <p:spPr>
          <a:xfrm>
            <a:off x="685800" y="5867400"/>
            <a:ext cx="2190750" cy="342900"/>
          </a:xfrm>
          <a:prstGeom prst="roundRect">
            <a:avLst>
              <a:gd name="adj" fmla="val 33333"/>
            </a:avLst>
          </a:prstGeom>
          <a:solidFill>
            <a:srgbClr val="EAF4FF"/>
          </a:solidFill>
          <a:ln w="9525">
            <a:solidFill>
              <a:srgbClr val="0066CC"/>
            </a:solidFill>
            <a:prstDash val="solid"/>
          </a:ln>
        </p:spPr>
        <p:txBody>
          <a:bodyPr wrap="none" lIns="76200" tIns="0" rIns="76200" bIns="0" anchor="ctr">
            <a:normAutofit/>
          </a:bodyPr>
          <a:lstStyle/>
          <a:p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r:id="rId3"/>
              </a:rPr>
              <a:t>回到 AI Gateway  ↗</a:t>
            </a: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D038ADA6-6CF7-49F5-8A94-9D0B53C70AFB}"/>
              </a:ext>
            </a:extLst>
          </p:cNvPr>
          <p:cNvSpPr>
            <a:spLocks noGrp="1"/>
          </p:cNvSpPr>
          <p:nvPr/>
        </p:nvSpPr>
        <p:spPr>
          <a:xfrm>
            <a:off x="3048000" y="5867400"/>
            <a:ext cx="2476500" cy="342900"/>
          </a:xfrm>
          <a:prstGeom prst="roundRect">
            <a:avLst>
              <a:gd name="adj" fmla="val 33333"/>
            </a:avLst>
          </a:prstGeom>
          <a:solidFill>
            <a:srgbClr val="EAF4FF"/>
          </a:solidFill>
          <a:ln w="9525">
            <a:solidFill>
              <a:srgbClr val="0066CC"/>
            </a:solidFill>
            <a:prstDash val="solid"/>
          </a:ln>
        </p:spPr>
        <p:txBody>
          <a:bodyPr wrap="none" lIns="76200" tIns="0" rIns="76200" bIns="0" anchor="ctr">
            <a:normAutofit/>
          </a:bodyPr>
          <a:lstStyle/>
          <a:p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r:id="rId4"/>
              </a:rPr>
              <a:t>继续探索 AI Tool Lab  ↗</a:t>
            </a:r>
          </a:p>
        </p:txBody>
      </p:sp>
    </p:spTree>
    <p:extLst>
      <p:ext uri="{BB962C8B-B14F-4D97-AF65-F5344CB8AC3E}">
        <p14:creationId xmlns:p14="http://schemas.microsoft.com/office/powerpoint/2010/main" val="111738652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42D5C8EC-CDA7-4142-B13A-27180792502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0066CC"/>
          </a:solidFill>
          <a:ln w="9525">
            <a:solidFill>
              <a:srgbClr val="0066C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3589270-51B0-40D6-99C4-BD064A9B015B}"/>
              </a:ext>
            </a:extLst>
          </p:cNvPr>
          <p:cNvSpPr>
            <a:spLocks noGrp="1"/>
          </p:cNvSpPr>
          <p:nvPr/>
        </p:nvSpPr>
        <p:spPr>
          <a:xfrm>
            <a:off x="685800" y="285750"/>
            <a:ext cx="5048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03 GCR AI Ambassador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C2F7314-42A9-4926-BE64-75B3CFEBA8F2}"/>
              </a:ext>
            </a:extLst>
          </p:cNvPr>
          <p:cNvSpPr>
            <a:spLocks noGrp="1"/>
          </p:cNvSpPr>
          <p:nvPr/>
        </p:nvSpPr>
        <p:spPr>
          <a:xfrm>
            <a:off x="685800" y="638175"/>
            <a:ext cx="108204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按部门或业务单元找到对应的 AI Ambassador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926C342-9567-4401-B7C3-CBEDCF74BA6A}"/>
              </a:ext>
            </a:extLst>
          </p:cNvPr>
          <p:cNvSpPr>
            <a:spLocks noGrp="1"/>
          </p:cNvSpPr>
          <p:nvPr/>
        </p:nvSpPr>
        <p:spPr>
          <a:xfrm>
            <a:off x="685800" y="1181100"/>
            <a:ext cx="108204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Alison Gu 担任 GCR AI Ambassador Representative Chair。名单按部门或业务单元、管理负责人和 AI Ambassador 三列排列。找到支持网络后，接下来进入 Copilot 的具体学习和实操。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B745D58-83E5-49B4-96BF-DE7AFCD385C8}"/>
              </a:ext>
            </a:extLst>
          </p:cNvPr>
          <p:cNvSpPr>
            <a:spLocks noGrp="1"/>
          </p:cNvSpPr>
          <p:nvPr/>
        </p:nvSpPr>
        <p:spPr>
          <a:xfrm>
            <a:off x="11049000" y="6438900"/>
            <a:ext cx="4572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17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AFDE44E-1449-4836-BDF4-01EE3CFA96D9}"/>
              </a:ext>
            </a:extLst>
          </p:cNvPr>
          <p:cNvSpPr>
            <a:spLocks noGrp="1"/>
          </p:cNvSpPr>
          <p:nvPr/>
        </p:nvSpPr>
        <p:spPr>
          <a:xfrm>
            <a:off x="685800" y="6334125"/>
            <a:ext cx="10820400" cy="9525"/>
          </a:xfrm>
          <a:prstGeom prst="rect">
            <a:avLst/>
          </a:prstGeom>
          <a:solidFill>
            <a:srgbClr val="C9DDF2"/>
          </a:solidFill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22" name="Picture 21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85800" y="1783116"/>
            <a:ext cx="6686550" cy="3577517"/>
          </a:xfrm>
          <a:prstGeom prst="roundRect">
            <a:avLst>
              <a:gd name="adj" fmla="val 3158"/>
            </a:avLst>
          </a:prstGeom>
        </p:spPr>
      </p:pic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ABE58FD5-26B3-4285-9455-1A4E44C04F71}"/>
              </a:ext>
            </a:extLst>
          </p:cNvPr>
          <p:cNvSpPr>
            <a:spLocks noGrp="1"/>
          </p:cNvSpPr>
          <p:nvPr/>
        </p:nvSpPr>
        <p:spPr>
          <a:xfrm>
            <a:off x="666750" y="1743075"/>
            <a:ext cx="6724650" cy="3657600"/>
          </a:xfrm>
          <a:prstGeom prst="roundRect">
            <a:avLst>
              <a:gd name="adj" fmla="val 3125"/>
            </a:avLst>
          </a:prstGeom>
          <a:noFill/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01842AEB-2764-408C-BE69-99C619AB3469}"/>
              </a:ext>
            </a:extLst>
          </p:cNvPr>
          <p:cNvSpPr>
            <a:spLocks noGrp="1"/>
          </p:cNvSpPr>
          <p:nvPr/>
        </p:nvSpPr>
        <p:spPr>
          <a:xfrm>
            <a:off x="7620000" y="1762125"/>
            <a:ext cx="3886200" cy="3619500"/>
          </a:xfrm>
          <a:prstGeom prst="roundRect">
            <a:avLst>
              <a:gd name="adj" fmla="val 3158"/>
            </a:avLst>
          </a:prstGeom>
          <a:solidFill>
            <a:srgbClr val="F6FAFE"/>
          </a:solidFill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44A8AD8-7697-4C2B-B128-025BC6760256}"/>
              </a:ext>
            </a:extLst>
          </p:cNvPr>
          <p:cNvSpPr>
            <a:spLocks noGrp="1"/>
          </p:cNvSpPr>
          <p:nvPr/>
        </p:nvSpPr>
        <p:spPr>
          <a:xfrm>
            <a:off x="7848600" y="1971675"/>
            <a:ext cx="3429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关键内容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E409797-0DA3-4B5A-BB88-760A1E177011}"/>
              </a:ext>
            </a:extLst>
          </p:cNvPr>
          <p:cNvSpPr>
            <a:spLocks noGrp="1"/>
          </p:cNvSpPr>
          <p:nvPr/>
        </p:nvSpPr>
        <p:spPr>
          <a:xfrm>
            <a:off x="7848600" y="2390775"/>
            <a:ext cx="3429000" cy="2781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rmAutofit/>
          </a:bodyPr>
          <a:lstStyle/>
          <a:p>
            <a:pPr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首先看覆盖范围：名单包括市场、财务、法务、人力资源、战略、质量、法规、临床、创新、IT，以及各业务单元和区域市场。</a:t>
            </a:r>
          </a:p>
          <a:p>
            <a:endParaRPr sz="1200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>
            <a:pPr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接着看角色分工：Function Lead 负责业务管理；AI Ambassador 分享学习资源和实践经验，帮助团队梳理适合 AI 的问题。</a:t>
            </a:r>
          </a:p>
          <a:p>
            <a:endParaRPr sz="1200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>
            <a:pPr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使用时，先在第一列找到部门或业务单元，再查看同一行的大使；工具和学习问题可与大使交流，业务决定和数据授权仍由本部门负责人确认。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8CE3AFC3-31B2-42E7-A95E-6A1A6D613499}"/>
              </a:ext>
            </a:extLst>
          </p:cNvPr>
          <p:cNvSpPr>
            <a:spLocks noGrp="1"/>
          </p:cNvSpPr>
          <p:nvPr/>
        </p:nvSpPr>
        <p:spPr>
          <a:xfrm>
            <a:off x="685800" y="5867400"/>
            <a:ext cx="2667000" cy="342900"/>
          </a:xfrm>
          <a:prstGeom prst="roundRect">
            <a:avLst>
              <a:gd name="adj" fmla="val 33333"/>
            </a:avLst>
          </a:prstGeom>
          <a:solidFill>
            <a:srgbClr val="EAF4FF"/>
          </a:solidFill>
          <a:ln w="9525">
            <a:solidFill>
              <a:srgbClr val="0066CC"/>
            </a:solidFill>
            <a:prstDash val="solid"/>
          </a:ln>
        </p:spPr>
        <p:txBody>
          <a:bodyPr wrap="none" lIns="76200" tIns="0" rIns="76200" bIns="0" anchor="ctr">
            <a:normAutofit/>
          </a:bodyPr>
          <a:lstStyle/>
          <a:p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r:id="rId4"/>
              </a:rPr>
              <a:t>进入 Copilot 学习与实操  ↗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3F45231B-A194-4C97-A253-70AE76197EC3}"/>
              </a:ext>
            </a:extLst>
          </p:cNvPr>
          <p:cNvSpPr>
            <a:spLocks noGrp="1"/>
          </p:cNvSpPr>
          <p:nvPr/>
        </p:nvSpPr>
        <p:spPr>
          <a:xfrm>
            <a:off x="3524250" y="5867400"/>
            <a:ext cx="2190750" cy="342900"/>
          </a:xfrm>
          <a:prstGeom prst="roundRect">
            <a:avLst>
              <a:gd name="adj" fmla="val 33333"/>
            </a:avLst>
          </a:prstGeom>
          <a:solidFill>
            <a:srgbClr val="EAF4FF"/>
          </a:solidFill>
          <a:ln w="9525">
            <a:solidFill>
              <a:srgbClr val="0066CC"/>
            </a:solidFill>
            <a:prstDash val="solid"/>
          </a:ln>
        </p:spPr>
        <p:txBody>
          <a:bodyPr wrap="none" lIns="76200" tIns="0" rIns="76200" bIns="0" anchor="ctr">
            <a:normAutofit/>
          </a:bodyPr>
          <a:lstStyle/>
          <a:p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r:id="rId5"/>
              </a:rPr>
              <a:t>打开 M365 Copilot  ↗</a:t>
            </a:r>
          </a:p>
        </p:txBody>
      </p:sp>
    </p:spTree>
    <p:extLst>
      <p:ext uri="{BB962C8B-B14F-4D97-AF65-F5344CB8AC3E}">
        <p14:creationId xmlns:p14="http://schemas.microsoft.com/office/powerpoint/2010/main" val="211627637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3B7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9568C22E-CD36-4931-A7D1-38A619BDDDB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0066CC"/>
          </a:solidFill>
          <a:ln w="9525">
            <a:solidFill>
              <a:srgbClr val="0066C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864FC7C-150F-455F-B149-A70679C48AD7}"/>
              </a:ext>
            </a:extLst>
          </p:cNvPr>
          <p:cNvSpPr>
            <a:spLocks noGrp="1"/>
          </p:cNvSpPr>
          <p:nvPr/>
        </p:nvSpPr>
        <p:spPr>
          <a:xfrm>
            <a:off x="800100" y="838200"/>
            <a:ext cx="3333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350" b="1">
                <a:solidFill>
                  <a:srgbClr val="8FC8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8FC8FF"/>
                </a:solidFill>
                <a:latin typeface="Microsoft YaHei"/>
                <a:ea typeface="Microsoft YaHei"/>
                <a:cs typeface="Microsoft YaHei"/>
              </a:rPr>
              <a:t>PART 4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A55462E-C969-4822-BA7C-1C19ADFE8A5C}"/>
              </a:ext>
            </a:extLst>
          </p:cNvPr>
          <p:cNvSpPr>
            <a:spLocks noGrp="1"/>
          </p:cNvSpPr>
          <p:nvPr/>
        </p:nvSpPr>
        <p:spPr>
          <a:xfrm>
            <a:off x="800100" y="1524000"/>
            <a:ext cx="9810750" cy="1095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3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日常工作中的 Copilot 实操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EA7C621-E933-4A01-99DD-E9475404BADA}"/>
              </a:ext>
            </a:extLst>
          </p:cNvPr>
          <p:cNvSpPr>
            <a:spLocks noGrp="1"/>
          </p:cNvSpPr>
          <p:nvPr/>
        </p:nvSpPr>
        <p:spPr>
          <a:xfrm>
            <a:off x="800100" y="2914650"/>
            <a:ext cx="8572500" cy="1200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725" b="0">
                <a:solidFill>
                  <a:srgbClr val="D9E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D9EBFF"/>
                </a:solidFill>
                <a:latin typeface="Microsoft YaHei"/>
                <a:ea typeface="Microsoft YaHei"/>
                <a:cs typeface="Microsoft YaHei"/>
              </a:rPr>
              <a:t>先认识微软官方 AI 学习网站和 MS-4004，再用一个跨岗位案例练习多来源总结、冲突识别和沟通输出。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0101B597-DE81-499D-B076-F36B538A9C7A}"/>
              </a:ext>
            </a:extLst>
          </p:cNvPr>
          <p:cNvSpPr>
            <a:spLocks noGrp="1"/>
          </p:cNvSpPr>
          <p:nvPr/>
        </p:nvSpPr>
        <p:spPr>
          <a:xfrm>
            <a:off x="800100" y="5734050"/>
            <a:ext cx="2209800" cy="342900"/>
          </a:xfrm>
          <a:prstGeom prst="roundRect">
            <a:avLst>
              <a:gd name="adj" fmla="val 33333"/>
            </a:avLst>
          </a:prstGeom>
          <a:solidFill>
            <a:srgbClr val="EAF4FF"/>
          </a:solidFill>
          <a:ln w="9525">
            <a:solidFill>
              <a:srgbClr val="0066CC"/>
            </a:solidFill>
            <a:prstDash val="solid"/>
          </a:ln>
        </p:spPr>
        <p:txBody>
          <a:bodyPr wrap="none" lIns="76200" tIns="0" rIns="76200" bIns="0" anchor="ctr">
            <a:normAutofit/>
          </a:bodyPr>
          <a:lstStyle/>
          <a:p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r:id="rId3"/>
              </a:rPr>
              <a:t>AI Skills Navigator  ↗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BA4B14DA-72D3-4DB0-AF58-7629560C925D}"/>
              </a:ext>
            </a:extLst>
          </p:cNvPr>
          <p:cNvSpPr>
            <a:spLocks noGrp="1"/>
          </p:cNvSpPr>
          <p:nvPr/>
        </p:nvSpPr>
        <p:spPr>
          <a:xfrm>
            <a:off x="3200400" y="5734050"/>
            <a:ext cx="2209800" cy="342900"/>
          </a:xfrm>
          <a:prstGeom prst="roundRect">
            <a:avLst>
              <a:gd name="adj" fmla="val 33333"/>
            </a:avLst>
          </a:prstGeom>
          <a:solidFill>
            <a:srgbClr val="EAF4FF"/>
          </a:solidFill>
          <a:ln w="9525">
            <a:solidFill>
              <a:srgbClr val="0066CC"/>
            </a:solidFill>
            <a:prstDash val="solid"/>
          </a:ln>
        </p:spPr>
        <p:txBody>
          <a:bodyPr wrap="none" lIns="76200" tIns="0" rIns="76200" bIns="0" anchor="ctr">
            <a:normAutofit/>
          </a:bodyPr>
          <a:lstStyle/>
          <a:p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r:id="rId4"/>
              </a:rPr>
              <a:t>MS-4004 学习路径  ↗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164F439-25E9-4CB8-A5DE-8E1602B646DC}"/>
              </a:ext>
            </a:extLst>
          </p:cNvPr>
          <p:cNvSpPr>
            <a:spLocks noGrp="1"/>
          </p:cNvSpPr>
          <p:nvPr/>
        </p:nvSpPr>
        <p:spPr>
          <a:xfrm>
            <a:off x="5600700" y="5734050"/>
            <a:ext cx="2209800" cy="342900"/>
          </a:xfrm>
          <a:prstGeom prst="roundRect">
            <a:avLst>
              <a:gd name="adj" fmla="val 33333"/>
            </a:avLst>
          </a:prstGeom>
          <a:solidFill>
            <a:srgbClr val="EAF4FF"/>
          </a:solidFill>
          <a:ln w="9525">
            <a:solidFill>
              <a:srgbClr val="0066CC"/>
            </a:solidFill>
            <a:prstDash val="solid"/>
          </a:ln>
        </p:spPr>
        <p:txBody>
          <a:bodyPr wrap="none" lIns="76200" tIns="0" rIns="76200" bIns="0" anchor="ctr">
            <a:normAutofit/>
          </a:bodyPr>
          <a:lstStyle/>
          <a:p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r:id="rId5"/>
              </a:rPr>
              <a:t>打开 M365 Copilot  ↗</a:t>
            </a:r>
          </a:p>
        </p:txBody>
      </p:sp>
    </p:spTree>
    <p:extLst>
      <p:ext uri="{BB962C8B-B14F-4D97-AF65-F5344CB8AC3E}">
        <p14:creationId xmlns:p14="http://schemas.microsoft.com/office/powerpoint/2010/main" val="114202366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C0492418-88B6-403F-BCF1-7F078302AD6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0066CC"/>
          </a:solidFill>
          <a:ln w="9525">
            <a:solidFill>
              <a:srgbClr val="0066C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A92C1FE-663A-42B2-97CC-B99AC480FA76}"/>
              </a:ext>
            </a:extLst>
          </p:cNvPr>
          <p:cNvSpPr>
            <a:spLocks noGrp="1"/>
          </p:cNvSpPr>
          <p:nvPr/>
        </p:nvSpPr>
        <p:spPr>
          <a:xfrm>
            <a:off x="685800" y="285750"/>
            <a:ext cx="5048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04 日常工作中的 Copilot 实操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8BDCFAA-0E7D-4931-9678-4A190BF36E45}"/>
              </a:ext>
            </a:extLst>
          </p:cNvPr>
          <p:cNvSpPr>
            <a:spLocks noGrp="1"/>
          </p:cNvSpPr>
          <p:nvPr/>
        </p:nvSpPr>
        <p:spPr>
          <a:xfrm>
            <a:off x="685800" y="638175"/>
            <a:ext cx="108204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AI Skills Navigator：从 For you 首页开始选择学习内容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26A9B2C-3A7D-4737-B0C7-9374F1C2B464}"/>
              </a:ext>
            </a:extLst>
          </p:cNvPr>
          <p:cNvSpPr>
            <a:spLocks noGrp="1"/>
          </p:cNvSpPr>
          <p:nvPr/>
        </p:nvSpPr>
        <p:spPr>
          <a:xfrm>
            <a:off x="685800" y="1181100"/>
            <a:ext cx="108204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AI Skills Navigator 是微软官方 AI 学习网站。For you 首页根据学习记录和个人资料推荐内容，左侧提供课程搜索、学习播放列表、证书和学习报告等入口。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7757515-A826-4BD0-B69E-DCEE5B69132C}"/>
              </a:ext>
            </a:extLst>
          </p:cNvPr>
          <p:cNvSpPr>
            <a:spLocks noGrp="1"/>
          </p:cNvSpPr>
          <p:nvPr/>
        </p:nvSpPr>
        <p:spPr>
          <a:xfrm>
            <a:off x="11049000" y="6438900"/>
            <a:ext cx="4572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19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A265ECB-F29C-4C0B-9AA7-588473130E62}"/>
              </a:ext>
            </a:extLst>
          </p:cNvPr>
          <p:cNvSpPr>
            <a:spLocks noGrp="1"/>
          </p:cNvSpPr>
          <p:nvPr/>
        </p:nvSpPr>
        <p:spPr>
          <a:xfrm>
            <a:off x="685800" y="6334125"/>
            <a:ext cx="10820400" cy="9525"/>
          </a:xfrm>
          <a:prstGeom prst="rect">
            <a:avLst/>
          </a:prstGeom>
          <a:solidFill>
            <a:srgbClr val="C9DDF2"/>
          </a:solidFill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21" name="Picture 20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85800" y="1843385"/>
            <a:ext cx="6686550" cy="3552230"/>
          </a:xfrm>
          <a:prstGeom prst="roundRect">
            <a:avLst>
              <a:gd name="adj" fmla="val 3077"/>
            </a:avLst>
          </a:prstGeom>
        </p:spPr>
      </p:pic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0B2BCF77-CFFB-4C7A-9A8E-4FB462D2E5D1}"/>
              </a:ext>
            </a:extLst>
          </p:cNvPr>
          <p:cNvSpPr>
            <a:spLocks noGrp="1"/>
          </p:cNvSpPr>
          <p:nvPr/>
        </p:nvSpPr>
        <p:spPr>
          <a:xfrm>
            <a:off x="666750" y="1743075"/>
            <a:ext cx="6724650" cy="3752850"/>
          </a:xfrm>
          <a:prstGeom prst="roundRect">
            <a:avLst>
              <a:gd name="adj" fmla="val 3046"/>
            </a:avLst>
          </a:prstGeom>
          <a:noFill/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11F48B00-0036-42FC-8A58-7927E5DC03DC}"/>
              </a:ext>
            </a:extLst>
          </p:cNvPr>
          <p:cNvSpPr>
            <a:spLocks noGrp="1"/>
          </p:cNvSpPr>
          <p:nvPr/>
        </p:nvSpPr>
        <p:spPr>
          <a:xfrm>
            <a:off x="7620000" y="1762125"/>
            <a:ext cx="3886200" cy="3714750"/>
          </a:xfrm>
          <a:prstGeom prst="roundRect">
            <a:avLst>
              <a:gd name="adj" fmla="val 3077"/>
            </a:avLst>
          </a:prstGeom>
          <a:solidFill>
            <a:srgbClr val="F6FAFE"/>
          </a:solidFill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B2698A7-CDD6-46D1-B04A-882D4FA5E23D}"/>
              </a:ext>
            </a:extLst>
          </p:cNvPr>
          <p:cNvSpPr>
            <a:spLocks noGrp="1"/>
          </p:cNvSpPr>
          <p:nvPr/>
        </p:nvSpPr>
        <p:spPr>
          <a:xfrm>
            <a:off x="7848600" y="1971675"/>
            <a:ext cx="3429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首页怎么使用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13B0D4D-87F8-4554-A347-B892BAD7C2DC}"/>
              </a:ext>
            </a:extLst>
          </p:cNvPr>
          <p:cNvSpPr>
            <a:spLocks noGrp="1"/>
          </p:cNvSpPr>
          <p:nvPr/>
        </p:nvSpPr>
        <p:spPr>
          <a:xfrm>
            <a:off x="7848600" y="2390775"/>
            <a:ext cx="3429000" cy="2876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rmAutofit/>
          </a:bodyPr>
          <a:lstStyle/>
          <a:p>
            <a:pPr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首先看左侧导航：For you 查看个性化内容，Explore content 搜索主题，Skilling playlists 进入学习路径，Credentials 和 Reporting 查看证书与记录。</a:t>
            </a:r>
          </a:p>
          <a:p>
            <a:endParaRPr sz="1200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>
            <a:pPr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接着看首页推荐：Recommended for you 展示课程，Pick up where you left off 用于继续学习，右上角提示帮助保持学习习惯。</a:t>
            </a:r>
          </a:p>
          <a:p>
            <a:endParaRPr sz="1200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>
            <a:pPr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首次进入时先更新 profile，再按岗位或工作问题搜索；Bootcamp 结束后也可以从这里继续学习。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AEF9E8FA-8614-4AAB-8891-F4D3D95D43CE}"/>
              </a:ext>
            </a:extLst>
          </p:cNvPr>
          <p:cNvSpPr>
            <a:spLocks noGrp="1"/>
          </p:cNvSpPr>
          <p:nvPr/>
        </p:nvSpPr>
        <p:spPr>
          <a:xfrm>
            <a:off x="685800" y="5867400"/>
            <a:ext cx="2667000" cy="342900"/>
          </a:xfrm>
          <a:prstGeom prst="roundRect">
            <a:avLst>
              <a:gd name="adj" fmla="val 33333"/>
            </a:avLst>
          </a:prstGeom>
          <a:solidFill>
            <a:srgbClr val="EAF4FF"/>
          </a:solidFill>
          <a:ln w="9525">
            <a:solidFill>
              <a:srgbClr val="0066CC"/>
            </a:solidFill>
            <a:prstDash val="solid"/>
          </a:ln>
        </p:spPr>
        <p:txBody>
          <a:bodyPr wrap="none" lIns="76200" tIns="0" rIns="76200" bIns="0" anchor="ctr">
            <a:normAutofit/>
          </a:bodyPr>
          <a:lstStyle/>
          <a:p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r:id="rId4"/>
              </a:rPr>
              <a:t>访问微软官方学习网站  ↗</a:t>
            </a:r>
          </a:p>
        </p:txBody>
      </p:sp>
    </p:spTree>
    <p:extLst>
      <p:ext uri="{BB962C8B-B14F-4D97-AF65-F5344CB8AC3E}">
        <p14:creationId xmlns:p14="http://schemas.microsoft.com/office/powerpoint/2010/main" val="112870270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B3B18985-588E-468F-B705-C0A66A4D265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0066CC"/>
          </a:solidFill>
          <a:ln w="9525">
            <a:solidFill>
              <a:srgbClr val="0066C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1143D05-6D69-44E8-B977-62C1E36720AE}"/>
              </a:ext>
            </a:extLst>
          </p:cNvPr>
          <p:cNvSpPr>
            <a:spLocks noGrp="1"/>
          </p:cNvSpPr>
          <p:nvPr/>
        </p:nvSpPr>
        <p:spPr>
          <a:xfrm>
            <a:off x="685800" y="285750"/>
            <a:ext cx="5048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04 日常工作中的 Copilot 实操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BA66A3C-5ED1-4498-A2ED-8D20DCAB5253}"/>
              </a:ext>
            </a:extLst>
          </p:cNvPr>
          <p:cNvSpPr>
            <a:spLocks noGrp="1"/>
          </p:cNvSpPr>
          <p:nvPr/>
        </p:nvSpPr>
        <p:spPr>
          <a:xfrm>
            <a:off x="685800" y="638175"/>
            <a:ext cx="108204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Skilling playlists：把相关课程放进一条学习路线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C4A6224-68CF-43A4-93A0-706ED5DEBFBE}"/>
              </a:ext>
            </a:extLst>
          </p:cNvPr>
          <p:cNvSpPr>
            <a:spLocks noGrp="1"/>
          </p:cNvSpPr>
          <p:nvPr/>
        </p:nvSpPr>
        <p:spPr>
          <a:xfrm>
            <a:off x="685800" y="1181100"/>
            <a:ext cx="108204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当前页面打开的是 Philips: Summer 2026 M365 Copilot Courses。顶部显示学习内容数量和完成进度，下面按顺序排列 AI 基础、Copilot Chat 基础和 MS-4004 业务案例。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E366BF6-F1E8-4769-BCAA-54977D2A75E1}"/>
              </a:ext>
            </a:extLst>
          </p:cNvPr>
          <p:cNvSpPr>
            <a:spLocks noGrp="1"/>
          </p:cNvSpPr>
          <p:nvPr/>
        </p:nvSpPr>
        <p:spPr>
          <a:xfrm>
            <a:off x="11049000" y="6438900"/>
            <a:ext cx="4572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20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618901F-EDF3-4B2F-934E-90AEECB13C0B}"/>
              </a:ext>
            </a:extLst>
          </p:cNvPr>
          <p:cNvSpPr>
            <a:spLocks noGrp="1"/>
          </p:cNvSpPr>
          <p:nvPr/>
        </p:nvSpPr>
        <p:spPr>
          <a:xfrm>
            <a:off x="685800" y="6334125"/>
            <a:ext cx="10820400" cy="9525"/>
          </a:xfrm>
          <a:prstGeom prst="rect">
            <a:avLst/>
          </a:prstGeom>
          <a:solidFill>
            <a:srgbClr val="C9DDF2"/>
          </a:solidFill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21" name="Picture 20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85800" y="1843385"/>
            <a:ext cx="6686550" cy="3552230"/>
          </a:xfrm>
          <a:prstGeom prst="roundRect">
            <a:avLst>
              <a:gd name="adj" fmla="val 3077"/>
            </a:avLst>
          </a:prstGeom>
        </p:spPr>
      </p:pic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20ABB24D-2223-4A5E-BEEC-93782E2EE5D2}"/>
              </a:ext>
            </a:extLst>
          </p:cNvPr>
          <p:cNvSpPr>
            <a:spLocks noGrp="1"/>
          </p:cNvSpPr>
          <p:nvPr/>
        </p:nvSpPr>
        <p:spPr>
          <a:xfrm>
            <a:off x="666750" y="1743075"/>
            <a:ext cx="6724650" cy="3752850"/>
          </a:xfrm>
          <a:prstGeom prst="roundRect">
            <a:avLst>
              <a:gd name="adj" fmla="val 3046"/>
            </a:avLst>
          </a:prstGeom>
          <a:noFill/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E0D26EE8-DF86-49E7-B4C2-D245BF88CAB8}"/>
              </a:ext>
            </a:extLst>
          </p:cNvPr>
          <p:cNvSpPr>
            <a:spLocks noGrp="1"/>
          </p:cNvSpPr>
          <p:nvPr/>
        </p:nvSpPr>
        <p:spPr>
          <a:xfrm>
            <a:off x="7620000" y="1762125"/>
            <a:ext cx="3886200" cy="3714750"/>
          </a:xfrm>
          <a:prstGeom prst="roundRect">
            <a:avLst>
              <a:gd name="adj" fmla="val 3077"/>
            </a:avLst>
          </a:prstGeom>
          <a:solidFill>
            <a:srgbClr val="F6FAFE"/>
          </a:solidFill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315CEDA-6892-472F-BF03-F3E2801AE3EB}"/>
              </a:ext>
            </a:extLst>
          </p:cNvPr>
          <p:cNvSpPr>
            <a:spLocks noGrp="1"/>
          </p:cNvSpPr>
          <p:nvPr/>
        </p:nvSpPr>
        <p:spPr>
          <a:xfrm>
            <a:off x="7848600" y="1971675"/>
            <a:ext cx="3429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播放列表的结构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EB4D7F2-D4F6-442F-ADD4-6BB8B75950B0}"/>
              </a:ext>
            </a:extLst>
          </p:cNvPr>
          <p:cNvSpPr>
            <a:spLocks noGrp="1"/>
          </p:cNvSpPr>
          <p:nvPr/>
        </p:nvSpPr>
        <p:spPr>
          <a:xfrm>
            <a:off x="7848600" y="2390775"/>
            <a:ext cx="3429000" cy="2876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rmAutofit/>
          </a:bodyPr>
          <a:lstStyle/>
          <a:p>
            <a:pPr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首先看顶部信息：33 items 表示共有 33 项内容，进度条显示完成比例，Continue learning 用于回到上次位置。</a:t>
            </a:r>
          </a:p>
          <a:p>
            <a:endParaRPr sz="1200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>
            <a:pPr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建议先完成 AI 和 Copilot Chat 基础，熟悉提示词、文件分析和协作方式，再进入 Microsoft 365 Copilot Use Cases（MS-4004）。</a:t>
            </a:r>
          </a:p>
          <a:p>
            <a:endParaRPr sz="1200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>
            <a:pPr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向下滚动即可找到 MS-4004；其中的案例按管理者、销售、市场、财务、IT、人力资源、运营、企业沟通、客户服务和法务分类。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B3A10445-673B-4113-AE65-320028B3745F}"/>
              </a:ext>
            </a:extLst>
          </p:cNvPr>
          <p:cNvSpPr>
            <a:spLocks noGrp="1"/>
          </p:cNvSpPr>
          <p:nvPr/>
        </p:nvSpPr>
        <p:spPr>
          <a:xfrm>
            <a:off x="685800" y="5867400"/>
            <a:ext cx="2190750" cy="342900"/>
          </a:xfrm>
          <a:prstGeom prst="roundRect">
            <a:avLst>
              <a:gd name="adj" fmla="val 33333"/>
            </a:avLst>
          </a:prstGeom>
          <a:solidFill>
            <a:srgbClr val="EAF4FF"/>
          </a:solidFill>
          <a:ln w="9525">
            <a:solidFill>
              <a:srgbClr val="0066CC"/>
            </a:solidFill>
            <a:prstDash val="solid"/>
          </a:ln>
        </p:spPr>
        <p:txBody>
          <a:bodyPr wrap="none" lIns="76200" tIns="0" rIns="76200" bIns="0" anchor="ctr">
            <a:normAutofit/>
          </a:bodyPr>
          <a:lstStyle/>
          <a:p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r:id="rId4"/>
              </a:rPr>
              <a:t>打开当前播放列表  ↗</a:t>
            </a:r>
          </a:p>
        </p:txBody>
      </p:sp>
    </p:spTree>
    <p:extLst>
      <p:ext uri="{BB962C8B-B14F-4D97-AF65-F5344CB8AC3E}">
        <p14:creationId xmlns:p14="http://schemas.microsoft.com/office/powerpoint/2010/main" val="106633841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97D8677C-8816-4615-8F16-0C0792F1529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0066CC"/>
          </a:solidFill>
          <a:ln w="9525">
            <a:solidFill>
              <a:srgbClr val="0066C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97DA320-6AD1-4163-A405-6331618FB07A}"/>
              </a:ext>
            </a:extLst>
          </p:cNvPr>
          <p:cNvSpPr>
            <a:spLocks noGrp="1"/>
          </p:cNvSpPr>
          <p:nvPr/>
        </p:nvSpPr>
        <p:spPr>
          <a:xfrm>
            <a:off x="685800" y="285750"/>
            <a:ext cx="5048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04 日常工作中的 Copilot 实操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BAF0440-06BB-404B-B474-0ECE4AB8224C}"/>
              </a:ext>
            </a:extLst>
          </p:cNvPr>
          <p:cNvSpPr>
            <a:spLocks noGrp="1"/>
          </p:cNvSpPr>
          <p:nvPr/>
        </p:nvSpPr>
        <p:spPr>
          <a:xfrm>
            <a:off x="685800" y="638175"/>
            <a:ext cx="108204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从左侧目录进入 MS-4004，再按岗位选择案例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5FD0F6B-B824-42C9-A4D6-761928575002}"/>
              </a:ext>
            </a:extLst>
          </p:cNvPr>
          <p:cNvSpPr>
            <a:spLocks noGrp="1"/>
          </p:cNvSpPr>
          <p:nvPr/>
        </p:nvSpPr>
        <p:spPr>
          <a:xfrm>
            <a:off x="685800" y="1181100"/>
            <a:ext cx="108204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进入课程后，左侧目录列出播放列表中的课程和单元。当前截图选中的是 Copilot Chat Basic 的介绍单元；向下找到 MS-4004 并展开，就可以进入不同岗位的案例。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EABC377-666D-47EE-ADA9-9135631F9485}"/>
              </a:ext>
            </a:extLst>
          </p:cNvPr>
          <p:cNvSpPr>
            <a:spLocks noGrp="1"/>
          </p:cNvSpPr>
          <p:nvPr/>
        </p:nvSpPr>
        <p:spPr>
          <a:xfrm>
            <a:off x="11049000" y="6438900"/>
            <a:ext cx="4572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21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22FF228-DB83-495C-B851-9E1D92D8490C}"/>
              </a:ext>
            </a:extLst>
          </p:cNvPr>
          <p:cNvSpPr>
            <a:spLocks noGrp="1"/>
          </p:cNvSpPr>
          <p:nvPr/>
        </p:nvSpPr>
        <p:spPr>
          <a:xfrm>
            <a:off x="685800" y="6334125"/>
            <a:ext cx="10820400" cy="9525"/>
          </a:xfrm>
          <a:prstGeom prst="rect">
            <a:avLst/>
          </a:prstGeom>
          <a:solidFill>
            <a:srgbClr val="C9DDF2"/>
          </a:solidFill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22" name="Picture 21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85800" y="1843385"/>
            <a:ext cx="6686550" cy="3552230"/>
          </a:xfrm>
          <a:prstGeom prst="roundRect">
            <a:avLst>
              <a:gd name="adj" fmla="val 3077"/>
            </a:avLst>
          </a:prstGeom>
        </p:spPr>
      </p:pic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8714D669-1430-4789-8BEC-78FE2CF13200}"/>
              </a:ext>
            </a:extLst>
          </p:cNvPr>
          <p:cNvSpPr>
            <a:spLocks noGrp="1"/>
          </p:cNvSpPr>
          <p:nvPr/>
        </p:nvSpPr>
        <p:spPr>
          <a:xfrm>
            <a:off x="666750" y="1743075"/>
            <a:ext cx="6724650" cy="3752850"/>
          </a:xfrm>
          <a:prstGeom prst="roundRect">
            <a:avLst>
              <a:gd name="adj" fmla="val 3046"/>
            </a:avLst>
          </a:prstGeom>
          <a:noFill/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C5FFA04F-26EB-4446-99E7-2135062C4CEE}"/>
              </a:ext>
            </a:extLst>
          </p:cNvPr>
          <p:cNvSpPr>
            <a:spLocks noGrp="1"/>
          </p:cNvSpPr>
          <p:nvPr/>
        </p:nvSpPr>
        <p:spPr>
          <a:xfrm>
            <a:off x="7620000" y="1762125"/>
            <a:ext cx="3886200" cy="3714750"/>
          </a:xfrm>
          <a:prstGeom prst="roundRect">
            <a:avLst>
              <a:gd name="adj" fmla="val 3077"/>
            </a:avLst>
          </a:prstGeom>
          <a:solidFill>
            <a:srgbClr val="F6FAFE"/>
          </a:solidFill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146C497-570D-4749-AE61-471DE6EE18BF}"/>
              </a:ext>
            </a:extLst>
          </p:cNvPr>
          <p:cNvSpPr>
            <a:spLocks noGrp="1"/>
          </p:cNvSpPr>
          <p:nvPr/>
        </p:nvSpPr>
        <p:spPr>
          <a:xfrm>
            <a:off x="7848600" y="1971675"/>
            <a:ext cx="3429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课程页面怎么读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E3B6F62-995C-4080-BBD9-5F97EC43F390}"/>
              </a:ext>
            </a:extLst>
          </p:cNvPr>
          <p:cNvSpPr>
            <a:spLocks noGrp="1"/>
          </p:cNvSpPr>
          <p:nvPr/>
        </p:nvSpPr>
        <p:spPr>
          <a:xfrm>
            <a:off x="7848600" y="2390775"/>
            <a:ext cx="3429000" cy="2876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rmAutofit/>
          </a:bodyPr>
          <a:lstStyle/>
          <a:p>
            <a:pPr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首先看左侧目录：点击课程名称可以展开单元；当前基础模块包括介绍、Copilot Pages、Agents、练习和总结，下方就是 MS-4004。</a:t>
            </a:r>
          </a:p>
          <a:p>
            <a:endParaRPr sz="1200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>
            <a:pPr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接着看右侧学习区：这里显示正文、提醒和学习目标，顶部还提供单元总结和播客等复习功能。</a:t>
            </a:r>
          </a:p>
          <a:p>
            <a:endParaRPr sz="1200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>
            <a:pPr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今天先记住课程入口，再进入 MS-4004 选择接近自己岗位的案例；后面的实操会练习其中可以跨岗位复用的方法。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BB5D3BE8-86A4-4D1C-8828-877044534170}"/>
              </a:ext>
            </a:extLst>
          </p:cNvPr>
          <p:cNvSpPr>
            <a:spLocks noGrp="1"/>
          </p:cNvSpPr>
          <p:nvPr/>
        </p:nvSpPr>
        <p:spPr>
          <a:xfrm>
            <a:off x="685800" y="5867400"/>
            <a:ext cx="2667000" cy="342900"/>
          </a:xfrm>
          <a:prstGeom prst="roundRect">
            <a:avLst>
              <a:gd name="adj" fmla="val 33333"/>
            </a:avLst>
          </a:prstGeom>
          <a:solidFill>
            <a:srgbClr val="EAF4FF"/>
          </a:solidFill>
          <a:ln w="9525">
            <a:solidFill>
              <a:srgbClr val="0066CC"/>
            </a:solidFill>
            <a:prstDash val="solid"/>
          </a:ln>
        </p:spPr>
        <p:txBody>
          <a:bodyPr wrap="none" lIns="76200" tIns="0" rIns="76200" bIns="0" anchor="ctr">
            <a:normAutofit/>
          </a:bodyPr>
          <a:lstStyle/>
          <a:p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r:id="rId4"/>
              </a:rPr>
              <a:t>打开 MS-4004 播放列表  ↗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58D1E7AF-B629-485B-B18E-51A3EBB95169}"/>
              </a:ext>
            </a:extLst>
          </p:cNvPr>
          <p:cNvSpPr>
            <a:spLocks noGrp="1"/>
          </p:cNvSpPr>
          <p:nvPr/>
        </p:nvSpPr>
        <p:spPr>
          <a:xfrm>
            <a:off x="3524250" y="5867400"/>
            <a:ext cx="2381250" cy="342900"/>
          </a:xfrm>
          <a:prstGeom prst="roundRect">
            <a:avLst>
              <a:gd name="adj" fmla="val 33333"/>
            </a:avLst>
          </a:prstGeom>
          <a:solidFill>
            <a:srgbClr val="EAF4FF"/>
          </a:solidFill>
          <a:ln w="9525">
            <a:solidFill>
              <a:srgbClr val="0066CC"/>
            </a:solidFill>
            <a:prstDash val="solid"/>
          </a:ln>
        </p:spPr>
        <p:txBody>
          <a:bodyPr wrap="none" lIns="76200" tIns="0" rIns="76200" bIns="0" anchor="ctr">
            <a:normAutofit/>
          </a:bodyPr>
          <a:lstStyle/>
          <a:p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r:id="rId5"/>
              </a:rPr>
              <a:t>查看 Microsoft Learn  ↗</a:t>
            </a:r>
          </a:p>
        </p:txBody>
      </p:sp>
    </p:spTree>
    <p:extLst>
      <p:ext uri="{BB962C8B-B14F-4D97-AF65-F5344CB8AC3E}">
        <p14:creationId xmlns:p14="http://schemas.microsoft.com/office/powerpoint/2010/main" val="73097463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Rectangle 38">
            <a:extLst>
              <a:ext uri="{FF2B5EF4-FFF2-40B4-BE49-F238E27FC236}">
                <a16:creationId xmlns:a16="http://schemas.microsoft.com/office/drawing/2014/main" id="{A8ACF113-38D0-4E99-BC35-7FB580DBD3F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0066CC"/>
          </a:solidFill>
          <a:ln w="9525">
            <a:solidFill>
              <a:srgbClr val="0066C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2FC33D5-81F1-4C2A-BE57-1E19A5DDE2DA}"/>
              </a:ext>
            </a:extLst>
          </p:cNvPr>
          <p:cNvSpPr>
            <a:spLocks noGrp="1"/>
          </p:cNvSpPr>
          <p:nvPr/>
        </p:nvSpPr>
        <p:spPr>
          <a:xfrm>
            <a:off x="685800" y="285750"/>
            <a:ext cx="5048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04 日常工作中的 Copilot 实操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D7378AB-9DAE-4628-ACD3-2B6416F37128}"/>
              </a:ext>
            </a:extLst>
          </p:cNvPr>
          <p:cNvSpPr>
            <a:spLocks noGrp="1"/>
          </p:cNvSpPr>
          <p:nvPr/>
        </p:nvSpPr>
        <p:spPr>
          <a:xfrm>
            <a:off x="685800" y="638175"/>
            <a:ext cx="108204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MS-4004 覆盖的十类岗位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4D175D0-00CF-4765-8260-7011662216DC}"/>
              </a:ext>
            </a:extLst>
          </p:cNvPr>
          <p:cNvSpPr>
            <a:spLocks noGrp="1"/>
          </p:cNvSpPr>
          <p:nvPr/>
        </p:nvSpPr>
        <p:spPr>
          <a:xfrm>
            <a:off x="685800" y="1181100"/>
            <a:ext cx="108204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MS-4004 按岗位组织 Copilot 案例。浏览时可以先看与自己最接近的岗位，也可以直接寻找熟悉的任务，例如读懂上下文、比较多份资料、整理风险和起草下一步沟通。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9A315D0-42BE-4DBB-A8B6-A6FF2D68E21C}"/>
              </a:ext>
            </a:extLst>
          </p:cNvPr>
          <p:cNvSpPr>
            <a:spLocks noGrp="1"/>
          </p:cNvSpPr>
          <p:nvPr/>
        </p:nvSpPr>
        <p:spPr>
          <a:xfrm>
            <a:off x="11049000" y="6438900"/>
            <a:ext cx="4572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22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ADC8A8E-8A89-432D-BD2E-C2B5542D323D}"/>
              </a:ext>
            </a:extLst>
          </p:cNvPr>
          <p:cNvSpPr>
            <a:spLocks noGrp="1"/>
          </p:cNvSpPr>
          <p:nvPr/>
        </p:nvSpPr>
        <p:spPr>
          <a:xfrm>
            <a:off x="685800" y="6334125"/>
            <a:ext cx="10820400" cy="9525"/>
          </a:xfrm>
          <a:prstGeom prst="rect">
            <a:avLst/>
          </a:prstGeom>
          <a:solidFill>
            <a:srgbClr val="C9DDF2"/>
          </a:solidFill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AC5C9677-7571-4F46-BC21-E9AF6D262EAF}"/>
              </a:ext>
            </a:extLst>
          </p:cNvPr>
          <p:cNvSpPr>
            <a:spLocks noGrp="1"/>
          </p:cNvSpPr>
          <p:nvPr/>
        </p:nvSpPr>
        <p:spPr>
          <a:xfrm>
            <a:off x="781050" y="2000250"/>
            <a:ext cx="1962150" cy="971550"/>
          </a:xfrm>
          <a:prstGeom prst="roundRect">
            <a:avLst>
              <a:gd name="adj" fmla="val 11765"/>
            </a:avLst>
          </a:prstGeom>
          <a:solidFill>
            <a:srgbClr val="EAF4FF"/>
          </a:solidFill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E5383AD-9CC8-46EF-A068-A027BC370279}"/>
              </a:ext>
            </a:extLst>
          </p:cNvPr>
          <p:cNvSpPr>
            <a:spLocks noGrp="1"/>
          </p:cNvSpPr>
          <p:nvPr/>
        </p:nvSpPr>
        <p:spPr>
          <a:xfrm>
            <a:off x="971550" y="2190750"/>
            <a:ext cx="3619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222C82E-C3F4-45E1-91C3-1EC04854D687}"/>
              </a:ext>
            </a:extLst>
          </p:cNvPr>
          <p:cNvSpPr>
            <a:spLocks noGrp="1"/>
          </p:cNvSpPr>
          <p:nvPr/>
        </p:nvSpPr>
        <p:spPr>
          <a:xfrm>
            <a:off x="1381125" y="2152650"/>
            <a:ext cx="1190625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5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管理者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6E6EFF4C-243F-46D2-9A9E-3AD6220F0D84}"/>
              </a:ext>
            </a:extLst>
          </p:cNvPr>
          <p:cNvSpPr>
            <a:spLocks noGrp="1"/>
          </p:cNvSpPr>
          <p:nvPr/>
        </p:nvSpPr>
        <p:spPr>
          <a:xfrm>
            <a:off x="2990850" y="2000250"/>
            <a:ext cx="1962150" cy="971550"/>
          </a:xfrm>
          <a:prstGeom prst="roundRect">
            <a:avLst>
              <a:gd name="adj" fmla="val 11765"/>
            </a:avLst>
          </a:prstGeom>
          <a:solidFill>
            <a:srgbClr val="EAF4FF"/>
          </a:solidFill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13F4F94-B6C4-4FE8-9FD6-7EC07982CFD4}"/>
              </a:ext>
            </a:extLst>
          </p:cNvPr>
          <p:cNvSpPr>
            <a:spLocks noGrp="1"/>
          </p:cNvSpPr>
          <p:nvPr/>
        </p:nvSpPr>
        <p:spPr>
          <a:xfrm>
            <a:off x="3181350" y="2190750"/>
            <a:ext cx="3619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BEF8A4D-C924-4D10-B342-EE9AF0EF8CFF}"/>
              </a:ext>
            </a:extLst>
          </p:cNvPr>
          <p:cNvSpPr>
            <a:spLocks noGrp="1"/>
          </p:cNvSpPr>
          <p:nvPr/>
        </p:nvSpPr>
        <p:spPr>
          <a:xfrm>
            <a:off x="3590925" y="2152650"/>
            <a:ext cx="1190625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5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销售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B5AFC4B4-70FF-48DE-A76C-8EE9A7BF84D0}"/>
              </a:ext>
            </a:extLst>
          </p:cNvPr>
          <p:cNvSpPr>
            <a:spLocks noGrp="1"/>
          </p:cNvSpPr>
          <p:nvPr/>
        </p:nvSpPr>
        <p:spPr>
          <a:xfrm>
            <a:off x="5200650" y="2000250"/>
            <a:ext cx="1962150" cy="971550"/>
          </a:xfrm>
          <a:prstGeom prst="roundRect">
            <a:avLst>
              <a:gd name="adj" fmla="val 11765"/>
            </a:avLst>
          </a:prstGeom>
          <a:solidFill>
            <a:srgbClr val="EAF4FF"/>
          </a:solidFill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9C33516-873F-4FB3-9C9A-5B769FCAE3CE}"/>
              </a:ext>
            </a:extLst>
          </p:cNvPr>
          <p:cNvSpPr>
            <a:spLocks noGrp="1"/>
          </p:cNvSpPr>
          <p:nvPr/>
        </p:nvSpPr>
        <p:spPr>
          <a:xfrm>
            <a:off x="5391150" y="2190750"/>
            <a:ext cx="3619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51EF23-0377-4AC3-AD68-309623E200C3}"/>
              </a:ext>
            </a:extLst>
          </p:cNvPr>
          <p:cNvSpPr>
            <a:spLocks noGrp="1"/>
          </p:cNvSpPr>
          <p:nvPr/>
        </p:nvSpPr>
        <p:spPr>
          <a:xfrm>
            <a:off x="5800725" y="2152650"/>
            <a:ext cx="1190625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5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市场营销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4802920D-0BAE-4516-98BE-55FB14B15738}"/>
              </a:ext>
            </a:extLst>
          </p:cNvPr>
          <p:cNvSpPr>
            <a:spLocks noGrp="1"/>
          </p:cNvSpPr>
          <p:nvPr/>
        </p:nvSpPr>
        <p:spPr>
          <a:xfrm>
            <a:off x="7410450" y="2000250"/>
            <a:ext cx="1962150" cy="971550"/>
          </a:xfrm>
          <a:prstGeom prst="roundRect">
            <a:avLst>
              <a:gd name="adj" fmla="val 11765"/>
            </a:avLst>
          </a:prstGeom>
          <a:solidFill>
            <a:srgbClr val="EAF4FF"/>
          </a:solidFill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8B77D47-E691-4E0F-B6B0-CB48B9B6B806}"/>
              </a:ext>
            </a:extLst>
          </p:cNvPr>
          <p:cNvSpPr>
            <a:spLocks noGrp="1"/>
          </p:cNvSpPr>
          <p:nvPr/>
        </p:nvSpPr>
        <p:spPr>
          <a:xfrm>
            <a:off x="7600950" y="2190750"/>
            <a:ext cx="3619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EB1FCAB-B0B2-470D-A114-FB7C1742B9D3}"/>
              </a:ext>
            </a:extLst>
          </p:cNvPr>
          <p:cNvSpPr>
            <a:spLocks noGrp="1"/>
          </p:cNvSpPr>
          <p:nvPr/>
        </p:nvSpPr>
        <p:spPr>
          <a:xfrm>
            <a:off x="8010525" y="2152650"/>
            <a:ext cx="1190625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5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财务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372C2E45-21DA-41C7-9810-4D4193728A9E}"/>
              </a:ext>
            </a:extLst>
          </p:cNvPr>
          <p:cNvSpPr>
            <a:spLocks noGrp="1"/>
          </p:cNvSpPr>
          <p:nvPr/>
        </p:nvSpPr>
        <p:spPr>
          <a:xfrm>
            <a:off x="9620250" y="2000250"/>
            <a:ext cx="1962150" cy="971550"/>
          </a:xfrm>
          <a:prstGeom prst="roundRect">
            <a:avLst>
              <a:gd name="adj" fmla="val 11765"/>
            </a:avLst>
          </a:prstGeom>
          <a:solidFill>
            <a:srgbClr val="EAF4FF"/>
          </a:solidFill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67B72868-A010-468F-AD44-8D52AB29CEAB}"/>
              </a:ext>
            </a:extLst>
          </p:cNvPr>
          <p:cNvSpPr>
            <a:spLocks noGrp="1"/>
          </p:cNvSpPr>
          <p:nvPr/>
        </p:nvSpPr>
        <p:spPr>
          <a:xfrm>
            <a:off x="9810750" y="2190750"/>
            <a:ext cx="3619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2B4F418-A01C-4C1A-9724-C0D55EF6319E}"/>
              </a:ext>
            </a:extLst>
          </p:cNvPr>
          <p:cNvSpPr>
            <a:spLocks noGrp="1"/>
          </p:cNvSpPr>
          <p:nvPr/>
        </p:nvSpPr>
        <p:spPr>
          <a:xfrm>
            <a:off x="10220325" y="2152650"/>
            <a:ext cx="1190625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5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IT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5DF81C26-10F0-40AE-B822-5E6FD51F2F40}"/>
              </a:ext>
            </a:extLst>
          </p:cNvPr>
          <p:cNvSpPr>
            <a:spLocks noGrp="1"/>
          </p:cNvSpPr>
          <p:nvPr/>
        </p:nvSpPr>
        <p:spPr>
          <a:xfrm>
            <a:off x="781050" y="3286125"/>
            <a:ext cx="1962150" cy="971550"/>
          </a:xfrm>
          <a:prstGeom prst="roundRect">
            <a:avLst>
              <a:gd name="adj" fmla="val 11765"/>
            </a:avLst>
          </a:prstGeom>
          <a:solidFill>
            <a:srgbClr val="F6FAFE"/>
          </a:solidFill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DACBE5C-BE16-4AF5-B068-74AD72CDD613}"/>
              </a:ext>
            </a:extLst>
          </p:cNvPr>
          <p:cNvSpPr>
            <a:spLocks noGrp="1"/>
          </p:cNvSpPr>
          <p:nvPr/>
        </p:nvSpPr>
        <p:spPr>
          <a:xfrm>
            <a:off x="971550" y="3476625"/>
            <a:ext cx="3619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DDB496F7-4DEB-4C72-BEE0-233FE9DD8FD8}"/>
              </a:ext>
            </a:extLst>
          </p:cNvPr>
          <p:cNvSpPr>
            <a:spLocks noGrp="1"/>
          </p:cNvSpPr>
          <p:nvPr/>
        </p:nvSpPr>
        <p:spPr>
          <a:xfrm>
            <a:off x="1381125" y="3438525"/>
            <a:ext cx="1190625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5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人力资源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B4F51F5A-ABC4-4F0C-90EB-F40A5B66F3D3}"/>
              </a:ext>
            </a:extLst>
          </p:cNvPr>
          <p:cNvSpPr>
            <a:spLocks noGrp="1"/>
          </p:cNvSpPr>
          <p:nvPr/>
        </p:nvSpPr>
        <p:spPr>
          <a:xfrm>
            <a:off x="2990850" y="3286125"/>
            <a:ext cx="1962150" cy="971550"/>
          </a:xfrm>
          <a:prstGeom prst="roundRect">
            <a:avLst>
              <a:gd name="adj" fmla="val 11765"/>
            </a:avLst>
          </a:prstGeom>
          <a:solidFill>
            <a:srgbClr val="F6FAFE"/>
          </a:solidFill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83694A76-E617-4250-8B7A-78F98F5E1539}"/>
              </a:ext>
            </a:extLst>
          </p:cNvPr>
          <p:cNvSpPr>
            <a:spLocks noGrp="1"/>
          </p:cNvSpPr>
          <p:nvPr/>
        </p:nvSpPr>
        <p:spPr>
          <a:xfrm>
            <a:off x="3181350" y="3476625"/>
            <a:ext cx="3619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FA3A107F-8090-4DB3-A4EF-7061B1775CE4}"/>
              </a:ext>
            </a:extLst>
          </p:cNvPr>
          <p:cNvSpPr>
            <a:spLocks noGrp="1"/>
          </p:cNvSpPr>
          <p:nvPr/>
        </p:nvSpPr>
        <p:spPr>
          <a:xfrm>
            <a:off x="3590925" y="3438525"/>
            <a:ext cx="1190625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5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运营</a:t>
            </a: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2E4894E7-603D-4804-9C99-6E8CE5C47A81}"/>
              </a:ext>
            </a:extLst>
          </p:cNvPr>
          <p:cNvSpPr>
            <a:spLocks noGrp="1"/>
          </p:cNvSpPr>
          <p:nvPr/>
        </p:nvSpPr>
        <p:spPr>
          <a:xfrm>
            <a:off x="5200650" y="3286125"/>
            <a:ext cx="1962150" cy="971550"/>
          </a:xfrm>
          <a:prstGeom prst="roundRect">
            <a:avLst>
              <a:gd name="adj" fmla="val 11765"/>
            </a:avLst>
          </a:prstGeom>
          <a:solidFill>
            <a:srgbClr val="F6FAFE"/>
          </a:solidFill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E4FE950D-C794-405E-9E9F-1803A0F49869}"/>
              </a:ext>
            </a:extLst>
          </p:cNvPr>
          <p:cNvSpPr>
            <a:spLocks noGrp="1"/>
          </p:cNvSpPr>
          <p:nvPr/>
        </p:nvSpPr>
        <p:spPr>
          <a:xfrm>
            <a:off x="5391150" y="3476625"/>
            <a:ext cx="3619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5EFE59B9-E087-4559-BE18-9F6C2F163EE0}"/>
              </a:ext>
            </a:extLst>
          </p:cNvPr>
          <p:cNvSpPr>
            <a:spLocks noGrp="1"/>
          </p:cNvSpPr>
          <p:nvPr/>
        </p:nvSpPr>
        <p:spPr>
          <a:xfrm>
            <a:off x="5800725" y="3438525"/>
            <a:ext cx="1190625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5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企业沟通</a:t>
            </a: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08173CC7-11CA-40A1-A3CD-DA996275C143}"/>
              </a:ext>
            </a:extLst>
          </p:cNvPr>
          <p:cNvSpPr>
            <a:spLocks noGrp="1"/>
          </p:cNvSpPr>
          <p:nvPr/>
        </p:nvSpPr>
        <p:spPr>
          <a:xfrm>
            <a:off x="7410450" y="3286125"/>
            <a:ext cx="1962150" cy="971550"/>
          </a:xfrm>
          <a:prstGeom prst="roundRect">
            <a:avLst>
              <a:gd name="adj" fmla="val 11765"/>
            </a:avLst>
          </a:prstGeom>
          <a:solidFill>
            <a:srgbClr val="F6FAFE"/>
          </a:solidFill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FF0DE40E-FCAD-4DD5-9C01-5F6E151DF506}"/>
              </a:ext>
            </a:extLst>
          </p:cNvPr>
          <p:cNvSpPr>
            <a:spLocks noGrp="1"/>
          </p:cNvSpPr>
          <p:nvPr/>
        </p:nvSpPr>
        <p:spPr>
          <a:xfrm>
            <a:off x="7600950" y="3476625"/>
            <a:ext cx="3619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29C28F91-2170-44A1-A3D0-2B5F4FE1EDF8}"/>
              </a:ext>
            </a:extLst>
          </p:cNvPr>
          <p:cNvSpPr>
            <a:spLocks noGrp="1"/>
          </p:cNvSpPr>
          <p:nvPr/>
        </p:nvSpPr>
        <p:spPr>
          <a:xfrm>
            <a:off x="8010525" y="3438525"/>
            <a:ext cx="1190625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5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客户服务</a:t>
            </a:r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7DB57E33-8D06-4EB6-9E58-1151032E5367}"/>
              </a:ext>
            </a:extLst>
          </p:cNvPr>
          <p:cNvSpPr>
            <a:spLocks noGrp="1"/>
          </p:cNvSpPr>
          <p:nvPr/>
        </p:nvSpPr>
        <p:spPr>
          <a:xfrm>
            <a:off x="9620250" y="3286125"/>
            <a:ext cx="1962150" cy="971550"/>
          </a:xfrm>
          <a:prstGeom prst="roundRect">
            <a:avLst>
              <a:gd name="adj" fmla="val 11765"/>
            </a:avLst>
          </a:prstGeom>
          <a:solidFill>
            <a:srgbClr val="F6FAFE"/>
          </a:solidFill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0359A295-BAEB-4174-98AA-37A4E67E3A77}"/>
              </a:ext>
            </a:extLst>
          </p:cNvPr>
          <p:cNvSpPr>
            <a:spLocks noGrp="1"/>
          </p:cNvSpPr>
          <p:nvPr/>
        </p:nvSpPr>
        <p:spPr>
          <a:xfrm>
            <a:off x="9810750" y="3476625"/>
            <a:ext cx="3619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9AB5BFD2-DFBD-43D9-A9FA-161EB98C5DBE}"/>
              </a:ext>
            </a:extLst>
          </p:cNvPr>
          <p:cNvSpPr>
            <a:spLocks noGrp="1"/>
          </p:cNvSpPr>
          <p:nvPr/>
        </p:nvSpPr>
        <p:spPr>
          <a:xfrm>
            <a:off x="10220325" y="3438525"/>
            <a:ext cx="1190625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5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法务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C31716B0-7B55-4E7E-A468-42F9C39BDF57}"/>
              </a:ext>
            </a:extLst>
          </p:cNvPr>
          <p:cNvSpPr>
            <a:spLocks noGrp="1"/>
          </p:cNvSpPr>
          <p:nvPr/>
        </p:nvSpPr>
        <p:spPr>
          <a:xfrm>
            <a:off x="1047750" y="4857750"/>
            <a:ext cx="10096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buNone/>
              <a:defRPr sz="15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跨岗位共同点：快速理解上下文、从多个来源提取关键信息、识别风险与冲突，并把分析转化为清晰的下一步沟通。</a:t>
            </a:r>
          </a:p>
        </p:txBody>
      </p:sp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852ED640-2990-4B37-8297-3B1A708CD69D}"/>
              </a:ext>
            </a:extLst>
          </p:cNvPr>
          <p:cNvSpPr>
            <a:spLocks noGrp="1"/>
          </p:cNvSpPr>
          <p:nvPr/>
        </p:nvSpPr>
        <p:spPr>
          <a:xfrm>
            <a:off x="685800" y="5867400"/>
            <a:ext cx="2190750" cy="342900"/>
          </a:xfrm>
          <a:prstGeom prst="roundRect">
            <a:avLst>
              <a:gd name="adj" fmla="val 33333"/>
            </a:avLst>
          </a:prstGeom>
          <a:solidFill>
            <a:srgbClr val="EAF4FF"/>
          </a:solidFill>
          <a:ln w="9525">
            <a:solidFill>
              <a:srgbClr val="0066CC"/>
            </a:solidFill>
            <a:prstDash val="solid"/>
          </a:ln>
        </p:spPr>
        <p:txBody>
          <a:bodyPr wrap="none" lIns="76200" tIns="0" rIns="76200" bIns="0" anchor="ctr">
            <a:normAutofit/>
          </a:bodyPr>
          <a:lstStyle/>
          <a:p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r:id="rId3"/>
              </a:rPr>
              <a:t>进入 MS-4004  ↗</a:t>
            </a:r>
          </a:p>
        </p:txBody>
      </p:sp>
    </p:spTree>
    <p:extLst>
      <p:ext uri="{BB962C8B-B14F-4D97-AF65-F5344CB8AC3E}">
        <p14:creationId xmlns:p14="http://schemas.microsoft.com/office/powerpoint/2010/main" val="195220012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>
            <a:extLst>
              <a:ext uri="{FF2B5EF4-FFF2-40B4-BE49-F238E27FC236}">
                <a16:creationId xmlns:a16="http://schemas.microsoft.com/office/drawing/2014/main" id="{45488D6D-CD3F-4E1E-B4F8-5B9EC69BE76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0066CC"/>
          </a:solidFill>
          <a:ln w="9525">
            <a:solidFill>
              <a:srgbClr val="0066C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9D3FD1E-9D9E-46B7-8D0A-5C04A983FA0C}"/>
              </a:ext>
            </a:extLst>
          </p:cNvPr>
          <p:cNvSpPr>
            <a:spLocks noGrp="1"/>
          </p:cNvSpPr>
          <p:nvPr/>
        </p:nvSpPr>
        <p:spPr>
          <a:xfrm>
            <a:off x="685800" y="285750"/>
            <a:ext cx="5048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04 日常工作中的 Copilot 实操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F5FCD0B-7659-4ED9-8A5C-FE150B9552E7}"/>
              </a:ext>
            </a:extLst>
          </p:cNvPr>
          <p:cNvSpPr>
            <a:spLocks noGrp="1"/>
          </p:cNvSpPr>
          <p:nvPr/>
        </p:nvSpPr>
        <p:spPr>
          <a:xfrm>
            <a:off x="685800" y="638175"/>
            <a:ext cx="108204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把岗位差异提炼为四类通用任务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EA2623D-A365-4957-B85A-D7E0DB25A236}"/>
              </a:ext>
            </a:extLst>
          </p:cNvPr>
          <p:cNvSpPr>
            <a:spLocks noGrp="1"/>
          </p:cNvSpPr>
          <p:nvPr/>
        </p:nvSpPr>
        <p:spPr>
          <a:xfrm>
            <a:off x="685800" y="1181100"/>
            <a:ext cx="108204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无论岗位是什么，Copilot 的高频价值通常集中在“读、理、查、写”。课堂案例会把这四类动作串成完整工作流：先理解资料，再形成结构，检查问题，最后把结果转化为可执行的沟通。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B31870A-5EAA-4E6B-B673-18225FAFD6F0}"/>
              </a:ext>
            </a:extLst>
          </p:cNvPr>
          <p:cNvSpPr>
            <a:spLocks noGrp="1"/>
          </p:cNvSpPr>
          <p:nvPr/>
        </p:nvSpPr>
        <p:spPr>
          <a:xfrm>
            <a:off x="11049000" y="6438900"/>
            <a:ext cx="4572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23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BDAD14C-0A0D-4C7F-B079-7C4E6B6A8469}"/>
              </a:ext>
            </a:extLst>
          </p:cNvPr>
          <p:cNvSpPr>
            <a:spLocks noGrp="1"/>
          </p:cNvSpPr>
          <p:nvPr/>
        </p:nvSpPr>
        <p:spPr>
          <a:xfrm>
            <a:off x="685800" y="6334125"/>
            <a:ext cx="10820400" cy="9525"/>
          </a:xfrm>
          <a:prstGeom prst="rect">
            <a:avLst/>
          </a:prstGeom>
          <a:solidFill>
            <a:srgbClr val="C9DDF2"/>
          </a:solidFill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889C5695-B683-476E-BB95-1025B4FA1E57}"/>
              </a:ext>
            </a:extLst>
          </p:cNvPr>
          <p:cNvSpPr>
            <a:spLocks noGrp="1"/>
          </p:cNvSpPr>
          <p:nvPr/>
        </p:nvSpPr>
        <p:spPr>
          <a:xfrm>
            <a:off x="876300" y="2000250"/>
            <a:ext cx="2286000" cy="2714625"/>
          </a:xfrm>
          <a:prstGeom prst="roundRect">
            <a:avLst>
              <a:gd name="adj" fmla="val 5000"/>
            </a:avLst>
          </a:prstGeom>
          <a:solidFill>
            <a:srgbClr val="F6FAFE"/>
          </a:solidFill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B3CEA1DE-7413-4849-9F5D-EE22BAD409CA}"/>
              </a:ext>
            </a:extLst>
          </p:cNvPr>
          <p:cNvSpPr>
            <a:spLocks noGrp="1"/>
          </p:cNvSpPr>
          <p:nvPr/>
        </p:nvSpPr>
        <p:spPr>
          <a:xfrm>
            <a:off x="1085850" y="2209800"/>
            <a:ext cx="400050" cy="400050"/>
          </a:xfrm>
          <a:prstGeom prst="ellipse">
            <a:avLst/>
          </a:prstGeom>
          <a:solidFill>
            <a:srgbClr val="0066CC"/>
          </a:solidFill>
          <a:ln w="9525">
            <a:solidFill>
              <a:srgbClr val="0066C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B4CC684-1E86-49E5-B849-C0C99D79F689}"/>
              </a:ext>
            </a:extLst>
          </p:cNvPr>
          <p:cNvSpPr>
            <a:spLocks noGrp="1"/>
          </p:cNvSpPr>
          <p:nvPr/>
        </p:nvSpPr>
        <p:spPr>
          <a:xfrm>
            <a:off x="1085850" y="2266950"/>
            <a:ext cx="4000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buNone/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E548E9D-1491-40DC-9DB9-A726AE22CFAE}"/>
              </a:ext>
            </a:extLst>
          </p:cNvPr>
          <p:cNvSpPr>
            <a:spLocks noGrp="1"/>
          </p:cNvSpPr>
          <p:nvPr/>
        </p:nvSpPr>
        <p:spPr>
          <a:xfrm>
            <a:off x="1638300" y="2190750"/>
            <a:ext cx="13144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读：快速理解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1316E8C-2674-4669-ACEC-02833E07F4CD}"/>
              </a:ext>
            </a:extLst>
          </p:cNvPr>
          <p:cNvSpPr>
            <a:spLocks noGrp="1"/>
          </p:cNvSpPr>
          <p:nvPr/>
        </p:nvSpPr>
        <p:spPr>
          <a:xfrm>
            <a:off x="1085850" y="2705100"/>
            <a:ext cx="1866900" cy="1838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阅读项目简介、会议纪要、邮件或文档，提取目标、背景和关键事实。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B5CD10C3-4BEE-4D30-9AC5-6E8A8A914EE8}"/>
              </a:ext>
            </a:extLst>
          </p:cNvPr>
          <p:cNvSpPr>
            <a:spLocks noGrp="1"/>
          </p:cNvSpPr>
          <p:nvPr/>
        </p:nvSpPr>
        <p:spPr>
          <a:xfrm>
            <a:off x="3638550" y="2000250"/>
            <a:ext cx="2286000" cy="2714625"/>
          </a:xfrm>
          <a:prstGeom prst="roundRect">
            <a:avLst>
              <a:gd name="adj" fmla="val 5000"/>
            </a:avLst>
          </a:prstGeom>
          <a:solidFill>
            <a:srgbClr val="F6FAFE"/>
          </a:solidFill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376C42CE-0415-4A48-BF8E-EF0D133FCDE2}"/>
              </a:ext>
            </a:extLst>
          </p:cNvPr>
          <p:cNvSpPr>
            <a:spLocks noGrp="1"/>
          </p:cNvSpPr>
          <p:nvPr/>
        </p:nvSpPr>
        <p:spPr>
          <a:xfrm>
            <a:off x="3848100" y="2209800"/>
            <a:ext cx="400050" cy="400050"/>
          </a:xfrm>
          <a:prstGeom prst="ellipse">
            <a:avLst/>
          </a:prstGeom>
          <a:solidFill>
            <a:srgbClr val="0066CC"/>
          </a:solidFill>
          <a:ln w="9525">
            <a:solidFill>
              <a:srgbClr val="0066C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29AB4DF-1D21-4DE3-80B8-7E6C68E26817}"/>
              </a:ext>
            </a:extLst>
          </p:cNvPr>
          <p:cNvSpPr>
            <a:spLocks noGrp="1"/>
          </p:cNvSpPr>
          <p:nvPr/>
        </p:nvSpPr>
        <p:spPr>
          <a:xfrm>
            <a:off x="3848100" y="2266950"/>
            <a:ext cx="4000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buNone/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2994DC8-E648-4CA1-868D-3319D35A5E92}"/>
              </a:ext>
            </a:extLst>
          </p:cNvPr>
          <p:cNvSpPr>
            <a:spLocks noGrp="1"/>
          </p:cNvSpPr>
          <p:nvPr/>
        </p:nvSpPr>
        <p:spPr>
          <a:xfrm>
            <a:off x="4400550" y="2190750"/>
            <a:ext cx="13144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理：形成结构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421B3FA-2DFE-4ABC-950F-2C214AE4D80A}"/>
              </a:ext>
            </a:extLst>
          </p:cNvPr>
          <p:cNvSpPr>
            <a:spLocks noGrp="1"/>
          </p:cNvSpPr>
          <p:nvPr/>
        </p:nvSpPr>
        <p:spPr>
          <a:xfrm>
            <a:off x="3848100" y="2705100"/>
            <a:ext cx="1866900" cy="1838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按决策、行动、风险、截止日期和负责人重新组织信息。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9E281427-0D05-44FF-8D49-11A4E0AC2CC6}"/>
              </a:ext>
            </a:extLst>
          </p:cNvPr>
          <p:cNvSpPr>
            <a:spLocks noGrp="1"/>
          </p:cNvSpPr>
          <p:nvPr/>
        </p:nvSpPr>
        <p:spPr>
          <a:xfrm>
            <a:off x="6400800" y="2000250"/>
            <a:ext cx="2286000" cy="2714625"/>
          </a:xfrm>
          <a:prstGeom prst="roundRect">
            <a:avLst>
              <a:gd name="adj" fmla="val 5000"/>
            </a:avLst>
          </a:prstGeom>
          <a:solidFill>
            <a:srgbClr val="F6FAFE"/>
          </a:solidFill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F7CD52D9-35F3-4D7F-A751-7C1F89B8B783}"/>
              </a:ext>
            </a:extLst>
          </p:cNvPr>
          <p:cNvSpPr>
            <a:spLocks noGrp="1"/>
          </p:cNvSpPr>
          <p:nvPr/>
        </p:nvSpPr>
        <p:spPr>
          <a:xfrm>
            <a:off x="6610350" y="2209800"/>
            <a:ext cx="400050" cy="400050"/>
          </a:xfrm>
          <a:prstGeom prst="ellipse">
            <a:avLst/>
          </a:prstGeom>
          <a:solidFill>
            <a:srgbClr val="E8742B"/>
          </a:solidFill>
          <a:ln w="9525">
            <a:solidFill>
              <a:srgbClr val="E8742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9D76E4D-A9FB-43F9-A999-E1C6A308792E}"/>
              </a:ext>
            </a:extLst>
          </p:cNvPr>
          <p:cNvSpPr>
            <a:spLocks noGrp="1"/>
          </p:cNvSpPr>
          <p:nvPr/>
        </p:nvSpPr>
        <p:spPr>
          <a:xfrm>
            <a:off x="6610350" y="2266950"/>
            <a:ext cx="4000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buNone/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F9ABA4D-F508-464A-B2DA-06978A8D17C1}"/>
              </a:ext>
            </a:extLst>
          </p:cNvPr>
          <p:cNvSpPr>
            <a:spLocks noGrp="1"/>
          </p:cNvSpPr>
          <p:nvPr/>
        </p:nvSpPr>
        <p:spPr>
          <a:xfrm>
            <a:off x="7162800" y="2190750"/>
            <a:ext cx="13144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查：发现问题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EF2349A-FCD9-4CC4-ABB0-A0DD79A62566}"/>
              </a:ext>
            </a:extLst>
          </p:cNvPr>
          <p:cNvSpPr>
            <a:spLocks noGrp="1"/>
          </p:cNvSpPr>
          <p:nvPr/>
        </p:nvSpPr>
        <p:spPr>
          <a:xfrm>
            <a:off x="6610350" y="2705100"/>
            <a:ext cx="1866900" cy="1838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比较多个来源，标记冲突、缺失信息和需要人工确认的内容。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D56F8564-1A68-4316-A687-439B5E0FFBB4}"/>
              </a:ext>
            </a:extLst>
          </p:cNvPr>
          <p:cNvSpPr>
            <a:spLocks noGrp="1"/>
          </p:cNvSpPr>
          <p:nvPr/>
        </p:nvSpPr>
        <p:spPr>
          <a:xfrm>
            <a:off x="9163050" y="2000250"/>
            <a:ext cx="2286000" cy="2714625"/>
          </a:xfrm>
          <a:prstGeom prst="roundRect">
            <a:avLst>
              <a:gd name="adj" fmla="val 5000"/>
            </a:avLst>
          </a:prstGeom>
          <a:solidFill>
            <a:srgbClr val="F6FAFE"/>
          </a:solidFill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7FC3EB71-2AF6-4FE3-8FF4-57265DEF59D7}"/>
              </a:ext>
            </a:extLst>
          </p:cNvPr>
          <p:cNvSpPr>
            <a:spLocks noGrp="1"/>
          </p:cNvSpPr>
          <p:nvPr/>
        </p:nvSpPr>
        <p:spPr>
          <a:xfrm>
            <a:off x="9372600" y="2209800"/>
            <a:ext cx="400050" cy="400050"/>
          </a:xfrm>
          <a:prstGeom prst="ellipse">
            <a:avLst/>
          </a:prstGeom>
          <a:solidFill>
            <a:srgbClr val="0066CC"/>
          </a:solidFill>
          <a:ln w="9525">
            <a:solidFill>
              <a:srgbClr val="0066C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77531091-91C0-4DE0-B5E8-DFD6B28E3A66}"/>
              </a:ext>
            </a:extLst>
          </p:cNvPr>
          <p:cNvSpPr>
            <a:spLocks noGrp="1"/>
          </p:cNvSpPr>
          <p:nvPr/>
        </p:nvSpPr>
        <p:spPr>
          <a:xfrm>
            <a:off x="9372600" y="2266950"/>
            <a:ext cx="4000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buNone/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5B20D5FE-060A-4EC6-9C65-A51683A18FB2}"/>
              </a:ext>
            </a:extLst>
          </p:cNvPr>
          <p:cNvSpPr>
            <a:spLocks noGrp="1"/>
          </p:cNvSpPr>
          <p:nvPr/>
        </p:nvSpPr>
        <p:spPr>
          <a:xfrm>
            <a:off x="9925050" y="2190750"/>
            <a:ext cx="13144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写：推动行动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FBB49975-86CB-4604-BC2E-2D6E33610C3A}"/>
              </a:ext>
            </a:extLst>
          </p:cNvPr>
          <p:cNvSpPr>
            <a:spLocks noGrp="1"/>
          </p:cNvSpPr>
          <p:nvPr/>
        </p:nvSpPr>
        <p:spPr>
          <a:xfrm>
            <a:off x="9372600" y="2705100"/>
            <a:ext cx="1866900" cy="1838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把结果整理成可以发给同事的项目简报或跟进邮件。</a:t>
            </a: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F6C2A6BA-4BBD-4FFB-A594-1E797AF81984}"/>
              </a:ext>
            </a:extLst>
          </p:cNvPr>
          <p:cNvSpPr>
            <a:spLocks noGrp="1"/>
          </p:cNvSpPr>
          <p:nvPr/>
        </p:nvSpPr>
        <p:spPr>
          <a:xfrm>
            <a:off x="685800" y="5867400"/>
            <a:ext cx="2190750" cy="342900"/>
          </a:xfrm>
          <a:prstGeom prst="roundRect">
            <a:avLst>
              <a:gd name="adj" fmla="val 33333"/>
            </a:avLst>
          </a:prstGeom>
          <a:solidFill>
            <a:srgbClr val="EAF4FF"/>
          </a:solidFill>
          <a:ln w="9525">
            <a:solidFill>
              <a:srgbClr val="0066CC"/>
            </a:solidFill>
            <a:prstDash val="solid"/>
          </a:ln>
        </p:spPr>
        <p:txBody>
          <a:bodyPr wrap="none" lIns="76200" tIns="0" rIns="76200" bIns="0" anchor="ctr">
            <a:normAutofit fontScale="99154"/>
          </a:bodyPr>
          <a:lstStyle/>
          <a:p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r:id="rId3"/>
              </a:rPr>
              <a:t>打开 Microsoft 365 Copilot  ↗</a:t>
            </a:r>
          </a:p>
        </p:txBody>
      </p:sp>
    </p:spTree>
    <p:extLst>
      <p:ext uri="{BB962C8B-B14F-4D97-AF65-F5344CB8AC3E}">
        <p14:creationId xmlns:p14="http://schemas.microsoft.com/office/powerpoint/2010/main" val="158033997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846A38B2-4F6F-4D31-89D6-FCAE39D18E8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0066CC"/>
          </a:solidFill>
          <a:ln w="9525">
            <a:solidFill>
              <a:srgbClr val="0066C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6D5D903-F7D3-485B-AC40-C24E30DD863A}"/>
              </a:ext>
            </a:extLst>
          </p:cNvPr>
          <p:cNvSpPr>
            <a:spLocks noGrp="1"/>
          </p:cNvSpPr>
          <p:nvPr/>
        </p:nvSpPr>
        <p:spPr>
          <a:xfrm>
            <a:off x="685800" y="285750"/>
            <a:ext cx="5048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04 日常工作中的 Copilot 实操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4352DFF-B952-4740-B658-9C7CCF94685C}"/>
              </a:ext>
            </a:extLst>
          </p:cNvPr>
          <p:cNvSpPr>
            <a:spLocks noGrp="1"/>
          </p:cNvSpPr>
          <p:nvPr/>
        </p:nvSpPr>
        <p:spPr>
          <a:xfrm>
            <a:off x="685800" y="638175"/>
            <a:ext cx="108204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通用案例：快速接手一个新项目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32C3496-5321-4CF0-80FE-FD72C3641619}"/>
              </a:ext>
            </a:extLst>
          </p:cNvPr>
          <p:cNvSpPr>
            <a:spLocks noGrp="1"/>
          </p:cNvSpPr>
          <p:nvPr/>
        </p:nvSpPr>
        <p:spPr>
          <a:xfrm>
            <a:off x="685800" y="1181100"/>
            <a:ext cx="108204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我们用一组虚构的“绿色办公周”资料，完整演示一次从阅读材料到形成沟通输出的过程。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101D30E-BEF0-47B8-A803-39C166C6F860}"/>
              </a:ext>
            </a:extLst>
          </p:cNvPr>
          <p:cNvSpPr>
            <a:spLocks noGrp="1"/>
          </p:cNvSpPr>
          <p:nvPr/>
        </p:nvSpPr>
        <p:spPr>
          <a:xfrm>
            <a:off x="11049000" y="6438900"/>
            <a:ext cx="4572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24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94E2110-3EC7-4617-855D-189D74BBBB33}"/>
              </a:ext>
            </a:extLst>
          </p:cNvPr>
          <p:cNvSpPr>
            <a:spLocks noGrp="1"/>
          </p:cNvSpPr>
          <p:nvPr/>
        </p:nvSpPr>
        <p:spPr>
          <a:xfrm>
            <a:off x="685800" y="6334125"/>
            <a:ext cx="10820400" cy="9525"/>
          </a:xfrm>
          <a:prstGeom prst="rect">
            <a:avLst/>
          </a:prstGeom>
          <a:solidFill>
            <a:srgbClr val="C9DDF2"/>
          </a:solidFill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54B43AAB-0CF4-4BA1-846D-6637E630AC8E}"/>
              </a:ext>
            </a:extLst>
          </p:cNvPr>
          <p:cNvSpPr>
            <a:spLocks noGrp="1"/>
          </p:cNvSpPr>
          <p:nvPr/>
        </p:nvSpPr>
        <p:spPr>
          <a:xfrm>
            <a:off x="781050" y="1695450"/>
            <a:ext cx="10629900" cy="1104900"/>
          </a:xfrm>
          <a:prstGeom prst="roundRect">
            <a:avLst>
              <a:gd name="adj" fmla="val 10345"/>
            </a:avLst>
          </a:prstGeom>
          <a:solidFill>
            <a:srgbClr val="EAF4FF"/>
          </a:solidFill>
          <a:ln w="9525">
            <a:solidFill>
              <a:srgbClr val="0066C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29F87DC-0D35-4DC2-B4C3-4922D139E1A0}"/>
              </a:ext>
            </a:extLst>
          </p:cNvPr>
          <p:cNvSpPr>
            <a:spLocks noGrp="1"/>
          </p:cNvSpPr>
          <p:nvPr/>
        </p:nvSpPr>
        <p:spPr>
          <a:xfrm>
            <a:off x="1066800" y="1924050"/>
            <a:ext cx="1524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80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你的任务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5F21E29-E4B4-43DE-AAE8-0BAE05C97AF2}"/>
              </a:ext>
            </a:extLst>
          </p:cNvPr>
          <p:cNvSpPr>
            <a:spLocks noGrp="1"/>
          </p:cNvSpPr>
          <p:nvPr/>
        </p:nvSpPr>
        <p:spPr>
          <a:xfrm>
            <a:off x="1066800" y="2276475"/>
            <a:ext cx="98869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89948"/>
          </a:bodyPr>
          <a:lstStyle/>
          <a:p>
            <a:pPr algn="l">
              <a:buNone/>
              <a:defRPr sz="18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今天你将接手“绿色办公周”项目。首先读懂三份资料，再向负责人说明当前进展、主要风险和下一步安排。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5844B80B-A6AA-4593-A8B7-DEEAF4E208D8}"/>
              </a:ext>
            </a:extLst>
          </p:cNvPr>
          <p:cNvSpPr>
            <a:spLocks noGrp="1"/>
          </p:cNvSpPr>
          <p:nvPr/>
        </p:nvSpPr>
        <p:spPr>
          <a:xfrm>
            <a:off x="781050" y="3067050"/>
            <a:ext cx="3276600" cy="2095500"/>
          </a:xfrm>
          <a:prstGeom prst="roundRect">
            <a:avLst>
              <a:gd name="adj" fmla="val 5455"/>
            </a:avLst>
          </a:prstGeom>
          <a:solidFill>
            <a:srgbClr val="F6FAFE"/>
          </a:solidFill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42BEF8D-F723-4CB0-B0E2-46314130BF16}"/>
              </a:ext>
            </a:extLst>
          </p:cNvPr>
          <p:cNvSpPr>
            <a:spLocks noGrp="1"/>
          </p:cNvSpPr>
          <p:nvPr/>
        </p:nvSpPr>
        <p:spPr>
          <a:xfrm>
            <a:off x="1047750" y="3314700"/>
            <a:ext cx="27432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7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你会拿到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7705FEB-178E-4706-8AD7-783B7D5CC326}"/>
              </a:ext>
            </a:extLst>
          </p:cNvPr>
          <p:cNvSpPr>
            <a:spLocks noGrp="1"/>
          </p:cNvSpPr>
          <p:nvPr/>
        </p:nvSpPr>
        <p:spPr>
          <a:xfrm>
            <a:off x="1047750" y="3790950"/>
            <a:ext cx="2743200" cy="1066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5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项目简介说明背景；</a:t>
            </a:r>
          </a:p>
          <a:p>
            <a:pPr algn="l">
              <a:buNone/>
              <a:defRPr sz="15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会议纪要记录决定；</a:t>
            </a:r>
          </a:p>
          <a:p>
            <a:pPr algn="l">
              <a:buNone/>
              <a:defRPr sz="15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时间表呈现进度。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65EA0DFA-16D8-44D2-AB66-B86E7989A9DD}"/>
              </a:ext>
            </a:extLst>
          </p:cNvPr>
          <p:cNvSpPr>
            <a:spLocks noGrp="1"/>
          </p:cNvSpPr>
          <p:nvPr/>
        </p:nvSpPr>
        <p:spPr>
          <a:xfrm>
            <a:off x="4362450" y="3067050"/>
            <a:ext cx="3276600" cy="2095500"/>
          </a:xfrm>
          <a:prstGeom prst="roundRect">
            <a:avLst>
              <a:gd name="adj" fmla="val 5455"/>
            </a:avLst>
          </a:prstGeom>
          <a:solidFill>
            <a:srgbClr val="F6FAFE"/>
          </a:solidFill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BD13297-C6C2-4DC6-8947-2AC32500609C}"/>
              </a:ext>
            </a:extLst>
          </p:cNvPr>
          <p:cNvSpPr>
            <a:spLocks noGrp="1"/>
          </p:cNvSpPr>
          <p:nvPr/>
        </p:nvSpPr>
        <p:spPr>
          <a:xfrm>
            <a:off x="4629150" y="3314700"/>
            <a:ext cx="27432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725" b="1">
                <a:solidFill>
                  <a:srgbClr val="1196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1966F"/>
                </a:solidFill>
                <a:latin typeface="Microsoft YaHei"/>
                <a:ea typeface="Microsoft YaHei"/>
                <a:cs typeface="Microsoft YaHei"/>
              </a:rPr>
              <a:t>请 Copilot 帮你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DD205ED-52E8-407E-834F-93051F9D59A1}"/>
              </a:ext>
            </a:extLst>
          </p:cNvPr>
          <p:cNvSpPr>
            <a:spLocks noGrp="1"/>
          </p:cNvSpPr>
          <p:nvPr/>
        </p:nvSpPr>
        <p:spPr>
          <a:xfrm>
            <a:off x="4629150" y="3790950"/>
            <a:ext cx="2743200" cy="1066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5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先提炼目标与进展；</a:t>
            </a:r>
          </a:p>
          <a:p>
            <a:pPr algn="l">
              <a:buNone/>
              <a:defRPr sz="15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再整理负责人和截止日期；</a:t>
            </a:r>
          </a:p>
          <a:p>
            <a:pPr algn="l">
              <a:buNone/>
              <a:defRPr sz="15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最后找出冲突与待确认事项。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F6D01EF1-702A-4BFB-8764-579FF24E0B45}"/>
              </a:ext>
            </a:extLst>
          </p:cNvPr>
          <p:cNvSpPr>
            <a:spLocks noGrp="1"/>
          </p:cNvSpPr>
          <p:nvPr/>
        </p:nvSpPr>
        <p:spPr>
          <a:xfrm>
            <a:off x="7943850" y="3067050"/>
            <a:ext cx="3276600" cy="2095500"/>
          </a:xfrm>
          <a:prstGeom prst="roundRect">
            <a:avLst>
              <a:gd name="adj" fmla="val 5455"/>
            </a:avLst>
          </a:prstGeom>
          <a:solidFill>
            <a:srgbClr val="F6FAFE"/>
          </a:solidFill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0ACDCF6-EF49-4F38-99C8-22070ED47842}"/>
              </a:ext>
            </a:extLst>
          </p:cNvPr>
          <p:cNvSpPr>
            <a:spLocks noGrp="1"/>
          </p:cNvSpPr>
          <p:nvPr/>
        </p:nvSpPr>
        <p:spPr>
          <a:xfrm>
            <a:off x="8210550" y="3314700"/>
            <a:ext cx="27432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725" b="1">
                <a:solidFill>
                  <a:srgbClr val="E874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E8742B"/>
                </a:solidFill>
                <a:latin typeface="Microsoft YaHei"/>
                <a:ea typeface="Microsoft YaHei"/>
                <a:cs typeface="Microsoft YaHei"/>
              </a:rPr>
              <a:t>最后交付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70FBAE2-079A-4622-A623-253AB7B9ED43}"/>
              </a:ext>
            </a:extLst>
          </p:cNvPr>
          <p:cNvSpPr>
            <a:spLocks noGrp="1"/>
          </p:cNvSpPr>
          <p:nvPr/>
        </p:nvSpPr>
        <p:spPr>
          <a:xfrm>
            <a:off x="8210550" y="3790950"/>
            <a:ext cx="2743200" cy="1066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5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最后形成一页项目接手简报，</a:t>
            </a:r>
          </a:p>
          <a:p>
            <a:pPr algn="l">
              <a:buNone/>
              <a:defRPr sz="15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再起草一封跟进邮件，把分析转化为可执行的沟通。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0C8D5E0B-034D-4957-A22B-7755B535CCD1}"/>
              </a:ext>
            </a:extLst>
          </p:cNvPr>
          <p:cNvSpPr>
            <a:spLocks noGrp="1"/>
          </p:cNvSpPr>
          <p:nvPr/>
        </p:nvSpPr>
        <p:spPr>
          <a:xfrm>
            <a:off x="685800" y="5867400"/>
            <a:ext cx="2190750" cy="342900"/>
          </a:xfrm>
          <a:prstGeom prst="roundRect">
            <a:avLst>
              <a:gd name="adj" fmla="val 33333"/>
            </a:avLst>
          </a:prstGeom>
          <a:solidFill>
            <a:srgbClr val="EAF4FF"/>
          </a:solidFill>
          <a:ln w="9525">
            <a:solidFill>
              <a:srgbClr val="0066CC"/>
            </a:solidFill>
            <a:prstDash val="solid"/>
          </a:ln>
        </p:spPr>
        <p:txBody>
          <a:bodyPr wrap="none" lIns="76200" tIns="0" rIns="76200" bIns="0" anchor="ctr">
            <a:normAutofit/>
          </a:bodyPr>
          <a:lstStyle/>
          <a:p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r:id="rId3"/>
              </a:rPr>
              <a:t>进入 Copilot 实操  ↗</a:t>
            </a:r>
          </a:p>
        </p:txBody>
      </p:sp>
    </p:spTree>
    <p:extLst>
      <p:ext uri="{BB962C8B-B14F-4D97-AF65-F5344CB8AC3E}">
        <p14:creationId xmlns:p14="http://schemas.microsoft.com/office/powerpoint/2010/main" val="134843390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24BD82BF-ED35-4FE6-BCAD-A55B80FC14D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0066CC"/>
          </a:solidFill>
          <a:ln w="9525">
            <a:solidFill>
              <a:srgbClr val="0066C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BCA1C78-B57F-4ECA-A58E-F1AED0319190}"/>
              </a:ext>
            </a:extLst>
          </p:cNvPr>
          <p:cNvSpPr>
            <a:spLocks noGrp="1"/>
          </p:cNvSpPr>
          <p:nvPr/>
        </p:nvSpPr>
        <p:spPr>
          <a:xfrm>
            <a:off x="685800" y="285750"/>
            <a:ext cx="5048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04 日常工作中的 Copilot 实操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5455389-5CD8-4333-81D4-2EE3EF1D51EC}"/>
              </a:ext>
            </a:extLst>
          </p:cNvPr>
          <p:cNvSpPr>
            <a:spLocks noGrp="1"/>
          </p:cNvSpPr>
          <p:nvPr/>
        </p:nvSpPr>
        <p:spPr>
          <a:xfrm>
            <a:off x="685800" y="638175"/>
            <a:ext cx="108204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资料 1：项目简介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6CF48A9-2AEC-4B42-B0F4-C01C0E296825}"/>
              </a:ext>
            </a:extLst>
          </p:cNvPr>
          <p:cNvSpPr>
            <a:spLocks noGrp="1"/>
          </p:cNvSpPr>
          <p:nvPr/>
        </p:nvSpPr>
        <p:spPr>
          <a:xfrm>
            <a:off x="685800" y="1181100"/>
            <a:ext cx="108204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先从项目简介建立全貌：项目为什么做、如何衡量、预算和范围是什么、关键日期有哪些。这里记录的报名开放日期是 28 Aug，稍后会和时间表进行对照。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A140D39-DD75-41E5-A06F-604B062C2E4E}"/>
              </a:ext>
            </a:extLst>
          </p:cNvPr>
          <p:cNvSpPr>
            <a:spLocks noGrp="1"/>
          </p:cNvSpPr>
          <p:nvPr/>
        </p:nvSpPr>
        <p:spPr>
          <a:xfrm>
            <a:off x="11049000" y="6438900"/>
            <a:ext cx="4572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25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5C1680D-415D-4B14-838E-BEC17EEE8F97}"/>
              </a:ext>
            </a:extLst>
          </p:cNvPr>
          <p:cNvSpPr>
            <a:spLocks noGrp="1"/>
          </p:cNvSpPr>
          <p:nvPr/>
        </p:nvSpPr>
        <p:spPr>
          <a:xfrm>
            <a:off x="685800" y="6334125"/>
            <a:ext cx="10820400" cy="9525"/>
          </a:xfrm>
          <a:prstGeom prst="rect">
            <a:avLst/>
          </a:prstGeom>
          <a:solidFill>
            <a:srgbClr val="C9DDF2"/>
          </a:solidFill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C8264DA5-F21A-4C00-A366-F563B9067505}"/>
              </a:ext>
            </a:extLst>
          </p:cNvPr>
          <p:cNvSpPr>
            <a:spLocks noGrp="1"/>
          </p:cNvSpPr>
          <p:nvPr/>
        </p:nvSpPr>
        <p:spPr>
          <a:xfrm>
            <a:off x="1047750" y="1809750"/>
            <a:ext cx="10096500" cy="3619500"/>
          </a:xfrm>
          <a:prstGeom prst="roundRect">
            <a:avLst>
              <a:gd name="adj" fmla="val 3158"/>
            </a:avLst>
          </a:prstGeom>
          <a:solidFill>
            <a:srgbClr val="F6FAFE"/>
          </a:solidFill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A3BBFDC-9802-49AE-A19C-20FAE2655B82}"/>
              </a:ext>
            </a:extLst>
          </p:cNvPr>
          <p:cNvSpPr>
            <a:spLocks noGrp="1"/>
          </p:cNvSpPr>
          <p:nvPr/>
        </p:nvSpPr>
        <p:spPr>
          <a:xfrm>
            <a:off x="1428750" y="2114550"/>
            <a:ext cx="9334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3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GREEN OFFICE WEEK｜PROJECT BRIEF（虚构培训数据）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5B6EEF0-0A65-4344-BE97-BC7C10C9AC04}"/>
              </a:ext>
            </a:extLst>
          </p:cNvPr>
          <p:cNvSpPr>
            <a:spLocks noGrp="1"/>
          </p:cNvSpPr>
          <p:nvPr/>
        </p:nvSpPr>
        <p:spPr>
          <a:xfrm>
            <a:off x="1428750" y="2647950"/>
            <a:ext cx="9239250" cy="2238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rmAutofit/>
          </a:bodyPr>
          <a:lstStyle/>
          <a:p>
            <a:pPr>
              <a:buNone/>
              <a:def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目的与受众： 9 月 14–18 日举行，面向 400 名内部同事，鼓励简单、可衡量的可持续办公习惯。</a:t>
            </a:r>
          </a:p>
          <a:p>
            <a:endParaRPr sz="1425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>
            <a:pPr>
              <a:buNone/>
              <a:def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成功指标： 报名 150 人、出席率达到报名人数的 80%、参与者反馈达到 4.2/5。</a:t>
            </a:r>
          </a:p>
          <a:p>
            <a:endParaRPr sz="1425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>
            <a:pPr>
              <a:buNone/>
              <a:def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预算与范围： 工作预算 25,000 元；仅内部沟通；材料需中英双语；供应商尚未确定，也未签署合同。</a:t>
            </a:r>
          </a:p>
          <a:p>
            <a:endParaRPr sz="1425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>
            <a:pPr>
              <a:buNone/>
              <a:def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关键日期： 项目简介写明 8 月 28 日开放报名，9 月 9 日关闭报名。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8FF16BB7-CA00-4137-B6A8-262ED0CED9B9}"/>
              </a:ext>
            </a:extLst>
          </p:cNvPr>
          <p:cNvSpPr>
            <a:spLocks noGrp="1"/>
          </p:cNvSpPr>
          <p:nvPr/>
        </p:nvSpPr>
        <p:spPr>
          <a:xfrm>
            <a:off x="685800" y="5867400"/>
            <a:ext cx="2190750" cy="342900"/>
          </a:xfrm>
          <a:prstGeom prst="roundRect">
            <a:avLst>
              <a:gd name="adj" fmla="val 33333"/>
            </a:avLst>
          </a:prstGeom>
          <a:solidFill>
            <a:srgbClr val="EAF4FF"/>
          </a:solidFill>
          <a:ln w="9525">
            <a:solidFill>
              <a:srgbClr val="0066CC"/>
            </a:solidFill>
            <a:prstDash val="solid"/>
          </a:ln>
        </p:spPr>
        <p:txBody>
          <a:bodyPr wrap="none" lIns="76200" tIns="0" rIns="76200" bIns="0" anchor="ctr">
            <a:normAutofit/>
          </a:bodyPr>
          <a:lstStyle/>
          <a:p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r:id="rId3"/>
              </a:rPr>
              <a:t>打开 Copilot  ↗</a:t>
            </a:r>
          </a:p>
        </p:txBody>
      </p:sp>
    </p:spTree>
    <p:extLst>
      <p:ext uri="{BB962C8B-B14F-4D97-AF65-F5344CB8AC3E}">
        <p14:creationId xmlns:p14="http://schemas.microsoft.com/office/powerpoint/2010/main" val="208128329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5AB8232C-A286-4466-81DB-35895822C03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0066CC"/>
          </a:solidFill>
          <a:ln w="9525">
            <a:solidFill>
              <a:srgbClr val="0066C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C0864C7-F94E-4B24-80B1-F256418078C2}"/>
              </a:ext>
            </a:extLst>
          </p:cNvPr>
          <p:cNvSpPr>
            <a:spLocks noGrp="1"/>
          </p:cNvSpPr>
          <p:nvPr/>
        </p:nvSpPr>
        <p:spPr>
          <a:xfrm>
            <a:off x="685800" y="285750"/>
            <a:ext cx="5048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04 日常工作中的 Copilot 实操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1D017FD-9B6D-4A20-92EA-1365B1966F1E}"/>
              </a:ext>
            </a:extLst>
          </p:cNvPr>
          <p:cNvSpPr>
            <a:spLocks noGrp="1"/>
          </p:cNvSpPr>
          <p:nvPr/>
        </p:nvSpPr>
        <p:spPr>
          <a:xfrm>
            <a:off x="685800" y="638175"/>
            <a:ext cx="108204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资料 2：会议纪要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393F52A-8663-4030-995D-E79317F7F33E}"/>
              </a:ext>
            </a:extLst>
          </p:cNvPr>
          <p:cNvSpPr>
            <a:spLocks noGrp="1"/>
          </p:cNvSpPr>
          <p:nvPr/>
        </p:nvSpPr>
        <p:spPr>
          <a:xfrm>
            <a:off x="685800" y="1181100"/>
            <a:ext cx="108204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会议纪要补充了负责人、截止日期和讨论状态。阅读这一份时，把内容分成“已确认”“行动项”和“开放问题”，后续简报就能清楚区分决定与待确认事项。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8CD7751-106C-4A05-84CD-CFC893541DE4}"/>
              </a:ext>
            </a:extLst>
          </p:cNvPr>
          <p:cNvSpPr>
            <a:spLocks noGrp="1"/>
          </p:cNvSpPr>
          <p:nvPr/>
        </p:nvSpPr>
        <p:spPr>
          <a:xfrm>
            <a:off x="11049000" y="6438900"/>
            <a:ext cx="4572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26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49C199D-CD85-4DC0-B0D8-0C3838A469A5}"/>
              </a:ext>
            </a:extLst>
          </p:cNvPr>
          <p:cNvSpPr>
            <a:spLocks noGrp="1"/>
          </p:cNvSpPr>
          <p:nvPr/>
        </p:nvSpPr>
        <p:spPr>
          <a:xfrm>
            <a:off x="685800" y="6334125"/>
            <a:ext cx="10820400" cy="9525"/>
          </a:xfrm>
          <a:prstGeom prst="rect">
            <a:avLst/>
          </a:prstGeom>
          <a:solidFill>
            <a:srgbClr val="C9DDF2"/>
          </a:solidFill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2CBD7EEF-8294-44D4-B025-35AC60510CDF}"/>
              </a:ext>
            </a:extLst>
          </p:cNvPr>
          <p:cNvSpPr>
            <a:spLocks noGrp="1"/>
          </p:cNvSpPr>
          <p:nvPr/>
        </p:nvSpPr>
        <p:spPr>
          <a:xfrm>
            <a:off x="1047750" y="1809750"/>
            <a:ext cx="10096500" cy="3619500"/>
          </a:xfrm>
          <a:prstGeom prst="roundRect">
            <a:avLst>
              <a:gd name="adj" fmla="val 3158"/>
            </a:avLst>
          </a:prstGeom>
          <a:solidFill>
            <a:srgbClr val="F6FAFE"/>
          </a:solidFill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69DAAD2-A8BE-4C5E-983B-AE97B25E1D46}"/>
              </a:ext>
            </a:extLst>
          </p:cNvPr>
          <p:cNvSpPr>
            <a:spLocks noGrp="1"/>
          </p:cNvSpPr>
          <p:nvPr/>
        </p:nvSpPr>
        <p:spPr>
          <a:xfrm>
            <a:off x="1428750" y="2114550"/>
            <a:ext cx="9334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350" b="1">
                <a:solidFill>
                  <a:srgbClr val="1196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966F"/>
                </a:solidFill>
                <a:latin typeface="Microsoft YaHei"/>
                <a:ea typeface="Microsoft YaHei"/>
                <a:cs typeface="Microsoft YaHei"/>
              </a:rPr>
              <a:t>PLANNING MEETING NOTES｜17 AUG 2026（虚构培训数据）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421D729-D47F-4DD3-AAB2-BB37CEF842DD}"/>
              </a:ext>
            </a:extLst>
          </p:cNvPr>
          <p:cNvSpPr>
            <a:spLocks noGrp="1"/>
          </p:cNvSpPr>
          <p:nvPr/>
        </p:nvSpPr>
        <p:spPr>
          <a:xfrm>
            <a:off x="1428750" y="2724150"/>
            <a:ext cx="9239250" cy="2047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rmAutofit/>
          </a:bodyPr>
          <a:lstStyle/>
          <a:p>
            <a:pPr>
              <a:buNone/>
              <a:defRPr sz="15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已确认： 活动日期、内部沟通、双语材料和场地原则已经明确。</a:t>
            </a:r>
          </a:p>
          <a:p>
            <a:endParaRPr sz="1500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>
            <a:pPr>
              <a:buNone/>
              <a:defRPr sz="15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行动项： 项目负责人 8 月 21 日确认五天议程；设施协调人 8 月 25 日确认房间布置；沟通负责人 8 月 28 日发布双语报名通知。</a:t>
            </a:r>
          </a:p>
          <a:p>
            <a:endParaRPr sz="1500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>
            <a:pPr>
              <a:buNone/>
              <a:defRPr sz="15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开放问题： 餐饮供应商未确定，合同金额尚未确定，团队尚未决定是否增加可选闭幕活动。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E8FC2C2A-5230-447B-AF1B-ABDB7D51D27B}"/>
              </a:ext>
            </a:extLst>
          </p:cNvPr>
          <p:cNvSpPr>
            <a:spLocks noGrp="1"/>
          </p:cNvSpPr>
          <p:nvPr/>
        </p:nvSpPr>
        <p:spPr>
          <a:xfrm>
            <a:off x="685800" y="5867400"/>
            <a:ext cx="2190750" cy="342900"/>
          </a:xfrm>
          <a:prstGeom prst="roundRect">
            <a:avLst>
              <a:gd name="adj" fmla="val 33333"/>
            </a:avLst>
          </a:prstGeom>
          <a:solidFill>
            <a:srgbClr val="EAF4FF"/>
          </a:solidFill>
          <a:ln w="9525">
            <a:solidFill>
              <a:srgbClr val="0066CC"/>
            </a:solidFill>
            <a:prstDash val="solid"/>
          </a:ln>
        </p:spPr>
        <p:txBody>
          <a:bodyPr wrap="none" lIns="76200" tIns="0" rIns="76200" bIns="0" anchor="ctr">
            <a:normAutofit/>
          </a:bodyPr>
          <a:lstStyle/>
          <a:p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r:id="rId3"/>
              </a:rPr>
              <a:t>打开 Copilot  ↗</a:t>
            </a:r>
          </a:p>
        </p:txBody>
      </p:sp>
    </p:spTree>
    <p:extLst>
      <p:ext uri="{BB962C8B-B14F-4D97-AF65-F5344CB8AC3E}">
        <p14:creationId xmlns:p14="http://schemas.microsoft.com/office/powerpoint/2010/main" val="103337680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9BC861CD-2C4C-4C8D-ADCB-7E245D99846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0066CC"/>
          </a:solidFill>
          <a:ln w="9525">
            <a:solidFill>
              <a:srgbClr val="0066C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04EC2DB-2186-47CC-B288-355DE58ABDA1}"/>
              </a:ext>
            </a:extLst>
          </p:cNvPr>
          <p:cNvSpPr>
            <a:spLocks noGrp="1"/>
          </p:cNvSpPr>
          <p:nvPr/>
        </p:nvSpPr>
        <p:spPr>
          <a:xfrm>
            <a:off x="685800" y="285750"/>
            <a:ext cx="5048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04 日常工作中的 Copilot 实操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BD46BA7-0AA4-4795-98EC-87140DEB797B}"/>
              </a:ext>
            </a:extLst>
          </p:cNvPr>
          <p:cNvSpPr>
            <a:spLocks noGrp="1"/>
          </p:cNvSpPr>
          <p:nvPr/>
        </p:nvSpPr>
        <p:spPr>
          <a:xfrm>
            <a:off x="685800" y="638175"/>
            <a:ext cx="108204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资料 3：时间表里出现了另一个日期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3BB6101-D4A2-4C04-B15F-CC3D1F64EDDC}"/>
              </a:ext>
            </a:extLst>
          </p:cNvPr>
          <p:cNvSpPr>
            <a:spLocks noGrp="1"/>
          </p:cNvSpPr>
          <p:nvPr/>
        </p:nvSpPr>
        <p:spPr>
          <a:xfrm>
            <a:off x="685800" y="1181100"/>
            <a:ext cx="108204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时间表把报名开放写成 31 Aug，而项目简介写的是 28 Aug。简报中保留两个日期和各自来源，并把它列为需要项目负责人确认的问题。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3C79F6B-718D-48F8-9A8C-E38473241045}"/>
              </a:ext>
            </a:extLst>
          </p:cNvPr>
          <p:cNvSpPr>
            <a:spLocks noGrp="1"/>
          </p:cNvSpPr>
          <p:nvPr/>
        </p:nvSpPr>
        <p:spPr>
          <a:xfrm>
            <a:off x="11049000" y="6438900"/>
            <a:ext cx="4572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27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1D551B8-D89F-4951-B838-2E5D888FD9B0}"/>
              </a:ext>
            </a:extLst>
          </p:cNvPr>
          <p:cNvSpPr>
            <a:spLocks noGrp="1"/>
          </p:cNvSpPr>
          <p:nvPr/>
        </p:nvSpPr>
        <p:spPr>
          <a:xfrm>
            <a:off x="685800" y="6334125"/>
            <a:ext cx="10820400" cy="9525"/>
          </a:xfrm>
          <a:prstGeom prst="rect">
            <a:avLst/>
          </a:prstGeom>
          <a:solidFill>
            <a:srgbClr val="C9DDF2"/>
          </a:solidFill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3C430C3D-26BE-4542-95B8-ABF3C5B87F1D}"/>
              </a:ext>
            </a:extLst>
          </p:cNvPr>
          <p:cNvSpPr>
            <a:spLocks noGrp="1"/>
          </p:cNvSpPr>
          <p:nvPr/>
        </p:nvSpPr>
        <p:spPr>
          <a:xfrm>
            <a:off x="1047750" y="1809750"/>
            <a:ext cx="10096500" cy="3429000"/>
          </a:xfrm>
          <a:prstGeom prst="roundRect">
            <a:avLst>
              <a:gd name="adj" fmla="val 3333"/>
            </a:avLst>
          </a:prstGeom>
          <a:solidFill>
            <a:srgbClr val="F6FAFE"/>
          </a:solidFill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040A7E1-C0A9-4ED4-B16A-AE6F5AFB1D9B}"/>
              </a:ext>
            </a:extLst>
          </p:cNvPr>
          <p:cNvSpPr>
            <a:spLocks noGrp="1"/>
          </p:cNvSpPr>
          <p:nvPr/>
        </p:nvSpPr>
        <p:spPr>
          <a:xfrm>
            <a:off x="1524000" y="2152650"/>
            <a:ext cx="5334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3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里程碑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ABC6ADD-5D6F-4698-B2D1-E7A77681F80A}"/>
              </a:ext>
            </a:extLst>
          </p:cNvPr>
          <p:cNvSpPr>
            <a:spLocks noGrp="1"/>
          </p:cNvSpPr>
          <p:nvPr/>
        </p:nvSpPr>
        <p:spPr>
          <a:xfrm>
            <a:off x="7239000" y="2152650"/>
            <a:ext cx="1714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3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截止日期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3D9AD9C-BFCA-449C-B80D-0F18BA301A60}"/>
              </a:ext>
            </a:extLst>
          </p:cNvPr>
          <p:cNvSpPr>
            <a:spLocks noGrp="1"/>
          </p:cNvSpPr>
          <p:nvPr/>
        </p:nvSpPr>
        <p:spPr>
          <a:xfrm>
            <a:off x="9239250" y="2152650"/>
            <a:ext cx="1238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3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状态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FD298A0-529A-433E-AC21-7FC5683690EE}"/>
              </a:ext>
            </a:extLst>
          </p:cNvPr>
          <p:cNvSpPr>
            <a:spLocks noGrp="1"/>
          </p:cNvSpPr>
          <p:nvPr/>
        </p:nvSpPr>
        <p:spPr>
          <a:xfrm>
            <a:off x="1409700" y="2514600"/>
            <a:ext cx="9182100" cy="381000"/>
          </a:xfrm>
          <a:prstGeom prst="rect">
            <a:avLst/>
          </a:prstGeom>
          <a:solidFill>
            <a:srgbClr val="FFFFFF"/>
          </a:solidFill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2E61AE2-E13E-46A4-8897-9FC4C875F604}"/>
              </a:ext>
            </a:extLst>
          </p:cNvPr>
          <p:cNvSpPr>
            <a:spLocks noGrp="1"/>
          </p:cNvSpPr>
          <p:nvPr/>
        </p:nvSpPr>
        <p:spPr>
          <a:xfrm>
            <a:off x="1524000" y="2571750"/>
            <a:ext cx="53340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35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五天议程确认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3ACFAA0-E022-4CC3-A69A-A2C64F4500AD}"/>
              </a:ext>
            </a:extLst>
          </p:cNvPr>
          <p:cNvSpPr>
            <a:spLocks noGrp="1"/>
          </p:cNvSpPr>
          <p:nvPr/>
        </p:nvSpPr>
        <p:spPr>
          <a:xfrm>
            <a:off x="7239000" y="2571750"/>
            <a:ext cx="17145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35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21 Aug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3F3808D-7B94-4AAB-B616-B59D5A30623D}"/>
              </a:ext>
            </a:extLst>
          </p:cNvPr>
          <p:cNvSpPr>
            <a:spLocks noGrp="1"/>
          </p:cNvSpPr>
          <p:nvPr/>
        </p:nvSpPr>
        <p:spPr>
          <a:xfrm>
            <a:off x="9239250" y="2571750"/>
            <a:ext cx="12382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进行中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A6FC537-7563-42E7-8A69-F866162B7235}"/>
              </a:ext>
            </a:extLst>
          </p:cNvPr>
          <p:cNvSpPr>
            <a:spLocks noGrp="1"/>
          </p:cNvSpPr>
          <p:nvPr/>
        </p:nvSpPr>
        <p:spPr>
          <a:xfrm>
            <a:off x="1409700" y="2971800"/>
            <a:ext cx="9182100" cy="381000"/>
          </a:xfrm>
          <a:prstGeom prst="rect">
            <a:avLst/>
          </a:prstGeom>
          <a:solidFill>
            <a:srgbClr val="FFFFFF"/>
          </a:solidFill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182E271-3728-49CE-ABE4-35023C7DA8D2}"/>
              </a:ext>
            </a:extLst>
          </p:cNvPr>
          <p:cNvSpPr>
            <a:spLocks noGrp="1"/>
          </p:cNvSpPr>
          <p:nvPr/>
        </p:nvSpPr>
        <p:spPr>
          <a:xfrm>
            <a:off x="1524000" y="3028950"/>
            <a:ext cx="53340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35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房间布局确认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5DB2529-535E-4677-A847-98E48D6C20B5}"/>
              </a:ext>
            </a:extLst>
          </p:cNvPr>
          <p:cNvSpPr>
            <a:spLocks noGrp="1"/>
          </p:cNvSpPr>
          <p:nvPr/>
        </p:nvSpPr>
        <p:spPr>
          <a:xfrm>
            <a:off x="7239000" y="3028950"/>
            <a:ext cx="17145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35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25 Aug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95D379B-EAB9-4A89-954F-E54D0C88DF4F}"/>
              </a:ext>
            </a:extLst>
          </p:cNvPr>
          <p:cNvSpPr>
            <a:spLocks noGrp="1"/>
          </p:cNvSpPr>
          <p:nvPr/>
        </p:nvSpPr>
        <p:spPr>
          <a:xfrm>
            <a:off x="9239250" y="3028950"/>
            <a:ext cx="12382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未开始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CC0FEC6-9FAD-4CE6-98D9-55B511AAFD54}"/>
              </a:ext>
            </a:extLst>
          </p:cNvPr>
          <p:cNvSpPr>
            <a:spLocks noGrp="1"/>
          </p:cNvSpPr>
          <p:nvPr/>
        </p:nvSpPr>
        <p:spPr>
          <a:xfrm>
            <a:off x="1409700" y="3429000"/>
            <a:ext cx="9182100" cy="381000"/>
          </a:xfrm>
          <a:prstGeom prst="rect">
            <a:avLst/>
          </a:prstGeom>
          <a:solidFill>
            <a:srgbClr val="FFFFFF"/>
          </a:solidFill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2D219BC-704C-412F-B3DC-C2EA018D250F}"/>
              </a:ext>
            </a:extLst>
          </p:cNvPr>
          <p:cNvSpPr>
            <a:spLocks noGrp="1"/>
          </p:cNvSpPr>
          <p:nvPr/>
        </p:nvSpPr>
        <p:spPr>
          <a:xfrm>
            <a:off x="1524000" y="3486150"/>
            <a:ext cx="53340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35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双语公告批准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9C72E12-7C00-4FC1-A36E-281E46D80398}"/>
              </a:ext>
            </a:extLst>
          </p:cNvPr>
          <p:cNvSpPr>
            <a:spLocks noGrp="1"/>
          </p:cNvSpPr>
          <p:nvPr/>
        </p:nvSpPr>
        <p:spPr>
          <a:xfrm>
            <a:off x="7239000" y="3486150"/>
            <a:ext cx="17145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35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27 Aug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C5908E9-CEBF-4E83-9D71-7A2507ABB777}"/>
              </a:ext>
            </a:extLst>
          </p:cNvPr>
          <p:cNvSpPr>
            <a:spLocks noGrp="1"/>
          </p:cNvSpPr>
          <p:nvPr/>
        </p:nvSpPr>
        <p:spPr>
          <a:xfrm>
            <a:off x="9239250" y="3486150"/>
            <a:ext cx="12382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未开始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7A763C23-1459-4B93-9C97-4A4D39701AD6}"/>
              </a:ext>
            </a:extLst>
          </p:cNvPr>
          <p:cNvSpPr>
            <a:spLocks noGrp="1"/>
          </p:cNvSpPr>
          <p:nvPr/>
        </p:nvSpPr>
        <p:spPr>
          <a:xfrm>
            <a:off x="1409700" y="3886200"/>
            <a:ext cx="9182100" cy="381000"/>
          </a:xfrm>
          <a:prstGeom prst="rect">
            <a:avLst/>
          </a:prstGeom>
          <a:solidFill>
            <a:srgbClr val="FFF2E9"/>
          </a:solidFill>
          <a:ln w="9525">
            <a:solidFill>
              <a:srgbClr val="E8742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5BAAA520-43A3-4587-BB68-2B0D2C3F11F1}"/>
              </a:ext>
            </a:extLst>
          </p:cNvPr>
          <p:cNvSpPr>
            <a:spLocks noGrp="1"/>
          </p:cNvSpPr>
          <p:nvPr/>
        </p:nvSpPr>
        <p:spPr>
          <a:xfrm>
            <a:off x="1524000" y="3943350"/>
            <a:ext cx="53340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350" b="1">
                <a:solidFill>
                  <a:srgbClr val="E874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E8742B"/>
                </a:solidFill>
                <a:latin typeface="Microsoft YaHei"/>
                <a:ea typeface="Microsoft YaHei"/>
                <a:cs typeface="Microsoft YaHei"/>
              </a:rPr>
              <a:t>报名开放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B2DE1E6B-D397-4120-ABFC-3BF1653B3FF5}"/>
              </a:ext>
            </a:extLst>
          </p:cNvPr>
          <p:cNvSpPr>
            <a:spLocks noGrp="1"/>
          </p:cNvSpPr>
          <p:nvPr/>
        </p:nvSpPr>
        <p:spPr>
          <a:xfrm>
            <a:off x="7239000" y="3943350"/>
            <a:ext cx="17145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350" b="1">
                <a:solidFill>
                  <a:srgbClr val="E874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E8742B"/>
                </a:solidFill>
                <a:latin typeface="Microsoft YaHei"/>
                <a:ea typeface="Microsoft YaHei"/>
                <a:cs typeface="Microsoft YaHei"/>
              </a:rPr>
              <a:t>31 Aug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533643A9-B39E-47F1-BBA9-5C1F136D9F06}"/>
              </a:ext>
            </a:extLst>
          </p:cNvPr>
          <p:cNvSpPr>
            <a:spLocks noGrp="1"/>
          </p:cNvSpPr>
          <p:nvPr/>
        </p:nvSpPr>
        <p:spPr>
          <a:xfrm>
            <a:off x="9239250" y="3943350"/>
            <a:ext cx="12382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未开始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D977B408-FDC5-4435-8E6D-E3EE7D2ADEA8}"/>
              </a:ext>
            </a:extLst>
          </p:cNvPr>
          <p:cNvSpPr>
            <a:spLocks noGrp="1"/>
          </p:cNvSpPr>
          <p:nvPr/>
        </p:nvSpPr>
        <p:spPr>
          <a:xfrm>
            <a:off x="1409700" y="4343400"/>
            <a:ext cx="9182100" cy="381000"/>
          </a:xfrm>
          <a:prstGeom prst="rect">
            <a:avLst/>
          </a:prstGeom>
          <a:solidFill>
            <a:srgbClr val="FFFFFF"/>
          </a:solidFill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042A70FC-6711-481A-BAC5-3CB7E6AD7FBA}"/>
              </a:ext>
            </a:extLst>
          </p:cNvPr>
          <p:cNvSpPr>
            <a:spLocks noGrp="1"/>
          </p:cNvSpPr>
          <p:nvPr/>
        </p:nvSpPr>
        <p:spPr>
          <a:xfrm>
            <a:off x="1524000" y="4400550"/>
            <a:ext cx="53340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35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报名关闭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CE085D0A-878C-4B7A-B811-3F0A64335226}"/>
              </a:ext>
            </a:extLst>
          </p:cNvPr>
          <p:cNvSpPr>
            <a:spLocks noGrp="1"/>
          </p:cNvSpPr>
          <p:nvPr/>
        </p:nvSpPr>
        <p:spPr>
          <a:xfrm>
            <a:off x="7239000" y="4400550"/>
            <a:ext cx="17145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35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09 Sep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5B10B6BB-38CF-4388-8AEB-A5DC19AC2307}"/>
              </a:ext>
            </a:extLst>
          </p:cNvPr>
          <p:cNvSpPr>
            <a:spLocks noGrp="1"/>
          </p:cNvSpPr>
          <p:nvPr/>
        </p:nvSpPr>
        <p:spPr>
          <a:xfrm>
            <a:off x="9239250" y="4400550"/>
            <a:ext cx="12382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未开始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F3032D49-CF96-45C1-90F6-C71D808559E4}"/>
              </a:ext>
            </a:extLst>
          </p:cNvPr>
          <p:cNvSpPr>
            <a:spLocks noGrp="1"/>
          </p:cNvSpPr>
          <p:nvPr/>
        </p:nvSpPr>
        <p:spPr>
          <a:xfrm>
            <a:off x="1428750" y="4953000"/>
            <a:ext cx="9334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buNone/>
              <a:defRPr sz="1575" b="1">
                <a:solidFill>
                  <a:srgbClr val="E874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E8742B"/>
                </a:solidFill>
                <a:latin typeface="Microsoft YaHei"/>
                <a:ea typeface="Microsoft YaHei"/>
                <a:cs typeface="Microsoft YaHei"/>
              </a:rPr>
              <a:t>待确认：项目简介 28 Aug ｜ 时间表 31 Aug</a:t>
            </a: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E4635D1C-12A8-4EE0-8AB3-247E13429320}"/>
              </a:ext>
            </a:extLst>
          </p:cNvPr>
          <p:cNvSpPr>
            <a:spLocks noGrp="1"/>
          </p:cNvSpPr>
          <p:nvPr/>
        </p:nvSpPr>
        <p:spPr>
          <a:xfrm>
            <a:off x="685800" y="5867400"/>
            <a:ext cx="2190750" cy="342900"/>
          </a:xfrm>
          <a:prstGeom prst="roundRect">
            <a:avLst>
              <a:gd name="adj" fmla="val 33333"/>
            </a:avLst>
          </a:prstGeom>
          <a:solidFill>
            <a:srgbClr val="EAF4FF"/>
          </a:solidFill>
          <a:ln w="9525">
            <a:solidFill>
              <a:srgbClr val="0066CC"/>
            </a:solidFill>
            <a:prstDash val="solid"/>
          </a:ln>
        </p:spPr>
        <p:txBody>
          <a:bodyPr wrap="none" lIns="76200" tIns="0" rIns="76200" bIns="0" anchor="ctr">
            <a:normAutofit/>
          </a:bodyPr>
          <a:lstStyle/>
          <a:p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r:id="rId3"/>
              </a:rPr>
              <a:t>用 Copilot 比较资料  ↗</a:t>
            </a:r>
          </a:p>
        </p:txBody>
      </p:sp>
    </p:spTree>
    <p:extLst>
      <p:ext uri="{BB962C8B-B14F-4D97-AF65-F5344CB8AC3E}">
        <p14:creationId xmlns:p14="http://schemas.microsoft.com/office/powerpoint/2010/main" val="107808256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9F4731D5-3AC7-48A5-A1A0-E590E412311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0066CC"/>
          </a:solidFill>
          <a:ln w="9525">
            <a:solidFill>
              <a:srgbClr val="0066C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AB08281-87F7-427E-8236-F9E240F93758}"/>
              </a:ext>
            </a:extLst>
          </p:cNvPr>
          <p:cNvSpPr>
            <a:spLocks noGrp="1"/>
          </p:cNvSpPr>
          <p:nvPr/>
        </p:nvSpPr>
        <p:spPr>
          <a:xfrm>
            <a:off x="685800" y="285750"/>
            <a:ext cx="5048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04 日常工作中的 Copilot 实操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E03E208-EA74-48C1-BB53-4529A688A4C4}"/>
              </a:ext>
            </a:extLst>
          </p:cNvPr>
          <p:cNvSpPr>
            <a:spLocks noGrp="1"/>
          </p:cNvSpPr>
          <p:nvPr/>
        </p:nvSpPr>
        <p:spPr>
          <a:xfrm>
            <a:off x="685800" y="638175"/>
            <a:ext cx="108204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提示词结构：背景 + 任务 + 输出 + 约束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3C5B898-E6FC-48A8-80C0-046669479341}"/>
              </a:ext>
            </a:extLst>
          </p:cNvPr>
          <p:cNvSpPr>
            <a:spLocks noGrp="1"/>
          </p:cNvSpPr>
          <p:nvPr/>
        </p:nvSpPr>
        <p:spPr>
          <a:xfrm>
            <a:off x="685800" y="1181100"/>
            <a:ext cx="108204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提示词要说明为什么做、需要 Copilot 做什么、结果以什么形式呈现，以及哪些内容不能自行推断、必须由人确认。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81FDA1B-CD2B-40C6-8C0E-B228B0F465C4}"/>
              </a:ext>
            </a:extLst>
          </p:cNvPr>
          <p:cNvSpPr>
            <a:spLocks noGrp="1"/>
          </p:cNvSpPr>
          <p:nvPr/>
        </p:nvSpPr>
        <p:spPr>
          <a:xfrm>
            <a:off x="11049000" y="6438900"/>
            <a:ext cx="4572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28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EEF1F04-E9C1-4806-BD9C-BA766032F1AE}"/>
              </a:ext>
            </a:extLst>
          </p:cNvPr>
          <p:cNvSpPr>
            <a:spLocks noGrp="1"/>
          </p:cNvSpPr>
          <p:nvPr/>
        </p:nvSpPr>
        <p:spPr>
          <a:xfrm>
            <a:off x="685800" y="6334125"/>
            <a:ext cx="10820400" cy="9525"/>
          </a:xfrm>
          <a:prstGeom prst="rect">
            <a:avLst/>
          </a:prstGeom>
          <a:solidFill>
            <a:srgbClr val="C9DDF2"/>
          </a:solidFill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1C1320B3-DB9C-44A5-B565-9D300BEC186E}"/>
              </a:ext>
            </a:extLst>
          </p:cNvPr>
          <p:cNvSpPr>
            <a:spLocks noGrp="1"/>
          </p:cNvSpPr>
          <p:nvPr/>
        </p:nvSpPr>
        <p:spPr>
          <a:xfrm>
            <a:off x="1047750" y="1809750"/>
            <a:ext cx="10096500" cy="762000"/>
          </a:xfrm>
          <a:prstGeom prst="roundRect">
            <a:avLst>
              <a:gd name="adj" fmla="val 15000"/>
            </a:avLst>
          </a:prstGeom>
          <a:solidFill>
            <a:srgbClr val="F6FAFE"/>
          </a:solidFill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7AA1DB76-8DEC-4F8D-82FA-AC960B3DD847}"/>
              </a:ext>
            </a:extLst>
          </p:cNvPr>
          <p:cNvSpPr>
            <a:spLocks noGrp="1"/>
          </p:cNvSpPr>
          <p:nvPr/>
        </p:nvSpPr>
        <p:spPr>
          <a:xfrm>
            <a:off x="1219200" y="1943100"/>
            <a:ext cx="1000125" cy="495300"/>
          </a:xfrm>
          <a:prstGeom prst="roundRect">
            <a:avLst>
              <a:gd name="adj" fmla="val 23077"/>
            </a:avLst>
          </a:prstGeom>
          <a:solidFill>
            <a:srgbClr val="0066CC"/>
          </a:solidFill>
          <a:ln w="9525">
            <a:solidFill>
              <a:srgbClr val="0066C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841AF52-6A55-4B68-82C4-156A986EC2C9}"/>
              </a:ext>
            </a:extLst>
          </p:cNvPr>
          <p:cNvSpPr>
            <a:spLocks noGrp="1"/>
          </p:cNvSpPr>
          <p:nvPr/>
        </p:nvSpPr>
        <p:spPr>
          <a:xfrm>
            <a:off x="1219200" y="2057400"/>
            <a:ext cx="1000125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buNone/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背景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3DA97B3-7D2E-424C-91B4-51538CB30DE9}"/>
              </a:ext>
            </a:extLst>
          </p:cNvPr>
          <p:cNvSpPr>
            <a:spLocks noGrp="1"/>
          </p:cNvSpPr>
          <p:nvPr/>
        </p:nvSpPr>
        <p:spPr>
          <a:xfrm>
            <a:off x="2476500" y="1971675"/>
            <a:ext cx="8191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buNone/>
              <a:defRPr sz="1425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我刚接手绿色办公周项目，需要快速理解三份附件。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CBAE36A4-27F6-4DF0-AC7F-5C592A6C470C}"/>
              </a:ext>
            </a:extLst>
          </p:cNvPr>
          <p:cNvSpPr>
            <a:spLocks noGrp="1"/>
          </p:cNvSpPr>
          <p:nvPr/>
        </p:nvSpPr>
        <p:spPr>
          <a:xfrm>
            <a:off x="1047750" y="2781300"/>
            <a:ext cx="10096500" cy="762000"/>
          </a:xfrm>
          <a:prstGeom prst="roundRect">
            <a:avLst>
              <a:gd name="adj" fmla="val 15000"/>
            </a:avLst>
          </a:prstGeom>
          <a:solidFill>
            <a:srgbClr val="F6FAFE"/>
          </a:solidFill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BF936FA6-CD89-4C76-A802-2C182A47B74C}"/>
              </a:ext>
            </a:extLst>
          </p:cNvPr>
          <p:cNvSpPr>
            <a:spLocks noGrp="1"/>
          </p:cNvSpPr>
          <p:nvPr/>
        </p:nvSpPr>
        <p:spPr>
          <a:xfrm>
            <a:off x="1219200" y="2914650"/>
            <a:ext cx="1000125" cy="495300"/>
          </a:xfrm>
          <a:prstGeom prst="roundRect">
            <a:avLst>
              <a:gd name="adj" fmla="val 23077"/>
            </a:avLst>
          </a:prstGeom>
          <a:solidFill>
            <a:srgbClr val="11966F"/>
          </a:solidFill>
          <a:ln w="9525">
            <a:solidFill>
              <a:srgbClr val="11966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6240FE5-E7E8-432D-80B9-F8815E1073CF}"/>
              </a:ext>
            </a:extLst>
          </p:cNvPr>
          <p:cNvSpPr>
            <a:spLocks noGrp="1"/>
          </p:cNvSpPr>
          <p:nvPr/>
        </p:nvSpPr>
        <p:spPr>
          <a:xfrm>
            <a:off x="1219200" y="3028950"/>
            <a:ext cx="1000125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buNone/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任务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38F26B9-4BC8-4382-8D22-E519CE81B7A0}"/>
              </a:ext>
            </a:extLst>
          </p:cNvPr>
          <p:cNvSpPr>
            <a:spLocks noGrp="1"/>
          </p:cNvSpPr>
          <p:nvPr/>
        </p:nvSpPr>
        <p:spPr>
          <a:xfrm>
            <a:off x="2476500" y="2943225"/>
            <a:ext cx="8191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buNone/>
              <a:defRPr sz="1425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总结目标、成功指标、已确认决策、行动项、风险和开放问题，并比较来源。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11427EC2-D2BC-4E9F-8B5E-84DF533A6C70}"/>
              </a:ext>
            </a:extLst>
          </p:cNvPr>
          <p:cNvSpPr>
            <a:spLocks noGrp="1"/>
          </p:cNvSpPr>
          <p:nvPr/>
        </p:nvSpPr>
        <p:spPr>
          <a:xfrm>
            <a:off x="1047750" y="3752850"/>
            <a:ext cx="10096500" cy="762000"/>
          </a:xfrm>
          <a:prstGeom prst="roundRect">
            <a:avLst>
              <a:gd name="adj" fmla="val 15000"/>
            </a:avLst>
          </a:prstGeom>
          <a:solidFill>
            <a:srgbClr val="F6FAFE"/>
          </a:solidFill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081B6DFC-7BC3-4F20-AACC-FC9849CD8650}"/>
              </a:ext>
            </a:extLst>
          </p:cNvPr>
          <p:cNvSpPr>
            <a:spLocks noGrp="1"/>
          </p:cNvSpPr>
          <p:nvPr/>
        </p:nvSpPr>
        <p:spPr>
          <a:xfrm>
            <a:off x="1219200" y="3886200"/>
            <a:ext cx="1000125" cy="495300"/>
          </a:xfrm>
          <a:prstGeom prst="roundRect">
            <a:avLst>
              <a:gd name="adj" fmla="val 23077"/>
            </a:avLst>
          </a:prstGeom>
          <a:solidFill>
            <a:srgbClr val="003B78"/>
          </a:solidFill>
          <a:ln w="9525">
            <a:solidFill>
              <a:srgbClr val="003B7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9644C1F-E090-48DF-A217-D007472E409A}"/>
              </a:ext>
            </a:extLst>
          </p:cNvPr>
          <p:cNvSpPr>
            <a:spLocks noGrp="1"/>
          </p:cNvSpPr>
          <p:nvPr/>
        </p:nvSpPr>
        <p:spPr>
          <a:xfrm>
            <a:off x="1219200" y="4000500"/>
            <a:ext cx="1000125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buNone/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输出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1AECDAD-54F7-4227-A8FE-604702004426}"/>
              </a:ext>
            </a:extLst>
          </p:cNvPr>
          <p:cNvSpPr>
            <a:spLocks noGrp="1"/>
          </p:cNvSpPr>
          <p:nvPr/>
        </p:nvSpPr>
        <p:spPr>
          <a:xfrm>
            <a:off x="2476500" y="3914775"/>
            <a:ext cx="8191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buNone/>
              <a:defRPr sz="1425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先给一页项目简报，再起草一封简洁的跟进邮件。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CE20AF8F-F9C0-463D-9B4E-3923331A39D6}"/>
              </a:ext>
            </a:extLst>
          </p:cNvPr>
          <p:cNvSpPr>
            <a:spLocks noGrp="1"/>
          </p:cNvSpPr>
          <p:nvPr/>
        </p:nvSpPr>
        <p:spPr>
          <a:xfrm>
            <a:off x="1047750" y="4724400"/>
            <a:ext cx="10096500" cy="762000"/>
          </a:xfrm>
          <a:prstGeom prst="roundRect">
            <a:avLst>
              <a:gd name="adj" fmla="val 15000"/>
            </a:avLst>
          </a:prstGeom>
          <a:solidFill>
            <a:srgbClr val="F6FAFE"/>
          </a:solidFill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FEF3BAEC-86F3-4A02-A8E7-A246401614FA}"/>
              </a:ext>
            </a:extLst>
          </p:cNvPr>
          <p:cNvSpPr>
            <a:spLocks noGrp="1"/>
          </p:cNvSpPr>
          <p:nvPr/>
        </p:nvSpPr>
        <p:spPr>
          <a:xfrm>
            <a:off x="1219200" y="4857750"/>
            <a:ext cx="1000125" cy="495300"/>
          </a:xfrm>
          <a:prstGeom prst="roundRect">
            <a:avLst>
              <a:gd name="adj" fmla="val 23077"/>
            </a:avLst>
          </a:prstGeom>
          <a:solidFill>
            <a:srgbClr val="E8742B"/>
          </a:solidFill>
          <a:ln w="9525">
            <a:solidFill>
              <a:srgbClr val="E8742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C65B6ED-23E3-48D5-8592-D4E2A3C41A63}"/>
              </a:ext>
            </a:extLst>
          </p:cNvPr>
          <p:cNvSpPr>
            <a:spLocks noGrp="1"/>
          </p:cNvSpPr>
          <p:nvPr/>
        </p:nvSpPr>
        <p:spPr>
          <a:xfrm>
            <a:off x="1219200" y="4972050"/>
            <a:ext cx="1000125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buNone/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约束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71872569-26C4-4CF4-A805-E2F67E87FAE8}"/>
              </a:ext>
            </a:extLst>
          </p:cNvPr>
          <p:cNvSpPr>
            <a:spLocks noGrp="1"/>
          </p:cNvSpPr>
          <p:nvPr/>
        </p:nvSpPr>
        <p:spPr>
          <a:xfrm>
            <a:off x="2476500" y="4886325"/>
            <a:ext cx="8191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buNone/>
              <a:defRPr sz="1425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不要补充资料中没有的事实；发现冲突时列出来源和两个版本，并标记“待确认”。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67194BEA-B5FC-45C2-8DAD-E15005415E0E}"/>
              </a:ext>
            </a:extLst>
          </p:cNvPr>
          <p:cNvSpPr>
            <a:spLocks noGrp="1"/>
          </p:cNvSpPr>
          <p:nvPr/>
        </p:nvSpPr>
        <p:spPr>
          <a:xfrm>
            <a:off x="685800" y="5867400"/>
            <a:ext cx="2190750" cy="342900"/>
          </a:xfrm>
          <a:prstGeom prst="roundRect">
            <a:avLst>
              <a:gd name="adj" fmla="val 33333"/>
            </a:avLst>
          </a:prstGeom>
          <a:solidFill>
            <a:srgbClr val="EAF4FF"/>
          </a:solidFill>
          <a:ln w="9525">
            <a:solidFill>
              <a:srgbClr val="0066CC"/>
            </a:solidFill>
            <a:prstDash val="solid"/>
          </a:ln>
        </p:spPr>
        <p:txBody>
          <a:bodyPr wrap="none" lIns="76200" tIns="0" rIns="76200" bIns="0" anchor="ctr">
            <a:normAutofit/>
          </a:bodyPr>
          <a:lstStyle/>
          <a:p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r:id="rId3"/>
              </a:rPr>
              <a:t>打开 Copilot 并输入提示  ↗</a:t>
            </a:r>
          </a:p>
        </p:txBody>
      </p:sp>
    </p:spTree>
    <p:extLst>
      <p:ext uri="{BB962C8B-B14F-4D97-AF65-F5344CB8AC3E}">
        <p14:creationId xmlns:p14="http://schemas.microsoft.com/office/powerpoint/2010/main" val="196833972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067B30F2-3B2B-4790-BC54-61CFE25A1F1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0066CC"/>
          </a:solidFill>
          <a:ln w="9525">
            <a:solidFill>
              <a:srgbClr val="0066C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51A855B-5CC9-4954-91E6-A05D63A7890E}"/>
              </a:ext>
            </a:extLst>
          </p:cNvPr>
          <p:cNvSpPr>
            <a:spLocks noGrp="1"/>
          </p:cNvSpPr>
          <p:nvPr/>
        </p:nvSpPr>
        <p:spPr>
          <a:xfrm>
            <a:off x="685800" y="285750"/>
            <a:ext cx="5048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04 日常工作中的 Copilot 实操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388FBB6-50AA-418E-80F3-F0F957A9A3C6}"/>
              </a:ext>
            </a:extLst>
          </p:cNvPr>
          <p:cNvSpPr>
            <a:spLocks noGrp="1"/>
          </p:cNvSpPr>
          <p:nvPr/>
        </p:nvSpPr>
        <p:spPr>
          <a:xfrm>
            <a:off x="685800" y="638175"/>
            <a:ext cx="108204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Microsoft 365 Copilot：确认工作账号，加入资料，开始任务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E0BC10A-0A52-454A-B64B-5A83568D39EB}"/>
              </a:ext>
            </a:extLst>
          </p:cNvPr>
          <p:cNvSpPr>
            <a:spLocks noGrp="1"/>
          </p:cNvSpPr>
          <p:nvPr/>
        </p:nvSpPr>
        <p:spPr>
          <a:xfrm>
            <a:off x="685800" y="1181100"/>
            <a:ext cx="108204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打开页面后，先确认左下角显示工作账号，再点击输入框左侧的加号加入本次练习使用的三份资料，最后在中央输入任务。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2FACCB7-AE65-4E2B-88C6-6F0BB5D593F1}"/>
              </a:ext>
            </a:extLst>
          </p:cNvPr>
          <p:cNvSpPr>
            <a:spLocks noGrp="1"/>
          </p:cNvSpPr>
          <p:nvPr/>
        </p:nvSpPr>
        <p:spPr>
          <a:xfrm>
            <a:off x="11049000" y="6438900"/>
            <a:ext cx="4572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29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422145A-F41F-4B70-BB5B-75B9134E4DB5}"/>
              </a:ext>
            </a:extLst>
          </p:cNvPr>
          <p:cNvSpPr>
            <a:spLocks noGrp="1"/>
          </p:cNvSpPr>
          <p:nvPr/>
        </p:nvSpPr>
        <p:spPr>
          <a:xfrm>
            <a:off x="685800" y="6334125"/>
            <a:ext cx="10820400" cy="9525"/>
          </a:xfrm>
          <a:prstGeom prst="rect">
            <a:avLst/>
          </a:prstGeom>
          <a:solidFill>
            <a:srgbClr val="C9DDF2"/>
          </a:solidFill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21" name="Picture 20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85800" y="1864281"/>
            <a:ext cx="6686550" cy="3510439"/>
          </a:xfrm>
          <a:prstGeom prst="roundRect">
            <a:avLst>
              <a:gd name="adj" fmla="val 3077"/>
            </a:avLst>
          </a:prstGeom>
        </p:spPr>
      </p:pic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9D25EBF2-F1C2-47A7-B1B8-E3FA34C7F160}"/>
              </a:ext>
            </a:extLst>
          </p:cNvPr>
          <p:cNvSpPr>
            <a:spLocks noGrp="1"/>
          </p:cNvSpPr>
          <p:nvPr/>
        </p:nvSpPr>
        <p:spPr>
          <a:xfrm>
            <a:off x="666750" y="1743075"/>
            <a:ext cx="6724650" cy="3752850"/>
          </a:xfrm>
          <a:prstGeom prst="roundRect">
            <a:avLst>
              <a:gd name="adj" fmla="val 3046"/>
            </a:avLst>
          </a:prstGeom>
          <a:noFill/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3C9EB873-0FDA-4357-913F-391C0189F9E2}"/>
              </a:ext>
            </a:extLst>
          </p:cNvPr>
          <p:cNvSpPr>
            <a:spLocks noGrp="1"/>
          </p:cNvSpPr>
          <p:nvPr/>
        </p:nvSpPr>
        <p:spPr>
          <a:xfrm>
            <a:off x="7620000" y="1762125"/>
            <a:ext cx="3886200" cy="3714750"/>
          </a:xfrm>
          <a:prstGeom prst="roundRect">
            <a:avLst>
              <a:gd name="adj" fmla="val 3077"/>
            </a:avLst>
          </a:prstGeom>
          <a:solidFill>
            <a:srgbClr val="F6FAFE"/>
          </a:solidFill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636F2F2-6385-4D2B-A128-04FABFAA91A8}"/>
              </a:ext>
            </a:extLst>
          </p:cNvPr>
          <p:cNvSpPr>
            <a:spLocks noGrp="1"/>
          </p:cNvSpPr>
          <p:nvPr/>
        </p:nvSpPr>
        <p:spPr>
          <a:xfrm>
            <a:off x="7848600" y="1971675"/>
            <a:ext cx="3429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关键内容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68266BA-18D4-400F-9021-966E3CEFE835}"/>
              </a:ext>
            </a:extLst>
          </p:cNvPr>
          <p:cNvSpPr>
            <a:spLocks noGrp="1"/>
          </p:cNvSpPr>
          <p:nvPr/>
        </p:nvSpPr>
        <p:spPr>
          <a:xfrm>
            <a:off x="7848600" y="2390775"/>
            <a:ext cx="3429000" cy="2876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rmAutofit/>
          </a:bodyPr>
          <a:lstStyle/>
          <a:p>
            <a:pPr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首先开始新任务：左侧 New chat 用于新建对话，Search 用于查找历史内容；Library、Notebooks 和 Agents 可以之后再探索。</a:t>
            </a:r>
          </a:p>
          <a:p>
            <a:endParaRPr sz="1200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>
            <a:pPr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接着加入资料：中央 Message Copilot 是任务输入框，点击左侧加号即可添加文件；下方按钮提供文件分析、邮件整理等快捷入口。</a:t>
            </a:r>
          </a:p>
          <a:p>
            <a:endParaRPr sz="1200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>
            <a:pPr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提交前再检查：确认左下角显示 Philips 工作账号，只加入当前任务需要的资料；对敏感信息有疑问时，先查看企业规则或咨询支持人员。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924D0B09-9428-4482-9DE0-E458F2FC2199}"/>
              </a:ext>
            </a:extLst>
          </p:cNvPr>
          <p:cNvSpPr>
            <a:spLocks noGrp="1"/>
          </p:cNvSpPr>
          <p:nvPr/>
        </p:nvSpPr>
        <p:spPr>
          <a:xfrm>
            <a:off x="685800" y="5867400"/>
            <a:ext cx="2190750" cy="342900"/>
          </a:xfrm>
          <a:prstGeom prst="roundRect">
            <a:avLst>
              <a:gd name="adj" fmla="val 33333"/>
            </a:avLst>
          </a:prstGeom>
          <a:solidFill>
            <a:srgbClr val="EAF4FF"/>
          </a:solidFill>
          <a:ln w="9525">
            <a:solidFill>
              <a:srgbClr val="0066CC"/>
            </a:solidFill>
            <a:prstDash val="solid"/>
          </a:ln>
        </p:spPr>
        <p:txBody>
          <a:bodyPr wrap="none" lIns="76200" tIns="0" rIns="76200" bIns="0" anchor="ctr">
            <a:normAutofit fontScale="99154"/>
          </a:bodyPr>
          <a:lstStyle/>
          <a:p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r:id="rId4"/>
              </a:rPr>
              <a:t>打开 Microsoft 365 Copilot  ↗</a:t>
            </a:r>
          </a:p>
        </p:txBody>
      </p:sp>
    </p:spTree>
    <p:extLst>
      <p:ext uri="{BB962C8B-B14F-4D97-AF65-F5344CB8AC3E}">
        <p14:creationId xmlns:p14="http://schemas.microsoft.com/office/powerpoint/2010/main" val="150851861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52BBA476-B010-4512-B5B5-F981B713DCF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0066CC"/>
          </a:solidFill>
          <a:ln w="9525">
            <a:solidFill>
              <a:srgbClr val="0066C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5797568-7745-49FD-B442-CD751939987D}"/>
              </a:ext>
            </a:extLst>
          </p:cNvPr>
          <p:cNvSpPr>
            <a:spLocks noGrp="1"/>
          </p:cNvSpPr>
          <p:nvPr/>
        </p:nvSpPr>
        <p:spPr>
          <a:xfrm>
            <a:off x="685800" y="285750"/>
            <a:ext cx="5048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04 日常工作中的 Copilot 实操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234354E-0472-4205-8DB3-8A8D216D4305}"/>
              </a:ext>
            </a:extLst>
          </p:cNvPr>
          <p:cNvSpPr>
            <a:spLocks noGrp="1"/>
          </p:cNvSpPr>
          <p:nvPr/>
        </p:nvSpPr>
        <p:spPr>
          <a:xfrm>
            <a:off x="685800" y="638175"/>
            <a:ext cx="108204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现场演示：把三份资料整理成简报和跟进邮件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37F8E75-25BC-47F4-BC18-42F1D93F5C40}"/>
              </a:ext>
            </a:extLst>
          </p:cNvPr>
          <p:cNvSpPr>
            <a:spLocks noGrp="1"/>
          </p:cNvSpPr>
          <p:nvPr/>
        </p:nvSpPr>
        <p:spPr>
          <a:xfrm>
            <a:off x="685800" y="1181100"/>
            <a:ext cx="108204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接下来我会在 Copilot 中完整做一遍。大家可以跟着看资料是怎样加入的、提示词怎样写，以及第一次结果出来后还可以怎样继续调整。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31FDC40-F08C-4A67-BDA3-693053AECD9C}"/>
              </a:ext>
            </a:extLst>
          </p:cNvPr>
          <p:cNvSpPr>
            <a:spLocks noGrp="1"/>
          </p:cNvSpPr>
          <p:nvPr/>
        </p:nvSpPr>
        <p:spPr>
          <a:xfrm>
            <a:off x="11049000" y="6438900"/>
            <a:ext cx="4572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30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4C1CE48-A769-4E5D-9289-BF040BAB00F2}"/>
              </a:ext>
            </a:extLst>
          </p:cNvPr>
          <p:cNvSpPr>
            <a:spLocks noGrp="1"/>
          </p:cNvSpPr>
          <p:nvPr/>
        </p:nvSpPr>
        <p:spPr>
          <a:xfrm>
            <a:off x="685800" y="6334125"/>
            <a:ext cx="10820400" cy="9525"/>
          </a:xfrm>
          <a:prstGeom prst="rect">
            <a:avLst/>
          </a:prstGeom>
          <a:solidFill>
            <a:srgbClr val="C9DDF2"/>
          </a:solidFill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B9933069-E66D-4A35-AF21-38489F007C3B}"/>
              </a:ext>
            </a:extLst>
          </p:cNvPr>
          <p:cNvSpPr>
            <a:spLocks noGrp="1"/>
          </p:cNvSpPr>
          <p:nvPr/>
        </p:nvSpPr>
        <p:spPr>
          <a:xfrm>
            <a:off x="1066800" y="1762125"/>
            <a:ext cx="400050" cy="400050"/>
          </a:xfrm>
          <a:prstGeom prst="ellipse">
            <a:avLst/>
          </a:prstGeom>
          <a:solidFill>
            <a:srgbClr val="0066CC"/>
          </a:solidFill>
          <a:ln w="9525">
            <a:solidFill>
              <a:srgbClr val="0066C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EE5F23D-80B7-4AD2-A6DA-2373F912F5D5}"/>
              </a:ext>
            </a:extLst>
          </p:cNvPr>
          <p:cNvSpPr>
            <a:spLocks noGrp="1"/>
          </p:cNvSpPr>
          <p:nvPr/>
        </p:nvSpPr>
        <p:spPr>
          <a:xfrm>
            <a:off x="1066800" y="1847850"/>
            <a:ext cx="4000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buNone/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C6C4561-4AE0-4D9F-992F-E89F9DE62D38}"/>
              </a:ext>
            </a:extLst>
          </p:cNvPr>
          <p:cNvSpPr>
            <a:spLocks noGrp="1"/>
          </p:cNvSpPr>
          <p:nvPr/>
        </p:nvSpPr>
        <p:spPr>
          <a:xfrm>
            <a:off x="1695450" y="1743075"/>
            <a:ext cx="89535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buNone/>
              <a:defRPr sz="1425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首先上传项目简介、会议纪要和里程碑时间表。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2E9F3928-4EF9-464C-ACC7-35D2557A1343}"/>
              </a:ext>
            </a:extLst>
          </p:cNvPr>
          <p:cNvSpPr>
            <a:spLocks noGrp="1"/>
          </p:cNvSpPr>
          <p:nvPr/>
        </p:nvSpPr>
        <p:spPr>
          <a:xfrm>
            <a:off x="1066800" y="2505075"/>
            <a:ext cx="400050" cy="400050"/>
          </a:xfrm>
          <a:prstGeom prst="ellipse">
            <a:avLst/>
          </a:prstGeom>
          <a:solidFill>
            <a:srgbClr val="0066CC"/>
          </a:solidFill>
          <a:ln w="9525">
            <a:solidFill>
              <a:srgbClr val="0066C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98466DC-B16E-4475-895E-8C4C1F8C626C}"/>
              </a:ext>
            </a:extLst>
          </p:cNvPr>
          <p:cNvSpPr>
            <a:spLocks noGrp="1"/>
          </p:cNvSpPr>
          <p:nvPr/>
        </p:nvSpPr>
        <p:spPr>
          <a:xfrm>
            <a:off x="1066800" y="2590800"/>
            <a:ext cx="4000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buNone/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7E563CF-DCD0-467A-9D6A-034867AAFD9F}"/>
              </a:ext>
            </a:extLst>
          </p:cNvPr>
          <p:cNvSpPr>
            <a:spLocks noGrp="1"/>
          </p:cNvSpPr>
          <p:nvPr/>
        </p:nvSpPr>
        <p:spPr>
          <a:xfrm>
            <a:off x="1695450" y="2486025"/>
            <a:ext cx="89535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buNone/>
              <a:defRPr sz="1425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接着输入“背景 + 任务 + 输出 + 约束”四段式提示词。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D6F28D73-29BA-42AD-9A79-40B3BA28A1E5}"/>
              </a:ext>
            </a:extLst>
          </p:cNvPr>
          <p:cNvSpPr>
            <a:spLocks noGrp="1"/>
          </p:cNvSpPr>
          <p:nvPr/>
        </p:nvSpPr>
        <p:spPr>
          <a:xfrm>
            <a:off x="1066800" y="3248025"/>
            <a:ext cx="400050" cy="400050"/>
          </a:xfrm>
          <a:prstGeom prst="ellipse">
            <a:avLst/>
          </a:prstGeom>
          <a:solidFill>
            <a:srgbClr val="0066CC"/>
          </a:solidFill>
          <a:ln w="9525">
            <a:solidFill>
              <a:srgbClr val="0066C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F89586C-D8D4-400D-A9CB-CFD881AFCE02}"/>
              </a:ext>
            </a:extLst>
          </p:cNvPr>
          <p:cNvSpPr>
            <a:spLocks noGrp="1"/>
          </p:cNvSpPr>
          <p:nvPr/>
        </p:nvSpPr>
        <p:spPr>
          <a:xfrm>
            <a:off x="1066800" y="3333750"/>
            <a:ext cx="4000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buNone/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C0C1C3C-3A6A-4739-8277-2F4B7DA73D66}"/>
              </a:ext>
            </a:extLst>
          </p:cNvPr>
          <p:cNvSpPr>
            <a:spLocks noGrp="1"/>
          </p:cNvSpPr>
          <p:nvPr/>
        </p:nvSpPr>
        <p:spPr>
          <a:xfrm>
            <a:off x="1695450" y="3228975"/>
            <a:ext cx="89535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buNone/>
              <a:defRPr sz="1425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结果生成后，先查看项目接手简报和跟进邮件草稿是否完整。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C8A56F78-23A5-4CCE-9F5B-3D384C88A2E2}"/>
              </a:ext>
            </a:extLst>
          </p:cNvPr>
          <p:cNvSpPr>
            <a:spLocks noGrp="1"/>
          </p:cNvSpPr>
          <p:nvPr/>
        </p:nvSpPr>
        <p:spPr>
          <a:xfrm>
            <a:off x="1066800" y="3990975"/>
            <a:ext cx="400050" cy="400050"/>
          </a:xfrm>
          <a:prstGeom prst="ellipse">
            <a:avLst/>
          </a:prstGeom>
          <a:solidFill>
            <a:srgbClr val="E8742B"/>
          </a:solidFill>
          <a:ln w="9525">
            <a:solidFill>
              <a:srgbClr val="E8742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56A3A3C-0642-422E-8D50-0C200F3919F3}"/>
              </a:ext>
            </a:extLst>
          </p:cNvPr>
          <p:cNvSpPr>
            <a:spLocks noGrp="1"/>
          </p:cNvSpPr>
          <p:nvPr/>
        </p:nvSpPr>
        <p:spPr>
          <a:xfrm>
            <a:off x="1066800" y="4076700"/>
            <a:ext cx="4000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buNone/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5618C79-4024-40A1-88DD-61D5D96FB741}"/>
              </a:ext>
            </a:extLst>
          </p:cNvPr>
          <p:cNvSpPr>
            <a:spLocks noGrp="1"/>
          </p:cNvSpPr>
          <p:nvPr/>
        </p:nvSpPr>
        <p:spPr>
          <a:xfrm>
            <a:off x="1695450" y="3971925"/>
            <a:ext cx="89535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buNone/>
              <a:defRPr sz="142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然后核对 28 Aug 与 31 Aug 两个报名日期，保留来源并标记待确认。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BA1ACFAA-7AA3-4CE7-8AEB-84C6C70B61C2}"/>
              </a:ext>
            </a:extLst>
          </p:cNvPr>
          <p:cNvSpPr>
            <a:spLocks noGrp="1"/>
          </p:cNvSpPr>
          <p:nvPr/>
        </p:nvSpPr>
        <p:spPr>
          <a:xfrm>
            <a:off x="1066800" y="4733925"/>
            <a:ext cx="400050" cy="400050"/>
          </a:xfrm>
          <a:prstGeom prst="ellipse">
            <a:avLst/>
          </a:prstGeom>
          <a:solidFill>
            <a:srgbClr val="0066CC"/>
          </a:solidFill>
          <a:ln w="9525">
            <a:solidFill>
              <a:srgbClr val="0066C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5DBDC84-7C4F-4ABC-AE47-56C163394126}"/>
              </a:ext>
            </a:extLst>
          </p:cNvPr>
          <p:cNvSpPr>
            <a:spLocks noGrp="1"/>
          </p:cNvSpPr>
          <p:nvPr/>
        </p:nvSpPr>
        <p:spPr>
          <a:xfrm>
            <a:off x="1066800" y="4819650"/>
            <a:ext cx="4000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buNone/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7BFB305-B494-4FD2-8CE2-FF47C3B37337}"/>
              </a:ext>
            </a:extLst>
          </p:cNvPr>
          <p:cNvSpPr>
            <a:spLocks noGrp="1"/>
          </p:cNvSpPr>
          <p:nvPr/>
        </p:nvSpPr>
        <p:spPr>
          <a:xfrm>
            <a:off x="1695450" y="4714875"/>
            <a:ext cx="89535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buNone/>
              <a:defRPr sz="1425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确认事实后，再追问并把行动项整理成负责人、截止日期和状态三列。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D43B4430-8761-440A-91EB-E838536E1BD8}"/>
              </a:ext>
            </a:extLst>
          </p:cNvPr>
          <p:cNvSpPr>
            <a:spLocks noGrp="1"/>
          </p:cNvSpPr>
          <p:nvPr/>
        </p:nvSpPr>
        <p:spPr>
          <a:xfrm>
            <a:off x="685800" y="5867400"/>
            <a:ext cx="2190750" cy="342900"/>
          </a:xfrm>
          <a:prstGeom prst="roundRect">
            <a:avLst>
              <a:gd name="adj" fmla="val 33333"/>
            </a:avLst>
          </a:prstGeom>
          <a:solidFill>
            <a:srgbClr val="EAF4FF"/>
          </a:solidFill>
          <a:ln w="9525">
            <a:solidFill>
              <a:srgbClr val="0066CC"/>
            </a:solidFill>
            <a:prstDash val="solid"/>
          </a:ln>
        </p:spPr>
        <p:txBody>
          <a:bodyPr wrap="none" lIns="76200" tIns="0" rIns="76200" bIns="0" anchor="ctr">
            <a:normAutofit/>
          </a:bodyPr>
          <a:lstStyle/>
          <a:p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r:id="rId3"/>
              </a:rPr>
              <a:t>进入现场演示  ↗</a:t>
            </a:r>
          </a:p>
        </p:txBody>
      </p:sp>
    </p:spTree>
    <p:extLst>
      <p:ext uri="{BB962C8B-B14F-4D97-AF65-F5344CB8AC3E}">
        <p14:creationId xmlns:p14="http://schemas.microsoft.com/office/powerpoint/2010/main" val="159111395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1A5B5E3B-50D1-4F14-97C7-C425AA09F59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0066CC"/>
          </a:solidFill>
          <a:ln w="9525">
            <a:solidFill>
              <a:srgbClr val="0066C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8DA2DAE-757C-4222-81B5-AAAB4B29F85B}"/>
              </a:ext>
            </a:extLst>
          </p:cNvPr>
          <p:cNvSpPr>
            <a:spLocks noGrp="1"/>
          </p:cNvSpPr>
          <p:nvPr/>
        </p:nvSpPr>
        <p:spPr>
          <a:xfrm>
            <a:off x="685800" y="285750"/>
            <a:ext cx="5048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04 日常工作中的 Copilot 实操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5D7CA71-4AE6-4362-9FAC-E0DA7CEBCE3C}"/>
              </a:ext>
            </a:extLst>
          </p:cNvPr>
          <p:cNvSpPr>
            <a:spLocks noGrp="1"/>
          </p:cNvSpPr>
          <p:nvPr/>
        </p:nvSpPr>
        <p:spPr>
          <a:xfrm>
            <a:off x="685800" y="638175"/>
            <a:ext cx="108204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轮到你：用同样的方法完成一个小任务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CD6BD2F-65F2-4B3E-93BB-D8AEAEA60044}"/>
              </a:ext>
            </a:extLst>
          </p:cNvPr>
          <p:cNvSpPr>
            <a:spLocks noGrp="1"/>
          </p:cNvSpPr>
          <p:nvPr/>
        </p:nvSpPr>
        <p:spPr>
          <a:xfrm>
            <a:off x="685800" y="1181100"/>
            <a:ext cx="108204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可以继续使用绿色办公周资料，也可以选择会议纪要整理、邮件改写或项目资料总结。在 Copilot 中写出背景、任务、输出和约束，并让结果列出仍需确认的信息。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9EDAAC8-6A94-4C2F-BD57-92F41542DDAF}"/>
              </a:ext>
            </a:extLst>
          </p:cNvPr>
          <p:cNvSpPr>
            <a:spLocks noGrp="1"/>
          </p:cNvSpPr>
          <p:nvPr/>
        </p:nvSpPr>
        <p:spPr>
          <a:xfrm>
            <a:off x="11049000" y="6438900"/>
            <a:ext cx="4572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31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AC2E11B-C5D8-47B6-8CA6-6C5F3282362D}"/>
              </a:ext>
            </a:extLst>
          </p:cNvPr>
          <p:cNvSpPr>
            <a:spLocks noGrp="1"/>
          </p:cNvSpPr>
          <p:nvPr/>
        </p:nvSpPr>
        <p:spPr>
          <a:xfrm>
            <a:off x="685800" y="6334125"/>
            <a:ext cx="10820400" cy="9525"/>
          </a:xfrm>
          <a:prstGeom prst="rect">
            <a:avLst/>
          </a:prstGeom>
          <a:solidFill>
            <a:srgbClr val="C9DDF2"/>
          </a:solidFill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3934BA21-664D-41B2-8D7A-00F6DFE32AFA}"/>
              </a:ext>
            </a:extLst>
          </p:cNvPr>
          <p:cNvSpPr>
            <a:spLocks noGrp="1"/>
          </p:cNvSpPr>
          <p:nvPr/>
        </p:nvSpPr>
        <p:spPr>
          <a:xfrm>
            <a:off x="1238250" y="1952625"/>
            <a:ext cx="9715500" cy="2238375"/>
          </a:xfrm>
          <a:prstGeom prst="roundRect">
            <a:avLst>
              <a:gd name="adj" fmla="val 5106"/>
            </a:avLst>
          </a:prstGeom>
          <a:solidFill>
            <a:srgbClr val="EAF4FF"/>
          </a:solidFill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24110D9-B38C-44B9-B180-726D33A66047}"/>
              </a:ext>
            </a:extLst>
          </p:cNvPr>
          <p:cNvSpPr>
            <a:spLocks noGrp="1"/>
          </p:cNvSpPr>
          <p:nvPr/>
        </p:nvSpPr>
        <p:spPr>
          <a:xfrm>
            <a:off x="1619250" y="2266950"/>
            <a:ext cx="2095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80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练习要求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48DBFD6-254D-4149-8A7D-E58B9D77F66E}"/>
              </a:ext>
            </a:extLst>
          </p:cNvPr>
          <p:cNvSpPr>
            <a:spLocks noGrp="1"/>
          </p:cNvSpPr>
          <p:nvPr/>
        </p:nvSpPr>
        <p:spPr>
          <a:xfrm>
            <a:off x="1619250" y="2743200"/>
            <a:ext cx="8667750" cy="1143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rmAutofit/>
          </a:bodyPr>
          <a:lstStyle/>
          <a:p>
            <a:pPr>
              <a:buNone/>
              <a:def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1. 首先用背景、任务、输出、约束四段结构写一个提示词。</a:t>
            </a:r>
          </a:p>
          <a:p>
            <a:endParaRPr sz="1425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>
            <a:pPr>
              <a:buNone/>
              <a:def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2. 然后要求 Copilot 指出至少一个不确定项、冲突或需要人工核对的事实。</a:t>
            </a:r>
          </a:p>
          <a:p>
            <a:endParaRPr sz="1425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>
            <a:pPr>
              <a:buNone/>
              <a:def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3. 最后把结果改写成可直接用于沟通的一段文字、邮件或简报。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972BF23-3915-4947-8C78-B134550444A9}"/>
              </a:ext>
            </a:extLst>
          </p:cNvPr>
          <p:cNvSpPr>
            <a:spLocks noGrp="1"/>
          </p:cNvSpPr>
          <p:nvPr/>
        </p:nvSpPr>
        <p:spPr>
          <a:xfrm>
            <a:off x="1428750" y="4686300"/>
            <a:ext cx="9334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buNone/>
              <a:defRPr sz="1575" b="1">
                <a:solidFill>
                  <a:srgbClr val="E874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E8742B"/>
                </a:solidFill>
                <a:latin typeface="Microsoft YaHei"/>
                <a:ea typeface="Microsoft YaHei"/>
                <a:cs typeface="Microsoft YaHei"/>
              </a:rPr>
              <a:t>完成后与同事交流：你的提示词中，哪一条约束最重要？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AE00339D-A429-4D31-8037-DF2163C9E2C6}"/>
              </a:ext>
            </a:extLst>
          </p:cNvPr>
          <p:cNvSpPr>
            <a:spLocks noGrp="1"/>
          </p:cNvSpPr>
          <p:nvPr/>
        </p:nvSpPr>
        <p:spPr>
          <a:xfrm>
            <a:off x="685800" y="5867400"/>
            <a:ext cx="2190750" cy="342900"/>
          </a:xfrm>
          <a:prstGeom prst="roundRect">
            <a:avLst>
              <a:gd name="adj" fmla="val 33333"/>
            </a:avLst>
          </a:prstGeom>
          <a:solidFill>
            <a:srgbClr val="EAF4FF"/>
          </a:solidFill>
          <a:ln w="9525">
            <a:solidFill>
              <a:srgbClr val="0066CC"/>
            </a:solidFill>
            <a:prstDash val="solid"/>
          </a:ln>
        </p:spPr>
        <p:txBody>
          <a:bodyPr wrap="none" lIns="76200" tIns="0" rIns="76200" bIns="0" anchor="ctr">
            <a:normAutofit/>
          </a:bodyPr>
          <a:lstStyle/>
          <a:p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r:id="rId3"/>
              </a:rPr>
              <a:t>打开 Copilot 开始练习  ↗</a:t>
            </a:r>
          </a:p>
        </p:txBody>
      </p:sp>
    </p:spTree>
    <p:extLst>
      <p:ext uri="{BB962C8B-B14F-4D97-AF65-F5344CB8AC3E}">
        <p14:creationId xmlns:p14="http://schemas.microsoft.com/office/powerpoint/2010/main" val="150533625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9F4731D5-3AC7-48A5-A1A0-E590E412311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0066CC"/>
          </a:solidFill>
          <a:ln w="9525">
            <a:solidFill>
              <a:srgbClr val="0066C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AB08281-87F7-427E-8236-F9E240F93758}"/>
              </a:ext>
            </a:extLst>
          </p:cNvPr>
          <p:cNvSpPr>
            <a:spLocks noGrp="1"/>
          </p:cNvSpPr>
          <p:nvPr/>
        </p:nvSpPr>
        <p:spPr>
          <a:xfrm>
            <a:off x="685800" y="285750"/>
            <a:ext cx="5048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04 日常工作中的 Copilot 实操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E03E208-EA74-48C1-BB53-4529A688A4C4}"/>
              </a:ext>
            </a:extLst>
          </p:cNvPr>
          <p:cNvSpPr>
            <a:spLocks noGrp="1"/>
          </p:cNvSpPr>
          <p:nvPr/>
        </p:nvSpPr>
        <p:spPr>
          <a:xfrm>
            <a:off x="685800" y="638175"/>
            <a:ext cx="108204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绿色办公周实操｜任务、示例提示词与预期结果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3C5B898-E6FC-48A8-80C0-046669479341}"/>
              </a:ext>
            </a:extLst>
          </p:cNvPr>
          <p:cNvSpPr>
            <a:spLocks noGrp="1"/>
          </p:cNvSpPr>
          <p:nvPr/>
        </p:nvSpPr>
        <p:spPr>
          <a:xfrm>
            <a:off x="685800" y="1181100"/>
            <a:ext cx="108204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练习材料将在课程群内发放。下面提示词只是一种示例；重点是把背景、任务、输出和约束说清楚。完成练习后，下一部分会把同样的方法固化为可重复使用的 Agent。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81FDA1B-CD2B-40C6-8C0E-B228B0F465C4}"/>
              </a:ext>
            </a:extLst>
          </p:cNvPr>
          <p:cNvSpPr>
            <a:spLocks noGrp="1"/>
          </p:cNvSpPr>
          <p:nvPr/>
        </p:nvSpPr>
        <p:spPr>
          <a:xfrm>
            <a:off x="11049000" y="6438900"/>
            <a:ext cx="4572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31A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EEF1F04-E9C1-4806-BD9C-BA766032F1AE}"/>
              </a:ext>
            </a:extLst>
          </p:cNvPr>
          <p:cNvSpPr>
            <a:spLocks noGrp="1"/>
          </p:cNvSpPr>
          <p:nvPr/>
        </p:nvSpPr>
        <p:spPr>
          <a:xfrm>
            <a:off x="685800" y="6334125"/>
            <a:ext cx="10820400" cy="9525"/>
          </a:xfrm>
          <a:prstGeom prst="rect">
            <a:avLst/>
          </a:prstGeom>
          <a:solidFill>
            <a:srgbClr val="C9DDF2"/>
          </a:solidFill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1C1320B3-DB9C-44A5-B565-9D300BEC186E}"/>
              </a:ext>
            </a:extLst>
          </p:cNvPr>
          <p:cNvSpPr>
            <a:spLocks noGrp="1"/>
          </p:cNvSpPr>
          <p:nvPr/>
        </p:nvSpPr>
        <p:spPr>
          <a:xfrm>
            <a:off x="1047750" y="1809750"/>
            <a:ext cx="10096500" cy="762000"/>
          </a:xfrm>
          <a:prstGeom prst="roundRect">
            <a:avLst>
              <a:gd name="adj" fmla="val 15000"/>
            </a:avLst>
          </a:prstGeom>
          <a:solidFill>
            <a:srgbClr val="F6FAFE"/>
          </a:solidFill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7AA1DB76-8DEC-4F8D-82FA-AC960B3DD847}"/>
              </a:ext>
            </a:extLst>
          </p:cNvPr>
          <p:cNvSpPr>
            <a:spLocks noGrp="1"/>
          </p:cNvSpPr>
          <p:nvPr/>
        </p:nvSpPr>
        <p:spPr>
          <a:xfrm>
            <a:off x="1219200" y="1943100"/>
            <a:ext cx="1000125" cy="495300"/>
          </a:xfrm>
          <a:prstGeom prst="roundRect">
            <a:avLst>
              <a:gd name="adj" fmla="val 23077"/>
            </a:avLst>
          </a:prstGeom>
          <a:solidFill>
            <a:srgbClr val="0066CC"/>
          </a:solidFill>
          <a:ln w="9525">
            <a:solidFill>
              <a:srgbClr val="0066C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841AF52-6A55-4B68-82C4-156A986EC2C9}"/>
              </a:ext>
            </a:extLst>
          </p:cNvPr>
          <p:cNvSpPr>
            <a:spLocks noGrp="1"/>
          </p:cNvSpPr>
          <p:nvPr/>
        </p:nvSpPr>
        <p:spPr>
          <a:xfrm>
            <a:off x="1219200" y="2057400"/>
            <a:ext cx="1000125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buNone/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要做什么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3DA97B3-7D2E-424C-91B4-51538CB30DE9}"/>
              </a:ext>
            </a:extLst>
          </p:cNvPr>
          <p:cNvSpPr>
            <a:spLocks noGrp="1"/>
          </p:cNvSpPr>
          <p:nvPr/>
        </p:nvSpPr>
        <p:spPr>
          <a:xfrm>
            <a:off x="2476500" y="1971675"/>
            <a:ext cx="8191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buNone/>
              <a:defRPr sz="1425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阅读群内发放的三份虚构资料，用 Copilot 总结项目目标、进展和行动项，比较来源并找出冲突。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CBAE36A4-27F6-4DF0-AC7F-5C592A6C470C}"/>
              </a:ext>
            </a:extLst>
          </p:cNvPr>
          <p:cNvSpPr>
            <a:spLocks noGrp="1"/>
          </p:cNvSpPr>
          <p:nvPr/>
        </p:nvSpPr>
        <p:spPr>
          <a:xfrm>
            <a:off x="1047750" y="2781300"/>
            <a:ext cx="10096500" cy="762000"/>
          </a:xfrm>
          <a:prstGeom prst="roundRect">
            <a:avLst>
              <a:gd name="adj" fmla="val 15000"/>
            </a:avLst>
          </a:prstGeom>
          <a:solidFill>
            <a:srgbClr val="F6FAFE"/>
          </a:solidFill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BF936FA6-CD89-4C76-A802-2C182A47B74C}"/>
              </a:ext>
            </a:extLst>
          </p:cNvPr>
          <p:cNvSpPr>
            <a:spLocks noGrp="1"/>
          </p:cNvSpPr>
          <p:nvPr/>
        </p:nvSpPr>
        <p:spPr>
          <a:xfrm>
            <a:off x="1219200" y="2914650"/>
            <a:ext cx="1000125" cy="495300"/>
          </a:xfrm>
          <a:prstGeom prst="roundRect">
            <a:avLst>
              <a:gd name="adj" fmla="val 23077"/>
            </a:avLst>
          </a:prstGeom>
          <a:solidFill>
            <a:srgbClr val="11966F"/>
          </a:solidFill>
          <a:ln w="9525">
            <a:solidFill>
              <a:srgbClr val="11966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6240FE5-E7E8-432D-80B9-F8815E1073CF}"/>
              </a:ext>
            </a:extLst>
          </p:cNvPr>
          <p:cNvSpPr>
            <a:spLocks noGrp="1"/>
          </p:cNvSpPr>
          <p:nvPr/>
        </p:nvSpPr>
        <p:spPr>
          <a:xfrm>
            <a:off x="1219200" y="3028950"/>
            <a:ext cx="1000125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buNone/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示例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38F26B9-4BC8-4382-8D22-E519CE81B7A0}"/>
              </a:ext>
            </a:extLst>
          </p:cNvPr>
          <p:cNvSpPr>
            <a:spLocks noGrp="1"/>
          </p:cNvSpPr>
          <p:nvPr/>
        </p:nvSpPr>
        <p:spPr>
          <a:xfrm>
            <a:off x="2476500" y="2943225"/>
            <a:ext cx="8191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buNone/>
              <a:defRPr sz="1425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“仅根据三份资料，总结目标、指标、预算、日期、决定、行动项、风险和缺失；比较来源。先输出简报，再起草邮件。不要补充资料中没有的事实；冲突列出两个版本和来源，标记‘待确认’。”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11427EC2-D2BC-4E9F-8B5E-84DF533A6C70}"/>
              </a:ext>
            </a:extLst>
          </p:cNvPr>
          <p:cNvSpPr>
            <a:spLocks noGrp="1"/>
          </p:cNvSpPr>
          <p:nvPr/>
        </p:nvSpPr>
        <p:spPr>
          <a:xfrm>
            <a:off x="1047750" y="3752850"/>
            <a:ext cx="10096500" cy="762000"/>
          </a:xfrm>
          <a:prstGeom prst="roundRect">
            <a:avLst>
              <a:gd name="adj" fmla="val 15000"/>
            </a:avLst>
          </a:prstGeom>
          <a:solidFill>
            <a:srgbClr val="F6FAFE"/>
          </a:solidFill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081B6DFC-7BC3-4F20-AACC-FC9849CD8650}"/>
              </a:ext>
            </a:extLst>
          </p:cNvPr>
          <p:cNvSpPr>
            <a:spLocks noGrp="1"/>
          </p:cNvSpPr>
          <p:nvPr/>
        </p:nvSpPr>
        <p:spPr>
          <a:xfrm>
            <a:off x="1219200" y="3886200"/>
            <a:ext cx="1000125" cy="495300"/>
          </a:xfrm>
          <a:prstGeom prst="roundRect">
            <a:avLst>
              <a:gd name="adj" fmla="val 23077"/>
            </a:avLst>
          </a:prstGeom>
          <a:solidFill>
            <a:srgbClr val="003B78"/>
          </a:solidFill>
          <a:ln w="9525">
            <a:solidFill>
              <a:srgbClr val="003B7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9644C1F-E090-48DF-A217-D007472E409A}"/>
              </a:ext>
            </a:extLst>
          </p:cNvPr>
          <p:cNvSpPr>
            <a:spLocks noGrp="1"/>
          </p:cNvSpPr>
          <p:nvPr/>
        </p:nvSpPr>
        <p:spPr>
          <a:xfrm>
            <a:off x="1219200" y="4000500"/>
            <a:ext cx="1000125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buNone/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结果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1AECDAD-54F7-4227-A8FE-604702004426}"/>
              </a:ext>
            </a:extLst>
          </p:cNvPr>
          <p:cNvSpPr>
            <a:spLocks noGrp="1"/>
          </p:cNvSpPr>
          <p:nvPr/>
        </p:nvSpPr>
        <p:spPr>
          <a:xfrm>
            <a:off x="2476500" y="3914775"/>
            <a:ext cx="8191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buNone/>
              <a:defRPr sz="1425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一页项目接手简报（含行动项表格）＋一封跟进邮件草稿＋一份待确认事项清单。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CE20AF8F-F9C0-463D-9B4E-3923331A39D6}"/>
              </a:ext>
            </a:extLst>
          </p:cNvPr>
          <p:cNvSpPr>
            <a:spLocks noGrp="1"/>
          </p:cNvSpPr>
          <p:nvPr/>
        </p:nvSpPr>
        <p:spPr>
          <a:xfrm>
            <a:off x="1047750" y="4724400"/>
            <a:ext cx="10096500" cy="762000"/>
          </a:xfrm>
          <a:prstGeom prst="roundRect">
            <a:avLst>
              <a:gd name="adj" fmla="val 15000"/>
            </a:avLst>
          </a:prstGeom>
          <a:solidFill>
            <a:srgbClr val="F6FAFE"/>
          </a:solidFill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FEF3BAEC-86F3-4A02-A8E7-A246401614FA}"/>
              </a:ext>
            </a:extLst>
          </p:cNvPr>
          <p:cNvSpPr>
            <a:spLocks noGrp="1"/>
          </p:cNvSpPr>
          <p:nvPr/>
        </p:nvSpPr>
        <p:spPr>
          <a:xfrm>
            <a:off x="1219200" y="4857750"/>
            <a:ext cx="1000125" cy="495300"/>
          </a:xfrm>
          <a:prstGeom prst="roundRect">
            <a:avLst>
              <a:gd name="adj" fmla="val 23077"/>
            </a:avLst>
          </a:prstGeom>
          <a:solidFill>
            <a:srgbClr val="E8742B"/>
          </a:solidFill>
          <a:ln w="9525">
            <a:solidFill>
              <a:srgbClr val="E8742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C65B6ED-23E3-48D5-8592-D4E2A3C41A63}"/>
              </a:ext>
            </a:extLst>
          </p:cNvPr>
          <p:cNvSpPr>
            <a:spLocks noGrp="1"/>
          </p:cNvSpPr>
          <p:nvPr/>
        </p:nvSpPr>
        <p:spPr>
          <a:xfrm>
            <a:off x="1219200" y="4972050"/>
            <a:ext cx="1000125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buNone/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检查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71872569-26C4-4CF4-A805-E2F67E87FAE8}"/>
              </a:ext>
            </a:extLst>
          </p:cNvPr>
          <p:cNvSpPr>
            <a:spLocks noGrp="1"/>
          </p:cNvSpPr>
          <p:nvPr/>
        </p:nvSpPr>
        <p:spPr>
          <a:xfrm>
            <a:off x="2476500" y="4886325"/>
            <a:ext cx="8191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buNone/>
              <a:defRPr sz="1425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应发现“8月28日 / 8月31日”冲突；供应商、合同金额等缺失内容应写“资料中未找到”。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67194BEA-B5FC-45C2-8DAD-E15005415E0E}"/>
              </a:ext>
            </a:extLst>
          </p:cNvPr>
          <p:cNvSpPr>
            <a:spLocks noGrp="1"/>
          </p:cNvSpPr>
          <p:nvPr/>
        </p:nvSpPr>
        <p:spPr>
          <a:xfrm>
            <a:off x="685800" y="5867400"/>
            <a:ext cx="2190750" cy="342900"/>
          </a:xfrm>
          <a:prstGeom prst="roundRect">
            <a:avLst>
              <a:gd name="adj" fmla="val 33333"/>
            </a:avLst>
          </a:prstGeom>
          <a:solidFill>
            <a:srgbClr val="EAF4FF"/>
          </a:solidFill>
          <a:ln w="9525">
            <a:solidFill>
              <a:srgbClr val="0066CC"/>
            </a:solidFill>
            <a:prstDash val="solid"/>
          </a:ln>
        </p:spPr>
        <p:txBody>
          <a:bodyPr wrap="none" lIns="76200" tIns="0" rIns="76200" bIns="0" anchor="ctr">
            <a:normAutofit fontScale="99154"/>
          </a:bodyPr>
          <a:lstStyle/>
          <a:p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r:id="rId3"/>
              </a:rPr>
              <a:t>打开 Microsoft 365 Copilot  ↗</a:t>
            </a:r>
          </a:p>
        </p:txBody>
      </p:sp>
    </p:spTree>
    <p:extLst>
      <p:ext uri="{BB962C8B-B14F-4D97-AF65-F5344CB8AC3E}">
        <p14:creationId xmlns:p14="http://schemas.microsoft.com/office/powerpoint/2010/main" val="196833972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3B7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6AF27B51-E6E4-4126-B07B-8B8E6C5A28E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0066CC"/>
          </a:solidFill>
          <a:ln w="9525">
            <a:solidFill>
              <a:srgbClr val="0066C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C0521EC-3647-4053-9101-F68EABA85583}"/>
              </a:ext>
            </a:extLst>
          </p:cNvPr>
          <p:cNvSpPr>
            <a:spLocks noGrp="1"/>
          </p:cNvSpPr>
          <p:nvPr/>
        </p:nvSpPr>
        <p:spPr>
          <a:xfrm>
            <a:off x="800100" y="838200"/>
            <a:ext cx="3333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350" b="1">
                <a:solidFill>
                  <a:srgbClr val="8FC8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8FC8FF"/>
                </a:solidFill>
                <a:latin typeface="Microsoft YaHei"/>
                <a:ea typeface="Microsoft YaHei"/>
                <a:cs typeface="Microsoft YaHei"/>
              </a:rPr>
              <a:t>PART 5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540FC4D-6115-4B58-9946-30579D1CC851}"/>
              </a:ext>
            </a:extLst>
          </p:cNvPr>
          <p:cNvSpPr>
            <a:spLocks noGrp="1"/>
          </p:cNvSpPr>
          <p:nvPr/>
        </p:nvSpPr>
        <p:spPr>
          <a:xfrm>
            <a:off x="800100" y="1524000"/>
            <a:ext cx="9810750" cy="1095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3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业务案例与最佳实践：Agent Builder Lab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40D2617-65D3-4CC8-A5A8-26815349C891}"/>
              </a:ext>
            </a:extLst>
          </p:cNvPr>
          <p:cNvSpPr>
            <a:spLocks noGrp="1"/>
          </p:cNvSpPr>
          <p:nvPr/>
        </p:nvSpPr>
        <p:spPr>
          <a:xfrm>
            <a:off x="800100" y="2914650"/>
            <a:ext cx="8572500" cy="1200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725" b="0">
                <a:solidFill>
                  <a:srgbClr val="D9E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D9EBFF"/>
                </a:solidFill>
                <a:latin typeface="Microsoft YaHei"/>
                <a:ea typeface="Microsoft YaHei"/>
                <a:cs typeface="Microsoft YaHei"/>
              </a:rPr>
              <a:t>AI Tool Lab 提供多个 Agent 构建实验。讲师演示第 3 个“会议跟进助手”，学员动手范围是前 4 个 Lab，可任选或分组完成。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E0A100E1-B148-4C3D-B36B-19F3BB75DAD8}"/>
              </a:ext>
            </a:extLst>
          </p:cNvPr>
          <p:cNvSpPr>
            <a:spLocks noGrp="1"/>
          </p:cNvSpPr>
          <p:nvPr/>
        </p:nvSpPr>
        <p:spPr>
          <a:xfrm>
            <a:off x="800100" y="5734050"/>
            <a:ext cx="2209800" cy="342900"/>
          </a:xfrm>
          <a:prstGeom prst="roundRect">
            <a:avLst>
              <a:gd name="adj" fmla="val 33333"/>
            </a:avLst>
          </a:prstGeom>
          <a:solidFill>
            <a:srgbClr val="EAF4FF"/>
          </a:solidFill>
          <a:ln w="9525">
            <a:solidFill>
              <a:srgbClr val="0066CC"/>
            </a:solidFill>
            <a:prstDash val="solid"/>
          </a:ln>
        </p:spPr>
        <p:txBody>
          <a:bodyPr wrap="none" lIns="76200" tIns="0" rIns="76200" bIns="0" anchor="ctr">
            <a:normAutofit/>
          </a:bodyPr>
          <a:lstStyle/>
          <a:p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r:id="rId3"/>
              </a:rPr>
              <a:t>AI Tool Lab  ↗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78D9D59E-33CC-4B28-8E81-EB2DFD878E21}"/>
              </a:ext>
            </a:extLst>
          </p:cNvPr>
          <p:cNvSpPr>
            <a:spLocks noGrp="1"/>
          </p:cNvSpPr>
          <p:nvPr/>
        </p:nvSpPr>
        <p:spPr>
          <a:xfrm>
            <a:off x="3200400" y="5734050"/>
            <a:ext cx="2209800" cy="342900"/>
          </a:xfrm>
          <a:prstGeom prst="roundRect">
            <a:avLst>
              <a:gd name="adj" fmla="val 33333"/>
            </a:avLst>
          </a:prstGeom>
          <a:solidFill>
            <a:srgbClr val="EAF4FF"/>
          </a:solidFill>
          <a:ln w="9525">
            <a:solidFill>
              <a:srgbClr val="0066CC"/>
            </a:solidFill>
            <a:prstDash val="solid"/>
          </a:ln>
        </p:spPr>
        <p:txBody>
          <a:bodyPr wrap="none" lIns="76200" tIns="0" rIns="76200" bIns="0" anchor="ctr">
            <a:normAutofit/>
          </a:bodyPr>
          <a:lstStyle/>
          <a:p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r:id="rId4"/>
              </a:rPr>
              <a:t>Agent Builder 路径  ↗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3DBD4A93-0D5E-4092-825C-0B47824B46C2}"/>
              </a:ext>
            </a:extLst>
          </p:cNvPr>
          <p:cNvSpPr>
            <a:spLocks noGrp="1"/>
          </p:cNvSpPr>
          <p:nvPr/>
        </p:nvSpPr>
        <p:spPr>
          <a:xfrm>
            <a:off x="5600700" y="5734050"/>
            <a:ext cx="2209800" cy="342900"/>
          </a:xfrm>
          <a:prstGeom prst="roundRect">
            <a:avLst>
              <a:gd name="adj" fmla="val 33333"/>
            </a:avLst>
          </a:prstGeom>
          <a:solidFill>
            <a:srgbClr val="EAF4FF"/>
          </a:solidFill>
          <a:ln w="9525">
            <a:solidFill>
              <a:srgbClr val="0066CC"/>
            </a:solidFill>
            <a:prstDash val="solid"/>
          </a:ln>
        </p:spPr>
        <p:txBody>
          <a:bodyPr wrap="none" lIns="76200" tIns="0" rIns="76200" bIns="0" anchor="ctr">
            <a:normAutofit/>
          </a:bodyPr>
          <a:lstStyle/>
          <a:p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r:id="rId5"/>
              </a:rPr>
              <a:t>M365 Copilot  ↗</a:t>
            </a:r>
          </a:p>
        </p:txBody>
      </p:sp>
    </p:spTree>
    <p:extLst>
      <p:ext uri="{BB962C8B-B14F-4D97-AF65-F5344CB8AC3E}">
        <p14:creationId xmlns:p14="http://schemas.microsoft.com/office/powerpoint/2010/main" val="211878526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74F2B4C0-A430-4E42-952A-19CBB9A0B90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0066CC"/>
          </a:solidFill>
          <a:ln w="9525">
            <a:solidFill>
              <a:srgbClr val="0066C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8DFF1BF-2BC6-4507-B99A-3348AC685994}"/>
              </a:ext>
            </a:extLst>
          </p:cNvPr>
          <p:cNvSpPr>
            <a:spLocks noGrp="1"/>
          </p:cNvSpPr>
          <p:nvPr/>
        </p:nvSpPr>
        <p:spPr>
          <a:xfrm>
            <a:off x="685800" y="285750"/>
            <a:ext cx="5048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05 Agent Builder 动手 Lab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28981CC-1E03-4672-A63C-79B35752517F}"/>
              </a:ext>
            </a:extLst>
          </p:cNvPr>
          <p:cNvSpPr>
            <a:spLocks noGrp="1"/>
          </p:cNvSpPr>
          <p:nvPr/>
        </p:nvSpPr>
        <p:spPr>
          <a:xfrm>
            <a:off x="685800" y="638175"/>
            <a:ext cx="108204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AI Tool Lab：四个业务场景，共用一套构建方法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1732CE4-9D21-40E4-940E-FADEDFD2690E}"/>
              </a:ext>
            </a:extLst>
          </p:cNvPr>
          <p:cNvSpPr>
            <a:spLocks noGrp="1"/>
          </p:cNvSpPr>
          <p:nvPr/>
        </p:nvSpPr>
        <p:spPr>
          <a:xfrm>
            <a:off x="685800" y="1181100"/>
            <a:ext cx="108204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网站提供四个 Agent Lab 和中文分步指南。四个场景都会练习工作规则（Instructions）、参考资料、常用快捷问题（Suggested Prompts）和试运行，操作都在 Microsoft 365 Copilot 中完成。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D2AD95C-AF7F-43F1-968C-36CD7B557285}"/>
              </a:ext>
            </a:extLst>
          </p:cNvPr>
          <p:cNvSpPr>
            <a:spLocks noGrp="1"/>
          </p:cNvSpPr>
          <p:nvPr/>
        </p:nvSpPr>
        <p:spPr>
          <a:xfrm>
            <a:off x="11049000" y="6438900"/>
            <a:ext cx="4572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33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9D84E89-C346-4F4E-8F42-044BF7D94756}"/>
              </a:ext>
            </a:extLst>
          </p:cNvPr>
          <p:cNvSpPr>
            <a:spLocks noGrp="1"/>
          </p:cNvSpPr>
          <p:nvPr/>
        </p:nvSpPr>
        <p:spPr>
          <a:xfrm>
            <a:off x="685800" y="6334125"/>
            <a:ext cx="10820400" cy="9525"/>
          </a:xfrm>
          <a:prstGeom prst="rect">
            <a:avLst/>
          </a:prstGeom>
          <a:solidFill>
            <a:srgbClr val="C9DDF2"/>
          </a:solidFill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22" name="Picture 21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85800" y="1863846"/>
            <a:ext cx="6686550" cy="3511308"/>
          </a:xfrm>
          <a:prstGeom prst="roundRect">
            <a:avLst>
              <a:gd name="adj" fmla="val 3077"/>
            </a:avLst>
          </a:prstGeom>
        </p:spPr>
      </p:pic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A931C98F-B938-415A-BEAB-F1E869AD3B63}"/>
              </a:ext>
            </a:extLst>
          </p:cNvPr>
          <p:cNvSpPr>
            <a:spLocks noGrp="1"/>
          </p:cNvSpPr>
          <p:nvPr/>
        </p:nvSpPr>
        <p:spPr>
          <a:xfrm>
            <a:off x="666750" y="1743075"/>
            <a:ext cx="6724650" cy="3752850"/>
          </a:xfrm>
          <a:prstGeom prst="roundRect">
            <a:avLst>
              <a:gd name="adj" fmla="val 3046"/>
            </a:avLst>
          </a:prstGeom>
          <a:noFill/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2C7ED0E3-ED03-48C8-AA70-8ACDE3503ECE}"/>
              </a:ext>
            </a:extLst>
          </p:cNvPr>
          <p:cNvSpPr>
            <a:spLocks noGrp="1"/>
          </p:cNvSpPr>
          <p:nvPr/>
        </p:nvSpPr>
        <p:spPr>
          <a:xfrm>
            <a:off x="7620000" y="1762125"/>
            <a:ext cx="3886200" cy="3714750"/>
          </a:xfrm>
          <a:prstGeom prst="roundRect">
            <a:avLst>
              <a:gd name="adj" fmla="val 3077"/>
            </a:avLst>
          </a:prstGeom>
          <a:solidFill>
            <a:srgbClr val="F6FAFE"/>
          </a:solidFill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98CB966-939A-49D6-BA8A-823F2AD50AEE}"/>
              </a:ext>
            </a:extLst>
          </p:cNvPr>
          <p:cNvSpPr>
            <a:spLocks noGrp="1"/>
          </p:cNvSpPr>
          <p:nvPr/>
        </p:nvSpPr>
        <p:spPr>
          <a:xfrm>
            <a:off x="7848600" y="1971675"/>
            <a:ext cx="3429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关键内容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0C67CFE-695C-48F0-ADB7-A6D6686C9F23}"/>
              </a:ext>
            </a:extLst>
          </p:cNvPr>
          <p:cNvSpPr>
            <a:spLocks noGrp="1"/>
          </p:cNvSpPr>
          <p:nvPr/>
        </p:nvSpPr>
        <p:spPr>
          <a:xfrm>
            <a:off x="7848600" y="2390775"/>
            <a:ext cx="3429000" cy="2876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rmAutofit/>
          </a:bodyPr>
          <a:lstStyle/>
          <a:p>
            <a:pPr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首先从四个场景中选择一个：Chief of Staff、Product Manual FAQ、Meeting Follow-up Assistant 或 Funnel Data Analyst。</a:t>
            </a:r>
          </a:p>
          <a:p>
            <a:endParaRPr sz="1200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>
            <a:pPr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在课堂上，PPT 用于解释关键画面，AI Tool Lab 网站提供步骤和材料，真正的配置、预览与创建在 Microsoft 365 Copilot 中完成。</a:t>
            </a:r>
          </a:p>
          <a:p>
            <a:endParaRPr sz="1200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>
            <a:pPr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完成后，你可以沿用同样的步骤，把自己的重复任务改造成一个简单、可测试的 Agent。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ED1F8814-CDBA-461C-9691-ABB2B30D7E59}"/>
              </a:ext>
            </a:extLst>
          </p:cNvPr>
          <p:cNvSpPr>
            <a:spLocks noGrp="1"/>
          </p:cNvSpPr>
          <p:nvPr/>
        </p:nvSpPr>
        <p:spPr>
          <a:xfrm>
            <a:off x="685800" y="5867400"/>
            <a:ext cx="2190750" cy="342900"/>
          </a:xfrm>
          <a:prstGeom prst="roundRect">
            <a:avLst>
              <a:gd name="adj" fmla="val 33333"/>
            </a:avLst>
          </a:prstGeom>
          <a:solidFill>
            <a:srgbClr val="EAF4FF"/>
          </a:solidFill>
          <a:ln w="9525">
            <a:solidFill>
              <a:srgbClr val="0066CC"/>
            </a:solidFill>
            <a:prstDash val="solid"/>
          </a:ln>
        </p:spPr>
        <p:txBody>
          <a:bodyPr wrap="none" lIns="76200" tIns="0" rIns="76200" bIns="0" anchor="ctr">
            <a:normAutofit/>
          </a:bodyPr>
          <a:lstStyle/>
          <a:p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r:id="rId4"/>
              </a:rPr>
              <a:t>打开 AI Tool Lab  ↗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132D421A-9303-4AFD-A6E3-6CB3AAF33A70}"/>
              </a:ext>
            </a:extLst>
          </p:cNvPr>
          <p:cNvSpPr>
            <a:spLocks noGrp="1"/>
          </p:cNvSpPr>
          <p:nvPr/>
        </p:nvSpPr>
        <p:spPr>
          <a:xfrm>
            <a:off x="3048000" y="5867400"/>
            <a:ext cx="2476500" cy="342900"/>
          </a:xfrm>
          <a:prstGeom prst="roundRect">
            <a:avLst>
              <a:gd name="adj" fmla="val 33333"/>
            </a:avLst>
          </a:prstGeom>
          <a:solidFill>
            <a:srgbClr val="EAF4FF"/>
          </a:solidFill>
          <a:ln w="9525">
            <a:solidFill>
              <a:srgbClr val="0066CC"/>
            </a:solidFill>
            <a:prstDash val="solid"/>
          </a:ln>
        </p:spPr>
        <p:txBody>
          <a:bodyPr wrap="none" lIns="76200" tIns="0" rIns="76200" bIns="0" anchor="ctr">
            <a:normAutofit/>
          </a:bodyPr>
          <a:lstStyle/>
          <a:p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r:id="rId5"/>
              </a:rPr>
              <a:t>进入 Agent Builder 路径  ↗</a:t>
            </a:r>
          </a:p>
        </p:txBody>
      </p:sp>
    </p:spTree>
    <p:extLst>
      <p:ext uri="{BB962C8B-B14F-4D97-AF65-F5344CB8AC3E}">
        <p14:creationId xmlns:p14="http://schemas.microsoft.com/office/powerpoint/2010/main" val="159085668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30">
            <a:extLst>
              <a:ext uri="{FF2B5EF4-FFF2-40B4-BE49-F238E27FC236}">
                <a16:creationId xmlns:a16="http://schemas.microsoft.com/office/drawing/2014/main" id="{F52B4F15-26BD-46C9-9FF4-48CCDFB5D79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0066CC"/>
          </a:solidFill>
          <a:ln w="9525">
            <a:solidFill>
              <a:srgbClr val="0066C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117414F-188D-4DA0-9EB9-532FD33EDF9A}"/>
              </a:ext>
            </a:extLst>
          </p:cNvPr>
          <p:cNvSpPr>
            <a:spLocks noGrp="1"/>
          </p:cNvSpPr>
          <p:nvPr/>
        </p:nvSpPr>
        <p:spPr>
          <a:xfrm>
            <a:off x="685800" y="285750"/>
            <a:ext cx="5048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05 Agent Builder 动手 Lab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534DD78-59D9-4680-81B4-DA03758C7557}"/>
              </a:ext>
            </a:extLst>
          </p:cNvPr>
          <p:cNvSpPr>
            <a:spLocks noGrp="1"/>
          </p:cNvSpPr>
          <p:nvPr/>
        </p:nvSpPr>
        <p:spPr>
          <a:xfrm>
            <a:off x="685800" y="638175"/>
            <a:ext cx="108204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动手范围：前四个 Agent Lab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8D418BA-08BA-485A-9A0D-4670B039833C}"/>
              </a:ext>
            </a:extLst>
          </p:cNvPr>
          <p:cNvSpPr>
            <a:spLocks noGrp="1"/>
          </p:cNvSpPr>
          <p:nvPr/>
        </p:nvSpPr>
        <p:spPr>
          <a:xfrm>
            <a:off x="685800" y="1181100"/>
            <a:ext cx="108204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这四个 Lab 分别练习事务协调、依据资料回答问题、会议跟进和销售数据分析。讲师会演示第 3 个，学员实践时可任选一个。每个 Lab 都会完成工作规则、参考资料、快捷问题和试运行。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6E2C948-FEE5-4862-B330-AA94CD9ACF5A}"/>
              </a:ext>
            </a:extLst>
          </p:cNvPr>
          <p:cNvSpPr>
            <a:spLocks noGrp="1"/>
          </p:cNvSpPr>
          <p:nvPr/>
        </p:nvSpPr>
        <p:spPr>
          <a:xfrm>
            <a:off x="11049000" y="6438900"/>
            <a:ext cx="4572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34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17EB603-3AA4-4706-89BB-42BA18C91142}"/>
              </a:ext>
            </a:extLst>
          </p:cNvPr>
          <p:cNvSpPr>
            <a:spLocks noGrp="1"/>
          </p:cNvSpPr>
          <p:nvPr/>
        </p:nvSpPr>
        <p:spPr>
          <a:xfrm>
            <a:off x="685800" y="6334125"/>
            <a:ext cx="10820400" cy="9525"/>
          </a:xfrm>
          <a:prstGeom prst="rect">
            <a:avLst/>
          </a:prstGeom>
          <a:solidFill>
            <a:srgbClr val="C9DDF2"/>
          </a:solidFill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DB70CE3D-7621-4EF3-9C36-4EC41E303FB5}"/>
              </a:ext>
            </a:extLst>
          </p:cNvPr>
          <p:cNvSpPr>
            <a:spLocks noGrp="1"/>
          </p:cNvSpPr>
          <p:nvPr/>
        </p:nvSpPr>
        <p:spPr>
          <a:xfrm>
            <a:off x="819150" y="1790700"/>
            <a:ext cx="5143500" cy="1562100"/>
          </a:xfrm>
          <a:prstGeom prst="roundRect">
            <a:avLst>
              <a:gd name="adj" fmla="val 7317"/>
            </a:avLst>
          </a:prstGeom>
          <a:solidFill>
            <a:srgbClr val="F6FAFE"/>
          </a:solidFill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90886AE5-E4EE-472F-ACF0-7B51001C464D}"/>
              </a:ext>
            </a:extLst>
          </p:cNvPr>
          <p:cNvSpPr>
            <a:spLocks noGrp="1"/>
          </p:cNvSpPr>
          <p:nvPr/>
        </p:nvSpPr>
        <p:spPr>
          <a:xfrm>
            <a:off x="1028700" y="2019300"/>
            <a:ext cx="438150" cy="438150"/>
          </a:xfrm>
          <a:prstGeom prst="ellipse">
            <a:avLst/>
          </a:prstGeom>
          <a:solidFill>
            <a:srgbClr val="003B78"/>
          </a:solidFill>
          <a:ln w="9525">
            <a:solidFill>
              <a:srgbClr val="003B7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863A96B-1F21-4A8B-8860-F7BD25C7B432}"/>
              </a:ext>
            </a:extLst>
          </p:cNvPr>
          <p:cNvSpPr>
            <a:spLocks noGrp="1"/>
          </p:cNvSpPr>
          <p:nvPr/>
        </p:nvSpPr>
        <p:spPr>
          <a:xfrm>
            <a:off x="1028700" y="2124075"/>
            <a:ext cx="4381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buNone/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A174DAA-2AC3-4F94-9243-6FF1A9C95062}"/>
              </a:ext>
            </a:extLst>
          </p:cNvPr>
          <p:cNvSpPr>
            <a:spLocks noGrp="1"/>
          </p:cNvSpPr>
          <p:nvPr/>
        </p:nvSpPr>
        <p:spPr>
          <a:xfrm>
            <a:off x="1657350" y="2000250"/>
            <a:ext cx="3810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Chief of Staff｜事务协调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936D60D-9E30-410A-8D44-4A236668307F}"/>
              </a:ext>
            </a:extLst>
          </p:cNvPr>
          <p:cNvSpPr>
            <a:spLocks noGrp="1"/>
          </p:cNvSpPr>
          <p:nvPr/>
        </p:nvSpPr>
        <p:spPr>
          <a:xfrm>
            <a:off x="1657350" y="2428875"/>
            <a:ext cx="39052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整理任务、优先级和会议准备，练习怎样写清 Agent 的服务对象和工作方式。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0B6CDF16-CDDA-4284-B4D2-41A66145A37C}"/>
              </a:ext>
            </a:extLst>
          </p:cNvPr>
          <p:cNvSpPr>
            <a:spLocks noGrp="1"/>
          </p:cNvSpPr>
          <p:nvPr/>
        </p:nvSpPr>
        <p:spPr>
          <a:xfrm>
            <a:off x="6229350" y="1790700"/>
            <a:ext cx="5143500" cy="1562100"/>
          </a:xfrm>
          <a:prstGeom prst="roundRect">
            <a:avLst>
              <a:gd name="adj" fmla="val 7317"/>
            </a:avLst>
          </a:prstGeom>
          <a:solidFill>
            <a:srgbClr val="F6FAFE"/>
          </a:solidFill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F064F06E-FE17-4ABF-854F-B49681E02204}"/>
              </a:ext>
            </a:extLst>
          </p:cNvPr>
          <p:cNvSpPr>
            <a:spLocks noGrp="1"/>
          </p:cNvSpPr>
          <p:nvPr/>
        </p:nvSpPr>
        <p:spPr>
          <a:xfrm>
            <a:off x="6438900" y="2019300"/>
            <a:ext cx="438150" cy="438150"/>
          </a:xfrm>
          <a:prstGeom prst="ellipse">
            <a:avLst/>
          </a:prstGeom>
          <a:solidFill>
            <a:srgbClr val="003B78"/>
          </a:solidFill>
          <a:ln w="9525">
            <a:solidFill>
              <a:srgbClr val="003B7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2788D73-6AC0-424E-94CF-4048DEA0DA07}"/>
              </a:ext>
            </a:extLst>
          </p:cNvPr>
          <p:cNvSpPr>
            <a:spLocks noGrp="1"/>
          </p:cNvSpPr>
          <p:nvPr/>
        </p:nvSpPr>
        <p:spPr>
          <a:xfrm>
            <a:off x="6438900" y="2124075"/>
            <a:ext cx="4381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buNone/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A8EEBCC-78CF-47B3-A58A-674A46E19C5B}"/>
              </a:ext>
            </a:extLst>
          </p:cNvPr>
          <p:cNvSpPr>
            <a:spLocks noGrp="1"/>
          </p:cNvSpPr>
          <p:nvPr/>
        </p:nvSpPr>
        <p:spPr>
          <a:xfrm>
            <a:off x="7067550" y="2000250"/>
            <a:ext cx="3810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Product Manual FAQ｜产品问答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BA1E1FE-BA2F-421E-9D01-15BDC644FA80}"/>
              </a:ext>
            </a:extLst>
          </p:cNvPr>
          <p:cNvSpPr>
            <a:spLocks noGrp="1"/>
          </p:cNvSpPr>
          <p:nvPr/>
        </p:nvSpPr>
        <p:spPr>
          <a:xfrm>
            <a:off x="7067550" y="2428875"/>
            <a:ext cx="39052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依据产品资料回答问题，练习怎样限定参考范围，以及资料不足时怎样回应。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D1E108B1-1B0E-4805-8E4C-98F45E90675C}"/>
              </a:ext>
            </a:extLst>
          </p:cNvPr>
          <p:cNvSpPr>
            <a:spLocks noGrp="1"/>
          </p:cNvSpPr>
          <p:nvPr/>
        </p:nvSpPr>
        <p:spPr>
          <a:xfrm>
            <a:off x="819150" y="3581400"/>
            <a:ext cx="5143500" cy="1562100"/>
          </a:xfrm>
          <a:prstGeom prst="roundRect">
            <a:avLst>
              <a:gd name="adj" fmla="val 7317"/>
            </a:avLst>
          </a:prstGeom>
          <a:solidFill>
            <a:srgbClr val="EAF4FF"/>
          </a:solidFill>
          <a:ln w="9525">
            <a:solidFill>
              <a:srgbClr val="0066C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16591CAC-D607-44F3-8C30-9526DB18BD94}"/>
              </a:ext>
            </a:extLst>
          </p:cNvPr>
          <p:cNvSpPr>
            <a:spLocks noGrp="1"/>
          </p:cNvSpPr>
          <p:nvPr/>
        </p:nvSpPr>
        <p:spPr>
          <a:xfrm>
            <a:off x="1028700" y="3810000"/>
            <a:ext cx="438150" cy="438150"/>
          </a:xfrm>
          <a:prstGeom prst="ellipse">
            <a:avLst/>
          </a:prstGeom>
          <a:solidFill>
            <a:srgbClr val="0066CC"/>
          </a:solidFill>
          <a:ln w="9525">
            <a:solidFill>
              <a:srgbClr val="0066C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EBE62AE-A31C-471E-BFA1-D27CE700EEB8}"/>
              </a:ext>
            </a:extLst>
          </p:cNvPr>
          <p:cNvSpPr>
            <a:spLocks noGrp="1"/>
          </p:cNvSpPr>
          <p:nvPr/>
        </p:nvSpPr>
        <p:spPr>
          <a:xfrm>
            <a:off x="1028700" y="3914775"/>
            <a:ext cx="4381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buNone/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A342F16-CEA1-47C2-96E4-05E8838D1154}"/>
              </a:ext>
            </a:extLst>
          </p:cNvPr>
          <p:cNvSpPr>
            <a:spLocks noGrp="1"/>
          </p:cNvSpPr>
          <p:nvPr/>
        </p:nvSpPr>
        <p:spPr>
          <a:xfrm>
            <a:off x="1657350" y="3790950"/>
            <a:ext cx="3810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Meeting Follow-up｜会议跟进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D115EC5-C03D-49CE-8639-FE22E62BCC60}"/>
              </a:ext>
            </a:extLst>
          </p:cNvPr>
          <p:cNvSpPr>
            <a:spLocks noGrp="1"/>
          </p:cNvSpPr>
          <p:nvPr/>
        </p:nvSpPr>
        <p:spPr>
          <a:xfrm>
            <a:off x="1657350" y="4219575"/>
            <a:ext cx="39052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把会议内容转为摘要、行动项和跟进邮件。本次讲师示范使用这一案例。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20287981-8A7C-48B0-B006-2353BC74D835}"/>
              </a:ext>
            </a:extLst>
          </p:cNvPr>
          <p:cNvSpPr>
            <a:spLocks noGrp="1"/>
          </p:cNvSpPr>
          <p:nvPr/>
        </p:nvSpPr>
        <p:spPr>
          <a:xfrm>
            <a:off x="6229350" y="3581400"/>
            <a:ext cx="5143500" cy="1562100"/>
          </a:xfrm>
          <a:prstGeom prst="roundRect">
            <a:avLst>
              <a:gd name="adj" fmla="val 7317"/>
            </a:avLst>
          </a:prstGeom>
          <a:solidFill>
            <a:srgbClr val="F6FAFE"/>
          </a:solidFill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D3CA374D-8FEF-4DF1-A755-EF7CC9715240}"/>
              </a:ext>
            </a:extLst>
          </p:cNvPr>
          <p:cNvSpPr>
            <a:spLocks noGrp="1"/>
          </p:cNvSpPr>
          <p:nvPr/>
        </p:nvSpPr>
        <p:spPr>
          <a:xfrm>
            <a:off x="6438900" y="3810000"/>
            <a:ext cx="438150" cy="438150"/>
          </a:xfrm>
          <a:prstGeom prst="ellipse">
            <a:avLst/>
          </a:prstGeom>
          <a:solidFill>
            <a:srgbClr val="003B78"/>
          </a:solidFill>
          <a:ln w="9525">
            <a:solidFill>
              <a:srgbClr val="003B7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63A1533A-17B2-43DD-A1CE-9532379C7EE7}"/>
              </a:ext>
            </a:extLst>
          </p:cNvPr>
          <p:cNvSpPr>
            <a:spLocks noGrp="1"/>
          </p:cNvSpPr>
          <p:nvPr/>
        </p:nvSpPr>
        <p:spPr>
          <a:xfrm>
            <a:off x="6438900" y="3914775"/>
            <a:ext cx="4381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buNone/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7F12F00C-664D-42C6-B997-57E115D215F3}"/>
              </a:ext>
            </a:extLst>
          </p:cNvPr>
          <p:cNvSpPr>
            <a:spLocks noGrp="1"/>
          </p:cNvSpPr>
          <p:nvPr/>
        </p:nvSpPr>
        <p:spPr>
          <a:xfrm>
            <a:off x="7067550" y="3790950"/>
            <a:ext cx="3810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Funnel Data Analyst｜销售分析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84265981-D5B2-4B8F-9C8E-D0AC1FB07A63}"/>
              </a:ext>
            </a:extLst>
          </p:cNvPr>
          <p:cNvSpPr>
            <a:spLocks noGrp="1"/>
          </p:cNvSpPr>
          <p:nvPr/>
        </p:nvSpPr>
        <p:spPr>
          <a:xfrm>
            <a:off x="7067550" y="4219575"/>
            <a:ext cx="39052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分析销售机会数据并解释图表，练习怎样写清筛选条件、输出内容和业务问题。</a:t>
            </a: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2AB1C857-066F-4A1D-AA7C-84AF1B1172F6}"/>
              </a:ext>
            </a:extLst>
          </p:cNvPr>
          <p:cNvSpPr>
            <a:spLocks noGrp="1"/>
          </p:cNvSpPr>
          <p:nvPr/>
        </p:nvSpPr>
        <p:spPr>
          <a:xfrm>
            <a:off x="685800" y="5867400"/>
            <a:ext cx="1143000" cy="342900"/>
          </a:xfrm>
          <a:prstGeom prst="roundRect">
            <a:avLst>
              <a:gd name="adj" fmla="val 33333"/>
            </a:avLst>
          </a:prstGeom>
          <a:solidFill>
            <a:srgbClr val="EAF4FF"/>
          </a:solidFill>
          <a:ln w="9525">
            <a:solidFill>
              <a:srgbClr val="0066CC"/>
            </a:solidFill>
            <a:prstDash val="solid"/>
          </a:ln>
        </p:spPr>
        <p:txBody>
          <a:bodyPr wrap="none" lIns="76200" tIns="0" rIns="76200" bIns="0" anchor="ctr">
            <a:normAutofit/>
          </a:bodyPr>
          <a:lstStyle/>
          <a:p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r:id="rId3"/>
              </a:rPr>
              <a:t>Lab 1  ↗</a:t>
            </a: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5E6F1B44-8F89-41EF-A0BD-21104B9E219E}"/>
              </a:ext>
            </a:extLst>
          </p:cNvPr>
          <p:cNvSpPr>
            <a:spLocks noGrp="1"/>
          </p:cNvSpPr>
          <p:nvPr/>
        </p:nvSpPr>
        <p:spPr>
          <a:xfrm>
            <a:off x="1952625" y="5867400"/>
            <a:ext cx="1143000" cy="342900"/>
          </a:xfrm>
          <a:prstGeom prst="roundRect">
            <a:avLst>
              <a:gd name="adj" fmla="val 33333"/>
            </a:avLst>
          </a:prstGeom>
          <a:solidFill>
            <a:srgbClr val="EAF4FF"/>
          </a:solidFill>
          <a:ln w="9525">
            <a:solidFill>
              <a:srgbClr val="0066CC"/>
            </a:solidFill>
            <a:prstDash val="solid"/>
          </a:ln>
        </p:spPr>
        <p:txBody>
          <a:bodyPr wrap="none" lIns="76200" tIns="0" rIns="76200" bIns="0" anchor="ctr">
            <a:normAutofit/>
          </a:bodyPr>
          <a:lstStyle/>
          <a:p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r:id="rId4"/>
              </a:rPr>
              <a:t>Lab 2  ↗</a:t>
            </a: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E572848D-FC6D-4337-8BDE-D8917D9A13EB}"/>
              </a:ext>
            </a:extLst>
          </p:cNvPr>
          <p:cNvSpPr>
            <a:spLocks noGrp="1"/>
          </p:cNvSpPr>
          <p:nvPr/>
        </p:nvSpPr>
        <p:spPr>
          <a:xfrm>
            <a:off x="3219450" y="5867400"/>
            <a:ext cx="1143000" cy="342900"/>
          </a:xfrm>
          <a:prstGeom prst="roundRect">
            <a:avLst>
              <a:gd name="adj" fmla="val 33333"/>
            </a:avLst>
          </a:prstGeom>
          <a:solidFill>
            <a:srgbClr val="EAF4FF"/>
          </a:solidFill>
          <a:ln w="9525">
            <a:solidFill>
              <a:srgbClr val="0066CC"/>
            </a:solidFill>
            <a:prstDash val="solid"/>
          </a:ln>
        </p:spPr>
        <p:txBody>
          <a:bodyPr wrap="none" lIns="76200" tIns="0" rIns="76200" bIns="0" anchor="ctr">
            <a:normAutofit/>
          </a:bodyPr>
          <a:lstStyle/>
          <a:p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r:id="rId5"/>
              </a:rPr>
              <a:t>Lab 3  ↗</a:t>
            </a: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C299D3BC-4E3E-4796-88CC-15DB999167EF}"/>
              </a:ext>
            </a:extLst>
          </p:cNvPr>
          <p:cNvSpPr>
            <a:spLocks noGrp="1"/>
          </p:cNvSpPr>
          <p:nvPr/>
        </p:nvSpPr>
        <p:spPr>
          <a:xfrm>
            <a:off x="4486275" y="5867400"/>
            <a:ext cx="1143000" cy="342900"/>
          </a:xfrm>
          <a:prstGeom prst="roundRect">
            <a:avLst>
              <a:gd name="adj" fmla="val 33333"/>
            </a:avLst>
          </a:prstGeom>
          <a:solidFill>
            <a:srgbClr val="EAF4FF"/>
          </a:solidFill>
          <a:ln w="9525">
            <a:solidFill>
              <a:srgbClr val="0066CC"/>
            </a:solidFill>
            <a:prstDash val="solid"/>
          </a:ln>
        </p:spPr>
        <p:txBody>
          <a:bodyPr wrap="none" lIns="76200" tIns="0" rIns="76200" bIns="0" anchor="ctr">
            <a:normAutofit/>
          </a:bodyPr>
          <a:lstStyle/>
          <a:p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r:id="rId6"/>
              </a:rPr>
              <a:t>Lab 4  ↗</a:t>
            </a:r>
          </a:p>
        </p:txBody>
      </p:sp>
    </p:spTree>
    <p:extLst>
      <p:ext uri="{BB962C8B-B14F-4D97-AF65-F5344CB8AC3E}">
        <p14:creationId xmlns:p14="http://schemas.microsoft.com/office/powerpoint/2010/main" val="170227495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2C45E095-33C1-4667-9E3C-786E9BB5D00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0066CC"/>
          </a:solidFill>
          <a:ln w="9525">
            <a:solidFill>
              <a:srgbClr val="0066C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8DDE9ED-6D29-42C4-9D5A-2F7AAF554E6C}"/>
              </a:ext>
            </a:extLst>
          </p:cNvPr>
          <p:cNvSpPr>
            <a:spLocks noGrp="1"/>
          </p:cNvSpPr>
          <p:nvPr/>
        </p:nvSpPr>
        <p:spPr>
          <a:xfrm>
            <a:off x="685800" y="285750"/>
            <a:ext cx="5048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05 Agent Builder 动手 Lab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17C2201-87BD-431B-A7B0-8E155AF6A191}"/>
              </a:ext>
            </a:extLst>
          </p:cNvPr>
          <p:cNvSpPr>
            <a:spLocks noGrp="1"/>
          </p:cNvSpPr>
          <p:nvPr/>
        </p:nvSpPr>
        <p:spPr>
          <a:xfrm>
            <a:off x="685800" y="638175"/>
            <a:ext cx="108204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Lab 01｜Chief of Staff：整理日程、优先级和会议准备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54082F4-D5A9-46D9-9DB9-3313404502C8}"/>
              </a:ext>
            </a:extLst>
          </p:cNvPr>
          <p:cNvSpPr>
            <a:spLocks noGrp="1"/>
          </p:cNvSpPr>
          <p:nvPr/>
        </p:nvSpPr>
        <p:spPr>
          <a:xfrm>
            <a:off x="685800" y="1181100"/>
            <a:ext cx="108204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主提示让 Agent 查看当天日历、安排优先级、找出时间冲突，并为重要会议准备 2–3 个谈话要点。下方三个常用快捷问题分别对应日历、紧急事项和今日重点。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D6AE9BB-0C6A-438A-B268-A325FAE6C56D}"/>
              </a:ext>
            </a:extLst>
          </p:cNvPr>
          <p:cNvSpPr>
            <a:spLocks noGrp="1"/>
          </p:cNvSpPr>
          <p:nvPr/>
        </p:nvSpPr>
        <p:spPr>
          <a:xfrm>
            <a:off x="11049000" y="6438900"/>
            <a:ext cx="4572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35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E4E398F-FC99-497F-83F7-EAB0890BE617}"/>
              </a:ext>
            </a:extLst>
          </p:cNvPr>
          <p:cNvSpPr>
            <a:spLocks noGrp="1"/>
          </p:cNvSpPr>
          <p:nvPr/>
        </p:nvSpPr>
        <p:spPr>
          <a:xfrm>
            <a:off x="685800" y="6334125"/>
            <a:ext cx="10820400" cy="9525"/>
          </a:xfrm>
          <a:prstGeom prst="rect">
            <a:avLst/>
          </a:prstGeom>
          <a:solidFill>
            <a:srgbClr val="C9DDF2"/>
          </a:solidFill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21" name="Picture 20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85800" y="1789939"/>
            <a:ext cx="6686550" cy="3659122"/>
          </a:xfrm>
          <a:prstGeom prst="roundRect">
            <a:avLst>
              <a:gd name="adj" fmla="val 3077"/>
            </a:avLst>
          </a:prstGeom>
        </p:spPr>
      </p:pic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5D1123CA-C939-4582-BADB-84FC2C27EF2F}"/>
              </a:ext>
            </a:extLst>
          </p:cNvPr>
          <p:cNvSpPr>
            <a:spLocks noGrp="1"/>
          </p:cNvSpPr>
          <p:nvPr/>
        </p:nvSpPr>
        <p:spPr>
          <a:xfrm>
            <a:off x="666750" y="1743075"/>
            <a:ext cx="6724650" cy="3752850"/>
          </a:xfrm>
          <a:prstGeom prst="roundRect">
            <a:avLst>
              <a:gd name="adj" fmla="val 3046"/>
            </a:avLst>
          </a:prstGeom>
          <a:noFill/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6FC96A47-ABD9-4C67-B195-98BD92D19044}"/>
              </a:ext>
            </a:extLst>
          </p:cNvPr>
          <p:cNvSpPr>
            <a:spLocks noGrp="1"/>
          </p:cNvSpPr>
          <p:nvPr/>
        </p:nvSpPr>
        <p:spPr>
          <a:xfrm>
            <a:off x="7620000" y="1762125"/>
            <a:ext cx="3886200" cy="3714750"/>
          </a:xfrm>
          <a:prstGeom prst="roundRect">
            <a:avLst>
              <a:gd name="adj" fmla="val 3077"/>
            </a:avLst>
          </a:prstGeom>
          <a:solidFill>
            <a:srgbClr val="F6FAFE"/>
          </a:solidFill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41377B9-E55D-4691-B5C9-AC565D73F69B}"/>
              </a:ext>
            </a:extLst>
          </p:cNvPr>
          <p:cNvSpPr>
            <a:spLocks noGrp="1"/>
          </p:cNvSpPr>
          <p:nvPr/>
        </p:nvSpPr>
        <p:spPr>
          <a:xfrm>
            <a:off x="7848600" y="1971675"/>
            <a:ext cx="3429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关键内容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C61F408-046A-409A-A402-9D6F454B9473}"/>
              </a:ext>
            </a:extLst>
          </p:cNvPr>
          <p:cNvSpPr>
            <a:spLocks noGrp="1"/>
          </p:cNvSpPr>
          <p:nvPr/>
        </p:nvSpPr>
        <p:spPr>
          <a:xfrm>
            <a:off x="7848600" y="2390775"/>
            <a:ext cx="3429000" cy="2876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rmAutofit/>
          </a:bodyPr>
          <a:lstStyle/>
          <a:p>
            <a:pPr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首先明确输入范围：日历、紧急事项和当前目标，Agent 会结合时间冲突与任务重要性进行整理。</a:t>
            </a:r>
          </a:p>
          <a:p>
            <a:endParaRPr sz="1200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>
            <a:pPr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接着按照处理规则，区分必须今天处理、可推迟和需要协调的事项，并为重要会议补充目标、风险与谈话要点。</a:t>
            </a:r>
          </a:p>
          <a:p>
            <a:endParaRPr sz="1200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>
            <a:pPr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因此你会看到带理由的优先级、清楚标出的时间冲突，以及可直接用于当天安排的建议。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789B0342-DBEB-4098-868D-1194F5B6C6E8}"/>
              </a:ext>
            </a:extLst>
          </p:cNvPr>
          <p:cNvSpPr>
            <a:spLocks noGrp="1"/>
          </p:cNvSpPr>
          <p:nvPr/>
        </p:nvSpPr>
        <p:spPr>
          <a:xfrm>
            <a:off x="685800" y="5867400"/>
            <a:ext cx="2190750" cy="342900"/>
          </a:xfrm>
          <a:prstGeom prst="roundRect">
            <a:avLst>
              <a:gd name="adj" fmla="val 33333"/>
            </a:avLst>
          </a:prstGeom>
          <a:solidFill>
            <a:srgbClr val="EAF4FF"/>
          </a:solidFill>
          <a:ln w="9525">
            <a:solidFill>
              <a:srgbClr val="0066CC"/>
            </a:solidFill>
            <a:prstDash val="solid"/>
          </a:ln>
        </p:spPr>
        <p:txBody>
          <a:bodyPr wrap="none" lIns="76200" tIns="0" rIns="76200" bIns="0" anchor="ctr">
            <a:normAutofit/>
          </a:bodyPr>
          <a:lstStyle/>
          <a:p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r:id="rId4"/>
              </a:rPr>
              <a:t>打开 Lab 01  ↗</a:t>
            </a:r>
          </a:p>
        </p:txBody>
      </p:sp>
    </p:spTree>
    <p:extLst>
      <p:ext uri="{BB962C8B-B14F-4D97-AF65-F5344CB8AC3E}">
        <p14:creationId xmlns:p14="http://schemas.microsoft.com/office/powerpoint/2010/main" val="7822297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8AE608E7-0248-4C1A-AFF3-DCD4B8CB71A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0066CC"/>
          </a:solidFill>
          <a:ln w="9525">
            <a:solidFill>
              <a:srgbClr val="0066C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B0297DA-9675-47FA-816E-6939C5A18800}"/>
              </a:ext>
            </a:extLst>
          </p:cNvPr>
          <p:cNvSpPr>
            <a:spLocks noGrp="1"/>
          </p:cNvSpPr>
          <p:nvPr/>
        </p:nvSpPr>
        <p:spPr>
          <a:xfrm>
            <a:off x="685800" y="285750"/>
            <a:ext cx="5048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05 Agent Builder 动手 Lab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E6E4A16-13FA-4CAC-956F-85703E248959}"/>
              </a:ext>
            </a:extLst>
          </p:cNvPr>
          <p:cNvSpPr>
            <a:spLocks noGrp="1"/>
          </p:cNvSpPr>
          <p:nvPr/>
        </p:nvSpPr>
        <p:spPr>
          <a:xfrm>
            <a:off x="685800" y="638175"/>
            <a:ext cx="108204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Lab 02｜Product Manual FAQ：回答必须来自产品资料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F0A721D-EF62-4F8A-B365-65B060B41CFB}"/>
              </a:ext>
            </a:extLst>
          </p:cNvPr>
          <p:cNvSpPr>
            <a:spLocks noGrp="1"/>
          </p:cNvSpPr>
          <p:nvPr/>
        </p:nvSpPr>
        <p:spPr>
          <a:xfrm>
            <a:off x="685800" y="1181100"/>
            <a:ext cx="108204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这个示例根据已提供的 MR 5300 产品资料回答销售问题。回答先给出要点，再解释适合客户沟通的产品价值，并在具体规格旁显示资料来源。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8D73FF0-ED35-449C-BC7D-DE062083025C}"/>
              </a:ext>
            </a:extLst>
          </p:cNvPr>
          <p:cNvSpPr>
            <a:spLocks noGrp="1"/>
          </p:cNvSpPr>
          <p:nvPr/>
        </p:nvSpPr>
        <p:spPr>
          <a:xfrm>
            <a:off x="11049000" y="6438900"/>
            <a:ext cx="4572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36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8F7959F-7A17-4221-9C6C-A37308178B46}"/>
              </a:ext>
            </a:extLst>
          </p:cNvPr>
          <p:cNvSpPr>
            <a:spLocks noGrp="1"/>
          </p:cNvSpPr>
          <p:nvPr/>
        </p:nvSpPr>
        <p:spPr>
          <a:xfrm>
            <a:off x="685800" y="6334125"/>
            <a:ext cx="10820400" cy="9525"/>
          </a:xfrm>
          <a:prstGeom prst="rect">
            <a:avLst/>
          </a:prstGeom>
          <a:solidFill>
            <a:srgbClr val="C9DDF2"/>
          </a:solidFill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21" name="Picture 20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967658" y="1762125"/>
            <a:ext cx="6122833" cy="3714750"/>
          </a:xfrm>
          <a:prstGeom prst="roundRect">
            <a:avLst>
              <a:gd name="adj" fmla="val 3077"/>
            </a:avLst>
          </a:prstGeom>
        </p:spPr>
      </p:pic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3E732013-C854-4676-B63A-042B34D78D26}"/>
              </a:ext>
            </a:extLst>
          </p:cNvPr>
          <p:cNvSpPr>
            <a:spLocks noGrp="1"/>
          </p:cNvSpPr>
          <p:nvPr/>
        </p:nvSpPr>
        <p:spPr>
          <a:xfrm>
            <a:off x="666750" y="1743075"/>
            <a:ext cx="6724650" cy="3752850"/>
          </a:xfrm>
          <a:prstGeom prst="roundRect">
            <a:avLst>
              <a:gd name="adj" fmla="val 3046"/>
            </a:avLst>
          </a:prstGeom>
          <a:noFill/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003E8245-212C-42A4-A53F-6D8C26911AEE}"/>
              </a:ext>
            </a:extLst>
          </p:cNvPr>
          <p:cNvSpPr>
            <a:spLocks noGrp="1"/>
          </p:cNvSpPr>
          <p:nvPr/>
        </p:nvSpPr>
        <p:spPr>
          <a:xfrm>
            <a:off x="7620000" y="1762125"/>
            <a:ext cx="3886200" cy="3714750"/>
          </a:xfrm>
          <a:prstGeom prst="roundRect">
            <a:avLst>
              <a:gd name="adj" fmla="val 3077"/>
            </a:avLst>
          </a:prstGeom>
          <a:solidFill>
            <a:srgbClr val="F6FAFE"/>
          </a:solidFill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E0364BE-0BF1-4F18-A4D7-EFB2C0FB53E3}"/>
              </a:ext>
            </a:extLst>
          </p:cNvPr>
          <p:cNvSpPr>
            <a:spLocks noGrp="1"/>
          </p:cNvSpPr>
          <p:nvPr/>
        </p:nvSpPr>
        <p:spPr>
          <a:xfrm>
            <a:off x="7848600" y="1971675"/>
            <a:ext cx="3429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关键内容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127F942-ACFC-4D19-AF45-236EA1D1CBE4}"/>
              </a:ext>
            </a:extLst>
          </p:cNvPr>
          <p:cNvSpPr>
            <a:spLocks noGrp="1"/>
          </p:cNvSpPr>
          <p:nvPr/>
        </p:nvSpPr>
        <p:spPr>
          <a:xfrm>
            <a:off x="7848600" y="2390775"/>
            <a:ext cx="3429000" cy="2876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rmAutofit/>
          </a:bodyPr>
          <a:lstStyle/>
          <a:p>
            <a:pPr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首先明确任务边界：只依据已加载的产品手册回答，不把模型常识、营销想象或其他产品信息混入答案。</a:t>
            </a:r>
          </a:p>
          <a:p>
            <a:endParaRPr sz="1200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>
            <a:pPr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在此基础上组织回答：先概括减少氦气维护、AI 辅助工作流、成像质量和长期使用成本等卖点，再把规格转化为客户价值。</a:t>
            </a:r>
          </a:p>
          <a:p>
            <a:endParaRPr sz="1200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>
            <a:pPr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最后检查来源：关键规格旁应显示资料出处；如果资料未覆盖或版本不同，回答要直接说明当前无法确认。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E9C7264B-03A3-4447-8774-352F9B8253C8}"/>
              </a:ext>
            </a:extLst>
          </p:cNvPr>
          <p:cNvSpPr>
            <a:spLocks noGrp="1"/>
          </p:cNvSpPr>
          <p:nvPr/>
        </p:nvSpPr>
        <p:spPr>
          <a:xfrm>
            <a:off x="685800" y="5867400"/>
            <a:ext cx="2190750" cy="342900"/>
          </a:xfrm>
          <a:prstGeom prst="roundRect">
            <a:avLst>
              <a:gd name="adj" fmla="val 33333"/>
            </a:avLst>
          </a:prstGeom>
          <a:solidFill>
            <a:srgbClr val="EAF4FF"/>
          </a:solidFill>
          <a:ln w="9525">
            <a:solidFill>
              <a:srgbClr val="0066CC"/>
            </a:solidFill>
            <a:prstDash val="solid"/>
          </a:ln>
        </p:spPr>
        <p:txBody>
          <a:bodyPr wrap="none" lIns="76200" tIns="0" rIns="76200" bIns="0" anchor="ctr">
            <a:normAutofit/>
          </a:bodyPr>
          <a:lstStyle/>
          <a:p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r:id="rId4"/>
              </a:rPr>
              <a:t>打开 Lab 02  ↗</a:t>
            </a:r>
          </a:p>
        </p:txBody>
      </p:sp>
    </p:spTree>
    <p:extLst>
      <p:ext uri="{BB962C8B-B14F-4D97-AF65-F5344CB8AC3E}">
        <p14:creationId xmlns:p14="http://schemas.microsoft.com/office/powerpoint/2010/main" val="174941544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96CA0BD5-7F49-4339-B192-0556A9486AF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0066CC"/>
          </a:solidFill>
          <a:ln w="9525">
            <a:solidFill>
              <a:srgbClr val="0066C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04555D7-F3CB-49DB-9AC9-B48F7F3D4B74}"/>
              </a:ext>
            </a:extLst>
          </p:cNvPr>
          <p:cNvSpPr>
            <a:spLocks noGrp="1"/>
          </p:cNvSpPr>
          <p:nvPr/>
        </p:nvSpPr>
        <p:spPr>
          <a:xfrm>
            <a:off x="685800" y="285750"/>
            <a:ext cx="5048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05 Agent Builder 动手 Lab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FFD88EF-FA3A-4889-936A-BF126DB21E32}"/>
              </a:ext>
            </a:extLst>
          </p:cNvPr>
          <p:cNvSpPr>
            <a:spLocks noGrp="1"/>
          </p:cNvSpPr>
          <p:nvPr/>
        </p:nvSpPr>
        <p:spPr>
          <a:xfrm>
            <a:off x="685800" y="638175"/>
            <a:ext cx="108204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Lab 03｜Meeting Follow-up Assistant：用模板整理会议结果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A20BA6E-B53F-4A2E-A987-C2711F640DBB}"/>
              </a:ext>
            </a:extLst>
          </p:cNvPr>
          <p:cNvSpPr>
            <a:spLocks noGrp="1"/>
          </p:cNvSpPr>
          <p:nvPr/>
        </p:nvSpPr>
        <p:spPr>
          <a:xfrm>
            <a:off x="685800" y="1181100"/>
            <a:ext cx="108204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画面右侧要求 Agent 根据 Mail Template 生成管理层简报，并按背景、决定、风险、需要支持和下一步组织内容；输出注明使用了 Mail Template CN.docx 中的管理层摘要模板。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159ADC1-4A30-4055-86E0-34F5695335CE}"/>
              </a:ext>
            </a:extLst>
          </p:cNvPr>
          <p:cNvSpPr>
            <a:spLocks noGrp="1"/>
          </p:cNvSpPr>
          <p:nvPr/>
        </p:nvSpPr>
        <p:spPr>
          <a:xfrm>
            <a:off x="11049000" y="6438900"/>
            <a:ext cx="4572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37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955A24E-EB4D-4550-9E33-33AB5EBFDE68}"/>
              </a:ext>
            </a:extLst>
          </p:cNvPr>
          <p:cNvSpPr>
            <a:spLocks noGrp="1"/>
          </p:cNvSpPr>
          <p:nvPr/>
        </p:nvSpPr>
        <p:spPr>
          <a:xfrm>
            <a:off x="685800" y="6334125"/>
            <a:ext cx="10820400" cy="9525"/>
          </a:xfrm>
          <a:prstGeom prst="rect">
            <a:avLst/>
          </a:prstGeom>
          <a:solidFill>
            <a:srgbClr val="C9DDF2"/>
          </a:solidFill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21" name="Picture 20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85800" y="1778668"/>
            <a:ext cx="6686550" cy="3681663"/>
          </a:xfrm>
          <a:prstGeom prst="roundRect">
            <a:avLst>
              <a:gd name="adj" fmla="val 3077"/>
            </a:avLst>
          </a:prstGeom>
        </p:spPr>
      </p:pic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7FA24A7D-0A16-4EB2-BB4D-34BE092AA38D}"/>
              </a:ext>
            </a:extLst>
          </p:cNvPr>
          <p:cNvSpPr>
            <a:spLocks noGrp="1"/>
          </p:cNvSpPr>
          <p:nvPr/>
        </p:nvSpPr>
        <p:spPr>
          <a:xfrm>
            <a:off x="666750" y="1743075"/>
            <a:ext cx="6724650" cy="3752850"/>
          </a:xfrm>
          <a:prstGeom prst="roundRect">
            <a:avLst>
              <a:gd name="adj" fmla="val 3046"/>
            </a:avLst>
          </a:prstGeom>
          <a:noFill/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BBE6E45E-00BD-4922-B9BB-7CDA8364CE13}"/>
              </a:ext>
            </a:extLst>
          </p:cNvPr>
          <p:cNvSpPr>
            <a:spLocks noGrp="1"/>
          </p:cNvSpPr>
          <p:nvPr/>
        </p:nvSpPr>
        <p:spPr>
          <a:xfrm>
            <a:off x="7620000" y="1762125"/>
            <a:ext cx="3886200" cy="3714750"/>
          </a:xfrm>
          <a:prstGeom prst="roundRect">
            <a:avLst>
              <a:gd name="adj" fmla="val 3077"/>
            </a:avLst>
          </a:prstGeom>
          <a:solidFill>
            <a:srgbClr val="F6FAFE"/>
          </a:solidFill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41686EE-0787-4552-B94E-1560562FEEBB}"/>
              </a:ext>
            </a:extLst>
          </p:cNvPr>
          <p:cNvSpPr>
            <a:spLocks noGrp="1"/>
          </p:cNvSpPr>
          <p:nvPr/>
        </p:nvSpPr>
        <p:spPr>
          <a:xfrm>
            <a:off x="7848600" y="1971675"/>
            <a:ext cx="3429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关键内容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A0157F7-91ED-4B1F-A716-5DEBA1A7E47B}"/>
              </a:ext>
            </a:extLst>
          </p:cNvPr>
          <p:cNvSpPr>
            <a:spLocks noGrp="1"/>
          </p:cNvSpPr>
          <p:nvPr/>
        </p:nvSpPr>
        <p:spPr>
          <a:xfrm>
            <a:off x="7848600" y="2390775"/>
            <a:ext cx="3429000" cy="2876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rmAutofit/>
          </a:bodyPr>
          <a:lstStyle/>
          <a:p>
            <a:pPr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首先提供原始会议内容、阅读对象和所需栏目，并要求标出尚未确认的信息，避免只生成普通会议摘要。</a:t>
            </a:r>
          </a:p>
          <a:p>
            <a:endParaRPr sz="1200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>
            <a:pPr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接着加入邮件模板作为参考资料，让不同会议沿用相同的管理层汇报结构和语言风格。</a:t>
            </a:r>
          </a:p>
          <a:p>
            <a:endParaRPr sz="1200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>
            <a:pPr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最终结果要把决策与讨论分开，行动项带负责人和时间，尚未确定的产品演示继续标记为待确认。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B8507C14-9ABB-4C9F-9062-2F6EC8782DA9}"/>
              </a:ext>
            </a:extLst>
          </p:cNvPr>
          <p:cNvSpPr>
            <a:spLocks noGrp="1"/>
          </p:cNvSpPr>
          <p:nvPr/>
        </p:nvSpPr>
        <p:spPr>
          <a:xfrm>
            <a:off x="685800" y="5867400"/>
            <a:ext cx="2190750" cy="342900"/>
          </a:xfrm>
          <a:prstGeom prst="roundRect">
            <a:avLst>
              <a:gd name="adj" fmla="val 33333"/>
            </a:avLst>
          </a:prstGeom>
          <a:solidFill>
            <a:srgbClr val="EAF4FF"/>
          </a:solidFill>
          <a:ln w="9525">
            <a:solidFill>
              <a:srgbClr val="0066CC"/>
            </a:solidFill>
            <a:prstDash val="solid"/>
          </a:ln>
        </p:spPr>
        <p:txBody>
          <a:bodyPr wrap="none" lIns="76200" tIns="0" rIns="76200" bIns="0" anchor="ctr">
            <a:normAutofit/>
          </a:bodyPr>
          <a:lstStyle/>
          <a:p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r:id="rId4"/>
              </a:rPr>
              <a:t>打开讲师示范 Lab 03  ↗</a:t>
            </a:r>
          </a:p>
        </p:txBody>
      </p:sp>
    </p:spTree>
    <p:extLst>
      <p:ext uri="{BB962C8B-B14F-4D97-AF65-F5344CB8AC3E}">
        <p14:creationId xmlns:p14="http://schemas.microsoft.com/office/powerpoint/2010/main" val="130042067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3A707AD7-41F3-4A41-B42D-50A10E2FFD6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0066CC"/>
          </a:solidFill>
          <a:ln w="9525">
            <a:solidFill>
              <a:srgbClr val="0066C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D6F52B6-D251-47E4-8AC8-0C52F5B288C5}"/>
              </a:ext>
            </a:extLst>
          </p:cNvPr>
          <p:cNvSpPr>
            <a:spLocks noGrp="1"/>
          </p:cNvSpPr>
          <p:nvPr/>
        </p:nvSpPr>
        <p:spPr>
          <a:xfrm>
            <a:off x="685800" y="285750"/>
            <a:ext cx="5048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05 Agent Builder 动手 Lab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BFFAC17-9BE2-4CC8-B9DF-B9E479FD26DF}"/>
              </a:ext>
            </a:extLst>
          </p:cNvPr>
          <p:cNvSpPr>
            <a:spLocks noGrp="1"/>
          </p:cNvSpPr>
          <p:nvPr/>
        </p:nvSpPr>
        <p:spPr>
          <a:xfrm>
            <a:off x="685800" y="638175"/>
            <a:ext cx="108204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Lab 04｜Funnel Data Analyst：先说清筛选条件，再解释销售图表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3977783-C2D0-46A5-94C4-CCF16C218714}"/>
              </a:ext>
            </a:extLst>
          </p:cNvPr>
          <p:cNvSpPr>
            <a:spLocks noGrp="1"/>
          </p:cNvSpPr>
          <p:nvPr/>
        </p:nvSpPr>
        <p:spPr>
          <a:xfrm>
            <a:off x="685800" y="1181100"/>
            <a:ext cx="108204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这是一个销售机会数据分析示例。提示词限定 East 区域和 MR 业务单元，要求按预测类别统计金额，并以百万美元为单位展示柱状图。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3B9E637-C2F2-421B-86C1-4A9039EA3635}"/>
              </a:ext>
            </a:extLst>
          </p:cNvPr>
          <p:cNvSpPr>
            <a:spLocks noGrp="1"/>
          </p:cNvSpPr>
          <p:nvPr/>
        </p:nvSpPr>
        <p:spPr>
          <a:xfrm>
            <a:off x="11049000" y="6438900"/>
            <a:ext cx="4572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38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E025A2C-0FC4-4BD7-9524-35F88DBAF814}"/>
              </a:ext>
            </a:extLst>
          </p:cNvPr>
          <p:cNvSpPr>
            <a:spLocks noGrp="1"/>
          </p:cNvSpPr>
          <p:nvPr/>
        </p:nvSpPr>
        <p:spPr>
          <a:xfrm>
            <a:off x="685800" y="6334125"/>
            <a:ext cx="10820400" cy="9525"/>
          </a:xfrm>
          <a:prstGeom prst="rect">
            <a:avLst/>
          </a:prstGeom>
          <a:solidFill>
            <a:srgbClr val="C9DDF2"/>
          </a:solidFill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21" name="Picture 20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926301" y="1762125"/>
            <a:ext cx="6205548" cy="3714750"/>
          </a:xfrm>
          <a:prstGeom prst="roundRect">
            <a:avLst>
              <a:gd name="adj" fmla="val 3077"/>
            </a:avLst>
          </a:prstGeom>
        </p:spPr>
      </p:pic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EEC2CDB1-414F-4D99-8109-DA27670C71AB}"/>
              </a:ext>
            </a:extLst>
          </p:cNvPr>
          <p:cNvSpPr>
            <a:spLocks noGrp="1"/>
          </p:cNvSpPr>
          <p:nvPr/>
        </p:nvSpPr>
        <p:spPr>
          <a:xfrm>
            <a:off x="666750" y="1743075"/>
            <a:ext cx="6724650" cy="3752850"/>
          </a:xfrm>
          <a:prstGeom prst="roundRect">
            <a:avLst>
              <a:gd name="adj" fmla="val 3046"/>
            </a:avLst>
          </a:prstGeom>
          <a:noFill/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1D5E17FB-F33C-4640-94EC-F7FBC1BCEE52}"/>
              </a:ext>
            </a:extLst>
          </p:cNvPr>
          <p:cNvSpPr>
            <a:spLocks noGrp="1"/>
          </p:cNvSpPr>
          <p:nvPr/>
        </p:nvSpPr>
        <p:spPr>
          <a:xfrm>
            <a:off x="7620000" y="1762125"/>
            <a:ext cx="3886200" cy="3714750"/>
          </a:xfrm>
          <a:prstGeom prst="roundRect">
            <a:avLst>
              <a:gd name="adj" fmla="val 3077"/>
            </a:avLst>
          </a:prstGeom>
          <a:solidFill>
            <a:srgbClr val="F6FAFE"/>
          </a:solidFill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302C8A5-6DFC-4DC6-BBC1-B3C73FCAB319}"/>
              </a:ext>
            </a:extLst>
          </p:cNvPr>
          <p:cNvSpPr>
            <a:spLocks noGrp="1"/>
          </p:cNvSpPr>
          <p:nvPr/>
        </p:nvSpPr>
        <p:spPr>
          <a:xfrm>
            <a:off x="7848600" y="1971675"/>
            <a:ext cx="3429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关键内容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B9F0018-594E-424A-B69E-30016854D0D8}"/>
              </a:ext>
            </a:extLst>
          </p:cNvPr>
          <p:cNvSpPr>
            <a:spLocks noGrp="1"/>
          </p:cNvSpPr>
          <p:nvPr/>
        </p:nvSpPr>
        <p:spPr>
          <a:xfrm>
            <a:off x="7848600" y="2390775"/>
            <a:ext cx="3429000" cy="2876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rmAutofit/>
          </a:bodyPr>
          <a:lstStyle/>
          <a:p>
            <a:pPr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首先理解类别：Omitted 是暂未纳入预测的机会，Pipeline 是仍在推进的机会，Best Case 是较乐观的预期，Commit 是团队承诺的预期，Closed 是已经关闭的机会。</a:t>
            </a:r>
          </a:p>
          <a:p>
            <a:endParaRPr sz="1200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>
            <a:pPr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从图上可以观察到 Omitted 最高、Pipeline 第二；不过图表只能说明金额分布，不能直接解释差异原因。</a:t>
            </a:r>
          </a:p>
          <a:p>
            <a:endParaRPr sz="1200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>
            <a:pPr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因此下一步要让 Agent 列出筛选条件、明显异常和待确认问题，例如 Omitted 由哪些机会组成、停留多久，以及其他区域是否相同。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D788CF16-3447-4672-85CB-3DE4C8AE3DDB}"/>
              </a:ext>
            </a:extLst>
          </p:cNvPr>
          <p:cNvSpPr>
            <a:spLocks noGrp="1"/>
          </p:cNvSpPr>
          <p:nvPr/>
        </p:nvSpPr>
        <p:spPr>
          <a:xfrm>
            <a:off x="685800" y="5867400"/>
            <a:ext cx="2190750" cy="342900"/>
          </a:xfrm>
          <a:prstGeom prst="roundRect">
            <a:avLst>
              <a:gd name="adj" fmla="val 33333"/>
            </a:avLst>
          </a:prstGeom>
          <a:solidFill>
            <a:srgbClr val="EAF4FF"/>
          </a:solidFill>
          <a:ln w="9525">
            <a:solidFill>
              <a:srgbClr val="0066CC"/>
            </a:solidFill>
            <a:prstDash val="solid"/>
          </a:ln>
        </p:spPr>
        <p:txBody>
          <a:bodyPr wrap="none" lIns="76200" tIns="0" rIns="76200" bIns="0" anchor="ctr">
            <a:normAutofit/>
          </a:bodyPr>
          <a:lstStyle/>
          <a:p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r:id="rId4"/>
              </a:rPr>
              <a:t>打开 Lab 04  ↗</a:t>
            </a:r>
          </a:p>
        </p:txBody>
      </p:sp>
    </p:spTree>
    <p:extLst>
      <p:ext uri="{BB962C8B-B14F-4D97-AF65-F5344CB8AC3E}">
        <p14:creationId xmlns:p14="http://schemas.microsoft.com/office/powerpoint/2010/main" val="198676240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Rectangle 37">
            <a:extLst>
              <a:ext uri="{FF2B5EF4-FFF2-40B4-BE49-F238E27FC236}">
                <a16:creationId xmlns:a16="http://schemas.microsoft.com/office/drawing/2014/main" id="{777636E8-C8A3-4F3B-9891-9ADEAF91397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0066CC"/>
          </a:solidFill>
          <a:ln w="9525">
            <a:solidFill>
              <a:srgbClr val="0066C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7785165-E146-4244-939A-46AAD98285B3}"/>
              </a:ext>
            </a:extLst>
          </p:cNvPr>
          <p:cNvSpPr>
            <a:spLocks noGrp="1"/>
          </p:cNvSpPr>
          <p:nvPr/>
        </p:nvSpPr>
        <p:spPr>
          <a:xfrm>
            <a:off x="685800" y="285750"/>
            <a:ext cx="5048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05 Agent Builder 动手 Lab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B7C41A4-002E-4FB6-90AC-441D06ECE3E3}"/>
              </a:ext>
            </a:extLst>
          </p:cNvPr>
          <p:cNvSpPr>
            <a:spLocks noGrp="1"/>
          </p:cNvSpPr>
          <p:nvPr/>
        </p:nvSpPr>
        <p:spPr>
          <a:xfrm>
            <a:off x="685800" y="638175"/>
            <a:ext cx="108204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构建一个 Agent 的六步通用方法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68E832F-3EAB-46B1-95C1-9C89493E5D0C}"/>
              </a:ext>
            </a:extLst>
          </p:cNvPr>
          <p:cNvSpPr>
            <a:spLocks noGrp="1"/>
          </p:cNvSpPr>
          <p:nvPr/>
        </p:nvSpPr>
        <p:spPr>
          <a:xfrm>
            <a:off x="685800" y="1181100"/>
            <a:ext cx="108204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四个 Lab 都沿用同一条路径：新建 Agent、选择构建方式、填写名称和工作规则、添加参考资料、设置常用快捷问题，最后试运行并调整。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B352D39-DE42-424D-B21D-84294E0209B7}"/>
              </a:ext>
            </a:extLst>
          </p:cNvPr>
          <p:cNvSpPr>
            <a:spLocks noGrp="1"/>
          </p:cNvSpPr>
          <p:nvPr/>
        </p:nvSpPr>
        <p:spPr>
          <a:xfrm>
            <a:off x="11049000" y="6438900"/>
            <a:ext cx="4572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39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D246A0E-C5FA-437C-B661-6332E4477567}"/>
              </a:ext>
            </a:extLst>
          </p:cNvPr>
          <p:cNvSpPr>
            <a:spLocks noGrp="1"/>
          </p:cNvSpPr>
          <p:nvPr/>
        </p:nvSpPr>
        <p:spPr>
          <a:xfrm>
            <a:off x="685800" y="6334125"/>
            <a:ext cx="10820400" cy="9525"/>
          </a:xfrm>
          <a:prstGeom prst="rect">
            <a:avLst/>
          </a:prstGeom>
          <a:solidFill>
            <a:srgbClr val="C9DDF2"/>
          </a:solidFill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69169182-EFC3-4FB8-BCCD-DF56AC03B625}"/>
              </a:ext>
            </a:extLst>
          </p:cNvPr>
          <p:cNvSpPr>
            <a:spLocks noGrp="1"/>
          </p:cNvSpPr>
          <p:nvPr/>
        </p:nvSpPr>
        <p:spPr>
          <a:xfrm>
            <a:off x="590550" y="2286000"/>
            <a:ext cx="1657350" cy="1676400"/>
          </a:xfrm>
          <a:prstGeom prst="roundRect">
            <a:avLst>
              <a:gd name="adj" fmla="val 6897"/>
            </a:avLst>
          </a:prstGeom>
          <a:solidFill>
            <a:srgbClr val="F6FAFE"/>
          </a:solidFill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0578186E-1053-4F44-97A3-2A8062596A19}"/>
              </a:ext>
            </a:extLst>
          </p:cNvPr>
          <p:cNvSpPr>
            <a:spLocks noGrp="1"/>
          </p:cNvSpPr>
          <p:nvPr/>
        </p:nvSpPr>
        <p:spPr>
          <a:xfrm>
            <a:off x="1162050" y="2476500"/>
            <a:ext cx="514350" cy="514350"/>
          </a:xfrm>
          <a:prstGeom prst="ellipse">
            <a:avLst/>
          </a:prstGeom>
          <a:solidFill>
            <a:srgbClr val="0066CC"/>
          </a:solidFill>
          <a:ln w="9525">
            <a:solidFill>
              <a:srgbClr val="0066C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D654587-1BE4-4AC0-B414-1DEB0E2CB234}"/>
              </a:ext>
            </a:extLst>
          </p:cNvPr>
          <p:cNvSpPr>
            <a:spLocks noGrp="1"/>
          </p:cNvSpPr>
          <p:nvPr/>
        </p:nvSpPr>
        <p:spPr>
          <a:xfrm>
            <a:off x="1162050" y="2609850"/>
            <a:ext cx="5143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buNone/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19DD2DA-0ED1-41A9-BF0C-1C25524CD669}"/>
              </a:ext>
            </a:extLst>
          </p:cNvPr>
          <p:cNvSpPr>
            <a:spLocks noGrp="1"/>
          </p:cNvSpPr>
          <p:nvPr/>
        </p:nvSpPr>
        <p:spPr>
          <a:xfrm>
            <a:off x="762000" y="3219450"/>
            <a:ext cx="13144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buNone/>
              <a:def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进入 Agents</a:t>
            </a:r>
          </a:p>
          <a:p>
            <a:pPr algn="ctr">
              <a:buNone/>
              <a:def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并新建</a:t>
            </a:r>
          </a:p>
        </p:txBody>
      </p:sp>
      <p:sp>
        <p:nvSpPr>
          <p:cNvPr id="11" name="Arrow: Chevron 10">
            <a:extLst>
              <a:ext uri="{FF2B5EF4-FFF2-40B4-BE49-F238E27FC236}">
                <a16:creationId xmlns:a16="http://schemas.microsoft.com/office/drawing/2014/main" id="{CC358ED7-963D-4E8E-B530-E63411EC4550}"/>
              </a:ext>
            </a:extLst>
          </p:cNvPr>
          <p:cNvSpPr>
            <a:spLocks noGrp="1"/>
          </p:cNvSpPr>
          <p:nvPr/>
        </p:nvSpPr>
        <p:spPr>
          <a:xfrm>
            <a:off x="2266950" y="2905125"/>
            <a:ext cx="228600" cy="361950"/>
          </a:xfrm>
          <a:prstGeom prst="chevron">
            <a:avLst/>
          </a:prstGeom>
          <a:solidFill>
            <a:srgbClr val="C9DDF2"/>
          </a:solidFill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638EB2D9-2545-4EBE-92D8-9A3E1FE25064}"/>
              </a:ext>
            </a:extLst>
          </p:cNvPr>
          <p:cNvSpPr>
            <a:spLocks noGrp="1"/>
          </p:cNvSpPr>
          <p:nvPr/>
        </p:nvSpPr>
        <p:spPr>
          <a:xfrm>
            <a:off x="2514600" y="2286000"/>
            <a:ext cx="1657350" cy="1676400"/>
          </a:xfrm>
          <a:prstGeom prst="roundRect">
            <a:avLst>
              <a:gd name="adj" fmla="val 6897"/>
            </a:avLst>
          </a:prstGeom>
          <a:solidFill>
            <a:srgbClr val="F6FAFE"/>
          </a:solidFill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943A7893-5105-4E6C-ABC3-9F63CE100665}"/>
              </a:ext>
            </a:extLst>
          </p:cNvPr>
          <p:cNvSpPr>
            <a:spLocks noGrp="1"/>
          </p:cNvSpPr>
          <p:nvPr/>
        </p:nvSpPr>
        <p:spPr>
          <a:xfrm>
            <a:off x="3086100" y="2476500"/>
            <a:ext cx="514350" cy="514350"/>
          </a:xfrm>
          <a:prstGeom prst="ellipse">
            <a:avLst/>
          </a:prstGeom>
          <a:solidFill>
            <a:srgbClr val="0066CC"/>
          </a:solidFill>
          <a:ln w="9525">
            <a:solidFill>
              <a:srgbClr val="0066C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19880FA-A20D-455D-AA59-77D7D15AEEA9}"/>
              </a:ext>
            </a:extLst>
          </p:cNvPr>
          <p:cNvSpPr>
            <a:spLocks noGrp="1"/>
          </p:cNvSpPr>
          <p:nvPr/>
        </p:nvSpPr>
        <p:spPr>
          <a:xfrm>
            <a:off x="3086100" y="2609850"/>
            <a:ext cx="5143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buNone/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DEA8F5B-B68A-4089-92AD-A4610DF5E085}"/>
              </a:ext>
            </a:extLst>
          </p:cNvPr>
          <p:cNvSpPr>
            <a:spLocks noGrp="1"/>
          </p:cNvSpPr>
          <p:nvPr/>
        </p:nvSpPr>
        <p:spPr>
          <a:xfrm>
            <a:off x="2686050" y="3219450"/>
            <a:ext cx="13144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buNone/>
              <a:def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选择构建</a:t>
            </a:r>
          </a:p>
          <a:p>
            <a:pPr algn="ctr">
              <a:buNone/>
              <a:def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方式</a:t>
            </a:r>
          </a:p>
        </p:txBody>
      </p:sp>
      <p:sp>
        <p:nvSpPr>
          <p:cNvPr id="16" name="Arrow: Chevron 15">
            <a:extLst>
              <a:ext uri="{FF2B5EF4-FFF2-40B4-BE49-F238E27FC236}">
                <a16:creationId xmlns:a16="http://schemas.microsoft.com/office/drawing/2014/main" id="{CB33B66C-A1C8-4080-A454-D105B9283B35}"/>
              </a:ext>
            </a:extLst>
          </p:cNvPr>
          <p:cNvSpPr>
            <a:spLocks noGrp="1"/>
          </p:cNvSpPr>
          <p:nvPr/>
        </p:nvSpPr>
        <p:spPr>
          <a:xfrm>
            <a:off x="4191000" y="2905125"/>
            <a:ext cx="228600" cy="361950"/>
          </a:xfrm>
          <a:prstGeom prst="chevron">
            <a:avLst/>
          </a:prstGeom>
          <a:solidFill>
            <a:srgbClr val="C9DDF2"/>
          </a:solidFill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E92B5BF2-BB07-400C-AAD5-4656D1EAE956}"/>
              </a:ext>
            </a:extLst>
          </p:cNvPr>
          <p:cNvSpPr>
            <a:spLocks noGrp="1"/>
          </p:cNvSpPr>
          <p:nvPr/>
        </p:nvSpPr>
        <p:spPr>
          <a:xfrm>
            <a:off x="4438650" y="2286000"/>
            <a:ext cx="1657350" cy="1676400"/>
          </a:xfrm>
          <a:prstGeom prst="roundRect">
            <a:avLst>
              <a:gd name="adj" fmla="val 6897"/>
            </a:avLst>
          </a:prstGeom>
          <a:solidFill>
            <a:srgbClr val="EAF4FF"/>
          </a:solidFill>
          <a:ln w="9525">
            <a:solidFill>
              <a:srgbClr val="0066C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BBFDB139-9B50-47BB-9E94-8DEDC6808282}"/>
              </a:ext>
            </a:extLst>
          </p:cNvPr>
          <p:cNvSpPr>
            <a:spLocks noGrp="1"/>
          </p:cNvSpPr>
          <p:nvPr/>
        </p:nvSpPr>
        <p:spPr>
          <a:xfrm>
            <a:off x="5010150" y="2476500"/>
            <a:ext cx="514350" cy="514350"/>
          </a:xfrm>
          <a:prstGeom prst="ellipse">
            <a:avLst/>
          </a:prstGeom>
          <a:solidFill>
            <a:srgbClr val="0066CC"/>
          </a:solidFill>
          <a:ln w="9525">
            <a:solidFill>
              <a:srgbClr val="0066C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58226BC-AF2A-40A5-BB88-2B0D26366749}"/>
              </a:ext>
            </a:extLst>
          </p:cNvPr>
          <p:cNvSpPr>
            <a:spLocks noGrp="1"/>
          </p:cNvSpPr>
          <p:nvPr/>
        </p:nvSpPr>
        <p:spPr>
          <a:xfrm>
            <a:off x="5010150" y="2609850"/>
            <a:ext cx="5143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buNone/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4B14E5B-51B2-4E01-AB60-B0AFDF5B0FF5}"/>
              </a:ext>
            </a:extLst>
          </p:cNvPr>
          <p:cNvSpPr>
            <a:spLocks noGrp="1"/>
          </p:cNvSpPr>
          <p:nvPr/>
        </p:nvSpPr>
        <p:spPr>
          <a:xfrm>
            <a:off x="4610100" y="3219450"/>
            <a:ext cx="13144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buNone/>
              <a:def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填写名称、用途</a:t>
            </a:r>
          </a:p>
          <a:p>
            <a:pPr algn="ctr">
              <a:buNone/>
              <a:def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和工作规则</a:t>
            </a:r>
          </a:p>
        </p:txBody>
      </p:sp>
      <p:sp>
        <p:nvSpPr>
          <p:cNvPr id="21" name="Arrow: Chevron 20">
            <a:extLst>
              <a:ext uri="{FF2B5EF4-FFF2-40B4-BE49-F238E27FC236}">
                <a16:creationId xmlns:a16="http://schemas.microsoft.com/office/drawing/2014/main" id="{0832E79A-1996-44D2-8C96-AE2E65A4B750}"/>
              </a:ext>
            </a:extLst>
          </p:cNvPr>
          <p:cNvSpPr>
            <a:spLocks noGrp="1"/>
          </p:cNvSpPr>
          <p:nvPr/>
        </p:nvSpPr>
        <p:spPr>
          <a:xfrm>
            <a:off x="6115050" y="2905125"/>
            <a:ext cx="228600" cy="361950"/>
          </a:xfrm>
          <a:prstGeom prst="chevron">
            <a:avLst/>
          </a:prstGeom>
          <a:solidFill>
            <a:srgbClr val="C9DDF2"/>
          </a:solidFill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76C649D2-5628-4562-BFCC-4248D39230AD}"/>
              </a:ext>
            </a:extLst>
          </p:cNvPr>
          <p:cNvSpPr>
            <a:spLocks noGrp="1"/>
          </p:cNvSpPr>
          <p:nvPr/>
        </p:nvSpPr>
        <p:spPr>
          <a:xfrm>
            <a:off x="6362700" y="2286000"/>
            <a:ext cx="1657350" cy="1676400"/>
          </a:xfrm>
          <a:prstGeom prst="roundRect">
            <a:avLst>
              <a:gd name="adj" fmla="val 6897"/>
            </a:avLst>
          </a:prstGeom>
          <a:solidFill>
            <a:srgbClr val="EAF4FF"/>
          </a:solidFill>
          <a:ln w="9525">
            <a:solidFill>
              <a:srgbClr val="0066C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24416B73-6183-4C4A-9ADB-953E59FB1AED}"/>
              </a:ext>
            </a:extLst>
          </p:cNvPr>
          <p:cNvSpPr>
            <a:spLocks noGrp="1"/>
          </p:cNvSpPr>
          <p:nvPr/>
        </p:nvSpPr>
        <p:spPr>
          <a:xfrm>
            <a:off x="6934200" y="2476500"/>
            <a:ext cx="514350" cy="514350"/>
          </a:xfrm>
          <a:prstGeom prst="ellipse">
            <a:avLst/>
          </a:prstGeom>
          <a:solidFill>
            <a:srgbClr val="0066CC"/>
          </a:solidFill>
          <a:ln w="9525">
            <a:solidFill>
              <a:srgbClr val="0066C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75BC774-2BAD-4C66-8453-4EF0B9F84D1D}"/>
              </a:ext>
            </a:extLst>
          </p:cNvPr>
          <p:cNvSpPr>
            <a:spLocks noGrp="1"/>
          </p:cNvSpPr>
          <p:nvPr/>
        </p:nvSpPr>
        <p:spPr>
          <a:xfrm>
            <a:off x="6934200" y="2609850"/>
            <a:ext cx="5143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buNone/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74C0F21F-2607-4445-A44C-DC7D82A4D5E7}"/>
              </a:ext>
            </a:extLst>
          </p:cNvPr>
          <p:cNvSpPr>
            <a:spLocks noGrp="1"/>
          </p:cNvSpPr>
          <p:nvPr/>
        </p:nvSpPr>
        <p:spPr>
          <a:xfrm>
            <a:off x="6534150" y="3219450"/>
            <a:ext cx="13144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buNone/>
              <a:def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添加参考</a:t>
            </a:r>
          </a:p>
          <a:p>
            <a:pPr algn="ctr">
              <a:buNone/>
              <a:def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资料</a:t>
            </a:r>
          </a:p>
        </p:txBody>
      </p:sp>
      <p:sp>
        <p:nvSpPr>
          <p:cNvPr id="26" name="Arrow: Chevron 25">
            <a:extLst>
              <a:ext uri="{FF2B5EF4-FFF2-40B4-BE49-F238E27FC236}">
                <a16:creationId xmlns:a16="http://schemas.microsoft.com/office/drawing/2014/main" id="{9EE60DEB-6424-497D-BA46-A319F0037132}"/>
              </a:ext>
            </a:extLst>
          </p:cNvPr>
          <p:cNvSpPr>
            <a:spLocks noGrp="1"/>
          </p:cNvSpPr>
          <p:nvPr/>
        </p:nvSpPr>
        <p:spPr>
          <a:xfrm>
            <a:off x="8039100" y="2905125"/>
            <a:ext cx="228600" cy="361950"/>
          </a:xfrm>
          <a:prstGeom prst="chevron">
            <a:avLst/>
          </a:prstGeom>
          <a:solidFill>
            <a:srgbClr val="C9DDF2"/>
          </a:solidFill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7D74AC81-00CA-421C-84A7-CE4FA7AC2A9F}"/>
              </a:ext>
            </a:extLst>
          </p:cNvPr>
          <p:cNvSpPr>
            <a:spLocks noGrp="1"/>
          </p:cNvSpPr>
          <p:nvPr/>
        </p:nvSpPr>
        <p:spPr>
          <a:xfrm>
            <a:off x="8286750" y="2286000"/>
            <a:ext cx="1657350" cy="1676400"/>
          </a:xfrm>
          <a:prstGeom prst="roundRect">
            <a:avLst>
              <a:gd name="adj" fmla="val 6897"/>
            </a:avLst>
          </a:prstGeom>
          <a:solidFill>
            <a:srgbClr val="F6FAFE"/>
          </a:solidFill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9639F934-75C7-4BF7-BB12-A4EE05D34764}"/>
              </a:ext>
            </a:extLst>
          </p:cNvPr>
          <p:cNvSpPr>
            <a:spLocks noGrp="1"/>
          </p:cNvSpPr>
          <p:nvPr/>
        </p:nvSpPr>
        <p:spPr>
          <a:xfrm>
            <a:off x="8858250" y="2476500"/>
            <a:ext cx="514350" cy="514350"/>
          </a:xfrm>
          <a:prstGeom prst="ellipse">
            <a:avLst/>
          </a:prstGeom>
          <a:solidFill>
            <a:srgbClr val="0066CC"/>
          </a:solidFill>
          <a:ln w="9525">
            <a:solidFill>
              <a:srgbClr val="0066C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2F2B2E98-D774-4A79-B060-91AD5F9FCFCA}"/>
              </a:ext>
            </a:extLst>
          </p:cNvPr>
          <p:cNvSpPr>
            <a:spLocks noGrp="1"/>
          </p:cNvSpPr>
          <p:nvPr/>
        </p:nvSpPr>
        <p:spPr>
          <a:xfrm>
            <a:off x="8858250" y="2609850"/>
            <a:ext cx="5143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buNone/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A66BD076-F35A-4590-8561-F6471F0856AB}"/>
              </a:ext>
            </a:extLst>
          </p:cNvPr>
          <p:cNvSpPr>
            <a:spLocks noGrp="1"/>
          </p:cNvSpPr>
          <p:nvPr/>
        </p:nvSpPr>
        <p:spPr>
          <a:xfrm>
            <a:off x="8458200" y="3219450"/>
            <a:ext cx="13144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buNone/>
              <a:def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设置常用</a:t>
            </a:r>
          </a:p>
          <a:p>
            <a:pPr algn="ctr">
              <a:buNone/>
              <a:def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快捷问题</a:t>
            </a:r>
          </a:p>
        </p:txBody>
      </p:sp>
      <p:sp>
        <p:nvSpPr>
          <p:cNvPr id="31" name="Arrow: Chevron 30">
            <a:extLst>
              <a:ext uri="{FF2B5EF4-FFF2-40B4-BE49-F238E27FC236}">
                <a16:creationId xmlns:a16="http://schemas.microsoft.com/office/drawing/2014/main" id="{3E169B6E-B419-4A29-831C-593270FC40FF}"/>
              </a:ext>
            </a:extLst>
          </p:cNvPr>
          <p:cNvSpPr>
            <a:spLocks noGrp="1"/>
          </p:cNvSpPr>
          <p:nvPr/>
        </p:nvSpPr>
        <p:spPr>
          <a:xfrm>
            <a:off x="9963150" y="2905125"/>
            <a:ext cx="228600" cy="361950"/>
          </a:xfrm>
          <a:prstGeom prst="chevron">
            <a:avLst/>
          </a:prstGeom>
          <a:solidFill>
            <a:srgbClr val="C9DDF2"/>
          </a:solidFill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F937C953-5657-4924-977C-99A57B31A81D}"/>
              </a:ext>
            </a:extLst>
          </p:cNvPr>
          <p:cNvSpPr>
            <a:spLocks noGrp="1"/>
          </p:cNvSpPr>
          <p:nvPr/>
        </p:nvSpPr>
        <p:spPr>
          <a:xfrm>
            <a:off x="10210800" y="2286000"/>
            <a:ext cx="1657350" cy="1676400"/>
          </a:xfrm>
          <a:prstGeom prst="roundRect">
            <a:avLst>
              <a:gd name="adj" fmla="val 6897"/>
            </a:avLst>
          </a:prstGeom>
          <a:solidFill>
            <a:srgbClr val="F6FAFE"/>
          </a:solidFill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E41C5C7D-632F-40ED-BC7C-9CA9B1CEB878}"/>
              </a:ext>
            </a:extLst>
          </p:cNvPr>
          <p:cNvSpPr>
            <a:spLocks noGrp="1"/>
          </p:cNvSpPr>
          <p:nvPr/>
        </p:nvSpPr>
        <p:spPr>
          <a:xfrm>
            <a:off x="10782300" y="2476500"/>
            <a:ext cx="514350" cy="514350"/>
          </a:xfrm>
          <a:prstGeom prst="ellipse">
            <a:avLst/>
          </a:prstGeom>
          <a:solidFill>
            <a:srgbClr val="0066CC"/>
          </a:solidFill>
          <a:ln w="9525">
            <a:solidFill>
              <a:srgbClr val="0066C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43475DB5-6D89-4696-A730-4C56FD063D0E}"/>
              </a:ext>
            </a:extLst>
          </p:cNvPr>
          <p:cNvSpPr>
            <a:spLocks noGrp="1"/>
          </p:cNvSpPr>
          <p:nvPr/>
        </p:nvSpPr>
        <p:spPr>
          <a:xfrm>
            <a:off x="10782300" y="2609850"/>
            <a:ext cx="5143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buNone/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9F807B6C-E509-4EAF-9EA0-6E4082EEEEFB}"/>
              </a:ext>
            </a:extLst>
          </p:cNvPr>
          <p:cNvSpPr>
            <a:spLocks noGrp="1"/>
          </p:cNvSpPr>
          <p:nvPr/>
        </p:nvSpPr>
        <p:spPr>
          <a:xfrm>
            <a:off x="10382250" y="3219450"/>
            <a:ext cx="13144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buNone/>
              <a:def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试运行并</a:t>
            </a:r>
          </a:p>
          <a:p>
            <a:pPr algn="ctr">
              <a:buNone/>
              <a:def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创建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68967858-38DF-4870-98B3-46627C90E1CA}"/>
              </a:ext>
            </a:extLst>
          </p:cNvPr>
          <p:cNvSpPr>
            <a:spLocks noGrp="1"/>
          </p:cNvSpPr>
          <p:nvPr/>
        </p:nvSpPr>
        <p:spPr>
          <a:xfrm>
            <a:off x="1238250" y="4619625"/>
            <a:ext cx="9715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buNone/>
              <a:defRPr sz="15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因此，构建不是填完设置就结束，而是先定义任务，再连接资料，最后通过试运行验证。一个清楚的 Agent 会说明为谁服务、处理什么任务、参考哪些资料，以及结果怎样呈现。</a:t>
            </a:r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77C66F4A-8932-41E7-9648-1D47C11E4C12}"/>
              </a:ext>
            </a:extLst>
          </p:cNvPr>
          <p:cNvSpPr>
            <a:spLocks noGrp="1"/>
          </p:cNvSpPr>
          <p:nvPr/>
        </p:nvSpPr>
        <p:spPr>
          <a:xfrm>
            <a:off x="685800" y="5867400"/>
            <a:ext cx="2190750" cy="342900"/>
          </a:xfrm>
          <a:prstGeom prst="roundRect">
            <a:avLst>
              <a:gd name="adj" fmla="val 33333"/>
            </a:avLst>
          </a:prstGeom>
          <a:solidFill>
            <a:srgbClr val="EAF4FF"/>
          </a:solidFill>
          <a:ln w="9525">
            <a:solidFill>
              <a:srgbClr val="0066CC"/>
            </a:solidFill>
            <a:prstDash val="solid"/>
          </a:ln>
        </p:spPr>
        <p:txBody>
          <a:bodyPr wrap="none" lIns="76200" tIns="0" rIns="76200" bIns="0" anchor="ctr">
            <a:normAutofit/>
          </a:bodyPr>
          <a:lstStyle/>
          <a:p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r:id="rId3"/>
              </a:rPr>
              <a:t>打开 Agent Builder 路径  ↗</a:t>
            </a:r>
          </a:p>
        </p:txBody>
      </p:sp>
    </p:spTree>
    <p:extLst>
      <p:ext uri="{BB962C8B-B14F-4D97-AF65-F5344CB8AC3E}">
        <p14:creationId xmlns:p14="http://schemas.microsoft.com/office/powerpoint/2010/main" val="167571627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1C957914-FC8B-4604-B48E-84E16E4C820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0066CC"/>
          </a:solidFill>
          <a:ln w="9525">
            <a:solidFill>
              <a:srgbClr val="0066C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5636F27-3EC6-482F-9174-2E845CCF5B4D}"/>
              </a:ext>
            </a:extLst>
          </p:cNvPr>
          <p:cNvSpPr>
            <a:spLocks noGrp="1"/>
          </p:cNvSpPr>
          <p:nvPr/>
        </p:nvSpPr>
        <p:spPr>
          <a:xfrm>
            <a:off x="685800" y="285750"/>
            <a:ext cx="5048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05 Agent Builder 动手 Lab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7B34A43-E54B-429D-884E-9D07A6E4C45C}"/>
              </a:ext>
            </a:extLst>
          </p:cNvPr>
          <p:cNvSpPr>
            <a:spLocks noGrp="1"/>
          </p:cNvSpPr>
          <p:nvPr/>
        </p:nvSpPr>
        <p:spPr>
          <a:xfrm>
            <a:off x="685800" y="638175"/>
            <a:ext cx="108204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步骤 1｜进入 Agents 并新建 Agent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4FA2908-9EE7-43A4-9654-54C5028F5310}"/>
              </a:ext>
            </a:extLst>
          </p:cNvPr>
          <p:cNvSpPr>
            <a:spLocks noGrp="1"/>
          </p:cNvSpPr>
          <p:nvPr/>
        </p:nvSpPr>
        <p:spPr>
          <a:xfrm>
            <a:off x="685800" y="1181100"/>
            <a:ext cx="108204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截图展示 Agent Store：左侧 Agents 已被选中，中间列出已有 Agent，右侧 Create agent 是新建入口。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F60E5B5-EBAB-4BD8-8175-46E5FCCF7360}"/>
              </a:ext>
            </a:extLst>
          </p:cNvPr>
          <p:cNvSpPr>
            <a:spLocks noGrp="1"/>
          </p:cNvSpPr>
          <p:nvPr/>
        </p:nvSpPr>
        <p:spPr>
          <a:xfrm>
            <a:off x="11049000" y="6438900"/>
            <a:ext cx="4572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40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F9B356B-1FC4-4A5F-9A84-CEB277848A1F}"/>
              </a:ext>
            </a:extLst>
          </p:cNvPr>
          <p:cNvSpPr>
            <a:spLocks noGrp="1"/>
          </p:cNvSpPr>
          <p:nvPr/>
        </p:nvSpPr>
        <p:spPr>
          <a:xfrm>
            <a:off x="685800" y="6334125"/>
            <a:ext cx="10820400" cy="9525"/>
          </a:xfrm>
          <a:prstGeom prst="rect">
            <a:avLst/>
          </a:prstGeom>
          <a:solidFill>
            <a:srgbClr val="C9DDF2"/>
          </a:solidFill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21" name="Picture 20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85800" y="1831138"/>
            <a:ext cx="6991350" cy="3671974"/>
          </a:xfrm>
          <a:prstGeom prst="roundRect">
            <a:avLst>
              <a:gd name="adj" fmla="val 2927"/>
            </a:avLst>
          </a:prstGeom>
        </p:spPr>
      </p:pic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36DA7240-BB91-46C2-B9A5-FD37A9CC0E1E}"/>
              </a:ext>
            </a:extLst>
          </p:cNvPr>
          <p:cNvSpPr>
            <a:spLocks noGrp="1"/>
          </p:cNvSpPr>
          <p:nvPr/>
        </p:nvSpPr>
        <p:spPr>
          <a:xfrm>
            <a:off x="666750" y="1695450"/>
            <a:ext cx="7029450" cy="3943350"/>
          </a:xfrm>
          <a:prstGeom prst="roundRect">
            <a:avLst>
              <a:gd name="adj" fmla="val 2899"/>
            </a:avLst>
          </a:prstGeom>
          <a:noFill/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47E31179-94EA-4780-BA1F-B05685FA1F19}"/>
              </a:ext>
            </a:extLst>
          </p:cNvPr>
          <p:cNvSpPr>
            <a:spLocks noGrp="1"/>
          </p:cNvSpPr>
          <p:nvPr/>
        </p:nvSpPr>
        <p:spPr>
          <a:xfrm>
            <a:off x="7905750" y="1809750"/>
            <a:ext cx="3600450" cy="3238500"/>
          </a:xfrm>
          <a:prstGeom prst="roundRect">
            <a:avLst>
              <a:gd name="adj" fmla="val 3529"/>
            </a:avLst>
          </a:prstGeom>
          <a:solidFill>
            <a:srgbClr val="F6FAFE"/>
          </a:solidFill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27AB2D5-7436-40B3-9897-06D0CCCB9FF4}"/>
              </a:ext>
            </a:extLst>
          </p:cNvPr>
          <p:cNvSpPr>
            <a:spLocks noGrp="1"/>
          </p:cNvSpPr>
          <p:nvPr/>
        </p:nvSpPr>
        <p:spPr>
          <a:xfrm>
            <a:off x="8172450" y="2133600"/>
            <a:ext cx="30670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725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本步要点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494FC31-F7F4-42E0-9DD4-48B9A71B398E}"/>
              </a:ext>
            </a:extLst>
          </p:cNvPr>
          <p:cNvSpPr>
            <a:spLocks noGrp="1"/>
          </p:cNvSpPr>
          <p:nvPr/>
        </p:nvSpPr>
        <p:spPr>
          <a:xfrm>
            <a:off x="8172450" y="2590800"/>
            <a:ext cx="3067050" cy="2286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首先从左侧导航进入 Agents；Search for an agent 用于查找已有 Agent，Your agents 显示当前可用项。</a:t>
            </a:r>
          </a:p>
          <a:p>
            <a:endParaRPr sz="1200" b="0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buNone/>
              <a:def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接下来点击右侧 Create agent 开始新建；Researcher、Analyst 等则是已经可以使用的 Agent。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FC584D58-539D-44E1-88C6-E94ABFA6A5B0}"/>
              </a:ext>
            </a:extLst>
          </p:cNvPr>
          <p:cNvSpPr>
            <a:spLocks noGrp="1"/>
          </p:cNvSpPr>
          <p:nvPr/>
        </p:nvSpPr>
        <p:spPr>
          <a:xfrm>
            <a:off x="7905750" y="5257800"/>
            <a:ext cx="3600450" cy="342900"/>
          </a:xfrm>
          <a:prstGeom prst="roundRect">
            <a:avLst>
              <a:gd name="adj" fmla="val 33333"/>
            </a:avLst>
          </a:prstGeom>
          <a:solidFill>
            <a:srgbClr val="EAF4FF"/>
          </a:solidFill>
          <a:ln w="9525">
            <a:solidFill>
              <a:srgbClr val="0066CC"/>
            </a:solidFill>
            <a:prstDash val="solid"/>
          </a:ln>
        </p:spPr>
        <p:txBody>
          <a:bodyPr wrap="none" lIns="76200" tIns="0" rIns="76200" bIns="0" anchor="ctr">
            <a:normAutofit/>
          </a:bodyPr>
          <a:lstStyle/>
          <a:p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r:id="rId4"/>
              </a:rPr>
              <a:t>打开 M365 Copilot  ↗</a:t>
            </a:r>
          </a:p>
        </p:txBody>
      </p:sp>
    </p:spTree>
    <p:extLst>
      <p:ext uri="{BB962C8B-B14F-4D97-AF65-F5344CB8AC3E}">
        <p14:creationId xmlns:p14="http://schemas.microsoft.com/office/powerpoint/2010/main" val="52177179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DBC141C1-FB8D-49AF-968F-0188A60F639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0066CC"/>
          </a:solidFill>
          <a:ln w="9525">
            <a:solidFill>
              <a:srgbClr val="0066C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1290AB7-9FCC-4086-8E19-14ACA6612C63}"/>
              </a:ext>
            </a:extLst>
          </p:cNvPr>
          <p:cNvSpPr>
            <a:spLocks noGrp="1"/>
          </p:cNvSpPr>
          <p:nvPr/>
        </p:nvSpPr>
        <p:spPr>
          <a:xfrm>
            <a:off x="685800" y="285750"/>
            <a:ext cx="5048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05 Agent Builder 动手 Lab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DF25571-AA32-4A62-B2FC-E2BB8125A268}"/>
              </a:ext>
            </a:extLst>
          </p:cNvPr>
          <p:cNvSpPr>
            <a:spLocks noGrp="1"/>
          </p:cNvSpPr>
          <p:nvPr/>
        </p:nvSpPr>
        <p:spPr>
          <a:xfrm>
            <a:off x="685800" y="638175"/>
            <a:ext cx="108204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步骤 2｜选择构建方式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295A67F-3CA9-499F-88B4-29B24D42FE8F}"/>
              </a:ext>
            </a:extLst>
          </p:cNvPr>
          <p:cNvSpPr>
            <a:spLocks noGrp="1"/>
          </p:cNvSpPr>
          <p:nvPr/>
        </p:nvSpPr>
        <p:spPr>
          <a:xfrm>
            <a:off x="685800" y="1181100"/>
            <a:ext cx="108204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页面提供三种方式：描述需求后自动生成草稿、点击 Skip 手动填写，或者从模板开始。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61BEBD7-920E-4DF6-A22B-987FA859A600}"/>
              </a:ext>
            </a:extLst>
          </p:cNvPr>
          <p:cNvSpPr>
            <a:spLocks noGrp="1"/>
          </p:cNvSpPr>
          <p:nvPr/>
        </p:nvSpPr>
        <p:spPr>
          <a:xfrm>
            <a:off x="11049000" y="6438900"/>
            <a:ext cx="4572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41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001FF1A-D65C-4F0F-96BF-0B76F032C907}"/>
              </a:ext>
            </a:extLst>
          </p:cNvPr>
          <p:cNvSpPr>
            <a:spLocks noGrp="1"/>
          </p:cNvSpPr>
          <p:nvPr/>
        </p:nvSpPr>
        <p:spPr>
          <a:xfrm>
            <a:off x="685800" y="6334125"/>
            <a:ext cx="10820400" cy="9525"/>
          </a:xfrm>
          <a:prstGeom prst="rect">
            <a:avLst/>
          </a:prstGeom>
          <a:solidFill>
            <a:srgbClr val="C9DDF2"/>
          </a:solidFill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21" name="Picture 20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85800" y="1984985"/>
            <a:ext cx="6991350" cy="3364280"/>
          </a:xfrm>
          <a:prstGeom prst="roundRect">
            <a:avLst>
              <a:gd name="adj" fmla="val 2927"/>
            </a:avLst>
          </a:prstGeom>
        </p:spPr>
      </p:pic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F85D8296-38E3-4870-99C0-25298FB7181D}"/>
              </a:ext>
            </a:extLst>
          </p:cNvPr>
          <p:cNvSpPr>
            <a:spLocks noGrp="1"/>
          </p:cNvSpPr>
          <p:nvPr/>
        </p:nvSpPr>
        <p:spPr>
          <a:xfrm>
            <a:off x="666750" y="1695450"/>
            <a:ext cx="7029450" cy="3943350"/>
          </a:xfrm>
          <a:prstGeom prst="roundRect">
            <a:avLst>
              <a:gd name="adj" fmla="val 2899"/>
            </a:avLst>
          </a:prstGeom>
          <a:noFill/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7EB6CC58-3C87-4D12-9B5E-3736BE712534}"/>
              </a:ext>
            </a:extLst>
          </p:cNvPr>
          <p:cNvSpPr>
            <a:spLocks noGrp="1"/>
          </p:cNvSpPr>
          <p:nvPr/>
        </p:nvSpPr>
        <p:spPr>
          <a:xfrm>
            <a:off x="7905750" y="1809750"/>
            <a:ext cx="3600450" cy="3238500"/>
          </a:xfrm>
          <a:prstGeom prst="roundRect">
            <a:avLst>
              <a:gd name="adj" fmla="val 3529"/>
            </a:avLst>
          </a:prstGeom>
          <a:solidFill>
            <a:srgbClr val="F6FAFE"/>
          </a:solidFill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59F6B3C-819B-4051-8478-71E3EB6734DB}"/>
              </a:ext>
            </a:extLst>
          </p:cNvPr>
          <p:cNvSpPr>
            <a:spLocks noGrp="1"/>
          </p:cNvSpPr>
          <p:nvPr/>
        </p:nvSpPr>
        <p:spPr>
          <a:xfrm>
            <a:off x="8172450" y="2133600"/>
            <a:ext cx="30670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725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本步要点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D084609-51C0-4801-AE47-5727C34D88DC}"/>
              </a:ext>
            </a:extLst>
          </p:cNvPr>
          <p:cNvSpPr>
            <a:spLocks noGrp="1"/>
          </p:cNvSpPr>
          <p:nvPr/>
        </p:nvSpPr>
        <p:spPr>
          <a:xfrm>
            <a:off x="8172450" y="2590800"/>
            <a:ext cx="3067050" cy="2286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进入页面后，可以在输入框描述需求并让 Builder 生成草稿，也可以点击 Skip 手动设置，或从 Templates 的现成模板开始。</a:t>
            </a:r>
          </a:p>
          <a:p>
            <a:endParaRPr sz="1200" b="0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buNone/>
              <a:def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本次演示选择手动填写，因此接下来会逐项查看名称、用途、工作规则和参考资料。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5E9622B7-8A6F-4819-8E10-601E26D89338}"/>
              </a:ext>
            </a:extLst>
          </p:cNvPr>
          <p:cNvSpPr>
            <a:spLocks noGrp="1"/>
          </p:cNvSpPr>
          <p:nvPr/>
        </p:nvSpPr>
        <p:spPr>
          <a:xfrm>
            <a:off x="7905750" y="5257800"/>
            <a:ext cx="3600450" cy="342900"/>
          </a:xfrm>
          <a:prstGeom prst="roundRect">
            <a:avLst>
              <a:gd name="adj" fmla="val 33333"/>
            </a:avLst>
          </a:prstGeom>
          <a:solidFill>
            <a:srgbClr val="EAF4FF"/>
          </a:solidFill>
          <a:ln w="9525">
            <a:solidFill>
              <a:srgbClr val="0066CC"/>
            </a:solidFill>
            <a:prstDash val="solid"/>
          </a:ln>
        </p:spPr>
        <p:txBody>
          <a:bodyPr wrap="none" lIns="76200" tIns="0" rIns="76200" bIns="0" anchor="ctr">
            <a:normAutofit/>
          </a:bodyPr>
          <a:lstStyle/>
          <a:p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r:id="rId4"/>
              </a:rPr>
              <a:t>打开 Lab 操作指南  ↗</a:t>
            </a:r>
          </a:p>
        </p:txBody>
      </p:sp>
    </p:spTree>
    <p:extLst>
      <p:ext uri="{BB962C8B-B14F-4D97-AF65-F5344CB8AC3E}">
        <p14:creationId xmlns:p14="http://schemas.microsoft.com/office/powerpoint/2010/main" val="109686463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711A725E-526F-4375-990C-9FE76C8DAEF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0066CC"/>
          </a:solidFill>
          <a:ln w="9525">
            <a:solidFill>
              <a:srgbClr val="0066C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B47F3D2-3783-4B0A-B54F-460DACD4B86E}"/>
              </a:ext>
            </a:extLst>
          </p:cNvPr>
          <p:cNvSpPr>
            <a:spLocks noGrp="1"/>
          </p:cNvSpPr>
          <p:nvPr/>
        </p:nvSpPr>
        <p:spPr>
          <a:xfrm>
            <a:off x="685800" y="285750"/>
            <a:ext cx="5048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05 Agent Builder 动手 Lab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4DCE6C8-C561-4766-8085-C54BA1ED3D8D}"/>
              </a:ext>
            </a:extLst>
          </p:cNvPr>
          <p:cNvSpPr>
            <a:spLocks noGrp="1"/>
          </p:cNvSpPr>
          <p:nvPr/>
        </p:nvSpPr>
        <p:spPr>
          <a:xfrm>
            <a:off x="685800" y="638175"/>
            <a:ext cx="108204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步骤 3｜填写名称、用途与工作规则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8011512-51D6-4EF1-A30D-BFF7BED8528E}"/>
              </a:ext>
            </a:extLst>
          </p:cNvPr>
          <p:cNvSpPr>
            <a:spLocks noGrp="1"/>
          </p:cNvSpPr>
          <p:nvPr/>
        </p:nvSpPr>
        <p:spPr>
          <a:xfrm>
            <a:off x="685800" y="1181100"/>
            <a:ext cx="108204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截图标出了图标（Icon）、名称（Name）、用途说明（Description）和工作规则（Instructions）。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FDF5078-20BE-4CB8-AA6D-F6015D992BF9}"/>
              </a:ext>
            </a:extLst>
          </p:cNvPr>
          <p:cNvSpPr>
            <a:spLocks noGrp="1"/>
          </p:cNvSpPr>
          <p:nvPr/>
        </p:nvSpPr>
        <p:spPr>
          <a:xfrm>
            <a:off x="11049000" y="6438900"/>
            <a:ext cx="4572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42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7D5AAC9-712C-42E5-92CE-281141605C11}"/>
              </a:ext>
            </a:extLst>
          </p:cNvPr>
          <p:cNvSpPr>
            <a:spLocks noGrp="1"/>
          </p:cNvSpPr>
          <p:nvPr/>
        </p:nvSpPr>
        <p:spPr>
          <a:xfrm>
            <a:off x="685800" y="6334125"/>
            <a:ext cx="10820400" cy="9525"/>
          </a:xfrm>
          <a:prstGeom prst="rect">
            <a:avLst/>
          </a:prstGeom>
          <a:solidFill>
            <a:srgbClr val="C9DDF2"/>
          </a:solidFill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21" name="Picture 20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85800" y="2122448"/>
            <a:ext cx="6991350" cy="3089354"/>
          </a:xfrm>
          <a:prstGeom prst="roundRect">
            <a:avLst>
              <a:gd name="adj" fmla="val 2927"/>
            </a:avLst>
          </a:prstGeom>
        </p:spPr>
      </p:pic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9F1B1C37-7954-4957-849F-EE0284D8F3E6}"/>
              </a:ext>
            </a:extLst>
          </p:cNvPr>
          <p:cNvSpPr>
            <a:spLocks noGrp="1"/>
          </p:cNvSpPr>
          <p:nvPr/>
        </p:nvSpPr>
        <p:spPr>
          <a:xfrm>
            <a:off x="666750" y="1695450"/>
            <a:ext cx="7029450" cy="3943350"/>
          </a:xfrm>
          <a:prstGeom prst="roundRect">
            <a:avLst>
              <a:gd name="adj" fmla="val 2899"/>
            </a:avLst>
          </a:prstGeom>
          <a:noFill/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BD666AB2-09A7-46A4-8497-010E64F1DD28}"/>
              </a:ext>
            </a:extLst>
          </p:cNvPr>
          <p:cNvSpPr>
            <a:spLocks noGrp="1"/>
          </p:cNvSpPr>
          <p:nvPr/>
        </p:nvSpPr>
        <p:spPr>
          <a:xfrm>
            <a:off x="7905750" y="1809750"/>
            <a:ext cx="3600450" cy="3238500"/>
          </a:xfrm>
          <a:prstGeom prst="roundRect">
            <a:avLst>
              <a:gd name="adj" fmla="val 3529"/>
            </a:avLst>
          </a:prstGeom>
          <a:solidFill>
            <a:srgbClr val="F6FAFE"/>
          </a:solidFill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F9F36D9-8E44-41F9-9D5D-3435C69F80F0}"/>
              </a:ext>
            </a:extLst>
          </p:cNvPr>
          <p:cNvSpPr>
            <a:spLocks noGrp="1"/>
          </p:cNvSpPr>
          <p:nvPr/>
        </p:nvSpPr>
        <p:spPr>
          <a:xfrm>
            <a:off x="8172450" y="2133600"/>
            <a:ext cx="30670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725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本步要点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BCAC454-DA49-4CC9-ABE4-ACC2F0F451CB}"/>
              </a:ext>
            </a:extLst>
          </p:cNvPr>
          <p:cNvSpPr>
            <a:spLocks noGrp="1"/>
          </p:cNvSpPr>
          <p:nvPr/>
        </p:nvSpPr>
        <p:spPr>
          <a:xfrm>
            <a:off x="8172450" y="2590800"/>
            <a:ext cx="3067050" cy="2286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填写时先用图标和名称帮助用户识别 Agent，再用一句用途说明告诉大家它能做什么。</a:t>
            </a:r>
          </a:p>
          <a:p>
            <a:endParaRPr sz="1200" b="0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buNone/>
              <a:def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最后通过工作规则写清输入内容、处理步骤、输出栏目、参考资料范围，以及信息不足时怎样回应。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1FBB4B19-0DDA-4A2D-8D3E-A2CF4601A1D6}"/>
              </a:ext>
            </a:extLst>
          </p:cNvPr>
          <p:cNvSpPr>
            <a:spLocks noGrp="1"/>
          </p:cNvSpPr>
          <p:nvPr/>
        </p:nvSpPr>
        <p:spPr>
          <a:xfrm>
            <a:off x="7905750" y="5257800"/>
            <a:ext cx="3600450" cy="342900"/>
          </a:xfrm>
          <a:prstGeom prst="roundRect">
            <a:avLst>
              <a:gd name="adj" fmla="val 33333"/>
            </a:avLst>
          </a:prstGeom>
          <a:solidFill>
            <a:srgbClr val="EAF4FF"/>
          </a:solidFill>
          <a:ln w="9525">
            <a:solidFill>
              <a:srgbClr val="0066CC"/>
            </a:solidFill>
            <a:prstDash val="solid"/>
          </a:ln>
        </p:spPr>
        <p:txBody>
          <a:bodyPr wrap="none" lIns="76200" tIns="0" rIns="76200" bIns="0" anchor="ctr">
            <a:normAutofit/>
          </a:bodyPr>
          <a:lstStyle/>
          <a:p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r:id="rId4"/>
              </a:rPr>
              <a:t>打开讲师示范 Lab  ↗</a:t>
            </a:r>
          </a:p>
        </p:txBody>
      </p:sp>
    </p:spTree>
    <p:extLst>
      <p:ext uri="{BB962C8B-B14F-4D97-AF65-F5344CB8AC3E}">
        <p14:creationId xmlns:p14="http://schemas.microsoft.com/office/powerpoint/2010/main" val="70882839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AAA719FD-A7E2-498D-A427-5299E08F3A9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0066CC"/>
          </a:solidFill>
          <a:ln w="9525">
            <a:solidFill>
              <a:srgbClr val="0066C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E7F24BC-E399-46EF-AFBB-BB9EB948B5B0}"/>
              </a:ext>
            </a:extLst>
          </p:cNvPr>
          <p:cNvSpPr>
            <a:spLocks noGrp="1"/>
          </p:cNvSpPr>
          <p:nvPr/>
        </p:nvSpPr>
        <p:spPr>
          <a:xfrm>
            <a:off x="685800" y="285750"/>
            <a:ext cx="5048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05 Agent Builder 动手 Lab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FEF5C37-5E7F-4C32-A566-E8723701903A}"/>
              </a:ext>
            </a:extLst>
          </p:cNvPr>
          <p:cNvSpPr>
            <a:spLocks noGrp="1"/>
          </p:cNvSpPr>
          <p:nvPr/>
        </p:nvSpPr>
        <p:spPr>
          <a:xfrm>
            <a:off x="685800" y="638175"/>
            <a:ext cx="108204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步骤 4｜添加参考资料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CA09513-CB61-4817-8431-E9D3528EECEC}"/>
              </a:ext>
            </a:extLst>
          </p:cNvPr>
          <p:cNvSpPr>
            <a:spLocks noGrp="1"/>
          </p:cNvSpPr>
          <p:nvPr/>
        </p:nvSpPr>
        <p:spPr>
          <a:xfrm>
            <a:off x="685800" y="1181100"/>
            <a:ext cx="108204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截图中的资料入口覆盖文件、网站、聊天、会议和邮件，并可按 Files、Sites、Chats、Meetings 分类筛选。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A091A5C-C963-4554-B4AF-63B0E45907FE}"/>
              </a:ext>
            </a:extLst>
          </p:cNvPr>
          <p:cNvSpPr>
            <a:spLocks noGrp="1"/>
          </p:cNvSpPr>
          <p:nvPr/>
        </p:nvSpPr>
        <p:spPr>
          <a:xfrm>
            <a:off x="11049000" y="6438900"/>
            <a:ext cx="4572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43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7BFE954-51EF-49C6-B5AB-9C3ACF7A2990}"/>
              </a:ext>
            </a:extLst>
          </p:cNvPr>
          <p:cNvSpPr>
            <a:spLocks noGrp="1"/>
          </p:cNvSpPr>
          <p:nvPr/>
        </p:nvSpPr>
        <p:spPr>
          <a:xfrm>
            <a:off x="685800" y="6334125"/>
            <a:ext cx="10820400" cy="9525"/>
          </a:xfrm>
          <a:prstGeom prst="rect">
            <a:avLst/>
          </a:prstGeom>
          <a:solidFill>
            <a:srgbClr val="C9DDF2"/>
          </a:solidFill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21" name="Picture 20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85800" y="1807321"/>
            <a:ext cx="6991350" cy="3719608"/>
          </a:xfrm>
          <a:prstGeom prst="roundRect">
            <a:avLst>
              <a:gd name="adj" fmla="val 2927"/>
            </a:avLst>
          </a:prstGeom>
        </p:spPr>
      </p:pic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D6356265-E58A-4049-87A4-BAB98F2D6E58}"/>
              </a:ext>
            </a:extLst>
          </p:cNvPr>
          <p:cNvSpPr>
            <a:spLocks noGrp="1"/>
          </p:cNvSpPr>
          <p:nvPr/>
        </p:nvSpPr>
        <p:spPr>
          <a:xfrm>
            <a:off x="666750" y="1695450"/>
            <a:ext cx="7029450" cy="3943350"/>
          </a:xfrm>
          <a:prstGeom prst="roundRect">
            <a:avLst>
              <a:gd name="adj" fmla="val 2899"/>
            </a:avLst>
          </a:prstGeom>
          <a:noFill/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721E8DF7-A3E1-4F7B-B652-3A0AEE20F54B}"/>
              </a:ext>
            </a:extLst>
          </p:cNvPr>
          <p:cNvSpPr>
            <a:spLocks noGrp="1"/>
          </p:cNvSpPr>
          <p:nvPr/>
        </p:nvSpPr>
        <p:spPr>
          <a:xfrm>
            <a:off x="7905750" y="1809750"/>
            <a:ext cx="3600450" cy="3238500"/>
          </a:xfrm>
          <a:prstGeom prst="roundRect">
            <a:avLst>
              <a:gd name="adj" fmla="val 3529"/>
            </a:avLst>
          </a:prstGeom>
          <a:solidFill>
            <a:srgbClr val="F6FAFE"/>
          </a:solidFill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C537754-7103-4C92-8C77-A38C5A3D247A}"/>
              </a:ext>
            </a:extLst>
          </p:cNvPr>
          <p:cNvSpPr>
            <a:spLocks noGrp="1"/>
          </p:cNvSpPr>
          <p:nvPr/>
        </p:nvSpPr>
        <p:spPr>
          <a:xfrm>
            <a:off x="8172450" y="2133600"/>
            <a:ext cx="30670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725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本步要点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779B36F-6C21-4A39-87B1-536927320AB8}"/>
              </a:ext>
            </a:extLst>
          </p:cNvPr>
          <p:cNvSpPr>
            <a:spLocks noGrp="1"/>
          </p:cNvSpPr>
          <p:nvPr/>
        </p:nvSpPr>
        <p:spPr>
          <a:xfrm>
            <a:off x="8172450" y="2590800"/>
            <a:ext cx="3067050" cy="2286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添加资料时，先在上方输入网址、搜索名称或拖入文件；来源可以是 SharePoint、Teams、Outlook、网站，以及个人文件、聊天、会议和邮件。</a:t>
            </a:r>
          </a:p>
          <a:p>
            <a:endParaRPr sz="1200" b="0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buNone/>
              <a:def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本次会议跟进助手只加入邮件模板和会议内容，因此其他无关资料暂时不选。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1769BB7D-6077-459C-90EA-644D10F3B99D}"/>
              </a:ext>
            </a:extLst>
          </p:cNvPr>
          <p:cNvSpPr>
            <a:spLocks noGrp="1"/>
          </p:cNvSpPr>
          <p:nvPr/>
        </p:nvSpPr>
        <p:spPr>
          <a:xfrm>
            <a:off x="7905750" y="5257800"/>
            <a:ext cx="3600450" cy="342900"/>
          </a:xfrm>
          <a:prstGeom prst="roundRect">
            <a:avLst>
              <a:gd name="adj" fmla="val 33333"/>
            </a:avLst>
          </a:prstGeom>
          <a:solidFill>
            <a:srgbClr val="EAF4FF"/>
          </a:solidFill>
          <a:ln w="9525">
            <a:solidFill>
              <a:srgbClr val="0066CC"/>
            </a:solidFill>
            <a:prstDash val="solid"/>
          </a:ln>
        </p:spPr>
        <p:txBody>
          <a:bodyPr wrap="none" lIns="76200" tIns="0" rIns="76200" bIns="0" anchor="ctr">
            <a:normAutofit/>
          </a:bodyPr>
          <a:lstStyle/>
          <a:p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r:id="rId4"/>
              </a:rPr>
              <a:t>进入 Agent Builder  ↗</a:t>
            </a:r>
          </a:p>
        </p:txBody>
      </p:sp>
    </p:spTree>
    <p:extLst>
      <p:ext uri="{BB962C8B-B14F-4D97-AF65-F5344CB8AC3E}">
        <p14:creationId xmlns:p14="http://schemas.microsoft.com/office/powerpoint/2010/main" val="182241870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941B0A67-47B7-4E60-8E34-EEE86688826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0066CC"/>
          </a:solidFill>
          <a:ln w="9525">
            <a:solidFill>
              <a:srgbClr val="0066C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4943F42-9FCC-4040-AC6F-F95F658F2DA9}"/>
              </a:ext>
            </a:extLst>
          </p:cNvPr>
          <p:cNvSpPr>
            <a:spLocks noGrp="1"/>
          </p:cNvSpPr>
          <p:nvPr/>
        </p:nvSpPr>
        <p:spPr>
          <a:xfrm>
            <a:off x="685800" y="285750"/>
            <a:ext cx="5048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05 Agent Builder 动手 Lab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4EFB505-F514-4C68-AB6D-CBEB2830FB57}"/>
              </a:ext>
            </a:extLst>
          </p:cNvPr>
          <p:cNvSpPr>
            <a:spLocks noGrp="1"/>
          </p:cNvSpPr>
          <p:nvPr/>
        </p:nvSpPr>
        <p:spPr>
          <a:xfrm>
            <a:off x="685800" y="638175"/>
            <a:ext cx="108204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补充步骤｜查找会议模板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7EDA603-CD2E-42D3-8EA0-6F2994248C27}"/>
              </a:ext>
            </a:extLst>
          </p:cNvPr>
          <p:cNvSpPr>
            <a:spLocks noGrp="1"/>
          </p:cNvSpPr>
          <p:nvPr/>
        </p:nvSpPr>
        <p:spPr>
          <a:xfrm>
            <a:off x="685800" y="1181100"/>
            <a:ext cx="108204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搜索结果同时显示文件名、修改时间、修改人和保存位置，帮助我们区分名称相似的模板。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AB8AD14-C4B0-42F0-9500-F39905835B22}"/>
              </a:ext>
            </a:extLst>
          </p:cNvPr>
          <p:cNvSpPr>
            <a:spLocks noGrp="1"/>
          </p:cNvSpPr>
          <p:nvPr/>
        </p:nvSpPr>
        <p:spPr>
          <a:xfrm>
            <a:off x="11049000" y="6438900"/>
            <a:ext cx="4572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44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A98AB08-F0F4-4B4B-9038-1B302A83319E}"/>
              </a:ext>
            </a:extLst>
          </p:cNvPr>
          <p:cNvSpPr>
            <a:spLocks noGrp="1"/>
          </p:cNvSpPr>
          <p:nvPr/>
        </p:nvSpPr>
        <p:spPr>
          <a:xfrm>
            <a:off x="685800" y="6334125"/>
            <a:ext cx="10820400" cy="9525"/>
          </a:xfrm>
          <a:prstGeom prst="rect">
            <a:avLst/>
          </a:prstGeom>
          <a:solidFill>
            <a:srgbClr val="C9DDF2"/>
          </a:solidFill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21" name="Picture 20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245394" y="1714500"/>
            <a:ext cx="5872163" cy="3905250"/>
          </a:xfrm>
          <a:prstGeom prst="roundRect">
            <a:avLst>
              <a:gd name="adj" fmla="val 2927"/>
            </a:avLst>
          </a:prstGeom>
        </p:spPr>
      </p:pic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97869B41-1A3E-4572-A94F-919F106A2510}"/>
              </a:ext>
            </a:extLst>
          </p:cNvPr>
          <p:cNvSpPr>
            <a:spLocks noGrp="1"/>
          </p:cNvSpPr>
          <p:nvPr/>
        </p:nvSpPr>
        <p:spPr>
          <a:xfrm>
            <a:off x="666750" y="1695450"/>
            <a:ext cx="7029450" cy="3943350"/>
          </a:xfrm>
          <a:prstGeom prst="roundRect">
            <a:avLst>
              <a:gd name="adj" fmla="val 2899"/>
            </a:avLst>
          </a:prstGeom>
          <a:noFill/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C9A8F385-9F1D-4913-B6D2-F2C198549579}"/>
              </a:ext>
            </a:extLst>
          </p:cNvPr>
          <p:cNvSpPr>
            <a:spLocks noGrp="1"/>
          </p:cNvSpPr>
          <p:nvPr/>
        </p:nvSpPr>
        <p:spPr>
          <a:xfrm>
            <a:off x="7905750" y="1809750"/>
            <a:ext cx="3600450" cy="3238500"/>
          </a:xfrm>
          <a:prstGeom prst="roundRect">
            <a:avLst>
              <a:gd name="adj" fmla="val 3529"/>
            </a:avLst>
          </a:prstGeom>
          <a:solidFill>
            <a:srgbClr val="F6FAFE"/>
          </a:solidFill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1487CE5-41F2-4404-8058-554A326F9FC4}"/>
              </a:ext>
            </a:extLst>
          </p:cNvPr>
          <p:cNvSpPr>
            <a:spLocks noGrp="1"/>
          </p:cNvSpPr>
          <p:nvPr/>
        </p:nvSpPr>
        <p:spPr>
          <a:xfrm>
            <a:off x="8172450" y="2133600"/>
            <a:ext cx="30670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725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本步要点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0426A8C-3308-425A-9ED7-AEABFD9DA57D}"/>
              </a:ext>
            </a:extLst>
          </p:cNvPr>
          <p:cNvSpPr>
            <a:spLocks noGrp="1"/>
          </p:cNvSpPr>
          <p:nvPr/>
        </p:nvSpPr>
        <p:spPr>
          <a:xfrm>
            <a:off x="8172450" y="2590800"/>
            <a:ext cx="3067050" cy="2286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搜索时先输入 Mail Template，再核对修改时间、修改人和保存位置，确认模板来自哪个团队、是否为当前版本。</a:t>
            </a:r>
          </a:p>
          <a:p>
            <a:endParaRPr sz="1200" b="0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buNone/>
              <a:def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确认版本后，中文管理层邮件选择 Mail Template CN，英文沟通选择 EN；若有多个同名文件，再打开查看栏目和适用范围。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424168BD-ABC3-4052-9998-1122A2588699}"/>
              </a:ext>
            </a:extLst>
          </p:cNvPr>
          <p:cNvSpPr>
            <a:spLocks noGrp="1"/>
          </p:cNvSpPr>
          <p:nvPr/>
        </p:nvSpPr>
        <p:spPr>
          <a:xfrm>
            <a:off x="7905750" y="5257800"/>
            <a:ext cx="3600450" cy="342900"/>
          </a:xfrm>
          <a:prstGeom prst="roundRect">
            <a:avLst>
              <a:gd name="adj" fmla="val 33333"/>
            </a:avLst>
          </a:prstGeom>
          <a:solidFill>
            <a:srgbClr val="EAF4FF"/>
          </a:solidFill>
          <a:ln w="9525">
            <a:solidFill>
              <a:srgbClr val="0066CC"/>
            </a:solidFill>
            <a:prstDash val="solid"/>
          </a:ln>
        </p:spPr>
        <p:txBody>
          <a:bodyPr wrap="none" lIns="76200" tIns="0" rIns="76200" bIns="0" anchor="ctr">
            <a:normAutofit/>
          </a:bodyPr>
          <a:lstStyle/>
          <a:p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r:id="rId4"/>
              </a:rPr>
              <a:t>打开 Lab 03  ↗</a:t>
            </a:r>
          </a:p>
        </p:txBody>
      </p:sp>
    </p:spTree>
    <p:extLst>
      <p:ext uri="{BB962C8B-B14F-4D97-AF65-F5344CB8AC3E}">
        <p14:creationId xmlns:p14="http://schemas.microsoft.com/office/powerpoint/2010/main" val="755558870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F31B5AF7-A987-4FFC-B94D-464778EC318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0066CC"/>
          </a:solidFill>
          <a:ln w="9525">
            <a:solidFill>
              <a:srgbClr val="0066C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4ADDD82-F680-4153-99FC-E4D0D7F242AD}"/>
              </a:ext>
            </a:extLst>
          </p:cNvPr>
          <p:cNvSpPr>
            <a:spLocks noGrp="1"/>
          </p:cNvSpPr>
          <p:nvPr/>
        </p:nvSpPr>
        <p:spPr>
          <a:xfrm>
            <a:off x="685800" y="285750"/>
            <a:ext cx="5048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05 Agent Builder 动手 Lab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920D362-D61E-401A-9D3D-386E7C81EFB6}"/>
              </a:ext>
            </a:extLst>
          </p:cNvPr>
          <p:cNvSpPr>
            <a:spLocks noGrp="1"/>
          </p:cNvSpPr>
          <p:nvPr/>
        </p:nvSpPr>
        <p:spPr>
          <a:xfrm>
            <a:off x="685800" y="638175"/>
            <a:ext cx="108204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步骤 5｜设置常用快捷问题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37F9E99-D995-4D21-900C-61F4372C7859}"/>
              </a:ext>
            </a:extLst>
          </p:cNvPr>
          <p:cNvSpPr>
            <a:spLocks noGrp="1"/>
          </p:cNvSpPr>
          <p:nvPr/>
        </p:nvSpPr>
        <p:spPr>
          <a:xfrm>
            <a:off x="685800" y="1181100"/>
            <a:ext cx="108204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每条快捷问题包括一个简短标题（Title）和一段完整任务（Message）。用户点击标题后，系统会发送对应的任务。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5CC1DBF-0A93-4B59-A754-7A43CE926BC7}"/>
              </a:ext>
            </a:extLst>
          </p:cNvPr>
          <p:cNvSpPr>
            <a:spLocks noGrp="1"/>
          </p:cNvSpPr>
          <p:nvPr/>
        </p:nvSpPr>
        <p:spPr>
          <a:xfrm>
            <a:off x="11049000" y="6438900"/>
            <a:ext cx="4572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45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467EF84-A9C6-4897-B6F7-E4266B275792}"/>
              </a:ext>
            </a:extLst>
          </p:cNvPr>
          <p:cNvSpPr>
            <a:spLocks noGrp="1"/>
          </p:cNvSpPr>
          <p:nvPr/>
        </p:nvSpPr>
        <p:spPr>
          <a:xfrm>
            <a:off x="685800" y="6334125"/>
            <a:ext cx="10820400" cy="9525"/>
          </a:xfrm>
          <a:prstGeom prst="rect">
            <a:avLst/>
          </a:prstGeom>
          <a:solidFill>
            <a:srgbClr val="C9DDF2"/>
          </a:solidFill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21" name="Picture 20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85800" y="2478213"/>
            <a:ext cx="6991350" cy="2377824"/>
          </a:xfrm>
          <a:prstGeom prst="roundRect">
            <a:avLst>
              <a:gd name="adj" fmla="val 2927"/>
            </a:avLst>
          </a:prstGeom>
        </p:spPr>
      </p:pic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3D21E82E-8EED-43F1-8D4D-C2A51B277B0D}"/>
              </a:ext>
            </a:extLst>
          </p:cNvPr>
          <p:cNvSpPr>
            <a:spLocks noGrp="1"/>
          </p:cNvSpPr>
          <p:nvPr/>
        </p:nvSpPr>
        <p:spPr>
          <a:xfrm>
            <a:off x="666750" y="1695450"/>
            <a:ext cx="7029450" cy="3943350"/>
          </a:xfrm>
          <a:prstGeom prst="roundRect">
            <a:avLst>
              <a:gd name="adj" fmla="val 2899"/>
            </a:avLst>
          </a:prstGeom>
          <a:noFill/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76552047-EEFC-4F01-9016-E87AAF2FBFAC}"/>
              </a:ext>
            </a:extLst>
          </p:cNvPr>
          <p:cNvSpPr>
            <a:spLocks noGrp="1"/>
          </p:cNvSpPr>
          <p:nvPr/>
        </p:nvSpPr>
        <p:spPr>
          <a:xfrm>
            <a:off x="7905750" y="1809750"/>
            <a:ext cx="3600450" cy="3238500"/>
          </a:xfrm>
          <a:prstGeom prst="roundRect">
            <a:avLst>
              <a:gd name="adj" fmla="val 3529"/>
            </a:avLst>
          </a:prstGeom>
          <a:solidFill>
            <a:srgbClr val="F6FAFE"/>
          </a:solidFill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BFC9D8B-BD7B-434E-B905-7C8D2265E1F7}"/>
              </a:ext>
            </a:extLst>
          </p:cNvPr>
          <p:cNvSpPr>
            <a:spLocks noGrp="1"/>
          </p:cNvSpPr>
          <p:nvPr/>
        </p:nvSpPr>
        <p:spPr>
          <a:xfrm>
            <a:off x="8172450" y="2133600"/>
            <a:ext cx="30670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725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本步要点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CCEA535-4317-47D6-AFBA-B4840390389F}"/>
              </a:ext>
            </a:extLst>
          </p:cNvPr>
          <p:cNvSpPr>
            <a:spLocks noGrp="1"/>
          </p:cNvSpPr>
          <p:nvPr/>
        </p:nvSpPr>
        <p:spPr>
          <a:xfrm>
            <a:off x="8172450" y="2590800"/>
            <a:ext cx="3067050" cy="2286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首先用 Title 的短语说明任务，例如“行动项”。</a:t>
            </a:r>
          </a:p>
          <a:p>
            <a:endParaRPr sz="1200" b="0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buNone/>
              <a:def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接着在 Message 中写清输入、结果和必要限制，也可以注明负责人、截止日期与状态。</a:t>
            </a:r>
          </a:p>
          <a:p>
            <a:endParaRPr sz="1200" b="0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buNone/>
              <a:def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为了减少选择成本，最后只保留 2–3 个常用入口；新增时点击 Add a suggested prompt。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3097AC88-FFF3-4191-8DA0-A4148D80A77B}"/>
              </a:ext>
            </a:extLst>
          </p:cNvPr>
          <p:cNvSpPr>
            <a:spLocks noGrp="1"/>
          </p:cNvSpPr>
          <p:nvPr/>
        </p:nvSpPr>
        <p:spPr>
          <a:xfrm>
            <a:off x="7905750" y="5257800"/>
            <a:ext cx="3600450" cy="342900"/>
          </a:xfrm>
          <a:prstGeom prst="roundRect">
            <a:avLst>
              <a:gd name="adj" fmla="val 33333"/>
            </a:avLst>
          </a:prstGeom>
          <a:solidFill>
            <a:srgbClr val="EAF4FF"/>
          </a:solidFill>
          <a:ln w="9525">
            <a:solidFill>
              <a:srgbClr val="0066CC"/>
            </a:solidFill>
            <a:prstDash val="solid"/>
          </a:ln>
        </p:spPr>
        <p:txBody>
          <a:bodyPr wrap="none" lIns="76200" tIns="0" rIns="76200" bIns="0" anchor="ctr">
            <a:normAutofit/>
          </a:bodyPr>
          <a:lstStyle/>
          <a:p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r:id="rId4"/>
              </a:rPr>
              <a:t>打开 Lab 操作指南  ↗</a:t>
            </a:r>
          </a:p>
        </p:txBody>
      </p:sp>
    </p:spTree>
    <p:extLst>
      <p:ext uri="{BB962C8B-B14F-4D97-AF65-F5344CB8AC3E}">
        <p14:creationId xmlns:p14="http://schemas.microsoft.com/office/powerpoint/2010/main" val="1902188897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EFB4EC7A-7BAF-4507-A613-B5B71235F6E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0066CC"/>
          </a:solidFill>
          <a:ln w="9525">
            <a:solidFill>
              <a:srgbClr val="0066C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4E8449E-916A-469B-B387-2C71525736B2}"/>
              </a:ext>
            </a:extLst>
          </p:cNvPr>
          <p:cNvSpPr>
            <a:spLocks noGrp="1"/>
          </p:cNvSpPr>
          <p:nvPr/>
        </p:nvSpPr>
        <p:spPr>
          <a:xfrm>
            <a:off x="685800" y="285750"/>
            <a:ext cx="5048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05 Agent Builder 动手 Lab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1FE8A74-1B36-49AF-97CF-9DEE675781C2}"/>
              </a:ext>
            </a:extLst>
          </p:cNvPr>
          <p:cNvSpPr>
            <a:spLocks noGrp="1"/>
          </p:cNvSpPr>
          <p:nvPr/>
        </p:nvSpPr>
        <p:spPr>
          <a:xfrm>
            <a:off x="685800" y="638175"/>
            <a:ext cx="108204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步骤 6｜试运行、调整并创建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50D71F9-B3E3-487E-B5F3-749D206F4C50}"/>
              </a:ext>
            </a:extLst>
          </p:cNvPr>
          <p:cNvSpPr>
            <a:spLocks noGrp="1"/>
          </p:cNvSpPr>
          <p:nvPr/>
        </p:nvSpPr>
        <p:spPr>
          <a:xfrm>
            <a:off x="685800" y="1181100"/>
            <a:ext cx="108204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右侧 Preview 用于试运行 Agent，左侧 Configure 用于返回修改设置，顶部 Create 用于完成创建。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9FF4255-FDBD-4C32-96D9-453A7CA1AC12}"/>
              </a:ext>
            </a:extLst>
          </p:cNvPr>
          <p:cNvSpPr>
            <a:spLocks noGrp="1"/>
          </p:cNvSpPr>
          <p:nvPr/>
        </p:nvSpPr>
        <p:spPr>
          <a:xfrm>
            <a:off x="11049000" y="6438900"/>
            <a:ext cx="4572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46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FA1BC29-B22F-46DC-8B31-D4A8E3EE5552}"/>
              </a:ext>
            </a:extLst>
          </p:cNvPr>
          <p:cNvSpPr>
            <a:spLocks noGrp="1"/>
          </p:cNvSpPr>
          <p:nvPr/>
        </p:nvSpPr>
        <p:spPr>
          <a:xfrm>
            <a:off x="685800" y="6334125"/>
            <a:ext cx="10820400" cy="9525"/>
          </a:xfrm>
          <a:prstGeom prst="rect">
            <a:avLst/>
          </a:prstGeom>
          <a:solidFill>
            <a:srgbClr val="C9DDF2"/>
          </a:solidFill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21" name="Picture 20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85800" y="1817819"/>
            <a:ext cx="6991350" cy="3698613"/>
          </a:xfrm>
          <a:prstGeom prst="roundRect">
            <a:avLst>
              <a:gd name="adj" fmla="val 2927"/>
            </a:avLst>
          </a:prstGeom>
        </p:spPr>
      </p:pic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9D4096F9-A80F-4039-A78B-6A2F2E4DE68E}"/>
              </a:ext>
            </a:extLst>
          </p:cNvPr>
          <p:cNvSpPr>
            <a:spLocks noGrp="1"/>
          </p:cNvSpPr>
          <p:nvPr/>
        </p:nvSpPr>
        <p:spPr>
          <a:xfrm>
            <a:off x="666750" y="1695450"/>
            <a:ext cx="7029450" cy="3943350"/>
          </a:xfrm>
          <a:prstGeom prst="roundRect">
            <a:avLst>
              <a:gd name="adj" fmla="val 2899"/>
            </a:avLst>
          </a:prstGeom>
          <a:noFill/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738A906F-0804-4A70-BA4C-0E0BDBD12BE4}"/>
              </a:ext>
            </a:extLst>
          </p:cNvPr>
          <p:cNvSpPr>
            <a:spLocks noGrp="1"/>
          </p:cNvSpPr>
          <p:nvPr/>
        </p:nvSpPr>
        <p:spPr>
          <a:xfrm>
            <a:off x="7905750" y="1809750"/>
            <a:ext cx="3600450" cy="3238500"/>
          </a:xfrm>
          <a:prstGeom prst="roundRect">
            <a:avLst>
              <a:gd name="adj" fmla="val 3529"/>
            </a:avLst>
          </a:prstGeom>
          <a:solidFill>
            <a:srgbClr val="F6FAFE"/>
          </a:solidFill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C9B5C09-15E3-4EEA-89F2-FEC80F42BC8D}"/>
              </a:ext>
            </a:extLst>
          </p:cNvPr>
          <p:cNvSpPr>
            <a:spLocks noGrp="1"/>
          </p:cNvSpPr>
          <p:nvPr/>
        </p:nvSpPr>
        <p:spPr>
          <a:xfrm>
            <a:off x="8172450" y="2133600"/>
            <a:ext cx="30670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725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本步要点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1B0A12D-F5A8-4035-BA7F-F785DB9797E2}"/>
              </a:ext>
            </a:extLst>
          </p:cNvPr>
          <p:cNvSpPr>
            <a:spLocks noGrp="1"/>
          </p:cNvSpPr>
          <p:nvPr/>
        </p:nvSpPr>
        <p:spPr>
          <a:xfrm>
            <a:off x="8172450" y="2590800"/>
            <a:ext cx="3067050" cy="2286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先用一份信息完整的材料试一次，确认任务和输出结构。再删除负责人或日期，看 Agent 会不会指出信息缺失，而不是自己补出来。</a:t>
            </a:r>
          </a:p>
          <a:p>
            <a:endParaRPr sz="1200" b="0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buNone/>
              <a:def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如果结果不稳定，返回 Configure 修改工作规则、参考资料或快捷问题。确认可用后再点 Create；Draft auto-saved 只表示草稿已保存。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586CFB0B-FEEE-4B22-BBC7-992346C4CE37}"/>
              </a:ext>
            </a:extLst>
          </p:cNvPr>
          <p:cNvSpPr>
            <a:spLocks noGrp="1"/>
          </p:cNvSpPr>
          <p:nvPr/>
        </p:nvSpPr>
        <p:spPr>
          <a:xfrm>
            <a:off x="7905750" y="5257800"/>
            <a:ext cx="3600450" cy="342900"/>
          </a:xfrm>
          <a:prstGeom prst="roundRect">
            <a:avLst>
              <a:gd name="adj" fmla="val 33333"/>
            </a:avLst>
          </a:prstGeom>
          <a:solidFill>
            <a:srgbClr val="EAF4FF"/>
          </a:solidFill>
          <a:ln w="9525">
            <a:solidFill>
              <a:srgbClr val="0066CC"/>
            </a:solidFill>
            <a:prstDash val="solid"/>
          </a:ln>
        </p:spPr>
        <p:txBody>
          <a:bodyPr wrap="none" lIns="76200" tIns="0" rIns="76200" bIns="0" anchor="ctr">
            <a:normAutofit/>
          </a:bodyPr>
          <a:lstStyle/>
          <a:p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r:id="rId4"/>
              </a:rPr>
              <a:t>打开 M365 Copilot  ↗</a:t>
            </a:r>
          </a:p>
        </p:txBody>
      </p:sp>
    </p:spTree>
    <p:extLst>
      <p:ext uri="{BB962C8B-B14F-4D97-AF65-F5344CB8AC3E}">
        <p14:creationId xmlns:p14="http://schemas.microsoft.com/office/powerpoint/2010/main" val="1164786737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EDD3CE40-22F5-4204-B14B-8D5392BFF89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0066CC"/>
          </a:solidFill>
          <a:ln w="9525">
            <a:solidFill>
              <a:srgbClr val="0066C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008E935-910A-4998-BC55-45C3B422A3FA}"/>
              </a:ext>
            </a:extLst>
          </p:cNvPr>
          <p:cNvSpPr>
            <a:spLocks noGrp="1"/>
          </p:cNvSpPr>
          <p:nvPr/>
        </p:nvSpPr>
        <p:spPr>
          <a:xfrm>
            <a:off x="685800" y="285750"/>
            <a:ext cx="5048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05 Agent Builder 动手 Lab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88D40AD-6F57-4232-9CDF-88B4E7FB8211}"/>
              </a:ext>
            </a:extLst>
          </p:cNvPr>
          <p:cNvSpPr>
            <a:spLocks noGrp="1"/>
          </p:cNvSpPr>
          <p:nvPr/>
        </p:nvSpPr>
        <p:spPr>
          <a:xfrm>
            <a:off x="685800" y="638175"/>
            <a:ext cx="108204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讲师示范结果｜会议跟进助手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C44B262-CEE7-47B4-8F27-EE3DADBEE351}"/>
              </a:ext>
            </a:extLst>
          </p:cNvPr>
          <p:cNvSpPr>
            <a:spLocks noGrp="1"/>
          </p:cNvSpPr>
          <p:nvPr/>
        </p:nvSpPr>
        <p:spPr>
          <a:xfrm>
            <a:off x="685800" y="1181100"/>
            <a:ext cx="108204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示例要求使用管理层简报结构，并把尚未确认的信息保留下来。输出注明使用了 Mail Template CN.docx 模板。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91CD150-3C70-4F51-81AE-FD8ADE1EBC43}"/>
              </a:ext>
            </a:extLst>
          </p:cNvPr>
          <p:cNvSpPr>
            <a:spLocks noGrp="1"/>
          </p:cNvSpPr>
          <p:nvPr/>
        </p:nvSpPr>
        <p:spPr>
          <a:xfrm>
            <a:off x="11049000" y="6438900"/>
            <a:ext cx="4572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47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55E9EDE-7318-4FE4-AF5F-B9C5A778D118}"/>
              </a:ext>
            </a:extLst>
          </p:cNvPr>
          <p:cNvSpPr>
            <a:spLocks noGrp="1"/>
          </p:cNvSpPr>
          <p:nvPr/>
        </p:nvSpPr>
        <p:spPr>
          <a:xfrm>
            <a:off x="685800" y="6334125"/>
            <a:ext cx="10820400" cy="9525"/>
          </a:xfrm>
          <a:prstGeom prst="rect">
            <a:avLst/>
          </a:prstGeom>
          <a:solidFill>
            <a:srgbClr val="C9DDF2"/>
          </a:solidFill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21" name="Picture 20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85800" y="1742381"/>
            <a:ext cx="6991350" cy="3849488"/>
          </a:xfrm>
          <a:prstGeom prst="roundRect">
            <a:avLst>
              <a:gd name="adj" fmla="val 2927"/>
            </a:avLst>
          </a:prstGeom>
        </p:spPr>
      </p:pic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8330ADCC-11F7-4448-8D69-5AA4FF19F10C}"/>
              </a:ext>
            </a:extLst>
          </p:cNvPr>
          <p:cNvSpPr>
            <a:spLocks noGrp="1"/>
          </p:cNvSpPr>
          <p:nvPr/>
        </p:nvSpPr>
        <p:spPr>
          <a:xfrm>
            <a:off x="666750" y="1695450"/>
            <a:ext cx="7029450" cy="3943350"/>
          </a:xfrm>
          <a:prstGeom prst="roundRect">
            <a:avLst>
              <a:gd name="adj" fmla="val 2899"/>
            </a:avLst>
          </a:prstGeom>
          <a:noFill/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C6C88354-A00D-445B-ADF2-7C931C410CA3}"/>
              </a:ext>
            </a:extLst>
          </p:cNvPr>
          <p:cNvSpPr>
            <a:spLocks noGrp="1"/>
          </p:cNvSpPr>
          <p:nvPr/>
        </p:nvSpPr>
        <p:spPr>
          <a:xfrm>
            <a:off x="7905750" y="1809750"/>
            <a:ext cx="3600450" cy="3238500"/>
          </a:xfrm>
          <a:prstGeom prst="roundRect">
            <a:avLst>
              <a:gd name="adj" fmla="val 3529"/>
            </a:avLst>
          </a:prstGeom>
          <a:solidFill>
            <a:srgbClr val="F6FAFE"/>
          </a:solidFill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E6C1076-BF70-4F03-9D97-39D5891BFE95}"/>
              </a:ext>
            </a:extLst>
          </p:cNvPr>
          <p:cNvSpPr>
            <a:spLocks noGrp="1"/>
          </p:cNvSpPr>
          <p:nvPr/>
        </p:nvSpPr>
        <p:spPr>
          <a:xfrm>
            <a:off x="8172450" y="2133600"/>
            <a:ext cx="30670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725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本步要点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72DC9AC-1C33-4980-B638-B124AB815105}"/>
              </a:ext>
            </a:extLst>
          </p:cNvPr>
          <p:cNvSpPr>
            <a:spLocks noGrp="1"/>
          </p:cNvSpPr>
          <p:nvPr/>
        </p:nvSpPr>
        <p:spPr>
          <a:xfrm>
            <a:off x="8172450" y="2590800"/>
            <a:ext cx="3067050" cy="2286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先看会议背景有没有说清楚，再看已经决定的事项是否与讨论内容分开。然后检查负责人和日期是否完整，未决定的产品演示是否仍标记为待确认。</a:t>
            </a:r>
          </a:p>
          <a:p>
            <a:endParaRPr sz="1200" b="0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buNone/>
              <a:def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最后确认输出确实使用了模板，并判断生成的跟进邮件是否只需少量修改就能使用。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8C87D03E-C9EE-403E-A89D-1829375D2853}"/>
              </a:ext>
            </a:extLst>
          </p:cNvPr>
          <p:cNvSpPr>
            <a:spLocks noGrp="1"/>
          </p:cNvSpPr>
          <p:nvPr/>
        </p:nvSpPr>
        <p:spPr>
          <a:xfrm>
            <a:off x="7905750" y="5257800"/>
            <a:ext cx="3600450" cy="342900"/>
          </a:xfrm>
          <a:prstGeom prst="roundRect">
            <a:avLst>
              <a:gd name="adj" fmla="val 33333"/>
            </a:avLst>
          </a:prstGeom>
          <a:solidFill>
            <a:srgbClr val="EAF4FF"/>
          </a:solidFill>
          <a:ln w="9525">
            <a:solidFill>
              <a:srgbClr val="0066CC"/>
            </a:solidFill>
            <a:prstDash val="solid"/>
          </a:ln>
        </p:spPr>
        <p:txBody>
          <a:bodyPr wrap="none" lIns="76200" tIns="0" rIns="76200" bIns="0" anchor="ctr">
            <a:normAutofit/>
          </a:bodyPr>
          <a:lstStyle/>
          <a:p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r:id="rId4"/>
              </a:rPr>
              <a:t>打开 Lab 03  ↗</a:t>
            </a:r>
          </a:p>
        </p:txBody>
      </p:sp>
    </p:spTree>
    <p:extLst>
      <p:ext uri="{BB962C8B-B14F-4D97-AF65-F5344CB8AC3E}">
        <p14:creationId xmlns:p14="http://schemas.microsoft.com/office/powerpoint/2010/main" val="732036159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C5087740-8BA7-469E-B135-17131E27755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0066CC"/>
          </a:solidFill>
          <a:ln w="9525">
            <a:solidFill>
              <a:srgbClr val="0066C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099FDEA-CB17-4FFB-9E02-979253051A54}"/>
              </a:ext>
            </a:extLst>
          </p:cNvPr>
          <p:cNvSpPr>
            <a:spLocks noGrp="1"/>
          </p:cNvSpPr>
          <p:nvPr/>
        </p:nvSpPr>
        <p:spPr>
          <a:xfrm>
            <a:off x="685800" y="285750"/>
            <a:ext cx="5048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05 Agent Builder 动手 Lab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6DF2689-0FD1-4BF2-A98B-32E36B34DB6F}"/>
              </a:ext>
            </a:extLst>
          </p:cNvPr>
          <p:cNvSpPr>
            <a:spLocks noGrp="1"/>
          </p:cNvSpPr>
          <p:nvPr/>
        </p:nvSpPr>
        <p:spPr>
          <a:xfrm>
            <a:off x="685800" y="638175"/>
            <a:ext cx="108204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轮到你：完成一个 Agent Lab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6D78617-C878-4E9F-947C-6BA84A2B7E9A}"/>
              </a:ext>
            </a:extLst>
          </p:cNvPr>
          <p:cNvSpPr>
            <a:spLocks noGrp="1"/>
          </p:cNvSpPr>
          <p:nvPr/>
        </p:nvSpPr>
        <p:spPr>
          <a:xfrm>
            <a:off x="685800" y="1181100"/>
            <a:ext cx="108204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从前四个 Lab 中选择一个，按照网站指南在 Microsoft 365 Copilot 中完成构建。先做出可以运行的版本，再分别用完整资料和信息不完整的资料试一次。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77DF0DE-C7BB-4579-A643-BA57DF83C033}"/>
              </a:ext>
            </a:extLst>
          </p:cNvPr>
          <p:cNvSpPr>
            <a:spLocks noGrp="1"/>
          </p:cNvSpPr>
          <p:nvPr/>
        </p:nvSpPr>
        <p:spPr>
          <a:xfrm>
            <a:off x="11049000" y="6438900"/>
            <a:ext cx="4572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48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BE563F0-8D11-4D5B-A535-4F3FF6143A5B}"/>
              </a:ext>
            </a:extLst>
          </p:cNvPr>
          <p:cNvSpPr>
            <a:spLocks noGrp="1"/>
          </p:cNvSpPr>
          <p:nvPr/>
        </p:nvSpPr>
        <p:spPr>
          <a:xfrm>
            <a:off x="685800" y="6334125"/>
            <a:ext cx="10820400" cy="9525"/>
          </a:xfrm>
          <a:prstGeom prst="rect">
            <a:avLst/>
          </a:prstGeom>
          <a:solidFill>
            <a:srgbClr val="C9DDF2"/>
          </a:solidFill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58ECDDC-3AF9-47F1-8A15-5358FEE3D952}"/>
              </a:ext>
            </a:extLst>
          </p:cNvPr>
          <p:cNvSpPr>
            <a:spLocks noGrp="1"/>
          </p:cNvSpPr>
          <p:nvPr/>
        </p:nvSpPr>
        <p:spPr>
          <a:xfrm>
            <a:off x="952500" y="1762125"/>
            <a:ext cx="10287000" cy="2476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rmAutofit/>
          </a:bodyPr>
          <a:lstStyle/>
          <a:p>
            <a:pPr>
              <a:buNone/>
              <a:defRPr sz="15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首先从四个 Lab 中选择一个场景，并完成名称、用途、工作规则、参考资料和 2–3 个常用快捷问题。</a:t>
            </a:r>
          </a:p>
          <a:p>
            <a:endParaRPr sz="1500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>
            <a:pPr>
              <a:buNone/>
              <a:defRPr sz="15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接着先用信息完整的材料运行一次，再删除一个重要信息，观察 Agent 是否依据资料回答、是否明确指出缺少什么，并避免自行补充。</a:t>
            </a:r>
          </a:p>
          <a:p>
            <a:endParaRPr sz="1500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>
            <a:pPr>
              <a:buNone/>
              <a:defRPr sz="15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最终目标不是一次生成结果，而是确认这个 Agent 在信息完整和不完整两种情况下都表现可靠。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F02CEED-B9BF-424E-B7AE-5347AF88659D}"/>
              </a:ext>
            </a:extLst>
          </p:cNvPr>
          <p:cNvSpPr>
            <a:spLocks noGrp="1"/>
          </p:cNvSpPr>
          <p:nvPr/>
        </p:nvSpPr>
        <p:spPr>
          <a:xfrm>
            <a:off x="1238250" y="4514850"/>
            <a:ext cx="9715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buNone/>
              <a:defRPr sz="1650" b="1">
                <a:solidFill>
                  <a:srgbClr val="E874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E8742B"/>
                </a:solidFill>
                <a:latin typeface="Microsoft YaHei"/>
                <a:ea typeface="Microsoft YaHei"/>
                <a:cs typeface="Microsoft YaHei"/>
              </a:rPr>
              <a:t>先完成可运行版本，再用两种信息条件验证它是否可靠。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81F85775-A921-4122-B09A-D4123F60EF19}"/>
              </a:ext>
            </a:extLst>
          </p:cNvPr>
          <p:cNvSpPr>
            <a:spLocks noGrp="1"/>
          </p:cNvSpPr>
          <p:nvPr/>
        </p:nvSpPr>
        <p:spPr>
          <a:xfrm>
            <a:off x="685800" y="5867400"/>
            <a:ext cx="1238250" cy="342900"/>
          </a:xfrm>
          <a:prstGeom prst="roundRect">
            <a:avLst>
              <a:gd name="adj" fmla="val 33333"/>
            </a:avLst>
          </a:prstGeom>
          <a:solidFill>
            <a:srgbClr val="EAF4FF"/>
          </a:solidFill>
          <a:ln w="9525">
            <a:solidFill>
              <a:srgbClr val="0066CC"/>
            </a:solidFill>
            <a:prstDash val="solid"/>
          </a:ln>
        </p:spPr>
        <p:txBody>
          <a:bodyPr wrap="none" lIns="76200" tIns="0" rIns="76200" bIns="0" anchor="ctr">
            <a:normAutofit/>
          </a:bodyPr>
          <a:lstStyle/>
          <a:p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r:id="rId3"/>
              </a:rPr>
              <a:t>Lab 01  ↗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1F2F8A29-D14F-4BD2-8684-1E371C1534A9}"/>
              </a:ext>
            </a:extLst>
          </p:cNvPr>
          <p:cNvSpPr>
            <a:spLocks noGrp="1"/>
          </p:cNvSpPr>
          <p:nvPr/>
        </p:nvSpPr>
        <p:spPr>
          <a:xfrm>
            <a:off x="2038350" y="5867400"/>
            <a:ext cx="1238250" cy="342900"/>
          </a:xfrm>
          <a:prstGeom prst="roundRect">
            <a:avLst>
              <a:gd name="adj" fmla="val 33333"/>
            </a:avLst>
          </a:prstGeom>
          <a:solidFill>
            <a:srgbClr val="EAF4FF"/>
          </a:solidFill>
          <a:ln w="9525">
            <a:solidFill>
              <a:srgbClr val="0066CC"/>
            </a:solidFill>
            <a:prstDash val="solid"/>
          </a:ln>
        </p:spPr>
        <p:txBody>
          <a:bodyPr wrap="none" lIns="76200" tIns="0" rIns="76200" bIns="0" anchor="ctr">
            <a:normAutofit/>
          </a:bodyPr>
          <a:lstStyle/>
          <a:p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r:id="rId4"/>
              </a:rPr>
              <a:t>Lab 02  ↗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F50D2284-AD4A-4EFB-BA9C-ABEF8FE77FD2}"/>
              </a:ext>
            </a:extLst>
          </p:cNvPr>
          <p:cNvSpPr>
            <a:spLocks noGrp="1"/>
          </p:cNvSpPr>
          <p:nvPr/>
        </p:nvSpPr>
        <p:spPr>
          <a:xfrm>
            <a:off x="3390900" y="5867400"/>
            <a:ext cx="1238250" cy="342900"/>
          </a:xfrm>
          <a:prstGeom prst="roundRect">
            <a:avLst>
              <a:gd name="adj" fmla="val 33333"/>
            </a:avLst>
          </a:prstGeom>
          <a:solidFill>
            <a:srgbClr val="EAF4FF"/>
          </a:solidFill>
          <a:ln w="9525">
            <a:solidFill>
              <a:srgbClr val="0066CC"/>
            </a:solidFill>
            <a:prstDash val="solid"/>
          </a:ln>
        </p:spPr>
        <p:txBody>
          <a:bodyPr wrap="none" lIns="76200" tIns="0" rIns="76200" bIns="0" anchor="ctr">
            <a:normAutofit/>
          </a:bodyPr>
          <a:lstStyle/>
          <a:p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r:id="rId5"/>
              </a:rPr>
              <a:t>Lab 03  ↗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FE6B8BC7-BC5B-4B93-82BF-79EC8E882EAC}"/>
              </a:ext>
            </a:extLst>
          </p:cNvPr>
          <p:cNvSpPr>
            <a:spLocks noGrp="1"/>
          </p:cNvSpPr>
          <p:nvPr/>
        </p:nvSpPr>
        <p:spPr>
          <a:xfrm>
            <a:off x="4743450" y="5867400"/>
            <a:ext cx="1238250" cy="342900"/>
          </a:xfrm>
          <a:prstGeom prst="roundRect">
            <a:avLst>
              <a:gd name="adj" fmla="val 33333"/>
            </a:avLst>
          </a:prstGeom>
          <a:solidFill>
            <a:srgbClr val="EAF4FF"/>
          </a:solidFill>
          <a:ln w="9525">
            <a:solidFill>
              <a:srgbClr val="0066CC"/>
            </a:solidFill>
            <a:prstDash val="solid"/>
          </a:ln>
        </p:spPr>
        <p:txBody>
          <a:bodyPr wrap="none" lIns="76200" tIns="0" rIns="76200" bIns="0" anchor="ctr">
            <a:normAutofit/>
          </a:bodyPr>
          <a:lstStyle/>
          <a:p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r:id="rId6"/>
              </a:rPr>
              <a:t>Lab 04  ↗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A7A6B260-3241-43A1-85E3-420DA15592FF}"/>
              </a:ext>
            </a:extLst>
          </p:cNvPr>
          <p:cNvSpPr>
            <a:spLocks noGrp="1"/>
          </p:cNvSpPr>
          <p:nvPr/>
        </p:nvSpPr>
        <p:spPr>
          <a:xfrm>
            <a:off x="6096000" y="5867400"/>
            <a:ext cx="1714500" cy="342900"/>
          </a:xfrm>
          <a:prstGeom prst="roundRect">
            <a:avLst>
              <a:gd name="adj" fmla="val 33333"/>
            </a:avLst>
          </a:prstGeom>
          <a:solidFill>
            <a:srgbClr val="EAF4FF"/>
          </a:solidFill>
          <a:ln w="9525">
            <a:solidFill>
              <a:srgbClr val="0066CC"/>
            </a:solidFill>
            <a:prstDash val="solid"/>
          </a:ln>
        </p:spPr>
        <p:txBody>
          <a:bodyPr wrap="none" lIns="76200" tIns="0" rIns="76200" bIns="0" anchor="ctr">
            <a:normAutofit/>
          </a:bodyPr>
          <a:lstStyle/>
          <a:p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r:id="rId7"/>
              </a:rPr>
              <a:t>M365 Copilot  ↗</a:t>
            </a:r>
          </a:p>
        </p:txBody>
      </p:sp>
    </p:spTree>
    <p:extLst>
      <p:ext uri="{BB962C8B-B14F-4D97-AF65-F5344CB8AC3E}">
        <p14:creationId xmlns:p14="http://schemas.microsoft.com/office/powerpoint/2010/main" val="1309987137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4540</Words>
  <Application>Microsoft Office PowerPoint</Application>
  <DocSecurity>0</DocSecurity>
  <PresentationFormat>Widescreen</PresentationFormat>
  <Paragraphs>783</Paragraphs>
  <Slides>49</Slides>
  <Notes>49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49</vt:i4>
      </vt:variant>
    </vt:vector>
  </HeadingPairs>
  <TitlesOfParts>
    <vt:vector size="52" baseType="lpstr">
      <vt:lpstr>Microsoft YaHei</vt:lpstr>
      <vt:lpstr>Calibri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CHEN, Wang Ting</cp:lastModifiedBy>
  <cp:revision>1</cp:revision>
  <dcterms:created xsi:type="dcterms:W3CDTF">2026-09-02T02:25:03Z</dcterms:created>
  <dcterms:modified xsi:type="dcterms:W3CDTF">2026-09-02T05:36:15Z</dcterms:modified>
</cp:coreProperties>
</file>