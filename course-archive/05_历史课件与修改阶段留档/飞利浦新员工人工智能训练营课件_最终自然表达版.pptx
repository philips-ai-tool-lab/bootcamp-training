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206dfa3f69148eb" /><Relationship Type="http://schemas.openxmlformats.org/officeDocument/2006/relationships/extended-properties" Target="/docProps/app.xml" Id="R00f51d71ba9843b5" /><Relationship Type="http://schemas.openxmlformats.org/officeDocument/2006/relationships/officeDocument" Target="/ppt/presentation.xml" Id="R4b6406cf1a5f4a6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8b51d87ff3e48bc"/>
  </p:sldMasterIdLst>
  <p:notesMasterIdLst>
    <p:notesMasterId xmlns:r="http://schemas.openxmlformats.org/officeDocument/2006/relationships" r:id="Rcb212eb470e74bf8"/>
  </p:notesMasterIdLst>
  <p:sldIdLst>
    <p:sldId xmlns:r="http://schemas.openxmlformats.org/officeDocument/2006/relationships" id="256" r:id="Re86acde218324e8d"/>
    <p:sldId xmlns:r="http://schemas.openxmlformats.org/officeDocument/2006/relationships" id="257" r:id="R18110c987e6e4216"/>
    <p:sldId xmlns:r="http://schemas.openxmlformats.org/officeDocument/2006/relationships" id="258" r:id="R0d841f0d9df14323"/>
    <p:sldId xmlns:r="http://schemas.openxmlformats.org/officeDocument/2006/relationships" id="259" r:id="Rd90092924e194725"/>
    <p:sldId xmlns:r="http://schemas.openxmlformats.org/officeDocument/2006/relationships" id="260" r:id="R48fd4b668fc84fc7"/>
    <p:sldId xmlns:r="http://schemas.openxmlformats.org/officeDocument/2006/relationships" id="261" r:id="R17690c428b244204"/>
    <p:sldId xmlns:r="http://schemas.openxmlformats.org/officeDocument/2006/relationships" id="262" r:id="R20db9dce79384c4b"/>
    <p:sldId xmlns:r="http://schemas.openxmlformats.org/officeDocument/2006/relationships" id="263" r:id="R7f85878438044eaa"/>
    <p:sldId xmlns:r="http://schemas.openxmlformats.org/officeDocument/2006/relationships" id="264" r:id="Rd2a52b7de39a46c8"/>
    <p:sldId xmlns:r="http://schemas.openxmlformats.org/officeDocument/2006/relationships" id="265" r:id="R11c90e4f053f43cb"/>
    <p:sldId xmlns:r="http://schemas.openxmlformats.org/officeDocument/2006/relationships" id="266" r:id="R1d8d5e2b5152404e"/>
    <p:sldId xmlns:r="http://schemas.openxmlformats.org/officeDocument/2006/relationships" id="267" r:id="R7851f36a7b9c4b58"/>
    <p:sldId xmlns:r="http://schemas.openxmlformats.org/officeDocument/2006/relationships" id="268" r:id="R1d88c3806fbe40a2"/>
    <p:sldId xmlns:r="http://schemas.openxmlformats.org/officeDocument/2006/relationships" id="269" r:id="Re8897b67b041465c"/>
    <p:sldId xmlns:r="http://schemas.openxmlformats.org/officeDocument/2006/relationships" id="270" r:id="Rb0cb1b1fcbae4083"/>
    <p:sldId xmlns:r="http://schemas.openxmlformats.org/officeDocument/2006/relationships" id="271" r:id="Ra2b09e150e9e42fe"/>
    <p:sldId xmlns:r="http://schemas.openxmlformats.org/officeDocument/2006/relationships" id="272" r:id="R1eccf6a08f24412f"/>
    <p:sldId xmlns:r="http://schemas.openxmlformats.org/officeDocument/2006/relationships" id="273" r:id="Rc5c2d10f9e754867"/>
    <p:sldId xmlns:r="http://schemas.openxmlformats.org/officeDocument/2006/relationships" id="274" r:id="Raa96b8970f1a4723"/>
    <p:sldId xmlns:r="http://schemas.openxmlformats.org/officeDocument/2006/relationships" id="275" r:id="R4313e6c8428442bd"/>
    <p:sldId xmlns:r="http://schemas.openxmlformats.org/officeDocument/2006/relationships" id="276" r:id="R58bb49b3acb44069"/>
    <p:sldId xmlns:r="http://schemas.openxmlformats.org/officeDocument/2006/relationships" id="277" r:id="Re8b76eeb8db14d68"/>
    <p:sldId xmlns:r="http://schemas.openxmlformats.org/officeDocument/2006/relationships" id="278" r:id="R4e475f2ac47b40a4"/>
    <p:sldId xmlns:r="http://schemas.openxmlformats.org/officeDocument/2006/relationships" id="279" r:id="Rdfcaf614aadb486c"/>
    <p:sldId xmlns:r="http://schemas.openxmlformats.org/officeDocument/2006/relationships" id="280" r:id="R881774933b3d4500"/>
    <p:sldId xmlns:r="http://schemas.openxmlformats.org/officeDocument/2006/relationships" id="281" r:id="Re3f780381470444a"/>
    <p:sldId xmlns:r="http://schemas.openxmlformats.org/officeDocument/2006/relationships" id="282" r:id="R3c8cd394c76f4be0"/>
    <p:sldId xmlns:r="http://schemas.openxmlformats.org/officeDocument/2006/relationships" id="283" r:id="R71d84baf633c4e9d"/>
    <p:sldId xmlns:r="http://schemas.openxmlformats.org/officeDocument/2006/relationships" id="284" r:id="R75b8434ab9344c3b"/>
    <p:sldId xmlns:r="http://schemas.openxmlformats.org/officeDocument/2006/relationships" id="285" r:id="Rb78180ae1c0449ea"/>
    <p:sldId xmlns:r="http://schemas.openxmlformats.org/officeDocument/2006/relationships" id="286" r:id="R237b69bb4f81404b"/>
    <p:sldId xmlns:r="http://schemas.openxmlformats.org/officeDocument/2006/relationships" id="287" r:id="Rfcb243e57b234573"/>
    <p:sldId xmlns:r="http://schemas.openxmlformats.org/officeDocument/2006/relationships" id="288" r:id="R6c3e6c31ecaa44cc"/>
    <p:sldId xmlns:r="http://schemas.openxmlformats.org/officeDocument/2006/relationships" id="289" r:id="R410f9add53284780"/>
    <p:sldId xmlns:r="http://schemas.openxmlformats.org/officeDocument/2006/relationships" id="290" r:id="R72a3e265ea0449ef"/>
    <p:sldId xmlns:r="http://schemas.openxmlformats.org/officeDocument/2006/relationships" id="291" r:id="R6e1d10ef2dab49bb"/>
    <p:sldId xmlns:r="http://schemas.openxmlformats.org/officeDocument/2006/relationships" id="292" r:id="R89945986864748c6"/>
    <p:sldId xmlns:r="http://schemas.openxmlformats.org/officeDocument/2006/relationships" id="293" r:id="R3ff1f8f4dd2749ea"/>
    <p:sldId xmlns:r="http://schemas.openxmlformats.org/officeDocument/2006/relationships" id="294" r:id="R9192f444790c46c2"/>
    <p:sldId xmlns:r="http://schemas.openxmlformats.org/officeDocument/2006/relationships" id="295" r:id="Re67d3fe9ded84efd"/>
    <p:sldId xmlns:r="http://schemas.openxmlformats.org/officeDocument/2006/relationships" id="296" r:id="Rc4ca38b86b9a4c11"/>
    <p:sldId xmlns:r="http://schemas.openxmlformats.org/officeDocument/2006/relationships" id="297" r:id="R9950d306811044bb"/>
    <p:sldId xmlns:r="http://schemas.openxmlformats.org/officeDocument/2006/relationships" id="298" r:id="R25e9e63279bd46a5"/>
    <p:sldId xmlns:r="http://schemas.openxmlformats.org/officeDocument/2006/relationships" id="299" r:id="Rcc35a3d361734d1e"/>
    <p:sldId xmlns:r="http://schemas.openxmlformats.org/officeDocument/2006/relationships" id="300" r:id="R8febc6ae2900490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c589484b28e44bf" /><Relationship Type="http://schemas.openxmlformats.org/officeDocument/2006/relationships/slideMaster" Target="/ppt/slideMasters/slideMaster1.xml" Id="R38b51d87ff3e48bc" /><Relationship Type="http://schemas.openxmlformats.org/officeDocument/2006/relationships/notesMaster" Target="/ppt/notesMasters/notesMaster1.xml" Id="Rcb212eb470e74bf8" /><Relationship Type="http://schemas.openxmlformats.org/officeDocument/2006/relationships/presProps" Target="/ppt/presProps.xml" Id="R28dd6452c9cc4d6c" /><Relationship Type="http://schemas.openxmlformats.org/officeDocument/2006/relationships/tableStyles" Target="/ppt/tableStyles.xml" Id="R33dc8d6cf9ba40f0" /><Relationship Type="http://schemas.openxmlformats.org/officeDocument/2006/relationships/slide" Target="/ppt/slides/slide1.xml" Id="Re86acde218324e8d" /><Relationship Type="http://schemas.openxmlformats.org/officeDocument/2006/relationships/slide" Target="/ppt/slides/slide2.xml" Id="R18110c987e6e4216" /><Relationship Type="http://schemas.openxmlformats.org/officeDocument/2006/relationships/slide" Target="/ppt/slides/slide3.xml" Id="R0d841f0d9df14323" /><Relationship Type="http://schemas.openxmlformats.org/officeDocument/2006/relationships/slide" Target="/ppt/slides/slide4.xml" Id="Rd90092924e194725" /><Relationship Type="http://schemas.openxmlformats.org/officeDocument/2006/relationships/slide" Target="/ppt/slides/slide5.xml" Id="R48fd4b668fc84fc7" /><Relationship Type="http://schemas.openxmlformats.org/officeDocument/2006/relationships/slide" Target="/ppt/slides/slide6.xml" Id="R17690c428b244204" /><Relationship Type="http://schemas.openxmlformats.org/officeDocument/2006/relationships/slide" Target="/ppt/slides/slide7.xml" Id="R20db9dce79384c4b" /><Relationship Type="http://schemas.openxmlformats.org/officeDocument/2006/relationships/slide" Target="/ppt/slides/slide8.xml" Id="R7f85878438044eaa" /><Relationship Type="http://schemas.openxmlformats.org/officeDocument/2006/relationships/slide" Target="/ppt/slides/slide9.xml" Id="Rd2a52b7de39a46c8" /><Relationship Type="http://schemas.openxmlformats.org/officeDocument/2006/relationships/slide" Target="/ppt/slides/slide10.xml" Id="R11c90e4f053f43cb" /><Relationship Type="http://schemas.openxmlformats.org/officeDocument/2006/relationships/slide" Target="/ppt/slides/slide11.xml" Id="R1d8d5e2b5152404e" /><Relationship Type="http://schemas.openxmlformats.org/officeDocument/2006/relationships/slide" Target="/ppt/slides/slide12.xml" Id="R7851f36a7b9c4b58" /><Relationship Type="http://schemas.openxmlformats.org/officeDocument/2006/relationships/slide" Target="/ppt/slides/slide13.xml" Id="R1d88c3806fbe40a2" /><Relationship Type="http://schemas.openxmlformats.org/officeDocument/2006/relationships/slide" Target="/ppt/slides/slide14.xml" Id="Re8897b67b041465c" /><Relationship Type="http://schemas.openxmlformats.org/officeDocument/2006/relationships/slide" Target="/ppt/slides/slide15.xml" Id="Rb0cb1b1fcbae4083" /><Relationship Type="http://schemas.openxmlformats.org/officeDocument/2006/relationships/slide" Target="/ppt/slides/slide16.xml" Id="Ra2b09e150e9e42fe" /><Relationship Type="http://schemas.openxmlformats.org/officeDocument/2006/relationships/slide" Target="/ppt/slides/slide17.xml" Id="R1eccf6a08f24412f" /><Relationship Type="http://schemas.openxmlformats.org/officeDocument/2006/relationships/slide" Target="/ppt/slides/slide18.xml" Id="Rc5c2d10f9e754867" /><Relationship Type="http://schemas.openxmlformats.org/officeDocument/2006/relationships/slide" Target="/ppt/slides/slide19.xml" Id="Raa96b8970f1a4723" /><Relationship Type="http://schemas.openxmlformats.org/officeDocument/2006/relationships/slide" Target="/ppt/slides/slide20.xml" Id="R4313e6c8428442bd" /><Relationship Type="http://schemas.openxmlformats.org/officeDocument/2006/relationships/slide" Target="/ppt/slides/slide21.xml" Id="R58bb49b3acb44069" /><Relationship Type="http://schemas.openxmlformats.org/officeDocument/2006/relationships/slide" Target="/ppt/slides/slide22.xml" Id="Re8b76eeb8db14d68" /><Relationship Type="http://schemas.openxmlformats.org/officeDocument/2006/relationships/slide" Target="/ppt/slides/slide23.xml" Id="R4e475f2ac47b40a4" /><Relationship Type="http://schemas.openxmlformats.org/officeDocument/2006/relationships/slide" Target="/ppt/slides/slide24.xml" Id="Rdfcaf614aadb486c" /><Relationship Type="http://schemas.openxmlformats.org/officeDocument/2006/relationships/slide" Target="/ppt/slides/slide25.xml" Id="R881774933b3d4500" /><Relationship Type="http://schemas.openxmlformats.org/officeDocument/2006/relationships/slide" Target="/ppt/slides/slide26.xml" Id="Re3f780381470444a" /><Relationship Type="http://schemas.openxmlformats.org/officeDocument/2006/relationships/slide" Target="/ppt/slides/slide27.xml" Id="R3c8cd394c76f4be0" /><Relationship Type="http://schemas.openxmlformats.org/officeDocument/2006/relationships/slide" Target="/ppt/slides/slide28.xml" Id="R71d84baf633c4e9d" /><Relationship Type="http://schemas.openxmlformats.org/officeDocument/2006/relationships/slide" Target="/ppt/slides/slide29.xml" Id="R75b8434ab9344c3b" /><Relationship Type="http://schemas.openxmlformats.org/officeDocument/2006/relationships/slide" Target="/ppt/slides/slide30.xml" Id="Rb78180ae1c0449ea" /><Relationship Type="http://schemas.openxmlformats.org/officeDocument/2006/relationships/slide" Target="/ppt/slides/slide31.xml" Id="R237b69bb4f81404b" /><Relationship Type="http://schemas.openxmlformats.org/officeDocument/2006/relationships/slide" Target="/ppt/slides/slide32.xml" Id="Rfcb243e57b234573" /><Relationship Type="http://schemas.openxmlformats.org/officeDocument/2006/relationships/slide" Target="/ppt/slides/slide33.xml" Id="R6c3e6c31ecaa44cc" /><Relationship Type="http://schemas.openxmlformats.org/officeDocument/2006/relationships/slide" Target="/ppt/slides/slide34.xml" Id="R410f9add53284780" /><Relationship Type="http://schemas.openxmlformats.org/officeDocument/2006/relationships/slide" Target="/ppt/slides/slide35.xml" Id="R72a3e265ea0449ef" /><Relationship Type="http://schemas.openxmlformats.org/officeDocument/2006/relationships/slide" Target="/ppt/slides/slide36.xml" Id="R6e1d10ef2dab49bb" /><Relationship Type="http://schemas.openxmlformats.org/officeDocument/2006/relationships/slide" Target="/ppt/slides/slide37.xml" Id="R89945986864748c6" /><Relationship Type="http://schemas.openxmlformats.org/officeDocument/2006/relationships/slide" Target="/ppt/slides/slide38.xml" Id="R3ff1f8f4dd2749ea" /><Relationship Type="http://schemas.openxmlformats.org/officeDocument/2006/relationships/slide" Target="/ppt/slides/slide39.xml" Id="R9192f444790c46c2" /><Relationship Type="http://schemas.openxmlformats.org/officeDocument/2006/relationships/slide" Target="/ppt/slides/slide40.xml" Id="Re67d3fe9ded84efd" /><Relationship Type="http://schemas.openxmlformats.org/officeDocument/2006/relationships/slide" Target="/ppt/slides/slide41.xml" Id="Rc4ca38b86b9a4c11" /><Relationship Type="http://schemas.openxmlformats.org/officeDocument/2006/relationships/slide" Target="/ppt/slides/slide42.xml" Id="R9950d306811044bb" /><Relationship Type="http://schemas.openxmlformats.org/officeDocument/2006/relationships/slide" Target="/ppt/slides/slide43.xml" Id="R25e9e63279bd46a5" /><Relationship Type="http://schemas.openxmlformats.org/officeDocument/2006/relationships/slide" Target="/ppt/slides/slide44.xml" Id="Rcc35a3d361734d1e" /><Relationship Type="http://schemas.openxmlformats.org/officeDocument/2006/relationships/slide" Target="/ppt/slides/slide45.xml" Id="R8febc6ae2900490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09f2227351a4d3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b877cae023f4d52" /><Relationship Type="http://schemas.openxmlformats.org/officeDocument/2006/relationships/notesMaster" Target="/ppt/notesMasters/notesMaster1.xml" Id="R3035c48edbc4422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ce3a25545694aaa" /><Relationship Type="http://schemas.openxmlformats.org/officeDocument/2006/relationships/notesMaster" Target="/ppt/notesMasters/notesMaster1.xml" Id="R5745665a04dd472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2f83f8fd47f46fc" /><Relationship Type="http://schemas.openxmlformats.org/officeDocument/2006/relationships/notesMaster" Target="/ppt/notesMasters/notesMaster1.xml" Id="Raf163b5a7a7a422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27e53d0cb5a4fcc" /><Relationship Type="http://schemas.openxmlformats.org/officeDocument/2006/relationships/notesMaster" Target="/ppt/notesMasters/notesMaster1.xml" Id="Rb39d05703c7544e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a19cc88206948ee" /><Relationship Type="http://schemas.openxmlformats.org/officeDocument/2006/relationships/notesMaster" Target="/ppt/notesMasters/notesMaster1.xml" Id="Rd080640c56644fa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179031858744549" /><Relationship Type="http://schemas.openxmlformats.org/officeDocument/2006/relationships/notesMaster" Target="/ppt/notesMasters/notesMaster1.xml" Id="Rcad4b2734fe64c4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9368cd9535f4dc6" /><Relationship Type="http://schemas.openxmlformats.org/officeDocument/2006/relationships/notesMaster" Target="/ppt/notesMasters/notesMaster1.xml" Id="R8d23c68f1ab2444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ad4a618a8ef452e" /><Relationship Type="http://schemas.openxmlformats.org/officeDocument/2006/relationships/notesMaster" Target="/ppt/notesMasters/notesMaster1.xml" Id="R066e4ab889df4a0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f2aabb1297843a6" /><Relationship Type="http://schemas.openxmlformats.org/officeDocument/2006/relationships/notesMaster" Target="/ppt/notesMasters/notesMaster1.xml" Id="R105554abc6f74c1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fcd399481404453" /><Relationship Type="http://schemas.openxmlformats.org/officeDocument/2006/relationships/notesMaster" Target="/ppt/notesMasters/notesMaster1.xml" Id="Rc75ecc6ad5774f5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8bfd8d8ce42491e" /><Relationship Type="http://schemas.openxmlformats.org/officeDocument/2006/relationships/notesMaster" Target="/ppt/notesMasters/notesMaster1.xml" Id="R7fd9db4c986f484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ea2d3b0bb1540c5" /><Relationship Type="http://schemas.openxmlformats.org/officeDocument/2006/relationships/notesMaster" Target="/ppt/notesMasters/notesMaster1.xml" Id="R7f8e74006188488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082e861486647ee" /><Relationship Type="http://schemas.openxmlformats.org/officeDocument/2006/relationships/notesMaster" Target="/ppt/notesMasters/notesMaster1.xml" Id="R74553d0d4c4d46b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7cea38f33de4f48" /><Relationship Type="http://schemas.openxmlformats.org/officeDocument/2006/relationships/notesMaster" Target="/ppt/notesMasters/notesMaster1.xml" Id="Rf37ff50f35744b9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418972fb98c43c8" /><Relationship Type="http://schemas.openxmlformats.org/officeDocument/2006/relationships/notesMaster" Target="/ppt/notesMasters/notesMaster1.xml" Id="Ra9d4e5034b81421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9648cfe9edd47e5" /><Relationship Type="http://schemas.openxmlformats.org/officeDocument/2006/relationships/notesMaster" Target="/ppt/notesMasters/notesMaster1.xml" Id="Ree7de1374cc9479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f6f3d9771fb4852" /><Relationship Type="http://schemas.openxmlformats.org/officeDocument/2006/relationships/notesMaster" Target="/ppt/notesMasters/notesMaster1.xml" Id="R138320ee61834d1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be9527e29ab4567" /><Relationship Type="http://schemas.openxmlformats.org/officeDocument/2006/relationships/notesMaster" Target="/ppt/notesMasters/notesMaster1.xml" Id="R239287b53d03401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e378d37c5504492" /><Relationship Type="http://schemas.openxmlformats.org/officeDocument/2006/relationships/notesMaster" Target="/ppt/notesMasters/notesMaster1.xml" Id="R0f6c5190b30c4d0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a370e422c7c4575" /><Relationship Type="http://schemas.openxmlformats.org/officeDocument/2006/relationships/notesMaster" Target="/ppt/notesMasters/notesMaster1.xml" Id="R9b858626e33c4a8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4cb4b0828fb4e05" /><Relationship Type="http://schemas.openxmlformats.org/officeDocument/2006/relationships/notesMaster" Target="/ppt/notesMasters/notesMaster1.xml" Id="Reb38512b8e244b3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99a019f2e1547cf" /><Relationship Type="http://schemas.openxmlformats.org/officeDocument/2006/relationships/notesMaster" Target="/ppt/notesMasters/notesMaster1.xml" Id="R9bae4ffeaaaa45e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0b8b8fa275b48a8" /><Relationship Type="http://schemas.openxmlformats.org/officeDocument/2006/relationships/notesMaster" Target="/ppt/notesMasters/notesMaster1.xml" Id="Rc0b385b89f52461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e4cc0afb6c344c04" /><Relationship Type="http://schemas.openxmlformats.org/officeDocument/2006/relationships/notesMaster" Target="/ppt/notesMasters/notesMaster1.xml" Id="Rfd3b79f05cc54fa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c0fd2bff366f4d30" /><Relationship Type="http://schemas.openxmlformats.org/officeDocument/2006/relationships/notesMaster" Target="/ppt/notesMasters/notesMaster1.xml" Id="R768fe5042a594dfe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893a005e8528492c" /><Relationship Type="http://schemas.openxmlformats.org/officeDocument/2006/relationships/notesMaster" Target="/ppt/notesMasters/notesMaster1.xml" Id="R851e83462c3f4525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431426fa08914c3e" /><Relationship Type="http://schemas.openxmlformats.org/officeDocument/2006/relationships/notesMaster" Target="/ppt/notesMasters/notesMaster1.xml" Id="Refbfe33d2343484f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e8ea5ff1c5384993" /><Relationship Type="http://schemas.openxmlformats.org/officeDocument/2006/relationships/notesMaster" Target="/ppt/notesMasters/notesMaster1.xml" Id="Rce7d9509ea174dd9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f694eb6df2434c80" /><Relationship Type="http://schemas.openxmlformats.org/officeDocument/2006/relationships/notesMaster" Target="/ppt/notesMasters/notesMaster1.xml" Id="Rca6e9016ad4c4d69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0ab556f275414959" /><Relationship Type="http://schemas.openxmlformats.org/officeDocument/2006/relationships/notesMaster" Target="/ppt/notesMasters/notesMaster1.xml" Id="R44e7abe0ab9b44a6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1956b64985d94055" /><Relationship Type="http://schemas.openxmlformats.org/officeDocument/2006/relationships/notesMaster" Target="/ppt/notesMasters/notesMaster1.xml" Id="Rf8a198686d254992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43eef96c0fe84e81" /><Relationship Type="http://schemas.openxmlformats.org/officeDocument/2006/relationships/notesMaster" Target="/ppt/notesMasters/notesMaster1.xml" Id="Rc96957c1846d49ac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3c6ff85b8f1d40ef" /><Relationship Type="http://schemas.openxmlformats.org/officeDocument/2006/relationships/notesMaster" Target="/ppt/notesMasters/notesMaster1.xml" Id="R60e1743cf78c4d7f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fff4822f8c7c48e3" /><Relationship Type="http://schemas.openxmlformats.org/officeDocument/2006/relationships/notesMaster" Target="/ppt/notesMasters/notesMaster1.xml" Id="R359a816b05664b5a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e00b8c5adab44a93" /><Relationship Type="http://schemas.openxmlformats.org/officeDocument/2006/relationships/notesMaster" Target="/ppt/notesMasters/notesMaster1.xml" Id="R7a6847f0af29496a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6dc4e84fd53d4404" /><Relationship Type="http://schemas.openxmlformats.org/officeDocument/2006/relationships/notesMaster" Target="/ppt/notesMasters/notesMaster1.xml" Id="R83d8ec67b82944e6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f6dbc0bb9a0e4a8c" /><Relationship Type="http://schemas.openxmlformats.org/officeDocument/2006/relationships/notesMaster" Target="/ppt/notesMasters/notesMaster1.xml" Id="Re292f0948dce40d6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b41b0aaa622d4f1d" /><Relationship Type="http://schemas.openxmlformats.org/officeDocument/2006/relationships/notesMaster" Target="/ppt/notesMasters/notesMaster1.xml" Id="Rab3d890f3dbf4b51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ea47607bf9494101" /><Relationship Type="http://schemas.openxmlformats.org/officeDocument/2006/relationships/notesMaster" Target="/ppt/notesMasters/notesMaster1.xml" Id="R09afb449f8484c82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91efe800f0d3408f" /><Relationship Type="http://schemas.openxmlformats.org/officeDocument/2006/relationships/notesMaster" Target="/ppt/notesMasters/notesMaster1.xml" Id="R33a1ca5a411e48c7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6256d8ae5f4144f3" /><Relationship Type="http://schemas.openxmlformats.org/officeDocument/2006/relationships/notesMaster" Target="/ppt/notesMasters/notesMaster1.xml" Id="R538dc5b0121c49e1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6860c069ccab4c03" /><Relationship Type="http://schemas.openxmlformats.org/officeDocument/2006/relationships/notesMaster" Target="/ppt/notesMasters/notesMaster1.xml" Id="R8d4d0b9d0e804077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d686d86c1557471a" /><Relationship Type="http://schemas.openxmlformats.org/officeDocument/2006/relationships/notesMaster" Target="/ppt/notesMasters/notesMaster1.xml" Id="R3fa95b173b124aef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daa79659f342403d" /><Relationship Type="http://schemas.openxmlformats.org/officeDocument/2006/relationships/notesMaster" Target="/ppt/notesMasters/notesMaster1.xml" Id="R66de2423ecc044d4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3e49ea8f00934128" /><Relationship Type="http://schemas.openxmlformats.org/officeDocument/2006/relationships/notesMaster" Target="/ppt/notesMasters/notesMaster1.xml" Id="Rceace6638034438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https://aiskillsnavigator.microsoft.com/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[Updated] Jul. townhall AI slide.pptx — slide 1</a:t>
            </a:r>
          </a:p>
          <a:p xmlns:a="http://schemas.openxmlformats.org/drawingml/2006/main"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https://aiskillsnavigator.microsoft.com/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sustainability-ai-strategy-one-pager.pptx</a:t>
            </a:r>
          </a:p>
          <a:p xmlns:a="http://schemas.openxmlformats.org/drawingml/2006/main"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sustainability-ai-strategy-one-pager.pptx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sustainability-ai-strategy-one-pager.pptx</a:t>
            </a:r>
          </a:p>
          <a:p xmlns:a="http://schemas.openxmlformats.org/drawingml/2006/main"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[Updated] Jul. townhall AI slide.pptx — slide 2</a:t>
            </a:r>
          </a:p>
          <a:p xmlns:a="http://schemas.openxmlformats.org/drawingml/2006/main"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AI Gateway screenshot</a:t>
            </a:r>
          </a:p>
          <a:p xmlns:a="http://schemas.openxmlformats.org/drawingml/2006/main"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AI Gateway screenshot</a:t>
            </a:r>
          </a:p>
          <a:p xmlns:a="http://schemas.openxmlformats.org/drawingml/2006/main"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https://www.aigateway.ai.inside.philips.com/</a:t>
            </a:r>
          </a:p>
          <a:p xmlns:a="http://schemas.openxmlformats.org/drawingml/2006/main">
            <a:r>
              <a:t>- https://philips-ai-tool-lab.github.io/ai-tool-lab-preview/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[Updated] Jul. townhall AI slide.pptx — slide 3</a:t>
            </a:r>
          </a:p>
          <a:p xmlns:a="http://schemas.openxmlformats.org/drawingml/2006/main">
            <a:r>
              <a:t>- https://www.aigateway.ai.inside.philips.com/</a:t>
            </a:r>
          </a:p>
          <a:p xmlns:a="http://schemas.openxmlformats.org/drawingml/2006/main">
            <a:r>
              <a:t>- https://philips-ai-tool-lab.github.io/ai-tool-lab-preview/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GCR AI Ambassador image</a:t>
            </a:r>
          </a:p>
          <a:p xmlns:a="http://schemas.openxmlformats.org/drawingml/2006/main">
            <a:r>
              <a:t>- https://www.aigateway.ai.inside.philips.com/</a:t>
            </a:r>
          </a:p>
          <a:p xmlns:a="http://schemas.openxmlformats.org/drawingml/2006/main">
            <a:r>
              <a:t>- https://philips-ai-tool-lab.github.io/ai-tool-lab-preview/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https://aiskillsnavigator.microsoft.com/</a:t>
            </a:r>
          </a:p>
          <a:p xmlns:a="http://schemas.openxmlformats.org/drawingml/2006/main">
            <a:r>
              <a:t>- https://aiskillsnavigator.microsoft.com/playlists/291ff1ba-c754-44f1-9814-ef8917f8c989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AI Skills Navigator screenshot</a:t>
            </a:r>
          </a:p>
          <a:p xmlns:a="http://schemas.openxmlformats.org/drawingml/2006/main">
            <a:r>
              <a:t>- https://aiskillsnavigator.microsoft.com/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AI Skills Navigator screenshot</a:t>
            </a:r>
          </a:p>
          <a:p xmlns:a="http://schemas.openxmlformats.org/drawingml/2006/main">
            <a:r>
              <a:t>- https://aiskillsnavigator.microsoft.com/playlists/291ff1ba-c754-44f1-9814-ef8917f8c989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AI Skills Navigator screenshot</a:t>
            </a:r>
          </a:p>
          <a:p xmlns:a="http://schemas.openxmlformats.org/drawingml/2006/main">
            <a:r>
              <a:t>- https://aiskillsnavigator.microsoft.com/playlists/291ff1ba-c754-44f1-9814-ef8917f8c989</a:t>
            </a:r>
          </a:p>
          <a:p xmlns:a="http://schemas.openxmlformats.org/drawingml/2006/main">
            <a:r>
              <a:t>- https://learn.microsoft.com/zh-cn/training/courses/ms-4004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https://aiskillsnavigator.microsoft.com/playlists/291ff1ba-c754-44f1-9814-ef8917f8c989</a:t>
            </a:r>
          </a:p>
          <a:p xmlns:a="http://schemas.openxmlformats.org/drawingml/2006/main">
            <a:r>
              <a:t>- https://learn.microsoft.com/zh-cn/training/courses/ms-4004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https://aiskillsnavigator.microsoft.com/playlists/291ff1ba-c754-44f1-9814-ef8917f8c989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https://m365.cloud.microsoft/chat</a:t>
            </a:r>
          </a:p>
          <a:p xmlns:a="http://schemas.openxmlformats.org/drawingml/2006/main">
            <a:r>
              <a:t>- Local fictional Green Office Week training data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fictional Green Office Week Project Brief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fictional Green Office Week Meeting Notes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fictional Green Office Week Timeline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M365 Copilot screenshot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</a:t>
            </a:r>
          </a:p>
          <a:p xmlns:a="http://schemas.openxmlformats.org/drawingml/2006/main">
            <a:r>
              <a:t>- https://philips-ai-tool-lab.github.io/ai-tool-lab-preview/#agent-builder-path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</a:t>
            </a:r>
          </a:p>
          <a:p xmlns:a="http://schemas.openxmlformats.org/drawingml/2006/main">
            <a:r>
              <a:t>- https://philips-ai-tool-lab.github.io/ai-tool-lab-preview/#agent-builder-path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https://philips-ai-tool-lab.github.io/ai-tool-lab-preview/labs/chief-of-staff/</a:t>
            </a:r>
          </a:p>
          <a:p xmlns:a="http://schemas.openxmlformats.org/drawingml/2006/main">
            <a:r>
              <a:t>- https://philips-ai-tool-lab.github.io/ai-tool-lab-preview/labs/product-manual-faq/</a:t>
            </a:r>
          </a:p>
          <a:p xmlns:a="http://schemas.openxmlformats.org/drawingml/2006/main">
            <a:r>
              <a:t>- https://philips-ai-tool-lab.github.io/ai-tool-lab-preview/labs/meeting-follow-up/</a:t>
            </a:r>
          </a:p>
          <a:p xmlns:a="http://schemas.openxmlformats.org/drawingml/2006/main">
            <a:r>
              <a:t>- https://philips-ai-tool-lab.github.io/ai-tool-lab-preview/labs/funnel-data-analyst/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https://philips-ai-tool-lab.github.io/ai-tool-lab-preview/labs/chief-of-staff/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https://philips-ai-tool-lab.github.io/ai-tool-lab-preview/labs/product-manual-faq/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https://philips-ai-tool-lab.github.io/ai-tool-lab-preview/labs/meeting-follow-up/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https://philips-ai-tool-lab.github.io/ai-tool-lab-preview/labs/funnel-data-analyst/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https://philips-ai-tool-lab.github.io/ai-tool-lab-preview/#agent-builder-path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Agent Builder guide screenshot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Agent Builder guide screenshot</a:t>
            </a:r>
          </a:p>
          <a:p xmlns:a="http://schemas.openxmlformats.org/drawingml/2006/main">
            <a:r>
              <a:t>- https://philips-ai-tool-lab.github.io/ai-tool-lab-preview/#agent-builder-path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Agent Builder guide screenshot</a:t>
            </a:r>
          </a:p>
          <a:p xmlns:a="http://schemas.openxmlformats.org/drawingml/2006/main">
            <a:r>
              <a:t>- https://philips-ai-tool-lab.github.io/ai-tool-lab-preview/labs/meeting-follow-up/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Agent Builder guide screenshot</a:t>
            </a:r>
          </a:p>
          <a:p xmlns:a="http://schemas.openxmlformats.org/drawingml/2006/main">
            <a:r>
              <a:t>- https://philips-ai-tool-lab.github.io/ai-tool-lab-preview/#agent-builder-path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Agent Builder guide screenshot</a:t>
            </a:r>
          </a:p>
          <a:p xmlns:a="http://schemas.openxmlformats.org/drawingml/2006/main">
            <a:r>
              <a:t>- https://philips-ai-tool-lab.github.io/ai-tool-lab-preview/labs/meeting-follow-up/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Agent Builder guide screenshot</a:t>
            </a:r>
          </a:p>
          <a:p xmlns:a="http://schemas.openxmlformats.org/drawingml/2006/main">
            <a:r>
              <a:t>- https://philips-ai-tool-lab.github.io/ai-tool-lab-preview/#agent-builder-path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Agent Builder guide screenshot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meeting follow-up output screenshot</a:t>
            </a:r>
          </a:p>
          <a:p xmlns:a="http://schemas.openxmlformats.org/drawingml/2006/main">
            <a:r>
              <a:t>- https://philips-ai-tool-lab.github.io/ai-tool-lab-preview/labs/meeting-follow-up/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https://philips-ai-tool-lab.github.io/ai-tool-lab-preview/labs/chief-of-staff/</a:t>
            </a:r>
          </a:p>
          <a:p xmlns:a="http://schemas.openxmlformats.org/drawingml/2006/main">
            <a:r>
              <a:t>- https://philips-ai-tool-lab.github.io/ai-tool-lab-preview/labs/product-manual-faq/</a:t>
            </a:r>
          </a:p>
          <a:p xmlns:a="http://schemas.openxmlformats.org/drawingml/2006/main">
            <a:r>
              <a:t>- https://philips-ai-tool-lab.github.io/ai-tool-lab-preview/labs/meeting-follow-up/</a:t>
            </a:r>
          </a:p>
          <a:p xmlns:a="http://schemas.openxmlformats.org/drawingml/2006/main">
            <a:r>
              <a:t>- https://philips-ai-tool-lab.github.io/ai-tool-lab-preview/labs/funnel-data-analyst/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6a002857294f6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284f37745fb4001" /><Relationship Type="http://schemas.openxmlformats.org/officeDocument/2006/relationships/slideLayout" Target="/ppt/slideLayouts/slideLayout1.xml" Id="Rfb13141f67d443c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b13141f67d443c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171a9641654e2f" /><Relationship Type="http://schemas.openxmlformats.org/officeDocument/2006/relationships/hyperlink" Target="https://aiskillsnavigator.microsoft.com/" TargetMode="External" Id="Rf9f470e2e8ef492a" /><Relationship Type="http://schemas.openxmlformats.org/officeDocument/2006/relationships/notesSlide" Target="/ppt/notesSlides/notesSlide1.xml" Id="Rd9b8645506b6426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ea81c6f8914116" /><Relationship Type="http://schemas.openxmlformats.org/officeDocument/2006/relationships/hyperlink" Target="https://www.aigateway.ai.inside.philips.com/" TargetMode="External" Id="Rdeef7f65706c450d" /><Relationship Type="http://schemas.openxmlformats.org/officeDocument/2006/relationships/notesSlide" Target="/ppt/notesSlides/notesSlide2.xml" Id="R15c22ca44c994b5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ea857e7b5e49fd" /><Relationship Type="http://schemas.openxmlformats.org/officeDocument/2006/relationships/hyperlink" Target="https://aiskillsnavigator.microsoft.com/" TargetMode="External" Id="R5971d128d0294081" /><Relationship Type="http://schemas.openxmlformats.org/officeDocument/2006/relationships/notesSlide" Target="/ppt/notesSlides/notesSlide3.xml" Id="R0e7f38bdf35c438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e8f65ec7ec412d" /><Relationship Type="http://schemas.openxmlformats.org/officeDocument/2006/relationships/hyperlink" Target="https://www.aigateway.ai.inside.philips.com/" TargetMode="External" Id="R265ce50596a542c2" /><Relationship Type="http://schemas.openxmlformats.org/officeDocument/2006/relationships/notesSlide" Target="/ppt/notesSlides/notesSlide4.xml" Id="R13dcd7fca1de441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54ae3e89c541ec" /><Relationship Type="http://schemas.openxmlformats.org/officeDocument/2006/relationships/image" Target="/ppt/media/image.png" Id="Rf4f57d064dbc4721" /><Relationship Type="http://schemas.openxmlformats.org/officeDocument/2006/relationships/hyperlink" Target="https://www.aigateway.ai.inside.philips.com/" TargetMode="External" Id="Rb83519e5b0f44c9f" /><Relationship Type="http://schemas.openxmlformats.org/officeDocument/2006/relationships/notesSlide" Target="/ppt/notesSlides/notesSlide5.xml" Id="R42b3ba22c04344a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2b29d130a44b85" /><Relationship Type="http://schemas.openxmlformats.org/officeDocument/2006/relationships/image" Target="/ppt/media/image2.png" Id="R46bd5f217ffc4969" /><Relationship Type="http://schemas.openxmlformats.org/officeDocument/2006/relationships/hyperlink" Target="https://www.aigateway.ai.inside.philips.com/" TargetMode="External" Id="R8aa0717efc3341e3" /><Relationship Type="http://schemas.openxmlformats.org/officeDocument/2006/relationships/notesSlide" Target="/ppt/notesSlides/notesSlide6.xml" Id="R7f50187e004b4c6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ae8042019f458a" /><Relationship Type="http://schemas.openxmlformats.org/officeDocument/2006/relationships/image" Target="/ppt/media/image3.png" Id="Ra22348ac03b84221" /><Relationship Type="http://schemas.openxmlformats.org/officeDocument/2006/relationships/hyperlink" Target="https://www.aigateway.ai.inside.philips.com/" TargetMode="External" Id="R35517d41777844b5" /><Relationship Type="http://schemas.openxmlformats.org/officeDocument/2006/relationships/notesSlide" Target="/ppt/notesSlides/notesSlide7.xml" Id="Rba3f6b3524a7496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95420a58f541d3" /><Relationship Type="http://schemas.openxmlformats.org/officeDocument/2006/relationships/hyperlink" Target="https://www.aigateway.ai.inside.philips.com/" TargetMode="External" Id="R9c1e1f100ba24369" /><Relationship Type="http://schemas.openxmlformats.org/officeDocument/2006/relationships/notesSlide" Target="/ppt/notesSlides/notesSlide8.xml" Id="Rf015a2297c2b433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11c57a238b46c2" /><Relationship Type="http://schemas.openxmlformats.org/officeDocument/2006/relationships/hyperlink" Target="https://www.aigateway.ai.inside.philips.com/" TargetMode="External" Id="R1b5827ab91d447b2" /><Relationship Type="http://schemas.openxmlformats.org/officeDocument/2006/relationships/notesSlide" Target="/ppt/notesSlides/notesSlide9.xml" Id="R4ecd833a9527423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02177972424f2e" /><Relationship Type="http://schemas.openxmlformats.org/officeDocument/2006/relationships/image" Target="/ppt/media/image4.png" Id="R1e753b9664834dce" /><Relationship Type="http://schemas.openxmlformats.org/officeDocument/2006/relationships/hyperlink" Target="https://www.aigateway.ai.inside.philips.com/" TargetMode="External" Id="R62c578addc7c45c3" /><Relationship Type="http://schemas.openxmlformats.org/officeDocument/2006/relationships/notesSlide" Target="/ppt/notesSlides/notesSlide10.xml" Id="Rff3a10754622478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b0b12747c54ca6" /><Relationship Type="http://schemas.openxmlformats.org/officeDocument/2006/relationships/image" Target="/ppt/media/image5.png" Id="R9c2bc3f5a3ca4efc" /><Relationship Type="http://schemas.openxmlformats.org/officeDocument/2006/relationships/hyperlink" Target="https://www.aigateway.ai.inside.philips.com/" TargetMode="External" Id="Ra26df9cd84d446a4" /><Relationship Type="http://schemas.openxmlformats.org/officeDocument/2006/relationships/notesSlide" Target="/ppt/notesSlides/notesSlide11.xml" Id="Rda3609e313334c2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ad04be7d314c53" /><Relationship Type="http://schemas.openxmlformats.org/officeDocument/2006/relationships/hyperlink" Target="https://www.aigateway.ai.inside.philips.com/" TargetMode="External" Id="R59d35b7e5e4f4680" /><Relationship Type="http://schemas.openxmlformats.org/officeDocument/2006/relationships/hyperlink" Target="https://philips-ai-tool-lab.github.io/ai-tool-lab-preview/" TargetMode="External" Id="R0207a601797a4803" /><Relationship Type="http://schemas.openxmlformats.org/officeDocument/2006/relationships/notesSlide" Target="/ppt/notesSlides/notesSlide12.xml" Id="R772503f112ed4f7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abb9450f754b2b" /><Relationship Type="http://schemas.openxmlformats.org/officeDocument/2006/relationships/hyperlink" Target="https://www.aigateway.ai.inside.philips.com/" TargetMode="External" Id="R2e176cba408d4165" /><Relationship Type="http://schemas.openxmlformats.org/officeDocument/2006/relationships/hyperlink" Target="https://philips-ai-tool-lab.github.io/ai-tool-lab-preview/" TargetMode="External" Id="Ra931d746f16d4506" /><Relationship Type="http://schemas.openxmlformats.org/officeDocument/2006/relationships/notesSlide" Target="/ppt/notesSlides/notesSlide13.xml" Id="R485be931f344491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86e104443049bc" /><Relationship Type="http://schemas.openxmlformats.org/officeDocument/2006/relationships/image" Target="/ppt/media/image6.png" Id="Rb57ad7bcebc545b1" /><Relationship Type="http://schemas.openxmlformats.org/officeDocument/2006/relationships/hyperlink" Target="https://aiskillsnavigator.microsoft.com/" TargetMode="External" Id="R8a74c70920054eae" /><Relationship Type="http://schemas.openxmlformats.org/officeDocument/2006/relationships/hyperlink" Target="https://m365.cloud.microsoft/chat" TargetMode="External" Id="Rde4c7f2331c6470a" /><Relationship Type="http://schemas.openxmlformats.org/officeDocument/2006/relationships/notesSlide" Target="/ppt/notesSlides/notesSlide14.xml" Id="Rfd0f360e4a1e466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2ad48a03b1469a" /><Relationship Type="http://schemas.openxmlformats.org/officeDocument/2006/relationships/hyperlink" Target="https://aiskillsnavigator.microsoft.com/" TargetMode="External" Id="R69b3034a1e494046" /><Relationship Type="http://schemas.openxmlformats.org/officeDocument/2006/relationships/hyperlink" Target="https://aiskillsnavigator.microsoft.com/playlists/291ff1ba-c754-44f1-9814-ef8917f8c989" TargetMode="External" Id="R9be2f607fc8c49fc" /><Relationship Type="http://schemas.openxmlformats.org/officeDocument/2006/relationships/hyperlink" Target="https://m365.cloud.microsoft/chat" TargetMode="External" Id="R5e495518f27449ec" /><Relationship Type="http://schemas.openxmlformats.org/officeDocument/2006/relationships/notesSlide" Target="/ppt/notesSlides/notesSlide15.xml" Id="R5966b3ee4970453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d39f9db8014c64" /><Relationship Type="http://schemas.openxmlformats.org/officeDocument/2006/relationships/image" Target="/ppt/media/image7.png" Id="R88d3d3b06dd14b7a" /><Relationship Type="http://schemas.openxmlformats.org/officeDocument/2006/relationships/hyperlink" Target="https://aiskillsnavigator.microsoft.com/" TargetMode="External" Id="R3a85bcb0d69d4b54" /><Relationship Type="http://schemas.openxmlformats.org/officeDocument/2006/relationships/notesSlide" Target="/ppt/notesSlides/notesSlide16.xml" Id="R8be7cdfc50e140f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1385dfe9144dce" /><Relationship Type="http://schemas.openxmlformats.org/officeDocument/2006/relationships/image" Target="/ppt/media/image8.png" Id="R09431e6e6d904116" /><Relationship Type="http://schemas.openxmlformats.org/officeDocument/2006/relationships/hyperlink" Target="https://aiskillsnavigator.microsoft.com/playlists/291ff1ba-c754-44f1-9814-ef8917f8c989" TargetMode="External" Id="R363eafad4cce44dd" /><Relationship Type="http://schemas.openxmlformats.org/officeDocument/2006/relationships/notesSlide" Target="/ppt/notesSlides/notesSlide17.xml" Id="Rb74ab372c9aa478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fedc4878a54188" /><Relationship Type="http://schemas.openxmlformats.org/officeDocument/2006/relationships/image" Target="/ppt/media/image9.png" Id="Rc7ff316b13eb4f3a" /><Relationship Type="http://schemas.openxmlformats.org/officeDocument/2006/relationships/hyperlink" Target="https://aiskillsnavigator.microsoft.com/playlists/291ff1ba-c754-44f1-9814-ef8917f8c989" TargetMode="External" Id="R9181ba8c50984d40" /><Relationship Type="http://schemas.openxmlformats.org/officeDocument/2006/relationships/hyperlink" Target="https://learn.microsoft.com/zh-cn/training/courses/ms-4004" TargetMode="External" Id="R2d0fad5fb85144aa" /><Relationship Type="http://schemas.openxmlformats.org/officeDocument/2006/relationships/notesSlide" Target="/ppt/notesSlides/notesSlide18.xml" Id="Rc87a8bc5c7cc403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1afd4361744d79" /><Relationship Type="http://schemas.openxmlformats.org/officeDocument/2006/relationships/hyperlink" Target="https://aiskillsnavigator.microsoft.com/playlists/291ff1ba-c754-44f1-9814-ef8917f8c989" TargetMode="External" Id="Rec561f6fd3414d1b" /><Relationship Type="http://schemas.openxmlformats.org/officeDocument/2006/relationships/notesSlide" Target="/ppt/notesSlides/notesSlide19.xml" Id="Re634969c884a4e5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04037c53d547f7" /><Relationship Type="http://schemas.openxmlformats.org/officeDocument/2006/relationships/hyperlink" Target="https://m365.cloud.microsoft/chat" TargetMode="External" Id="R888dcf9e3b9d4b9e" /><Relationship Type="http://schemas.openxmlformats.org/officeDocument/2006/relationships/notesSlide" Target="/ppt/notesSlides/notesSlide20.xml" Id="Ra4b8dc2ab99d4b2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b86f2fcb064387" /><Relationship Type="http://schemas.openxmlformats.org/officeDocument/2006/relationships/hyperlink" Target="https://m365.cloud.microsoft/chat" TargetMode="External" Id="Rb4d22888d4fe4407" /><Relationship Type="http://schemas.openxmlformats.org/officeDocument/2006/relationships/notesSlide" Target="/ppt/notesSlides/notesSlide21.xml" Id="Rc41ef6d0d2564f2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63e7e96659400f" /><Relationship Type="http://schemas.openxmlformats.org/officeDocument/2006/relationships/hyperlink" Target="https://m365.cloud.microsoft/chat" TargetMode="External" Id="Rbba97b9900854c39" /><Relationship Type="http://schemas.openxmlformats.org/officeDocument/2006/relationships/notesSlide" Target="/ppt/notesSlides/notesSlide22.xml" Id="R3c2c23c5acd9407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fbee2f75634e0f" /><Relationship Type="http://schemas.openxmlformats.org/officeDocument/2006/relationships/hyperlink" Target="https://m365.cloud.microsoft/chat" TargetMode="External" Id="R5b1286cc8a714f13" /><Relationship Type="http://schemas.openxmlformats.org/officeDocument/2006/relationships/notesSlide" Target="/ppt/notesSlides/notesSlide23.xml" Id="Rca98578c602145f9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2528d6732f47ec" /><Relationship Type="http://schemas.openxmlformats.org/officeDocument/2006/relationships/hyperlink" Target="https://m365.cloud.microsoft/chat" TargetMode="External" Id="R636e3ee86066411b" /><Relationship Type="http://schemas.openxmlformats.org/officeDocument/2006/relationships/notesSlide" Target="/ppt/notesSlides/notesSlide24.xml" Id="R4e64fc7ba7e94459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7c7d17671847fb" /><Relationship Type="http://schemas.openxmlformats.org/officeDocument/2006/relationships/hyperlink" Target="https://m365.cloud.microsoft/chat" TargetMode="External" Id="R72badeb4e45f4ade" /><Relationship Type="http://schemas.openxmlformats.org/officeDocument/2006/relationships/notesSlide" Target="/ppt/notesSlides/notesSlide25.xml" Id="Re55d66b51ccb4690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0b92b4de634995" /><Relationship Type="http://schemas.openxmlformats.org/officeDocument/2006/relationships/image" Target="/ppt/media/image10.png" Id="R9adaef8947734261" /><Relationship Type="http://schemas.openxmlformats.org/officeDocument/2006/relationships/hyperlink" Target="https://m365.cloud.microsoft/chat" TargetMode="External" Id="Rde6d80cbecaa4eda" /><Relationship Type="http://schemas.openxmlformats.org/officeDocument/2006/relationships/notesSlide" Target="/ppt/notesSlides/notesSlide26.xml" Id="R0b4b496c4eb04ff9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43e686729a4266" /><Relationship Type="http://schemas.openxmlformats.org/officeDocument/2006/relationships/hyperlink" Target="https://m365.cloud.microsoft/chat" TargetMode="External" Id="R513e3a1b8be443f6" /><Relationship Type="http://schemas.openxmlformats.org/officeDocument/2006/relationships/notesSlide" Target="/ppt/notesSlides/notesSlide27.xml" Id="R397974703e3b4f4f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666a2931054e07" /><Relationship Type="http://schemas.openxmlformats.org/officeDocument/2006/relationships/hyperlink" Target="https://m365.cloud.microsoft/chat" TargetMode="External" Id="R377c994c88f44eff" /><Relationship Type="http://schemas.openxmlformats.org/officeDocument/2006/relationships/notesSlide" Target="/ppt/notesSlides/notesSlide28.xml" Id="R4cf393881ee54a69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a557c050ba44c0" /><Relationship Type="http://schemas.openxmlformats.org/officeDocument/2006/relationships/hyperlink" Target="https://philips-ai-tool-lab.github.io/ai-tool-lab-preview/" TargetMode="External" Id="R895ae59760124b17" /><Relationship Type="http://schemas.openxmlformats.org/officeDocument/2006/relationships/hyperlink" Target="https://philips-ai-tool-lab.github.io/ai-tool-lab-preview/#agent-builder-path" TargetMode="External" Id="R543fe559022b4f10" /><Relationship Type="http://schemas.openxmlformats.org/officeDocument/2006/relationships/hyperlink" Target="https://m365.cloud.microsoft/chat" TargetMode="External" Id="Ra875c718c491477a" /><Relationship Type="http://schemas.openxmlformats.org/officeDocument/2006/relationships/notesSlide" Target="/ppt/notesSlides/notesSlide29.xml" Id="R535fbe41b6aa4ca9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8deded4fd240d4" /><Relationship Type="http://schemas.openxmlformats.org/officeDocument/2006/relationships/image" Target="/ppt/media/image11.png" Id="R99165a5a6ff24ff8" /><Relationship Type="http://schemas.openxmlformats.org/officeDocument/2006/relationships/hyperlink" Target="https://philips-ai-tool-lab.github.io/ai-tool-lab-preview/" TargetMode="External" Id="Rb383baff2796410c" /><Relationship Type="http://schemas.openxmlformats.org/officeDocument/2006/relationships/hyperlink" Target="https://philips-ai-tool-lab.github.io/ai-tool-lab-preview/#agent-builder-path" TargetMode="External" Id="R21b14555d0a440e6" /><Relationship Type="http://schemas.openxmlformats.org/officeDocument/2006/relationships/notesSlide" Target="/ppt/notesSlides/notesSlide30.xml" Id="R6685e62a79ce4d95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3fc344dce94791" /><Relationship Type="http://schemas.openxmlformats.org/officeDocument/2006/relationships/hyperlink" Target="https://philips-ai-tool-lab.github.io/ai-tool-lab-preview/labs/chief-of-staff/" TargetMode="External" Id="Rdeb3bcf17b4b4e3e" /><Relationship Type="http://schemas.openxmlformats.org/officeDocument/2006/relationships/hyperlink" Target="https://philips-ai-tool-lab.github.io/ai-tool-lab-preview/labs/product-manual-faq/" TargetMode="External" Id="Ra303883e41b24563" /><Relationship Type="http://schemas.openxmlformats.org/officeDocument/2006/relationships/hyperlink" Target="https://philips-ai-tool-lab.github.io/ai-tool-lab-preview/labs/meeting-follow-up/" TargetMode="External" Id="Rbb5ad1dbf99444c6" /><Relationship Type="http://schemas.openxmlformats.org/officeDocument/2006/relationships/hyperlink" Target="https://philips-ai-tool-lab.github.io/ai-tool-lab-preview/labs/funnel-data-analyst/" TargetMode="External" Id="Rea5f1f8f9baa4d93" /><Relationship Type="http://schemas.openxmlformats.org/officeDocument/2006/relationships/notesSlide" Target="/ppt/notesSlides/notesSlide31.xml" Id="R83c48d8bf4324e7e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688a1715a446c6" /><Relationship Type="http://schemas.openxmlformats.org/officeDocument/2006/relationships/image" Target="/ppt/media/image12.png" Id="Rb25a1155a494429a" /><Relationship Type="http://schemas.openxmlformats.org/officeDocument/2006/relationships/hyperlink" Target="https://philips-ai-tool-lab.github.io/ai-tool-lab-preview/labs/chief-of-staff/" TargetMode="External" Id="Re51fc479c7e146d4" /><Relationship Type="http://schemas.openxmlformats.org/officeDocument/2006/relationships/notesSlide" Target="/ppt/notesSlides/notesSlide32.xml" Id="R717920caebad4e4b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fc10bef5004d93" /><Relationship Type="http://schemas.openxmlformats.org/officeDocument/2006/relationships/image" Target="/ppt/media/image13.png" Id="R031c4ff382654ca5" /><Relationship Type="http://schemas.openxmlformats.org/officeDocument/2006/relationships/hyperlink" Target="https://philips-ai-tool-lab.github.io/ai-tool-lab-preview/labs/product-manual-faq/" TargetMode="External" Id="R979d286bc8b3427b" /><Relationship Type="http://schemas.openxmlformats.org/officeDocument/2006/relationships/notesSlide" Target="/ppt/notesSlides/notesSlide33.xml" Id="R335e4cdb8fab4754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f4f8c7482d4f07" /><Relationship Type="http://schemas.openxmlformats.org/officeDocument/2006/relationships/image" Target="/ppt/media/image14.png" Id="Rddd8f4844b3841ee" /><Relationship Type="http://schemas.openxmlformats.org/officeDocument/2006/relationships/hyperlink" Target="https://philips-ai-tool-lab.github.io/ai-tool-lab-preview/labs/meeting-follow-up/" TargetMode="External" Id="R0f96a60ded8348c9" /><Relationship Type="http://schemas.openxmlformats.org/officeDocument/2006/relationships/notesSlide" Target="/ppt/notesSlides/notesSlide34.xml" Id="Rb3382374da2641b8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4c3ebb44944887" /><Relationship Type="http://schemas.openxmlformats.org/officeDocument/2006/relationships/image" Target="/ppt/media/image15.png" Id="R58d7b8f319584aab" /><Relationship Type="http://schemas.openxmlformats.org/officeDocument/2006/relationships/hyperlink" Target="https://philips-ai-tool-lab.github.io/ai-tool-lab-preview/labs/funnel-data-analyst/" TargetMode="External" Id="R35631eef6f7b4c29" /><Relationship Type="http://schemas.openxmlformats.org/officeDocument/2006/relationships/notesSlide" Target="/ppt/notesSlides/notesSlide35.xml" Id="R640dd0d3705247d6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aadccb5083439d" /><Relationship Type="http://schemas.openxmlformats.org/officeDocument/2006/relationships/hyperlink" Target="https://philips-ai-tool-lab.github.io/ai-tool-lab-preview/#agent-builder-path" TargetMode="External" Id="R1f9fa1bb4acb49e9" /><Relationship Type="http://schemas.openxmlformats.org/officeDocument/2006/relationships/notesSlide" Target="/ppt/notesSlides/notesSlide36.xml" Id="Rec99a4e7c0104894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7f2f0542804807" /><Relationship Type="http://schemas.openxmlformats.org/officeDocument/2006/relationships/image" Target="/ppt/media/image16.png" Id="R8484b59106b940e5" /><Relationship Type="http://schemas.openxmlformats.org/officeDocument/2006/relationships/hyperlink" Target="https://m365.cloud.microsoft/chat" TargetMode="External" Id="Rd91cc8153e8d44b0" /><Relationship Type="http://schemas.openxmlformats.org/officeDocument/2006/relationships/notesSlide" Target="/ppt/notesSlides/notesSlide37.xml" Id="R94f419e913b247b7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b884a9e7644969" /><Relationship Type="http://schemas.openxmlformats.org/officeDocument/2006/relationships/image" Target="/ppt/media/image17.png" Id="Ra40e38c4cb1b4be5" /><Relationship Type="http://schemas.openxmlformats.org/officeDocument/2006/relationships/hyperlink" Target="https://philips-ai-tool-lab.github.io/ai-tool-lab-preview/#agent-builder-path" TargetMode="External" Id="R6b415dcf0d694e8e" /><Relationship Type="http://schemas.openxmlformats.org/officeDocument/2006/relationships/notesSlide" Target="/ppt/notesSlides/notesSlide38.xml" Id="R7c8a3b6f80404f9f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df9b2a106c45c9" /><Relationship Type="http://schemas.openxmlformats.org/officeDocument/2006/relationships/image" Target="/ppt/media/image18.png" Id="R2fbb461f323a4b6c" /><Relationship Type="http://schemas.openxmlformats.org/officeDocument/2006/relationships/hyperlink" Target="https://philips-ai-tool-lab.github.io/ai-tool-lab-preview/labs/meeting-follow-up/" TargetMode="External" Id="Rd975735253594af0" /><Relationship Type="http://schemas.openxmlformats.org/officeDocument/2006/relationships/notesSlide" Target="/ppt/notesSlides/notesSlide39.xml" Id="R221d1713bdb04acc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3541f511dd48ac" /><Relationship Type="http://schemas.openxmlformats.org/officeDocument/2006/relationships/image" Target="/ppt/media/image19.png" Id="Red7fd824d9024ba4" /><Relationship Type="http://schemas.openxmlformats.org/officeDocument/2006/relationships/hyperlink" Target="https://philips-ai-tool-lab.github.io/ai-tool-lab-preview/#agent-builder-path" TargetMode="External" Id="R7c3d0f59799a4bd0" /><Relationship Type="http://schemas.openxmlformats.org/officeDocument/2006/relationships/notesSlide" Target="/ppt/notesSlides/notesSlide40.xml" Id="R984a0eee31084a95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0ef411dc884fd1" /><Relationship Type="http://schemas.openxmlformats.org/officeDocument/2006/relationships/image" Target="/ppt/media/image20.png" Id="R51a54c7cefbb47ba" /><Relationship Type="http://schemas.openxmlformats.org/officeDocument/2006/relationships/hyperlink" Target="https://philips-ai-tool-lab.github.io/ai-tool-lab-preview/labs/meeting-follow-up/" TargetMode="External" Id="Rdc6bab0c48094c24" /><Relationship Type="http://schemas.openxmlformats.org/officeDocument/2006/relationships/notesSlide" Target="/ppt/notesSlides/notesSlide41.xml" Id="Rf58a05a9e7d442c3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a278d1c8b44992" /><Relationship Type="http://schemas.openxmlformats.org/officeDocument/2006/relationships/image" Target="/ppt/media/image21.png" Id="R1e763ca748b343ad" /><Relationship Type="http://schemas.openxmlformats.org/officeDocument/2006/relationships/hyperlink" Target="https://philips-ai-tool-lab.github.io/ai-tool-lab-preview/#agent-builder-path" TargetMode="External" Id="R85f117f91e894efc" /><Relationship Type="http://schemas.openxmlformats.org/officeDocument/2006/relationships/notesSlide" Target="/ppt/notesSlides/notesSlide42.xml" Id="Raa4363b2ed9044c3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9234c8974e4f16" /><Relationship Type="http://schemas.openxmlformats.org/officeDocument/2006/relationships/image" Target="/ppt/media/image22.png" Id="R1458515798c94be8" /><Relationship Type="http://schemas.openxmlformats.org/officeDocument/2006/relationships/hyperlink" Target="https://m365.cloud.microsoft/chat" TargetMode="External" Id="R9503f0859397447f" /><Relationship Type="http://schemas.openxmlformats.org/officeDocument/2006/relationships/notesSlide" Target="/ppt/notesSlides/notesSlide43.xml" Id="R5698398bda2248c6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3acc47754248a5" /><Relationship Type="http://schemas.openxmlformats.org/officeDocument/2006/relationships/image" Target="/ppt/media/image23.png" Id="R83c894d2d0b147c0" /><Relationship Type="http://schemas.openxmlformats.org/officeDocument/2006/relationships/hyperlink" Target="https://philips-ai-tool-lab.github.io/ai-tool-lab-preview/labs/meeting-follow-up/" TargetMode="External" Id="R2a8236a94ae64dbd" /><Relationship Type="http://schemas.openxmlformats.org/officeDocument/2006/relationships/notesSlide" Target="/ppt/notesSlides/notesSlide44.xml" Id="R7eac4ed4ed4d4f10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c2e8567cf84a45" /><Relationship Type="http://schemas.openxmlformats.org/officeDocument/2006/relationships/hyperlink" Target="https://philips-ai-tool-lab.github.io/ai-tool-lab-preview/labs/chief-of-staff/" TargetMode="External" Id="Rd33aa03b1dbf4aa1" /><Relationship Type="http://schemas.openxmlformats.org/officeDocument/2006/relationships/hyperlink" Target="https://philips-ai-tool-lab.github.io/ai-tool-lab-preview/labs/product-manual-faq/" TargetMode="External" Id="R159fb6e924d3476f" /><Relationship Type="http://schemas.openxmlformats.org/officeDocument/2006/relationships/hyperlink" Target="https://philips-ai-tool-lab.github.io/ai-tool-lab-preview/labs/meeting-follow-up/" TargetMode="External" Id="R3914dbb0f05d4f7f" /><Relationship Type="http://schemas.openxmlformats.org/officeDocument/2006/relationships/hyperlink" Target="https://philips-ai-tool-lab.github.io/ai-tool-lab-preview/labs/funnel-data-analyst/" TargetMode="External" Id="Rb43596a004c24bdd" /><Relationship Type="http://schemas.openxmlformats.org/officeDocument/2006/relationships/hyperlink" Target="https://m365.cloud.microsoft/chat" TargetMode="External" Id="R0ecd3eacaf00440a" /><Relationship Type="http://schemas.openxmlformats.org/officeDocument/2006/relationships/notesSlide" Target="/ppt/notesSlides/notesSlide45.xml" Id="Rc0804595af3a434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3B7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D1661F-8A71-4C3B-8A26-D72D50107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EC6CBB-A49B-4EFD-AC54-4E5FB6AC0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810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9C5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89C5FF"/>
                </a:solidFill>
                <a:latin typeface="Microsoft YaHei"/>
                <a:ea typeface="Microsoft YaHei"/>
                <a:cs typeface="Microsoft YaHei"/>
              </a:rPr>
              <a:t>PHILIPS YOUNG BOOTCAMP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DFB064-5E84-4184-8810-58E67B533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04950"/>
            <a:ext cx="8096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 AI 认知到可用 Agent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A7A02C-949B-43F1-9DF8-FF62AF163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431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7EA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7EAFB"/>
                </a:solidFill>
                <a:latin typeface="Microsoft YaHei"/>
                <a:ea typeface="Microsoft YaHei"/>
                <a:cs typeface="Microsoft YaHei"/>
              </a:rPr>
              <a:t>AI Gateway 导航 · GCR AI Ambassador · Copilot 实操 · Copilot Builder 动手实验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EF5540-8970-46AE-9F87-9AC94F182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482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讲解、演示与动手练习相结合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FB34FC-739A-4DB1-8915-CD018EDC4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34050"/>
            <a:ext cx="2476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9f470e2e8ef492a"/>
              </a:rPr>
              <a:t>打开 AI Skills Navigator  ↗</a:t>
            </a:r>
          </a:p>
        </p:txBody>
      </p:sp>
    </p:spTree>
    <p:extLst>
      <p:ext uri="{BB962C8B-B14F-4D97-AF65-F5344CB8AC3E}">
        <p14:creationId xmlns:p14="http://schemas.microsoft.com/office/powerpoint/2010/main" val="10378133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B1B0C4-F9E5-4DDB-84B8-AA95FEC90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C820D1-74A0-4077-9944-084E0CEDF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01 介绍与引入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5F2B18-372B-4D6A-8686-A377634EC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Philips 的 AI 方向：创新、运营、协作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B6BE77-883A-47D4-959B-223A59FB9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以人引领、AI 赋能，意味着把 AI 放进真正创造价值的业务场景，同时持续建设工具、能力和负责任使用的共同基础。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5CC7D4-02E9-4CD7-A545-4EE331A2A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578F37-E698-4D19-9331-DDA28A6BB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3A7FE6-0779-415D-AEB2-1BAD39FBA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52625"/>
            <a:ext cx="32766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90FF73-1124-4598-99C3-61695E6AE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098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59FC92-C7EB-42FF-B6CF-0F2169053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09850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创新｜How we innovate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299A79-C48E-4F3D-8C9A-38983C575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432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聚焦高价值业务场景，为患者、客户、消费者和业务创造更大价值。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D18BED-57DE-49A7-916C-3511167F4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952625"/>
            <a:ext cx="32766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3A3502-F338-444F-8D51-E6F61AAED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2098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5D4A3A-CDC2-4753-A1BE-80C9AF4BE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609850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运营｜How we operate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EF5ECE-8B1F-4E57-9183-AC7524CC3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1432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重新审视工作方式，打破流程壁垒，让跨团队协作更顺畅、交付更高效。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522718-81DE-450C-BD8E-E34836736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952625"/>
            <a:ext cx="32766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59F457-358D-4D1E-80E4-15EF41992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098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DA95A7-B4E8-44B9-B6D0-540F9A7BD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09850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协作｜How we collaborate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EB3299-0BA1-4210-99E8-FDBB67914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432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持续投入工具与能力建设，帮助员工成长，并提升组织面向未来的竞争力。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A720F2-7B76-47ED-9081-47EC4E1F3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33900"/>
            <a:ext cx="104394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DC72AA-3D38-42CB-89FF-6B0366849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72025"/>
            <a:ext cx="975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质量、安全、合规与人工负责，是 Philips 推进 AI 规模化应用的共同原则。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853307-1732-4DA6-BC13-833613143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deef7f65706c450d"/>
              </a:rPr>
              <a:t>进入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8611096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B21C905-5F58-431D-8408-CC9E475A0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3A32E4-6349-441A-9A6B-BC9DF18CC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01 介绍与引入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946AD9-ABFA-4FFD-ABBA-13DE465AF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今天的学习路径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F660F5-ED30-419C-AAA1-B0103FB8B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先认识企业入口，再练习通用任务，最后把重复流程构建成 Agent。学习过程按照“观察、模仿、独立完成”逐步推进，后半程会留出较长时间进行实际操作。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980595-1230-4136-9992-05D60B2BE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C4FF3D-0DB0-458F-B907-FB6A309FE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87E187-A984-4EF6-B9BB-A58DC6847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18859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7BA9C4-39C4-4892-A3C5-9BDBB350D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EAFA4B-9525-4446-A0E0-47C6187C8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76575"/>
            <a:ext cx="150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介绍与引入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1D96AF-5EC7-4D71-AC25-33497CB3B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2952750"/>
            <a:ext cx="24765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1091F9-3AEB-4BEA-8901-B942A04F3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238375"/>
            <a:ext cx="18859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BD4D91-433C-4350-BC7A-4460748C0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57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F987DF-232C-45D6-BF0D-C9CDEF5D7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076575"/>
            <a:ext cx="150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全景与入口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78335B-6F0F-4FCA-9F56-44DF9A662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952750"/>
            <a:ext cx="24765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E92E6F-F7F4-4671-8365-BEBAA8E22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238375"/>
            <a:ext cx="18859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E1B59E-D5C9-41FF-BAA6-37068888C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457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0F473F-B790-4003-9FA6-882767BC2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076575"/>
            <a:ext cx="150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Ambassador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4561F9-1456-4BCE-9B62-522746A43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952750"/>
            <a:ext cx="24765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20DC77-AF72-4E3B-82FA-9CEE2F43A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38375"/>
            <a:ext cx="18859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A9B24B-DB0F-4A9D-8BBA-D3695BEE1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574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1398BF-AB06-4BB3-B5CB-DDA9DAC37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57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0AE87B-377F-4E4A-B9A5-2E0A08EE3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76575"/>
            <a:ext cx="150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Copilot 实操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F38050-DD3B-4A65-9EAC-26CC3C894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952750"/>
            <a:ext cx="24765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79144A-5AEE-48AF-9338-8678010CA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238375"/>
            <a:ext cx="18859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3F03BF-9911-4FD5-9098-9CB37BE5D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4574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E6EFAC-45DD-41D5-B371-874DC9F9D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457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40859C-F35D-4323-A7B8-207E290A8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076575"/>
            <a:ext cx="150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Agent 动手 Lab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D6CFB9-D341-4ACC-9A72-2D241D768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67250"/>
            <a:ext cx="10058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学习方式：观察 → 模仿 → 独立完成。课堂上会保留足够的实践时间，请直接在自己的工作环境中操作。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5175D3-DF9C-492C-B4C5-AF4F21D58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971d128d0294081"/>
              </a:rPr>
              <a:t>微软官方学习网站  ↗</a:t>
            </a:r>
          </a:p>
        </p:txBody>
      </p:sp>
    </p:spTree>
    <p:extLst>
      <p:ext uri="{BB962C8B-B14F-4D97-AF65-F5344CB8AC3E}">
        <p14:creationId xmlns:p14="http://schemas.microsoft.com/office/powerpoint/2010/main" val="5956795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03B7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9C7D09-8782-42A9-98B6-FAE485680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E1D43D-C6F3-4C0B-905C-9D2E783C6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382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rPr>
              <a:t>PART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E7066B-D71C-4E09-A066-25D4FDE99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9810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Philips AI 全景与工具导航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24303A-9BEC-43C2-A167-0225625A0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8572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>把 AI Gateway 作为企业 ChatGPT 的治理与访问入口，理解它能展示什么，以及不能替代什么。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C0FEAB-0AE6-445E-B363-E25D86F77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265ce50596a542c2"/>
              </a:rPr>
              <a:t>打开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17429117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B93AC7-2CF7-4F69-A5B7-122EE56F7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95A38B-D40D-44B4-A9D2-9718620A1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454895-72FF-484B-8BAF-C8F4AF19E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可持续发展 AI 战略：重点项目、当前进展与下一阶段计划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28BECE-B12D-4FC5-AB1A-23911C2BD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Group Sustainability 将 AI 工作划分为五条重点方向，每条方向都标明负责人、当前进展和下一阶段计划。绿色 Now 代表正在运行或部署的工作，橙色 Next 代表后续扩展项目。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E099EF-88D8-4D1B-A055-5C1A93612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28B2F7-B544-4EC1-86B8-BC1B4A0F5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f57d064dbc4721"/>
          <a:stretch xmlns:a="http://schemas.openxmlformats.org/drawingml/2006/main"/>
        </p:blipFill>
        <p:spPr>
          <a:xfrm xmlns:a="http://schemas.openxmlformats.org/drawingml/2006/main">
            <a:off x="1114425" y="1809750"/>
            <a:ext cx="6096000" cy="3429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7030BF-EDF7-4DBD-9B12-46FC0066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6991350" cy="3467100"/>
          </a:xfrm>
          <a:prstGeom xmlns:a="http://schemas.openxmlformats.org/drawingml/2006/main" prst="roundRect">
            <a:avLst>
              <a:gd name="adj" fmla="val 329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B9780F-C971-4691-BDB0-1160C1536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09750"/>
            <a:ext cx="35814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A3D486-F855-46D7-BAE8-BF4FBAC37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1930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战略框架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6E6363-471E-4E92-A36F-E1B09E3F9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38400"/>
            <a:ext cx="31242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95238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五条重点方向：AI Capability &amp; Adoption、Supplier Sustainability、Regulatory &amp; Compliance、Business &amp; Markets、Reporting &amp; Analysis。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Now 与 Next：Now 记录已经投入使用或正在部署的项目；Next 列出准备扩展、标准化或接入正式流程的后续工作。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项目管理：每一列底部列出 Sponsor、LT 和 Owner，便于确认业务支持、领导责任和日常推进责任。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9F3B58-64A8-4A69-9FF7-3B117FDB6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b83519e5b0f44c9f"/>
              </a:rPr>
              <a:t>打开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7620860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4D43BE-88D7-4AB0-90D0-906DF40C4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7DC447-1107-4862-B9CB-C79A15D84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131342-D27E-4A37-AAB9-847A272D0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三条基础工作流：能力建设、供应商风险与法规处理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186C0E-81EE-4364-B8C9-8E38530F7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AI Capability &amp; Adoption 负责员工能力建设，Supplier Sustainability 处理供应商风险数据，Regulatory &amp; Compliance 支持法规筛查、解读及后续流程衔接。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902628-39C9-4E78-B10B-96C87A534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D7A8A1-13DF-4AAB-8D1C-62D4EBA53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bd5f217ffc4969"/>
          <a:stretch xmlns:a="http://schemas.openxmlformats.org/drawingml/2006/main"/>
        </p:blipFill>
        <p:spPr>
          <a:xfrm xmlns:a="http://schemas.openxmlformats.org/drawingml/2006/main">
            <a:off x="1114425" y="1809750"/>
            <a:ext cx="6096000" cy="3429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66D54C-5B0B-4163-BF41-6B8A3C7FF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6991350" cy="3467100"/>
          </a:xfrm>
          <a:prstGeom xmlns:a="http://schemas.openxmlformats.org/drawingml/2006/main" prst="roundRect">
            <a:avLst>
              <a:gd name="adj" fmla="val 329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C9DDFA-097B-4C2C-99E6-E33F6DB1C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09750"/>
            <a:ext cx="35814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00C40E-C57F-4F2C-8D38-DACDE74BD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1930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基础工作流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E6CA0D-98DC-41AC-8FE6-B0417D1D2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38400"/>
            <a:ext cx="31242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83333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1｜AI Capability &amp; Adoption：当前正在开发面向 GSO 岗位的角色化学习路径，并通过实践社区分享用例和采用经验；下一步建立 AI 价值漏斗与 champion network，把高价值用例识别、排序并推动规模化。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2｜Supplier Sustainability：当前 AI 已用于强化供应商可持续风险洞察与成熟度评估，并借助自动化公共信息筛查推进供应商风险画像；下一步处理非结构化供应商数据，进一步支持改进措施。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3｜Regulatory &amp; Compliance：当前 AI 每年辅助分流 2,000 多项可持续发展法规，并扩展到更快、更一致的 B/R/F 指导解读；下一步把监测能力连接到 QMS 要求和审计流程。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6B2D4D-641A-4105-941D-1A224D4E1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8aa0717efc3341e3"/>
              </a:rPr>
              <a:t>查看战略原图  ↗</a:t>
            </a:r>
          </a:p>
        </p:txBody>
      </p:sp>
    </p:spTree>
    <p:extLst>
      <p:ext uri="{BB962C8B-B14F-4D97-AF65-F5344CB8AC3E}">
        <p14:creationId xmlns:p14="http://schemas.microsoft.com/office/powerpoint/2010/main" val="6694438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22FC02-A854-4B57-8BE3-859680737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DBD10E-2E60-4981-AB5A-396F5634A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4CF262-C506-4B85-B218-B9E21A70F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商业支持、报告分析与 2026 年重点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051DD6-F06A-48CB-AD4A-DE6C2444F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Business &amp; Markets 聚焦投标和市场支持；Reporting &amp; Analysis 覆盖双重重要性评估、数据采集及披露流程。2026 年将继续扩大已验证项目，并统一共同能力。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550962-B487-49F4-96F9-1F8CEF038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87F6FF-A8E4-42A5-9D2B-BBA0214CF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2348ac03b84221"/>
          <a:stretch xmlns:a="http://schemas.openxmlformats.org/drawingml/2006/main"/>
        </p:blipFill>
        <p:spPr>
          <a:xfrm xmlns:a="http://schemas.openxmlformats.org/drawingml/2006/main">
            <a:off x="1114425" y="1809750"/>
            <a:ext cx="6096000" cy="3429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574F1D-765E-4E68-B55A-6EF8E03BA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6991350" cy="3467100"/>
          </a:xfrm>
          <a:prstGeom xmlns:a="http://schemas.openxmlformats.org/drawingml/2006/main" prst="roundRect">
            <a:avLst>
              <a:gd name="adj" fmla="val 329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BB06BC-1AAB-463A-8DC0-CE5F7B870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09750"/>
            <a:ext cx="35814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C01FDB-5096-4C04-84A8-9865D4B3D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1930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业务落地与规模化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A90D78-FAB4-4222-8F4A-73B198171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38400"/>
            <a:ext cx="31242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83333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4｜Business &amp; Markets：Tender Assistant 正在部署，用于支持 150 多个销售后台团队；同时通过简化工作流减少人工协调、释放专家产能。下一步将在更多区域和优先投标场景中扩大 AI 支持。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5｜Reporting &amp; Analysis：AI 当前支持 Double Materiality Assessment，并通过 GLYNT.ai 扩大制造基地的发票数据采集；下一步计划支持 CDP 等披露工作流和部分 DJSI 步骤。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2026 focus：规模化已经验证的用例、标准化共同能力，并优先选择能够衡量影响的项目。每列底部的 Sponsor、LT 和 Owner 确保项目有人负责、有人推动。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97D398-F409-442B-954A-CFB51258C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5517d41777844b5"/>
              </a:rPr>
              <a:t>进入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93421272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E0B655D-9ED0-4F29-95CC-0337928B7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D74C90-4CB9-4BB3-944C-DC374C79D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E3BD03-03DF-48F0-8310-2040B43B3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GCR AI Game Plan：五大支柱与基础支撑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4AEAF8-52DC-4314-987F-A200E0114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Greater China 的 AI 布局从组织能力、商业洞察、运营服务、职能运营和生态创新五个方向推进，并由技术、数据、治理和 Responsible AI 共同支撑。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2AE7BC-3952-4BC5-B31B-7C8774FF3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4DF33F-123E-4E57-ACDF-8ECF54452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B96DE4-B6F3-4861-90A4-EC46A827F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2114550" cy="27432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ABA5A8-5971-4D39-ABBC-58213DC22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2114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DE9687-2666-4638-9F64-122E7DAD6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提升组织</a:t>
            </a:r>
          </a:p>
          <a:p xmlns:a="http://schemas.openxmlformats.org/drawingml/2006/main">
            <a:pPr algn="ctr"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能力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211DBF-C2C0-4DBA-B645-FE5962F4D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2415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AI fluency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FE2822-5990-46E7-91B7-336F8552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1733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AI 社群与网络</a:t>
            </a:r>
          </a:p>
          <a:p xmlns:a="http://schemas.openxmlformats.org/drawingml/2006/main">
            <a:pPr algn="ctr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能力建设</a:t>
            </a:r>
          </a:p>
          <a:p xmlns:a="http://schemas.openxmlformats.org/drawingml/2006/main">
            <a:pPr algn="ctr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AI 文化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7CA62C-926E-4843-8E1B-01ED8E7C1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809750"/>
            <a:ext cx="2114550" cy="27432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724F80-D1FC-4EC1-A799-117ED6BC9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809750"/>
            <a:ext cx="2114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966F"/>
          </a:solidFill>
          <a:ln xmlns:a="http://schemas.openxmlformats.org/drawingml/2006/main" w="9525">
            <a:solidFill>
              <a:srgbClr val="11966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F030C0-4AC4-49B9-BE84-F610F2079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09550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提升商机洞察</a:t>
            </a:r>
          </a:p>
          <a:p xmlns:a="http://schemas.openxmlformats.org/drawingml/2006/main">
            <a:pPr algn="ctr"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和赢率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E0832B-E5F3-494F-B91B-003F84B10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72415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rPr>
              <a:t>Win with AI &amp; data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996531-D798-4C5C-8D23-BBCE23343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143250"/>
            <a:ext cx="1733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商机与漏斗洞察</a:t>
            </a:r>
          </a:p>
          <a:p xmlns:a="http://schemas.openxmlformats.org/drawingml/2006/main">
            <a:pPr algn="ctr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赢丢单复盘</a:t>
            </a:r>
          </a:p>
          <a:p xmlns:a="http://schemas.openxmlformats.org/drawingml/2006/main">
            <a:pPr algn="ctr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智能投标与定价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AD2A49-6413-4DC8-B28C-48B7BD7F4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809750"/>
            <a:ext cx="2114550" cy="27432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4CB991-3499-4ADD-8756-63E974948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809750"/>
            <a:ext cx="2114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A9CDF5-8F22-42E8-9346-513B28C65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09550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运营与服务</a:t>
            </a:r>
          </a:p>
          <a:p xmlns:a="http://schemas.openxmlformats.org/drawingml/2006/main">
            <a:pPr algn="ctr"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卓越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C6719A-A058-4E9C-82CC-4F1BE6722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72415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Operational excellence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EE4692-2080-4D51-A6D4-B6F6CACEC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43250"/>
            <a:ext cx="1733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无接触订单</a:t>
            </a:r>
          </a:p>
          <a:p xmlns:a="http://schemas.openxmlformats.org/drawingml/2006/main">
            <a:pPr algn="ctr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服务运营平台</a:t>
            </a:r>
          </a:p>
          <a:p xmlns:a="http://schemas.openxmlformats.org/drawingml/2006/main">
            <a:pPr algn="ctr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智慧工厂与供应链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B3D8FD-E4DE-4FEF-83C8-1D38B59C8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809750"/>
            <a:ext cx="2114550" cy="27432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C76A43-E5DF-49BD-9CDF-4B1096775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809750"/>
            <a:ext cx="2114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B78"/>
          </a:solidFill>
          <a:ln xmlns:a="http://schemas.openxmlformats.org/drawingml/2006/main" w="9525">
            <a:solidFill>
              <a:srgbClr val="003B7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E62D26-20D7-422A-BF44-E99802772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9550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职能运营</a:t>
            </a:r>
          </a:p>
          <a:p xmlns:a="http://schemas.openxmlformats.org/drawingml/2006/main">
            <a:pPr algn="ctr"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卓越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0457C2-160E-4777-BA61-1D0EAD5D9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2415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Functional excellence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787686-1ACC-47D7-8FB6-9672B6EFB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143250"/>
            <a:ext cx="1733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市场、财务与 HR</a:t>
            </a:r>
          </a:p>
          <a:p xmlns:a="http://schemas.openxmlformats.org/drawingml/2006/main">
            <a:pPr algn="ctr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法规、质量与法务</a:t>
            </a:r>
          </a:p>
          <a:p xmlns:a="http://schemas.openxmlformats.org/drawingml/2006/main">
            <a:pPr algn="ctr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战略与竞品情报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26F666-294C-4FB0-BDA6-C047ECD49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809750"/>
            <a:ext cx="2114550" cy="27432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D35581-7AD9-46EB-A20A-17994943B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809750"/>
            <a:ext cx="2114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9993D14-E98F-4F75-9579-E4A5E5A86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09550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与生态圈</a:t>
            </a:r>
          </a:p>
          <a:p xmlns:a="http://schemas.openxmlformats.org/drawingml/2006/main">
            <a:pPr algn="ctr"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加速创新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FF9F924-DBF3-4B09-A327-83E5A362F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72415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E2E innovation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5775D58-9487-4435-AA30-880D454BC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143250"/>
            <a:ext cx="1733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端到端创新加速</a:t>
            </a:r>
          </a:p>
          <a:p xmlns:a="http://schemas.openxmlformats.org/drawingml/2006/main">
            <a:pPr algn="ctr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本地第三方 AI 伙伴</a:t>
            </a:r>
          </a:p>
          <a:p xmlns:a="http://schemas.openxmlformats.org/drawingml/2006/main">
            <a:pPr algn="ctr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生态协同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2CDC7C3-82AB-449D-919A-6A90C908C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79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每个支柱由业务牵头，并与支持伙伴和 AI Ambassador 协同推进。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50B8EE3-C604-4A2A-85DB-A0AA844C0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05400"/>
            <a:ext cx="24384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D640BA3-CBC2-40CB-BF48-E8B2C5BBA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19700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技术与平台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F1A419F-A89B-4BC0-82CF-43363CA05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105400"/>
            <a:ext cx="24384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41FCA21-E395-4D37-BFA9-0E89BBEB6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219700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数据底座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22B44D9-AF7E-4D7E-9F88-662EF33C5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105400"/>
            <a:ext cx="24384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A0E75BF-E92A-4B3D-A0F0-C859F35C6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219700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运营模式与治理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B90B0C4-4111-4F8E-8C0B-BEB6ADF76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105400"/>
            <a:ext cx="24384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92B3413-08A4-4EF6-9142-E9B0B15E7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219700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负责任的 AI 与合规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16F0A4C-DA70-4CF6-9D96-9D7066B48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c1e1f100ba24369"/>
              </a:rPr>
              <a:t>进入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199316551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769746-D57F-4581-B330-4A84B42BF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7E5CFA-5F40-4CA4-BD81-D878F5433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8EA11A-45D7-4BE1-91AE-C5BD0EB46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Gateway：企业 ChatGPT 的访问与支持入口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3F198D-35AD-4E1D-A8A5-BA1B7423A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AI Gateway 集中展示企业 ChatGPT 的访问状态、申请支持、使用规范和运营信息。Microsoft 官方课程在 AI Skills Navigator 中学习，Copilot 的实际操作则进入 Microsoft 365 Copilot。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CA1E29-B13E-410D-9932-DF9428069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9CC699-63A2-4833-AB07-4AC834132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87E48E-C654-4A83-AEA9-AEBD880F3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3190875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69F05F-A92B-42E0-AB8B-7B1B346F7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621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F1BFD8-6B65-4D38-A6BA-C2EC7799F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193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3FB07B-A9E1-4836-AA19-772ABBF2E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143125"/>
            <a:ext cx="2219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访问与开通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02E597-90EB-4FAD-BD11-151CE3A9D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57475"/>
            <a:ext cx="277177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说明企业版 ChatGPT 的访问方式、申请路径和 onboarding 支持，帮助员工从正确入口开始使用。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7FD18F-DE8D-4A85-B4B1-670CCDE2F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952625"/>
            <a:ext cx="3190875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94F10A-2BED-43E3-96D0-AF7ED4BCB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1621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966F"/>
          </a:solidFill>
          <a:ln xmlns:a="http://schemas.openxmlformats.org/drawingml/2006/main" w="9525">
            <a:solidFill>
              <a:srgbClr val="11966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18E524-6E3D-4B96-A3A2-90F578E9B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2193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C21006-2188-41DB-87D4-0030F6EF7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143125"/>
            <a:ext cx="2219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治理与责任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167A5B-8281-460A-A4DE-8CA75EF85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657475"/>
            <a:ext cx="277177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呈现企业使用预期、数据处理边界、Responsible AI 提醒，以及人工复核的责任。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504CE7-43B2-48A7-9E59-12D39C226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952625"/>
            <a:ext cx="3190875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9CEC15-55A9-4D68-8B0B-AFAA08FFE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621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871AF1-BC74-4E31-B71F-8C9D8FF60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2193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F46089-EF76-4B3B-B710-CF125DD4C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143125"/>
            <a:ext cx="2219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可见性与运营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43733A-B813-4BB2-8DBD-7700F5497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57475"/>
            <a:ext cx="277177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面向平台运营提供使用、请求状态和治理信号的可见性；部分个人页面还可能显示用量信息。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5B2E4B-6992-4FAD-92B1-C1107D87E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625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在 AI Gateway 先找到三件事：我的访问状态、申请或咨询入口、企业使用规范。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C03426-0B50-422A-AFA5-A699AC0CA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b5827ab91d447b2"/>
              </a:rPr>
              <a:t>进入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98642047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C4A9AE-5488-474F-9A7C-03638EF54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A7C7CD-CB36-4AAF-AF4D-EA2C596E0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57A3D6-4D48-4CB5-8D16-5AC5400A8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入口与访问：AI Gateway 同时管理开通、治理与运营可见性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58383D-B05D-48CB-8EEF-D099706D6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422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首页上方说明 Enterprise ChatGPT for Philips 的定位；右侧状态卡显示当前标准用户配置可使用引导助手。下方三张卡分别对应成本与配额、使用可见性和标准化 onboarding，说明这是受企业运营模型管理的入口。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7A35EF-2E91-4AD1-BB9A-6EE4DAB4A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50C91A-14D3-42C0-964E-4F80C7A5C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753b9664834dce"/>
          <a:stretch xmlns:a="http://schemas.openxmlformats.org/drawingml/2006/main"/>
        </p:blipFill>
        <p:spPr>
          <a:xfrm xmlns:a="http://schemas.openxmlformats.org/drawingml/2006/main">
            <a:off x="896711" y="1809750"/>
            <a:ext cx="6531429" cy="3429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188E33-78C1-45C7-88A5-4AB880A0B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6991350" cy="3467100"/>
          </a:xfrm>
          <a:prstGeom xmlns:a="http://schemas.openxmlformats.org/drawingml/2006/main" prst="roundRect">
            <a:avLst>
              <a:gd name="adj" fmla="val 329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C08D5F-996E-414A-B63C-FB7CE76C2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09750"/>
            <a:ext cx="35814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8D4E62-549F-4B92-B225-455223151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1930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09A922-D39C-4187-9A93-132CE9D4B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38400"/>
            <a:ext cx="31242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95238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访问入口：主卡提供 Request access through the assistant，并明确 assistant 可回答 onboarding、企业使用预期、Responsible AI 和申请步骤。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访问状态：右侧卡片显示当前可使用 AI Gateway 的引导助手；ChatGPT 的具体权限和开通进度仍以页面中的账户状态为准。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运营机制：下方三项说明用量与成本配额相连、请求与治理信号可观察、申请按 Philips group 和审批路径标准化。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AE0B8A-43DC-432E-BDDB-077E74167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2c578addc7c45c3"/>
              </a:rPr>
              <a:t>打开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104419273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FE7E98-54A1-4E35-B8B8-BA64AE859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3E81C8-291B-4167-8877-C7C46B4BA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969314-259B-4AE9-92D0-73471A5D8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常见用途与使用条件放在同一页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D9F285-E33C-47EA-A555-0AC646FF3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左侧是起草、总结、研究和流程自动化等常见用途；右侧是企业使用、Responsible AI、审批和开通流程。开始使用前，可以把这两部分一起看完。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68C49F-1192-4CC2-BC18-B68569482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5165AA-A2B6-48EA-A7E4-86C543FD9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2bc3f5a3ca4efc"/>
          <a:stretch xmlns:a="http://schemas.openxmlformats.org/drawingml/2006/main"/>
        </p:blipFill>
        <p:spPr>
          <a:xfrm xmlns:a="http://schemas.openxmlformats.org/drawingml/2006/main">
            <a:off x="896711" y="1809750"/>
            <a:ext cx="6531429" cy="3429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9E5447-8A1A-4050-8CAC-CA73A1657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6991350" cy="3467100"/>
          </a:xfrm>
          <a:prstGeom xmlns:a="http://schemas.openxmlformats.org/drawingml/2006/main" prst="roundRect">
            <a:avLst>
              <a:gd name="adj" fmla="val 329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F4F5A3-C33A-4F72-BEF9-45C9CAE53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09750"/>
            <a:ext cx="35814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057335-5A79-4C44-B081-3604F11C2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1930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C101BC-A809-4070-9142-60FCFCF8E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38400"/>
            <a:ext cx="31242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97573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可以做什么：起草文档与沟通、总结报告与会议、研究与知识发现、生产力与流程自动化。四类用途都需要清楚输入、输出和人工责任。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怎样负责任地做：仅在批准的 Philips 工作情境中使用，遵守企业数据处理与可见性要求；审阅生成结果，不在未批准环境中放入敏感信息。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怎样获得权限：访问需要经过 Philips 审批与 provisioning；准备申请时从 AI Gateway 开始，并按所在 group 的引导路径完成。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8B410C-EFF1-4A1F-9691-20D40250A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a26df9cd84d446a4"/>
              </a:rPr>
              <a:t>查看企业使用说明  ↗</a:t>
            </a:r>
          </a:p>
        </p:txBody>
      </p:sp>
    </p:spTree>
    <p:extLst>
      <p:ext uri="{BB962C8B-B14F-4D97-AF65-F5344CB8AC3E}">
        <p14:creationId xmlns:p14="http://schemas.microsoft.com/office/powerpoint/2010/main" val="18691638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03B7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6DC2C6-6EDF-4EE4-8CA8-2545A9501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6DF720-9573-448A-B0B2-A09C1FAAD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382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rPr>
              <a:t>PART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124849-6371-4273-A0A4-62BF220BC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9810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Philips GCR AI Ambassador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DDD271-F081-483F-8BC3-044F6B0E3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8572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>先认识 GCR AI Network 中不同角色的分工，再通过大使名单找到各职能、业务单元和市场中的本地连接人。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7C7D35-36DC-4193-9254-B53524146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9d35b7e5e4f4680"/>
              </a:rPr>
              <a:t>进入 AI Gateway  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70B2A4-D377-435B-BEF0-2A06AB565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0207a601797a4803"/>
              </a:rPr>
              <a:t>查看 AI Tool Lab  ↗</a:t>
            </a:r>
          </a:p>
        </p:txBody>
      </p:sp>
    </p:spTree>
    <p:extLst>
      <p:ext uri="{BB962C8B-B14F-4D97-AF65-F5344CB8AC3E}">
        <p14:creationId xmlns:p14="http://schemas.microsoft.com/office/powerpoint/2010/main" val="15248370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3587DE2-90C6-4910-8BDF-007D1CD6E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86BA0C-919B-443F-A9BC-DC3074DE4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 Philips GCR AI Ambassador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86CA49-E11B-420C-AD1A-FDB0D50AF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GCR AI Network：四类角色共同推动 AI 落地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849F64-5B42-4418-B3D3-DA9E24539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Champion 制定方向，Ambassador 组织推广，Catalysts 从业务流程中寻找应用机会，Guru 提供技术连接与落地支持。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477657-FDAC-43BB-AAFE-8BE30DDC5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DDBE12-6E36-4DC2-9DFF-60D94B739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71B2E5-A26C-402D-A52A-ADC9DFD73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104394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71DEF4-3245-4A27-B08B-70A720317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431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E9D23F-C7CE-4F68-BF53-54520FFB3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383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FE3A13-231B-4557-B191-661C07226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9240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先锋｜Champion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A51286-9407-4913-9D7F-0C203B152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23837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Yiqiu Chen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AED940-80EB-4508-BCCA-0455F98C0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981200"/>
            <a:ext cx="600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制定战略方向，聚焦高价值场景，推动 AI 创造业务价值。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E58E5E-E25C-4D10-929E-7195EB8F9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95575"/>
            <a:ext cx="104394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7FA1D4-0B84-444F-B84C-DBD6BEFC7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479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966F"/>
          </a:solidFill>
          <a:ln xmlns:a="http://schemas.openxmlformats.org/drawingml/2006/main" w="9525">
            <a:solidFill>
              <a:srgbClr val="11966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1D6430-829D-4159-B812-2B5B37213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4322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FAB6C0-1A59-42F0-9B48-01A361AE3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82892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大使｜Ambassador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8B9784-C238-42BE-87B0-5240602F5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1432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rPr>
              <a:t>24 people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1D274C-147D-40E0-9598-514E781D0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886075"/>
            <a:ext cx="600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激活组织、推动参与和变化管理，帮助 AI 认知与应用扩大到更多团队。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0D89AB-AA7A-4D49-8C87-B333F8FE6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00450"/>
            <a:ext cx="104394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5EC70B-084D-4755-8BF2-6366A3D0E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52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2C025F-D9DE-492C-9997-7AE0A9D24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481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E85B23-7E9D-4270-B425-822DBF81F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7338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推动者｜Catalysts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B6E140-FCC3-4091-AD74-C010FA79E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04812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每个团队约 5%–10%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A1635F-089E-457A-A1DD-52A80B1CE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790950"/>
            <a:ext cx="600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熟悉业务流程，从日常工作中寻找切入点，推动 AI 融入真实工作流。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890943-798F-47FA-B9BE-2766C622C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05325"/>
            <a:ext cx="104394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FEB692-FF03-43AD-BAC0-57086D13A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577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B78"/>
          </a:solidFill>
          <a:ln xmlns:a="http://schemas.openxmlformats.org/drawingml/2006/main" w="9525">
            <a:solidFill>
              <a:srgbClr val="003B7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C4BAAB-21A1-43C8-A508-617A12D85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529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4FD74A-6AC5-46AC-8428-EFF252D49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63867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专家｜Guru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1DE877C-64D9-48DB-AB7E-1990A570D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9530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每个团队约 3%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788E5BD-07B9-4CD5-B714-A52490F43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695825"/>
            <a:ext cx="600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连接业务需求与 AI 能力，提供技术支持，并参与落地、运行和持续优化。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045A293-5F2A-4396-8C2D-B91613DB5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2e176cba408d4165"/>
              </a:rPr>
              <a:t>回到 AI Gateway  ↗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FE211DC-EF62-4CE0-A7A9-4B2EFEA68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867400"/>
            <a:ext cx="2476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a931d746f16d4506"/>
              </a:rPr>
              <a:t>继续探索 AI Tool Lab  ↗</a:t>
            </a:r>
          </a:p>
        </p:txBody>
      </p:sp>
    </p:spTree>
    <p:extLst>
      <p:ext uri="{BB962C8B-B14F-4D97-AF65-F5344CB8AC3E}">
        <p14:creationId xmlns:p14="http://schemas.microsoft.com/office/powerpoint/2010/main" val="168572385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595061-45DB-44A4-A499-01969D6F4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375B0D-61EC-42D8-A959-A2BDFAB63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 Philips GCR AI Ambassador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737C33-C68D-44F1-BADE-F23EF8AA4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GCR AI Ambassador：覆盖职能与市场的本地连接网络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59210D-06EB-4096-8CBF-8051C0A54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GCR AI Ambassador Representative Chair 为 Alison Gu，网络规模为 24 FTE。名单按 Function / BU、GCMT / Function Lead 和 AI Ambassador 对应到各职能、业务单元与市场。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10185C-C803-4B6A-9EE9-9C691EEB9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9F94B6-BCD0-4466-913C-1B5AC060D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7ad7bcebc545b1"/>
          <a:stretch xmlns:a="http://schemas.openxmlformats.org/drawingml/2006/main"/>
        </p:blipFill>
        <p:spPr>
          <a:xfrm xmlns:a="http://schemas.openxmlformats.org/drawingml/2006/main">
            <a:off x="1046956" y="1809750"/>
            <a:ext cx="6230938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C84AB3-BA5D-4CB5-BD55-374C08BAD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6991350" cy="3371850"/>
          </a:xfrm>
          <a:prstGeom xmlns:a="http://schemas.openxmlformats.org/drawingml/2006/main" prst="roundRect">
            <a:avLst>
              <a:gd name="adj" fmla="val 339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F95B61-8BFE-4749-A76C-5DE403233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09750"/>
            <a:ext cx="35814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3FE69B-9852-44D3-8D92-0188F7D0C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1930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C06460-358A-44DC-AD8E-B9AF45A0B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38400"/>
            <a:ext cx="3124200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85621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覆盖范围：名单跨 ISC &amp; SSD、市场、财务、法务、HR、战略、质量、法规、临床、创新、IT，以及 ULS、各区域市场、EI、HPM、SRC、PH、HK、TW、Medical Officer、Government Affairs 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角色分工：Function Lead 代表业务和管理责任；AI Ambassador 负责连接学习资源、分享实践方法、帮助梳理 AI 机会，并把共性问题带回社区。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怎样使用网络：遇到入口、学习路径、案例迁移或 Agent 设计问题时，先找到所属 Function / BU 对应的大使交流；业务决策、数据授权和最终交付仍由相应负责人承担。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8575B6-899F-4A94-B4C1-3195C5815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667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8a74c70920054eae"/>
              </a:rPr>
              <a:t>进入 Copilot 学习与实操  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C5E06C-8EDE-4565-B35B-337FEBD44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de4c7f2331c6470a"/>
              </a:rPr>
              <a:t>打开 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176501607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03B7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DC544F-33F0-4072-A96F-6D218C5B0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B3CE55-C491-463A-BB29-342CBFF73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382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rPr>
              <a:t>PART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44464C-A262-47D0-A9C5-E30141992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9810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日常工作中的 Copilot 实操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D6C68E-1DDE-48D3-A3FD-97CC7E0C9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8572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>先认识微软官方 AI 学习网站和 MS-4004，再用一个跨岗位案例练习多来源总结、冲突识别和沟通输出。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48E270-1D8F-4846-BEF9-092E813C1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9b3034a1e494046"/>
              </a:rPr>
              <a:t>AI Skills Navigator  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C39C8D-7041-4324-ADEB-12F608A2E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be2f607fc8c49fc"/>
              </a:rPr>
              <a:t>MS-4004 学习路径  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7C6A06-4195-4FAC-AA21-F2A118614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e495518f27449ec"/>
              </a:rPr>
              <a:t>打开 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182151059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210621-C54C-4464-9219-F87A428FD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FF1E06-2434-4F81-A482-015894495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F6EDA4-2A7A-4BDE-BDFF-1969148BD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Skills Navigator：从 For you 首页开始选择学习内容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1615C0-C113-4AA5-AC0A-616106113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AI Skills Navigator 是微软官方 AI 学习网站。For you 首页根据学习记录和个人资料推荐内容，左侧提供课程搜索、学习播放列表、证书和学习报告等入口。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19B535-9A1E-4921-97CC-B8D917F40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99DFFA-FFAC-467B-806B-905C91A8E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d3d3b06dd14b7a"/>
          <a:stretch xmlns:a="http://schemas.openxmlformats.org/drawingml/2006/main"/>
        </p:blipFill>
        <p:spPr>
          <a:xfrm xmlns:a="http://schemas.openxmlformats.org/drawingml/2006/main">
            <a:off x="935131" y="1809750"/>
            <a:ext cx="6454588" cy="3429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37C45E-F3BC-4DDA-9D03-C5E8BE9BA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6991350" cy="3467100"/>
          </a:xfrm>
          <a:prstGeom xmlns:a="http://schemas.openxmlformats.org/drawingml/2006/main" prst="roundRect">
            <a:avLst>
              <a:gd name="adj" fmla="val 329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26C375-1EAE-409B-B501-D63CAD58E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09750"/>
            <a:ext cx="35814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915E03-20EC-4DE3-A0D2-C387E4D83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1930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首页怎么使用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9B8597-8B83-4DC3-822D-B41132869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38400"/>
            <a:ext cx="31242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左侧导航：For you 查看个性化内容，Explore content 主动搜索主题，Skilling playlists 进入成套学习路径，Credentials 与 Reporting 分别查看证书和学习记录。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首页推荐：Recommended for you 根据资料展示课程卡片；Pick up where you left off 用于继续之前的内容，右上角的学习习惯提示帮助保持连续学习。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使用方法：首次进入可以先更新 profile，再按当前岗位或工作问题搜索。Bootcamp 结束后仍可从这里继续学习 Copilot、AI 基础和其他产品方向。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A2E5E1-DFFB-4F6D-B5CD-42D140997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667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a85bcb0d69d4b54"/>
              </a:rPr>
              <a:t>访问微软官方学习网站  ↗</a:t>
            </a:r>
          </a:p>
        </p:txBody>
      </p:sp>
    </p:spTree>
    <p:extLst>
      <p:ext uri="{BB962C8B-B14F-4D97-AF65-F5344CB8AC3E}">
        <p14:creationId xmlns:p14="http://schemas.microsoft.com/office/powerpoint/2010/main" val="135447961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0261B4-8317-4735-A41B-9027C4EA6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0D21A2-F09B-4980-BA91-4A6659A66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B20DD9-8BBA-4DEA-9760-E34BB47D8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Skilling playlists：把分散课程组织成可持续推进的学习路径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32F1F7-5427-4CD9-908F-70491F9E3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当前页面打开的是 Philips: Summer 2026 M365 Copilot Courses。顶部汇总播放列表的内容数量和总体进度，下面按主题组织 AI-3025、Microsoft 365 Copilot Chat 基础模块以及 MS-4004 等课程，便于按顺序持续学习。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A37ED8-8471-4672-BB58-1286738CD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4D23B7-0763-442B-8B9A-3E71FC2A7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431e6e6d904116"/>
          <a:stretch xmlns:a="http://schemas.openxmlformats.org/drawingml/2006/main"/>
        </p:blipFill>
        <p:spPr>
          <a:xfrm xmlns:a="http://schemas.openxmlformats.org/drawingml/2006/main">
            <a:off x="935131" y="1809750"/>
            <a:ext cx="6454588" cy="3429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2FF729-639D-4C5F-8908-46D961683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6991350" cy="3467100"/>
          </a:xfrm>
          <a:prstGeom xmlns:a="http://schemas.openxmlformats.org/drawingml/2006/main" prst="roundRect">
            <a:avLst>
              <a:gd name="adj" fmla="val 329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3EA03B-72E3-49AC-ABB5-8366635F3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09750"/>
            <a:ext cx="35814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DD22C9-91A8-4648-8B3A-3BDA7EF45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1930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播放列表的结构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8EAEF3-12FE-4CC8-A65D-C891486D4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38400"/>
            <a:ext cx="31242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8875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播放列表信息：顶部显示 33 items、总体进度和 Continue learning。它把文本、视频、Learning path 与 Module 组合在同一条学习路线中。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学习顺序：可以先完成 Work Smarter with AI 和 Copilot Chat Basic，建立提示、文件分析与协作基础，再进入 Microsoft 365 Copilot Use Cases（MS-4004）。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MS-4004 位置：页面下方已经列出 MS-4004，并明确覆盖 Executives、Sales、Marketing、Finance、IT、HR、Operations、Communications、Customer Service 和 Legal。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4196F9-81F4-4065-BFAC-BAD9240AF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63eafad4cce44dd"/>
              </a:rPr>
              <a:t>打开当前播放列表  ↗</a:t>
            </a:r>
          </a:p>
        </p:txBody>
      </p:sp>
    </p:spTree>
    <p:extLst>
      <p:ext uri="{BB962C8B-B14F-4D97-AF65-F5344CB8AC3E}">
        <p14:creationId xmlns:p14="http://schemas.microsoft.com/office/powerpoint/2010/main" val="89499821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D4E287-4543-4F50-AAB9-31F1622E0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DAB1CE-500C-4D74-92A5-333F138F0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09601D-CF09-44E0-9ACD-122357B7A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课程播放器与 MS-4004 导航：按单元学习并随时返回目录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FF6A8B-7249-4C61-ADA5-861717AB8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进入课程后，左侧 Navigation 展示整个播放列表的层级。当前截图选中的是 Copilot Chat Basic 的 Introduction；MS-4004 已显示在左侧目录中，展开后可以进入各岗位 use case。右侧主区用于阅读内容、查看学习目标并完成单元。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EE8C39-0969-44C7-B549-9EB356241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0E83AF-B3C9-483E-BFAE-71B0F5616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ff316b13eb4f3a"/>
          <a:stretch xmlns:a="http://schemas.openxmlformats.org/drawingml/2006/main"/>
        </p:blipFill>
        <p:spPr>
          <a:xfrm xmlns:a="http://schemas.openxmlformats.org/drawingml/2006/main">
            <a:off x="935131" y="1809750"/>
            <a:ext cx="6454588" cy="3429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976423-CEDE-4266-BB94-49BB5E0FA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6991350" cy="3467100"/>
          </a:xfrm>
          <a:prstGeom xmlns:a="http://schemas.openxmlformats.org/drawingml/2006/main" prst="roundRect">
            <a:avLst>
              <a:gd name="adj" fmla="val 329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2AD170-64A5-44C9-8E90-9D0903BF2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09750"/>
            <a:ext cx="35814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A207BE-BFF4-48D4-8E51-835D5D873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1930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课程页面怎么读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912358-A7C0-45DB-869E-732526BF9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38400"/>
            <a:ext cx="31242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95238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左侧目录：可以展开课程和单元，当前模块包含 Introduction、Copilot Pages、Agents、练习和 Summary；下方的 MS-4004 是后续角色化用例入口。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主学习区：页面显示当前单元、正文、Important 提醒和学习目标；顶部还可 Summarize module 或 Turn module into podcast，便于按不同方式复习。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与课堂衔接：先理解 Copilot Chat 的基础能力，再进入 MS-4004 的岗位案例。接下来的课堂实操会提炼这些案例中共通的读、理、查、写方法。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0B7E8A-3E8D-4145-BDB7-6F15B05DA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667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181ba8c50984d40"/>
              </a:rPr>
              <a:t>打开 MS-4004 播放列表  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F488A6-DEBD-4958-AE49-B11B8DA0C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867400"/>
            <a:ext cx="2381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2d0fad5fb85144aa"/>
              </a:rPr>
              <a:t>查看 Microsoft Learn  ↗</a:t>
            </a:r>
          </a:p>
        </p:txBody>
      </p:sp>
    </p:spTree>
    <p:extLst>
      <p:ext uri="{BB962C8B-B14F-4D97-AF65-F5344CB8AC3E}">
        <p14:creationId xmlns:p14="http://schemas.microsoft.com/office/powerpoint/2010/main" val="31213694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49332B4-2DF1-42C6-8FA8-2299F1AB6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FB0F17-F91C-4A31-8560-1D7574052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6926CC-9AFA-4E19-86B0-82A2946D5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MS-4004 覆盖的十类岗位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BDE010-DB4E-4CD8-A4D5-9AC1804EB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MS-4004 按岗位组织 Copilot 案例。浏览时可以先看与自己最接近的岗位，也可以直接寻找熟悉的任务，例如读懂上下文、比较多份资料、整理风险和起草下一步沟通。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CDC893-F2DB-44F6-A63F-7E636106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E25205-D32A-4222-A1FC-C4629C132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E0786D-252B-4BC1-B6BE-8C354981E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1C3E9A-8705-4963-8191-2CC3650F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907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5D21D4-5D42-4398-9135-FD6876661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15265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管理者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AA076A-430B-4189-B003-55BD494D4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000250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F9BFE7-D8AF-490F-9EE5-CCB66F0BE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1907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A7C846-3D41-4251-8DFC-0E69B66CA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15265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销售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50DCA7-18BE-4D4B-9FC9-5898F79BD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000250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E5BC21-75C5-420F-A49C-91D160D5F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1907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EA92DC-C6D1-4B43-9E3E-ABBA2AF60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215265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市场营销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37AB04-0B18-440A-9265-6632D5B60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000250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CE6E1D-1DF3-4E46-8BD1-32A885516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1907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9DE257-A1B2-4026-8D4C-4691F2237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15265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财务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45E990-A6EC-46DB-B1CC-34EB49A71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00250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F0428A-07C2-4009-A219-52C1D319D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1907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04D89F-6D6F-4F36-B121-43E2AE194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215265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0F8F78-59BF-4B7E-AF45-2DDB7B93F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86125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C6D453-15A9-4A37-9904-B63812879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766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EC2270-278D-4EB0-8838-956B7ED17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38525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人力资源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4707CD-33F5-4CF4-82F3-EB83B4F13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286125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9BE5A1-D8E7-4CE9-855F-32CFFEA2A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4766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999560-DB9A-491F-897F-83CC813B8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438525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运营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0A0903-0955-4CFC-8B85-DC6B52901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286125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D9291C0-EE63-4803-895E-01A2B255C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4766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CB9B2C-F9F3-4177-91B4-22430E797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3438525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企业沟通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3C0D80A-271E-479C-80F2-A066703DD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286125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72AB12-FC4E-4C7A-9CDA-616213791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4766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5552709-CB71-4CFC-9198-29B865F9A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438525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客户服务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DA0C50A-89D5-4285-B30D-11DD37285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86125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9017587-83BF-4C5D-BA92-901349ADD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4766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F7B8B77-3A17-493E-AE80-7E5CD73B9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3438525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法务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9C1F260-5D19-464C-BFE0-1E746BC8C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577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跨岗位共同点：快速理解上下文、从多个来源提取关键信息、识别风险与冲突，并把分析转化为清晰的下一步沟通。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2C09012-7524-475C-8367-FD61A82EF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c561f6fd3414d1b"/>
              </a:rPr>
              <a:t>进入 MS-4004  ↗</a:t>
            </a:r>
          </a:p>
        </p:txBody>
      </p:sp>
    </p:spTree>
    <p:extLst>
      <p:ext uri="{BB962C8B-B14F-4D97-AF65-F5344CB8AC3E}">
        <p14:creationId xmlns:p14="http://schemas.microsoft.com/office/powerpoint/2010/main" val="14026095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7086FF-09DF-4E68-BFA0-C78CB6908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23D683-5130-4693-8101-75E8AF2D2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749EF1-0781-4FE4-8724-8E6B14BAB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把岗位差异提炼为四类通用任务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FF0F22-B7B6-4B06-87D0-BC4D878EB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无论岗位是什么，Copilot 的高频价值通常集中在“读、理、查、写”。课堂案例会把这四类动作串成完整工作流：先理解资料，再形成结构，检查问题，最后把结果转化为可执行的沟通。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A0CCE9-410F-4CCE-BA53-B6A35EE9C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E35937-4EDC-4AD0-8335-1E0079643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D955C3-1438-4C11-A3AD-AEE347659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2286000" cy="2714625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2A2524-209D-4A1A-A637-FD2648945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09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6EF697-C4EC-4168-8ABD-1F8DACDA3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669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0233EA-DC0A-4D8E-9CE8-8B1AE1DA3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19075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读：快速理解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DEBBF0-4804-42F6-8E45-4682FC029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05100"/>
            <a:ext cx="1866900" cy="183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阅读项目简介、会议纪要、邮件或文档，提取目标、背景和关键事实。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D11998-BD46-463B-B963-870FA476B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000250"/>
            <a:ext cx="2286000" cy="2714625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76F04A-FE24-4F11-8405-01FB11FAB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209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57E273-5087-472E-8AC4-B3D9F70E2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2669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FFF369-D358-434D-900F-63DD37E6A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9075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理：形成结构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0752D6-4E08-41D5-A9A2-35EBB4DFC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705100"/>
            <a:ext cx="1866900" cy="183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按决策、行动、风险、截止日期和负责人重新组织信息。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282311-7CC5-418F-95F0-5012AD409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00250"/>
            <a:ext cx="2286000" cy="2714625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298F70-9556-4F02-9C81-FA8A6F308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209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26EB60-68C8-4935-A6DF-A40489E9B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2669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ED9D0F-1F57-44E0-9E5E-1AFDFD88A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19075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查：发现问题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7FA4F3-0415-4EDE-B45D-463767DB6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705100"/>
            <a:ext cx="1866900" cy="183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比较多个来源，标记冲突、缺失信息和需要人工确认的假设。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F2D49A-998C-4A95-AFCF-7AC1F4BD0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000250"/>
            <a:ext cx="2286000" cy="2714625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238397-73A5-4058-9FDD-EBA76F69B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209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6EDF43-AE0D-4AD1-B474-8AD800E81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2669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BB8071-9898-4CA0-8975-5D6A1B93B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19075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写：推动行动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8EF311-FED6-474B-87EC-7716D25AD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705100"/>
            <a:ext cx="1866900" cy="183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生成一页项目简报和后续邮件，让分析结果进入真实协作。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08E52C-7C1E-4C67-905C-886280E71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99154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888dcf9e3b9d4b9e"/>
              </a:rPr>
              <a:t>打开 Microsoft 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54423205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33013C-CF2F-45A4-8CE3-EFD2EFA4A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83E557-AECE-49A6-A4C0-9791B3826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797552-637E-4BA3-8CE3-BCDB30E4E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通用案例：快速接手一个新项目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1E6979-7437-47B3-8922-F3785476C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我们用一组虚构的“绿色办公周”资料，完整演示一次从阅读材料到形成沟通输出的过程。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41D511-347C-42BB-87AF-73FF1ADAD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4E4630-D541-4A78-9225-40EAD7798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FA1F59-905F-4237-B916-98DD578D2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106299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07BC55-E73F-4603-8E66-24132A080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240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你的任务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E223A0-66C2-4B34-ACD7-DA27F07BA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76475"/>
            <a:ext cx="988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今天接手“绿色办公周”项目。请读懂三份资料，向负责人说明当前进展、主要风险和下一步安排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0D0DE4-FD67-4687-BF65-DB601E659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2766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BA3FF3-D9D8-49FE-B2FC-C93BEC6CF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1470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你会拿到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955B24-62EB-41A0-81A4-F5E9BA3E9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90950"/>
            <a:ext cx="2743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项目简介</a:t>
            </a:r>
          </a:p>
          <a:p xmlns:a="http://schemas.openxmlformats.org/drawingml/2006/main">
            <a:pPr algn="l"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规划会议纪要</a:t>
            </a:r>
          </a:p>
          <a:p xmlns:a="http://schemas.openxmlformats.org/drawingml/2006/main">
            <a:pPr algn="l"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里程碑时间表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B4C49F-8A14-4CD1-A09F-2F5C7FA70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067050"/>
            <a:ext cx="32766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A1B443-8056-4F07-8339-A30E058AF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31470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rPr>
              <a:t>请 Copilot 帮你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C37824-9AE1-4028-90ED-BC2C8FE8A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790950"/>
            <a:ext cx="2743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提炼目标与关键进展</a:t>
            </a:r>
          </a:p>
          <a:p xmlns:a="http://schemas.openxmlformats.org/drawingml/2006/main">
            <a:pPr algn="l"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整理负责人和截止日期</a:t>
            </a:r>
          </a:p>
          <a:p xmlns:a="http://schemas.openxmlformats.org/drawingml/2006/main">
            <a:pPr algn="l"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找出冲突与待确认事项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3DEA82-DF3D-42D0-AEE6-A2EE1C85D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067050"/>
            <a:ext cx="32766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5597B1-9816-4510-9850-DF169AF1F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1470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最后交付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3A1C5D-6164-4EEC-B120-5201FCE8F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790950"/>
            <a:ext cx="2743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一页项目接手简报</a:t>
            </a:r>
          </a:p>
          <a:p xmlns:a="http://schemas.openxmlformats.org/drawingml/2006/main">
            <a:pPr algn="l"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一封跟进邮件草稿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2D3705-00E6-4C64-A76C-8DA7FA2D9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b4d22888d4fe4407"/>
              </a:rPr>
              <a:t>进入 Copilot 实操  ↗</a:t>
            </a:r>
          </a:p>
        </p:txBody>
      </p:sp>
    </p:spTree>
    <p:extLst>
      <p:ext uri="{BB962C8B-B14F-4D97-AF65-F5344CB8AC3E}">
        <p14:creationId xmlns:p14="http://schemas.microsoft.com/office/powerpoint/2010/main" val="942420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DE45D6-D53E-4396-B81B-5E22548F9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E28884-BC9F-44E8-A06E-F75F733D8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28336B-744E-422C-8F1F-B91562E32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资料 1：项目简介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7447F9-9CA3-4F34-A885-1B19B7520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先从项目简介建立全貌：项目为什么做、如何衡量、预算和范围是什么、关键日期有哪些。这里记录的报名开放日期是 28 Aug，稍后会和时间表进行对照。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7E5275-C859-4227-A1C0-3D62FF880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9B63CC-0617-4F19-8176-84BB84C60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6B1086-2746-4D43-8EED-FB11B6584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1009650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6CF267-FFAA-4D51-BBB1-F5522CE13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1455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GREEN OFFICE WEEK｜PROJECT BRIEF（虚构培训数据）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58FEAA-281F-41EF-A501-221E9BC13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47950"/>
            <a:ext cx="9239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目的与受众： 9 月 14–18 日举行，面向 400 名内部同事，鼓励简单、可衡量的可持续办公习惯。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成功指标： 报名 150 人、出席率达到报名人数的 80%、参与者反馈达到 4.2/5。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预算与范围： 工作预算 25,000 元；仅内部沟通；材料需中英双语；供应商尚未确定，也未签署合同。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关键日期： 项目简介写明 8 月 28 日开放报名，9 月 9 日关闭报名。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609CA9-BF4D-484D-817C-B236FBF40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bba97b9900854c39"/>
              </a:rPr>
              <a:t>打开 Copilot  ↗</a:t>
            </a:r>
          </a:p>
        </p:txBody>
      </p:sp>
    </p:spTree>
    <p:extLst>
      <p:ext uri="{BB962C8B-B14F-4D97-AF65-F5344CB8AC3E}">
        <p14:creationId xmlns:p14="http://schemas.microsoft.com/office/powerpoint/2010/main" val="110304480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2C10FC-37FA-4688-B089-B930BCBCC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09C1B8-D891-4721-907F-957209379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3BB274-5908-4D47-8BCD-9A24510F2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资料 2：会议纪要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297991-7E24-455E-8080-E8CF6440A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会议纪要补充了负责人、截止日期和讨论状态。阅读这一份时，把内容分成“已确认”“行动项”和“开放问题”，后续简报就能清楚区分决定与待确认事项。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E74CD8-A8BB-4E56-ABE2-9B5034D4A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F978BC-A869-4A31-8EC5-A356408D7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B79A3E-6CC1-45E3-87CF-4A80E84B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1009650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B90CCF-FBE2-4D01-998E-7132A2E68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1455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rPr>
              <a:t>PLANNING MEETING NOTES｜17 AUG 2026（虚构培训数据）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A64931-8B81-4F64-A737-0D09FB600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24150"/>
            <a:ext cx="923925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已确认： 活动日期、内部沟通、双语材料和场地原则已经明确。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行动项： 项目负责人 8 月 21 日确认五天议程；设施协调人 8 月 25 日确认房间布置；沟通负责人 8 月 28 日发布双语报名通知。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开放问题： 餐饮供应商未确定，合同金额不可用，团队尚未决定是否增加可选闭幕活动。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48AE5A-96BB-4D87-A9F8-E5A219639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b1286cc8a714f13"/>
              </a:rPr>
              <a:t>打开 Copilot  ↗</a:t>
            </a:r>
          </a:p>
        </p:txBody>
      </p:sp>
    </p:spTree>
    <p:extLst>
      <p:ext uri="{BB962C8B-B14F-4D97-AF65-F5344CB8AC3E}">
        <p14:creationId xmlns:p14="http://schemas.microsoft.com/office/powerpoint/2010/main" val="119417165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2231E2C-D0B8-495A-B2A5-4D0501574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89641A-EB9D-4786-A60C-B6CFBB240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E7CDCF-1523-4923-B1D2-0A426F976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资料 3：时间表里出现了另一个日期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27D20C-57F8-4671-AE26-F2950577B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时间表把报名开放写成 31 Aug，而项目简介写的是 28 Aug。简报中保留两个日期和各自来源，并把它列为需要项目负责人确认的问题。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661E39-DCDD-412F-8942-BDCE25398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BABD30-C146-484F-94BF-DB657AB13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A0491D-9699-4B03-85D9-62829703C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100965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71588A-E486-4E68-93D7-ED38C116F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1526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里程碑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F3C584-DEB0-46EA-93A6-E9CE376B4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526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截止日期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67F63E-3BAE-4975-AD60-365879262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1526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状态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3E2166-2E66-4403-AA22-0B0BECAB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514600"/>
            <a:ext cx="9182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38278F-D54C-4844-A293-3B3D5B9ED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7175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五天议程确认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11CF75-808A-4E67-BECB-7EFD9547D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21 Aug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33BF0A-FD5F-41F0-B95A-82A0FC7E8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5717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进行中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7C411B-F6E6-4F3C-9FDB-CBD58FD01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971800"/>
            <a:ext cx="9182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3C723C-F3B3-4028-A33C-C359B352F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2895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房间布局确认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C81227-F49A-40BB-A741-1002C2C39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289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25 Aug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C79009-F737-4712-8D7C-E6F180F7C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289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未开始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949FF1-2676-4CFA-8973-35A33EAE9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429000"/>
            <a:ext cx="9182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39AFA4-ED34-4C10-B9E4-5EF8DA25C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8615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双语公告批准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136A94-084F-4CC4-8DB9-899E8C644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861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27 Aug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8B8A1A-14E0-4F02-9770-6EAA6A649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4861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未开始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74006A-5B10-43B4-8AAB-31211056D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886200"/>
            <a:ext cx="9182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9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342265-6F66-41FF-ACEC-9D14901D8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4335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报名开放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B789DD-9356-4FE5-8CEB-51C30153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433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31 Aug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3C7D6D-9A47-4DCA-AD52-59FF9502C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9433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未开始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3A017B-28A4-4636-B1D0-A907AC1F2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343400"/>
            <a:ext cx="9182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2A072E-D7C6-4BA5-9BFE-BA386D6F6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0055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报名关闭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0D7AA44-AC78-476D-A85B-978F31B08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005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09 Sep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5594F48-F227-4DB6-B9C5-F1087FB4F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4005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未开始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DD1F8B4-C757-4BBC-ABA1-A0FB7CC0B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530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待确认：项目简介 28 Aug ｜ 时间表 31 Aug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6204837-4047-4158-A9A4-AD7D9A93F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36e3ee86066411b"/>
              </a:rPr>
              <a:t>用 Copilot 比较资料  ↗</a:t>
            </a:r>
          </a:p>
        </p:txBody>
      </p:sp>
    </p:spTree>
    <p:extLst>
      <p:ext uri="{BB962C8B-B14F-4D97-AF65-F5344CB8AC3E}">
        <p14:creationId xmlns:p14="http://schemas.microsoft.com/office/powerpoint/2010/main" val="53490257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755B1F-2B86-49F8-92DA-E80DEB491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EAC976-F617-4F07-8BF6-3B6BF2FEC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1F9745-6210-4411-BC44-05E0CE3E6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提示词结构：背景 + 任务 + 输出 + 约束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3503E4-F8B5-4779-B171-285ADDEEF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提示词需要说明工作背景、具体任务、输出形式和判断边界。Copilot 据此理解任务目的、处理范围、交付格式以及需要人工确认的事项。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ACBDCE-7E5A-4682-8136-AF0D662A3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3D4C32-086D-43BA-B3FB-0CB566714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07ADAE-3D82-4116-9764-41F309D2F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10096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75871E-E7A2-454D-9350-65677D847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43100"/>
            <a:ext cx="1000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818400-F5CD-4942-BA95-26DD999D5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5740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背景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08E994-7535-4FF0-8CD3-850F93F8F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97167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我刚接手绿色办公周项目，需要快速理解三份附件。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E61F43-92C9-4912-B79C-F80EEC235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81300"/>
            <a:ext cx="10096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F3FAB0-3A8E-4E93-8051-6F9229A0C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14650"/>
            <a:ext cx="1000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1966F"/>
          </a:solidFill>
          <a:ln xmlns:a="http://schemas.openxmlformats.org/drawingml/2006/main" w="9525">
            <a:solidFill>
              <a:srgbClr val="11966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DC889C-2E44-4EB8-BD6E-2BE9A7A14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2895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任务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64FCCB-E443-4ABA-B3D0-C13FD345B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94322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总结目标、成功指标、已确认决策、行动项、风险和开放问题，并比较来源。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B922A3-231A-431C-A1FA-6FA122CD8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52850"/>
            <a:ext cx="10096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7B72E5-B37F-4987-9214-824203E89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86200"/>
            <a:ext cx="1000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03B78"/>
          </a:solidFill>
          <a:ln xmlns:a="http://schemas.openxmlformats.org/drawingml/2006/main" w="9525">
            <a:solidFill>
              <a:srgbClr val="003B7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E64B1B-A75A-4452-8C07-D2E366374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0050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B71745-E369-4DFE-ABE5-FEC009EFC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91477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先给一页项目简报，再起草一封简洁的跟进邮件。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105138-C203-4607-B23F-95336830E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24400"/>
            <a:ext cx="10096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F9B442-9BBB-4B51-9569-CF5FD066D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57750"/>
            <a:ext cx="1000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8742B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DD2F7E-130C-4FA1-A448-1AF314F6B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7205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约束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94A1D0-0A87-4C00-8624-08F1529E4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88632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不要补充资料中没有的事实；发现冲突时列出来源和两个版本，并标记“待确认”。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4F1BE3-6BDC-461B-9264-14014F9CC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72badeb4e45f4ade"/>
              </a:rPr>
              <a:t>打开 Copilot 并输入提示  ↗</a:t>
            </a:r>
          </a:p>
        </p:txBody>
      </p:sp>
    </p:spTree>
    <p:extLst>
      <p:ext uri="{BB962C8B-B14F-4D97-AF65-F5344CB8AC3E}">
        <p14:creationId xmlns:p14="http://schemas.microsoft.com/office/powerpoint/2010/main" val="102471853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D045DC-710D-49E2-BA2E-FE63E6E70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7D0EDE-8F78-4356-B613-A4A63FF0A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5157C0-9A1C-46E1-B1F1-547756B35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Microsoft 365 Copilot：从这里加入资料并开始任务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5C9FF4-C88E-4F70-8BED-BDFCA5DF5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左侧可以管理对话、资料与 Agent，中间是任务输入区，上方显示 Work IQ 和当前交互模式。打开页面后，先看一眼工作账户，再加入本次练习使用的三份资料。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670774-916C-403D-9FAE-2D5C06155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FCFBDD-8D4C-4DE9-A322-9E5BDA0D8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daef8947734261"/>
          <a:stretch xmlns:a="http://schemas.openxmlformats.org/drawingml/2006/main"/>
        </p:blipFill>
        <p:spPr>
          <a:xfrm xmlns:a="http://schemas.openxmlformats.org/drawingml/2006/main">
            <a:off x="896711" y="1809750"/>
            <a:ext cx="6531429" cy="3429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9A8053-71E5-44F4-B757-EE837D4D2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6991350" cy="3467100"/>
          </a:xfrm>
          <a:prstGeom xmlns:a="http://schemas.openxmlformats.org/drawingml/2006/main" prst="roundRect">
            <a:avLst>
              <a:gd name="adj" fmla="val 329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270BD2-6DF0-4D1B-935C-E1CFF0D55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09750"/>
            <a:ext cx="35814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EB0343-3FBD-483B-8473-93CAB7F05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1930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75950C-190D-4412-BFA4-2F185125F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38400"/>
            <a:ext cx="31242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左侧导航：New chat 开始新任务，Search 找历史内容，Library 与 Notebooks 管理资料；Agents 区域还提供 Researcher、Analyst、Excel、PowerPoint 和 New agent 等入口。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任务输入区：中央 Message Copilot 是主提示框，左侧加号用于加入文件或其他上下文；File Insights、Inbox Triage、People Search、Meeting Prep 是常见任务快捷入口。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提交前检查：确认左下角为企业工作账户和相应许可，并核对 Work IQ 环境；只添加本任务需要的资料，敏感信息按企业规则处理。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BDB19D-D615-4BD7-ABCE-E617391A3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99154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de6d80cbecaa4eda"/>
              </a:rPr>
              <a:t>打开 Microsoft 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193481641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3B4B0C-0AF6-41BF-9E1A-FFB96FD68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9EC967-6BF6-4042-892F-63805C431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6468DB-A6CD-430E-AF37-F21A5D2BE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现场演示：把三份资料整理成简报和跟进邮件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3CD1EF-6870-4807-B00A-255381411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接下来我会在 Copilot 中完整做一遍。大家可以跟着看资料是怎样加入的、提示词怎样写，以及第一次结果出来后还可以怎样继续调整。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0D15EC-C0A3-42A5-9888-86D3D587C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1C61CE-2E7E-4FD7-A7DB-C7226C8C6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B742C6-C120-45C6-8867-15607383C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621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DAB638-C3A0-4C4C-BB02-2B37C3366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478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096BD8-0278-4166-8C38-7F5343A4E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743075"/>
            <a:ext cx="895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上传项目简介、会议纪要和里程碑时间表。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FCBB50-D1A5-4040-BF24-5ADDC9D0F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050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87CFB6-EABA-4279-8B10-4C4D246C5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908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7B7579-681C-4E1F-A3B4-7DB8B732C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486025"/>
            <a:ext cx="895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输入“背景 + 任务 + 输出 + 约束”四段式提示词。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52D072-AAE8-42F9-9570-41AF6732A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480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C9B059-375E-479C-AFD4-2F22DE732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337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39B134-3C86-4FBF-9C2F-7AF9BEDA7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228975"/>
            <a:ext cx="895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查看生成的项目接手简报和跟进邮件草稿。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8BD3A5-A487-4449-8D87-ED3955AE2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909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612E11-3DF6-40EB-BA66-B28467CC5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767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3E4344-8DD3-4C2E-8A2C-322BA4906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971925"/>
            <a:ext cx="895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找到 28 Aug 与 31 Aug 两个报名日期，保留来源并标记待确认。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FE195D-763F-47A5-B2AC-4EDB0FA7C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339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22E869-10AE-4B2D-A67C-B477F59C8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196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1A1CD8-EA3D-48FD-A271-A6362CE83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714875"/>
            <a:ext cx="895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继续追问：把行动项整理成负责人、截止日期和状态三列。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7D6831-A3AD-4D27-991B-AB99F8945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13e3a1b8be443f6"/>
              </a:rPr>
              <a:t>进入现场演示  ↗</a:t>
            </a:r>
          </a:p>
        </p:txBody>
      </p:sp>
    </p:spTree>
    <p:extLst>
      <p:ext uri="{BB962C8B-B14F-4D97-AF65-F5344CB8AC3E}">
        <p14:creationId xmlns:p14="http://schemas.microsoft.com/office/powerpoint/2010/main" val="169928149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E839C9-E5F2-42FE-8911-BA6CDC224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8865A5-61AB-43C2-A4C7-64453B1F6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26BB97-310A-41EC-8C55-56DD3E363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轮到你：用同样的方法完成一个小任务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5CACDF-C9F8-4E3C-B168-06EE79EEC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可以继续使用绿色办公周资料，也可以换成一个适合练习的日常任务。在 Copilot 中写出背景、任务、输出和约束，并让结果清楚列出仍需确认的信息。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3F2E1A-2164-4158-B9F2-26F4A1C22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390E91-5833-486F-8896-510B8281F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9805E4-5AAD-40FC-B6EC-E33048328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52625"/>
            <a:ext cx="9715500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3CD8B6-0E58-4E01-9010-1E47EF569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66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练习要求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68D5A9-509D-4E51-AF43-AA60E08AF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43200"/>
            <a:ext cx="8667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1. 用背景、任务、输出、约束四段结构写一个提示词。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2. 要求 Copilot 指出至少一个不确定项、冲突或需要人工核对的事实。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3. 把结果改写成可直接用于沟通的一段文字、邮件或简报。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85CC6E-CC26-4EC1-A05C-F654EB06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863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完成后与同桌交换：你的提示词中，哪一条约束最重要？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BE3FAE-C7DC-4610-928F-266DDE227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77c994c88f44eff"/>
              </a:rPr>
              <a:t>打开 Copilot 开始练习  ↗</a:t>
            </a:r>
          </a:p>
        </p:txBody>
      </p:sp>
    </p:spTree>
    <p:extLst>
      <p:ext uri="{BB962C8B-B14F-4D97-AF65-F5344CB8AC3E}">
        <p14:creationId xmlns:p14="http://schemas.microsoft.com/office/powerpoint/2010/main" val="1959967172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03B7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9DFF16-BFDB-4AC2-BF9C-64A18AAA4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5E4850-F3C2-48B6-BE8E-7C0DEB4FE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382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rPr>
              <a:t>PART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2AA941-FBFB-451D-BFB3-613B1142E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9810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业务案例与最佳实践：Copilot Builder Lab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DC23D6-4E31-434A-9C1A-E8F159E93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8572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>AI Tool Lab 提供多个 Agent 构建实验。讲师演示第 3 个“会议跟进助手”，学员动手范围是前 4 个 Lab，可任选或分组完成。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2A6293-1D1B-40C9-8B78-926126DBF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895ae59760124b17"/>
              </a:rPr>
              <a:t>AI Tool Lab  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8058E9-FF32-4EB9-8546-E02399DF7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43fe559022b4f10"/>
              </a:rPr>
              <a:t>Agent Builder 路径  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6A8878-D8F6-4B3B-BE85-4A94FF8B4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a875c718c491477a"/>
              </a:rPr>
              <a:t>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129918149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E10467-CCD8-49F3-8269-30D7208DE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445DF2-B39F-47FE-B1FF-E56B72740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Copilot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4DD392-2912-4ED4-A2C7-8BF250D98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Tool Lab：四个业务场景，共用一套构建方法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424894-A94E-4C46-9141-4E21417D7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网站提供四个 Agent Lab 和中文分步指南。四个场景分别练习任务说明、Instructions、知识来源、Suggested Prompts 和预览测试，操作都在 Microsoft 365 Copilot 中完成。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E749C0-AF24-45E8-9154-9776F5EFB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300A73-4031-4C4A-B7D3-CB52DCA95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165a5a6ff24ff8"/>
          <a:stretch xmlns:a="http://schemas.openxmlformats.org/drawingml/2006/main"/>
        </p:blipFill>
        <p:spPr>
          <a:xfrm xmlns:a="http://schemas.openxmlformats.org/drawingml/2006/main">
            <a:off x="897519" y="1809750"/>
            <a:ext cx="6529812" cy="3429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0CDDF6-AFED-4BF6-8A76-80D4C88AD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6991350" cy="3467100"/>
          </a:xfrm>
          <a:prstGeom xmlns:a="http://schemas.openxmlformats.org/drawingml/2006/main" prst="roundRect">
            <a:avLst>
              <a:gd name="adj" fmla="val 329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6C8115-4640-448E-B725-80F88CB68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09750"/>
            <a:ext cx="35814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3D265C-8788-43B1-AF2D-ED7876762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1930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D3CF81-131F-40AB-8DFE-7EF61C33E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38400"/>
            <a:ext cx="31242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四个场景：Chief of Staff、Product Manual FAQ、Meeting Follow-up Assistant 和 Funnel Data Analyst。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材料分工：PPT 用来同步解释关键画面；AI Tool Lab 网站提供完整步骤与练习材料；真正的配置、预览和创建在 Microsoft 365 Copilot 中完成。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完成之后：可以沿用同样的构建步骤，把自己的重复任务改造成一个简单、可测试的 Agent。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0BC4CB-D26A-4BE7-A19D-03A61B3A9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b383baff2796410c"/>
              </a:rPr>
              <a:t>打开 AI Tool Lab  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5E3F4D-F0DC-4DF5-87C8-413DBDF74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867400"/>
            <a:ext cx="2476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21b14555d0a440e6"/>
              </a:rPr>
              <a:t>进入 Agent Builder 路径  ↗</a:t>
            </a:r>
          </a:p>
        </p:txBody>
      </p:sp>
    </p:spTree>
    <p:extLst>
      <p:ext uri="{BB962C8B-B14F-4D97-AF65-F5344CB8AC3E}">
        <p14:creationId xmlns:p14="http://schemas.microsoft.com/office/powerpoint/2010/main" val="1158038520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01BFBEF-DAE0-43DB-A922-605707B98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2F5875-DDD7-4747-8E00-81BB05E02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Copilot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11D81B-7A70-4016-89DA-039D08DA2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动手范围：前四个 Agent Lab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F06BAC-D5B1-48FA-BD8D-4A33A9A39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这四个 Lab 分别代表个人事务协调、知识问答、会议跟进和数据分析。讲师会演示第 3 个，学员实践时可任选一个，或按小组分配不同 Lab。虽然业务场景不同，但都要完成任务定义、边界设置、知识配置和预览测试。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C1EA1F-4DDE-45E8-98F9-1B08964EF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BD25FC-593D-4D9B-A062-1F193F3CC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260369-4152-4146-A1D9-46DA8FBA4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90700"/>
            <a:ext cx="51435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DCCFC5-E52C-439C-BE7B-86BAE95C4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193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B78"/>
          </a:solidFill>
          <a:ln xmlns:a="http://schemas.openxmlformats.org/drawingml/2006/main" w="9525">
            <a:solidFill>
              <a:srgbClr val="003B7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81B642-8279-477E-8F6B-55E36CE29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240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41717B-2785-4A20-9059-65E1D26A6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0002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Chief of Staff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8F66E3-C924-436E-997F-05A0887FA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428875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整合任务、优先级和沟通建议，练习把角色和工作方式写进 Instructions。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575AB8-AE12-4E7E-9382-0AA8A018E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90700"/>
            <a:ext cx="51435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24A53A-DDE8-41EF-9CF0-4295CA66B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193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B78"/>
          </a:solidFill>
          <a:ln xmlns:a="http://schemas.openxmlformats.org/drawingml/2006/main" w="9525">
            <a:solidFill>
              <a:srgbClr val="003B7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F64357-9C9A-42F7-88EB-BFEAE8B4F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240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369210-3AAF-4E9B-8F88-7CC1E317C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0002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Product Manual FAQ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7CAAFE-6A00-4018-8EF7-1DAF89A5D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28875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基于产品资料回答问题，重点练习知识来源、引用边界和无法回答时的处理。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6FCFAF-034C-46C4-B2E8-863E9B8DB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81400"/>
            <a:ext cx="51435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A868DF-1A81-46A1-8F3F-BAEC42E42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100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78F344-8CCC-408D-A4C6-10A68EA91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147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FF6CCA-8CDF-4AA2-A8D0-F69396571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7909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Meeting Follow-up Assistant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1F9D51-9202-4FE3-84B8-DBBCAEC52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219575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把会议内容转为摘要、行动项和跟进邮件。本次讲师示范使用这一案例。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EF8C74-0993-4B78-8F81-C452AF955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581400"/>
            <a:ext cx="51435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8D3F34-35F0-44D6-820F-AA9301196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8100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B78"/>
          </a:solidFill>
          <a:ln xmlns:a="http://schemas.openxmlformats.org/drawingml/2006/main" w="9525">
            <a:solidFill>
              <a:srgbClr val="003B7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7E4A3C-4EC4-46A8-AF74-550A8322C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147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F666F8-DB1A-4D09-91FD-0C7FEE150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7909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Funnel Data Analyst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7B9E27-CF33-4E74-9E7D-B0A083BBC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219575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围绕漏斗数据进行分析与表达，练习分析要求、输出结构和业务解释。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7F7931-B441-4FAD-A4FD-EFDBCEC5C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143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deb3bcf17b4b4e3e"/>
              </a:rPr>
              <a:t>Lab 1  ↗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028BBC-5B34-421E-95A6-9092B5B7B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867400"/>
            <a:ext cx="1143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a303883e41b24563"/>
              </a:rPr>
              <a:t>Lab 2  ↗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F2FF2EC-F408-47C1-9A05-612CFF169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867400"/>
            <a:ext cx="1143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bb5ad1dbf99444c6"/>
              </a:rPr>
              <a:t>Lab 3  ↗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0E1269-F495-4F92-B5E2-A09A87C26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5867400"/>
            <a:ext cx="1143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a5f1f8f9baa4d93"/>
              </a:rPr>
              <a:t>Lab 4  ↗</a:t>
            </a:r>
          </a:p>
        </p:txBody>
      </p:sp>
    </p:spTree>
    <p:extLst>
      <p:ext uri="{BB962C8B-B14F-4D97-AF65-F5344CB8AC3E}">
        <p14:creationId xmlns:p14="http://schemas.microsoft.com/office/powerpoint/2010/main" val="209928727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C7DEA7-B170-422E-A2B5-F04D70587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A15B04-13E0-41D9-B850-1E7406E0D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Copilot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04B5CC-50AD-4C86-B0D2-E918FAD08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Lab 01｜Chief of Staff：把日程、优先级和会议准备串成工作流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0F4589-A05F-4773-A119-EA37389D5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主提示让 Agent 查看当天日历、安排优先级、找出冲突，并为重要会议准备 2–3 个谈话要点。下方三个 Suggested Prompts 分别对应日历、紧急事项和今日重点。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D63290-326F-4310-AD3F-C27FE75C1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2983C6-C61B-48BD-9CCC-326ABCBB2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5a1155a494429a"/>
          <a:stretch xmlns:a="http://schemas.openxmlformats.org/drawingml/2006/main"/>
        </p:blipFill>
        <p:spPr>
          <a:xfrm xmlns:a="http://schemas.openxmlformats.org/drawingml/2006/main">
            <a:off x="1029408" y="1809750"/>
            <a:ext cx="6266033" cy="3429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9D1465-2D2E-49FE-9110-9C4D9208A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6991350" cy="3467100"/>
          </a:xfrm>
          <a:prstGeom xmlns:a="http://schemas.openxmlformats.org/drawingml/2006/main" prst="roundRect">
            <a:avLst>
              <a:gd name="adj" fmla="val 329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205B5B-44FE-4EEB-8006-E1406E597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09750"/>
            <a:ext cx="35814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919278-26A9-499C-9980-5E7489AD7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1930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962B92-BE81-4A97-958B-C50FE2D9B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38400"/>
            <a:ext cx="31242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输入范围：日历、紧急事项和当前目标。Agent 会结合时间冲突与任务重要性进行整理。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处理规则：区分必须今天处理、可推迟和需要协调的事项；对重要会议补充目标、风险与谈话要点。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你会看到：带理由的优先级、清楚标出的时间冲突，以及可以直接用于当天安排的建议。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BFE86E-9A3E-4A3A-923A-064A118DC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51fc479c7e146d4"/>
              </a:rPr>
              <a:t>打开 Lab 01  ↗</a:t>
            </a:r>
          </a:p>
        </p:txBody>
      </p:sp>
    </p:spTree>
    <p:extLst>
      <p:ext uri="{BB962C8B-B14F-4D97-AF65-F5344CB8AC3E}">
        <p14:creationId xmlns:p14="http://schemas.microsoft.com/office/powerpoint/2010/main" val="1676094390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F7BB7D-69A8-46EE-B4DF-9999A5FFE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2771A9-3F14-4A52-B415-11B0CD48F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Copilot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1FB2EE-8FF6-4C87-99EB-36A76F0AD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Lab 02｜Product Manual FAQ：让答案带上产品资料来源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656BC9-707B-423B-9FCE-F7DD81554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这个示例根据已提供资料提炼 MR 5300 的核心销售卖点。回答先给结论，再展开适合售前沟通的卖点，并在具体规格旁显示 Product Specifications 引用。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C1912C-079F-4632-AB9F-15FF199DA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686D28-E3F6-4650-82A8-01CC08208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1c4ff382654ca5"/>
          <a:stretch xmlns:a="http://schemas.openxmlformats.org/drawingml/2006/main"/>
        </p:blipFill>
        <p:spPr>
          <a:xfrm xmlns:a="http://schemas.openxmlformats.org/drawingml/2006/main">
            <a:off x="1336502" y="1809750"/>
            <a:ext cx="5651846" cy="3429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7ED71C-4F66-4C42-B650-B10993868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6991350" cy="3467100"/>
          </a:xfrm>
          <a:prstGeom xmlns:a="http://schemas.openxmlformats.org/drawingml/2006/main" prst="roundRect">
            <a:avLst>
              <a:gd name="adj" fmla="val 329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831141-18E3-4271-B6B2-A6C4BB7CF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09750"/>
            <a:ext cx="35814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4CACC8-7630-4EFA-B9AB-F96CA9FCE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1930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187405-9987-4DBD-B8C5-9D9BF41F7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38400"/>
            <a:ext cx="31242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任务边界：只依据已加载的产品手册回答，不把模型常识、营销想象或其他产品信息混入答案。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回答结构：先概括零氦运维、AI 自动化工作流、高质量成像和全生命周期成本优化，再把规格转化为客户可理解的价值。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看哪里：关键规格旁能看到资料来源；如果资料没有覆盖或版本不同，回答会直接说明当前无法确认。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B9C8EB-4AFD-4281-A1F9-B4F3783D9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79d286bc8b3427b"/>
              </a:rPr>
              <a:t>打开 Lab 02  ↗</a:t>
            </a:r>
          </a:p>
        </p:txBody>
      </p:sp>
    </p:spTree>
    <p:extLst>
      <p:ext uri="{BB962C8B-B14F-4D97-AF65-F5344CB8AC3E}">
        <p14:creationId xmlns:p14="http://schemas.microsoft.com/office/powerpoint/2010/main" val="1665384698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52DBD3-A894-479F-A2F1-AF49245CE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BDF197-9558-4740-867D-8D3CF4299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Copilot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FC4FCC-C9F6-4E9E-A3F3-FA2E67E13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Lab 03｜Meeting Follow-up Assistant：用模板把会议内容变成行动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0D5A38-C1FC-453C-8372-13024B75A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画面右侧的输入明确要求根据 Mail Template 生成面向管理层的简要汇报，并规定背景、结论/决策、风险/需支持和下一步等栏目；输出则注明使用了 Mail Template CN.docx 的 Executive Summary 结构。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249F4B-C66C-4FDC-A581-0C482823D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A8A940-1268-471E-8F6C-4A2EB28E1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d8f4844b3841ee"/>
          <a:stretch xmlns:a="http://schemas.openxmlformats.org/drawingml/2006/main"/>
        </p:blipFill>
        <p:spPr>
          <a:xfrm xmlns:a="http://schemas.openxmlformats.org/drawingml/2006/main">
            <a:off x="1048590" y="1809750"/>
            <a:ext cx="6227669" cy="3429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5DD7F6-9C82-40BB-8AF0-11AFA45B8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6991350" cy="3467100"/>
          </a:xfrm>
          <a:prstGeom xmlns:a="http://schemas.openxmlformats.org/drawingml/2006/main" prst="roundRect">
            <a:avLst>
              <a:gd name="adj" fmla="val 329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5E24F9-9ACE-45C7-A47D-1D308E37E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09750"/>
            <a:ext cx="35814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A4CFDB-90C7-4432-8155-FCB743F1F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1930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82EC0A-A1AA-4F42-97F3-492AEEDB7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38400"/>
            <a:ext cx="31242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输入设计：同时给出原始会议内容、目标受众、输出栏目和不确定信息标记，避免 Agent 只生成普通会议摘要。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模板作用：知识来源用于固定管理层汇报结构和语言风格，使不同会议得到一致、可比较的输出。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结果结构：决策与讨论分开呈现，行动项带负责人和时间，尚未确定的产品演示继续保留为待确认事项。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F4CAE8-DEC4-4730-B2C0-874554374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0f96a60ded8348c9"/>
              </a:rPr>
              <a:t>打开讲师示范 Lab 03  ↗</a:t>
            </a:r>
          </a:p>
        </p:txBody>
      </p:sp>
    </p:spTree>
    <p:extLst>
      <p:ext uri="{BB962C8B-B14F-4D97-AF65-F5344CB8AC3E}">
        <p14:creationId xmlns:p14="http://schemas.microsoft.com/office/powerpoint/2010/main" val="1936745190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0DE007-0D76-4AF4-837B-4DDF42643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824806-E2E0-4E2B-9E0F-F8B1009C1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Copilot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D195CD-7B14-4D20-A639-30E3E821A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Lab 04｜Funnel Data Analyst：先锁定口径，再解释图表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2FC1C1-C2B3-4D8D-95FA-CAE4C3DD7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提示词限定了数据文件、Zone=East、Local BU=MR，并写清 Forecast Category 的顺序、统计字段 Total Price in USD 和 million 单位。生成结果先复述筛选条件，再展示柱状图。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46612B-1AB6-4311-A2EF-4A403BA95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E45D28-672B-4181-B424-A3DC1AC53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d7b8f319584aab"/>
          <a:stretch xmlns:a="http://schemas.openxmlformats.org/drawingml/2006/main"/>
        </p:blipFill>
        <p:spPr>
          <a:xfrm xmlns:a="http://schemas.openxmlformats.org/drawingml/2006/main">
            <a:off x="1298326" y="1809750"/>
            <a:ext cx="5728199" cy="3429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57887C-A9FE-4956-8D09-69FD8AEA0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6991350" cy="3467100"/>
          </a:xfrm>
          <a:prstGeom xmlns:a="http://schemas.openxmlformats.org/drawingml/2006/main" prst="roundRect">
            <a:avLst>
              <a:gd name="adj" fmla="val 329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EF2D03-CBC9-4AF7-A5ED-9BC822C0D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09750"/>
            <a:ext cx="35814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8409BF-A731-4564-9CB4-DFC873A77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1930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FF099E-2EB3-4E79-A89F-9EF683905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38400"/>
            <a:ext cx="31242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95238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图上观察：Omitted 明显高于其他类别，Pipeline 居第二，Best Case、Commit 和 Closed 相对较小；这是需要业务人员进一步调查的结构。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图表能回答：当前筛选条件下各类别的金额分布。销售动作、数据质量和转化原因还要结合时间、阶段定义与记录完整性继续分析。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下一步：让 Agent 输出筛选口径、异常点、可验证假设和后续问题，例如 Omitted 的构成、阶段停留时间及不同区域对比。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BA6C6C-F375-457C-916C-45D910776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5631eef6f7b4c29"/>
              </a:rPr>
              <a:t>打开 Lab 04  ↗</a:t>
            </a:r>
          </a:p>
        </p:txBody>
      </p:sp>
    </p:spTree>
    <p:extLst>
      <p:ext uri="{BB962C8B-B14F-4D97-AF65-F5344CB8AC3E}">
        <p14:creationId xmlns:p14="http://schemas.microsoft.com/office/powerpoint/2010/main" val="434010387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98C316D-B0DE-42CC-8E3D-E27AA126A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76A317-76FA-4B41-8B55-58A984B73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Copilot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47CA12-5A6C-4CEF-9CEB-844DFF5BA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构建一个 Agent 的六步通用方法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C3A145-B196-407B-9F3F-59B38077D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四个 Lab 都沿用同一条路径：进入 Agents、选择构建方式、填写身份与行为规则、加入知识、设置快捷问题，最后在 Preview 中试用并调整。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561FEC-D1ED-47CB-815E-3901E2D94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794A44-18AF-4336-A643-97D926B87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2B211C-AEEE-4846-9A51-014A662BC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86000"/>
            <a:ext cx="1657350" cy="16764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A84154-92F2-41D6-A3C5-09EAE09FB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76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C67301-0D18-4A23-A931-5731237FD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09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B6ED0C-2660-4903-B4D2-C486EA27E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进入 Agents</a:t>
            </a:r>
          </a:p>
          <a:p xmlns:a="http://schemas.openxmlformats.org/drawingml/2006/main"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并新建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075F4C-BCFA-4292-A2D0-740E743F3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905125"/>
            <a:ext cx="22860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FAA4B5-282E-41A0-B8D2-C15D5966D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286000"/>
            <a:ext cx="1657350" cy="16764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8AD720-E50B-4A7C-B3B9-0E4244DD2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476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C497F7-E5A7-4B60-A976-F91C3F037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609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4A2463-B58D-4934-B29A-2A0A8C8BB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2194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选择构建</a:t>
            </a:r>
          </a:p>
          <a:p xmlns:a="http://schemas.openxmlformats.org/drawingml/2006/main"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方式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64C9DC-72CF-44A1-888F-0BB17AA03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905125"/>
            <a:ext cx="22860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17A706-27F1-437F-BE50-FD7C8F139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286000"/>
            <a:ext cx="1657350" cy="16764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40C742-A48A-45B7-9539-5860F1432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476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3F0BD5-719F-49EA-A1A4-ABB60A05A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609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911560-E0D1-4DB3-8C13-4191D1291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2194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填写身份、描述</a:t>
            </a:r>
          </a:p>
          <a:p xmlns:a="http://schemas.openxmlformats.org/drawingml/2006/main"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与行为规则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5D5C50-8B2B-4856-BD6C-98FEC9F52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905125"/>
            <a:ext cx="22860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C0576F-3642-4111-979F-B162D7FC3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86000"/>
            <a:ext cx="1657350" cy="16764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CA6CFC-274D-4236-902C-05CFBF073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476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A536BE-A26A-4EF6-BB08-3E2DA11A2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609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9FFC2C-B610-4AB4-A6A0-D6C762A07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2194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添加知识</a:t>
            </a:r>
          </a:p>
          <a:p xmlns:a="http://schemas.openxmlformats.org/drawingml/2006/main"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来源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803036-5AB7-4F1C-B4BD-164EE70CC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05125"/>
            <a:ext cx="22860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95A8C7-363B-4DEE-875A-12B2AE02B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86000"/>
            <a:ext cx="1657350" cy="16764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0B07D56-9F7C-4532-8E4B-CC2B32888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76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244A7E-ADFF-47B5-8FE1-04C7EAAB8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09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3C89C40-BEEF-45E6-93DE-1A21D2E5F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2194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设置常用</a:t>
            </a:r>
          </a:p>
          <a:p xmlns:a="http://schemas.openxmlformats.org/drawingml/2006/main"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快捷问题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FC0CC4D-926B-4685-8545-6A050DE60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905125"/>
            <a:ext cx="22860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D8B714C-7064-419C-82D1-76E6F5250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286000"/>
            <a:ext cx="1657350" cy="16764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288979C-7A9B-4A73-891F-59E7A1BA6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476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6489F1F-3A90-44FF-B4FC-2E1684862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609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E468AEF-B523-4F85-84DF-37CEA6F4C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2194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预览测试</a:t>
            </a:r>
          </a:p>
          <a:p xmlns:a="http://schemas.openxmlformats.org/drawingml/2006/main"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并创建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485738A-841A-486C-BC16-090D79EC2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19625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一个清楚的 Agent 会说明：为谁服务、处理什么任务、参考哪些资料、结果怎样呈现。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6717936-9C17-46E6-95FF-699CDC4BD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f9fa1bb4acb49e9"/>
              </a:rPr>
              <a:t>打开 Agent Builder 路径  ↗</a:t>
            </a:r>
          </a:p>
        </p:txBody>
      </p:sp>
    </p:spTree>
    <p:extLst>
      <p:ext uri="{BB962C8B-B14F-4D97-AF65-F5344CB8AC3E}">
        <p14:creationId xmlns:p14="http://schemas.microsoft.com/office/powerpoint/2010/main" val="2125435431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22F350-4DCA-45F3-A377-4C91F04C0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BADE8A-9024-4607-8F8E-7CF12B270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Copilot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E46EF2-D42F-4CF2-87FB-48DAC6F38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1｜进入 Agents 并新建 Agent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EEC34E-0261-468E-96A7-B366549D8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截图展示 Agent Store：左侧 Agents 已被选中，中间列出已有 Agent，右侧 Create agent 是新建入口。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CB1F98-7A65-4461-A204-704A9394D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8F2146-D812-4829-A753-BB580590B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84b59106b940e5"/>
          <a:stretch xmlns:a="http://schemas.openxmlformats.org/drawingml/2006/main"/>
        </p:blipFill>
        <p:spPr>
          <a:xfrm xmlns:a="http://schemas.openxmlformats.org/drawingml/2006/main">
            <a:off x="838200" y="1841143"/>
            <a:ext cx="6953250" cy="3651963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84298F-F8C6-4CAE-98ED-733947723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69913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8C0829-3EFF-4F89-B47B-7624C7862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32575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23099B-78FA-4A1F-8029-140CAC476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33600"/>
            <a:ext cx="2647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6F8D04-D9A9-4CD4-A868-01B12D1FA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90800"/>
            <a:ext cx="26479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页面位置：左侧导航进入 Agents；Search for an agent 用来查找已有 Agent；Your agents 显示当前可用项；右侧 Create agent 开始新建。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本次操作从 Create agent 进入。Researcher、Analyst 等是已经可以使用的 Agent。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6E64C4-DB8C-4247-AB4B-500F44F22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57800"/>
            <a:ext cx="32575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d91cc8153e8d44b0"/>
              </a:rPr>
              <a:t>打开 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1541522040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5C8CCC-000C-4626-8B3D-BCB31DC3D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EFAC85-9DAA-4B66-8D05-CC87CCBA2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Copilot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BDC73B-DBB4-4B3A-B2FD-FE1E13476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2｜选择构建方式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A4C1E1-9494-42AE-96D6-F2AEAF581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截图同时给出自然语言描述、Skip 进入手动配置，以及从 Templates 开始三种路径。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3C6F2E-7B5E-46B2-8C48-11A0458A0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160D61-B5CC-4CCF-8016-E042E2356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0e38c4cb1b4be5"/>
          <a:stretch xmlns:a="http://schemas.openxmlformats.org/drawingml/2006/main"/>
        </p:blipFill>
        <p:spPr>
          <a:xfrm xmlns:a="http://schemas.openxmlformats.org/drawingml/2006/main">
            <a:off x="838200" y="1994152"/>
            <a:ext cx="6953250" cy="3345946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FC1264-C2C8-4862-A53D-6AB6E8A3E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69913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6C6685-6F3B-4623-974C-BF7D3E720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32575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442AEA-238C-4197-8488-C41B89928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33600"/>
            <a:ext cx="2647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DF4720-7F47-4492-BE4E-D390EBECC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90800"/>
            <a:ext cx="26479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三种入口：在输入框描述需求，让 Builder 生成草稿；点击 Skip 直接进入字段配置；也可以从 Templates 选择接近的起点。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本次演示从手动配置开始，逐项查看名称、描述、Instructions 和知识来源。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D16DAE-BFB1-4A63-91F6-BDB78A76C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57800"/>
            <a:ext cx="32575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b415dcf0d694e8e"/>
              </a:rPr>
              <a:t>打开 Lab 操作指南  ↗</a:t>
            </a:r>
          </a:p>
        </p:txBody>
      </p:sp>
    </p:spTree>
    <p:extLst>
      <p:ext uri="{BB962C8B-B14F-4D97-AF65-F5344CB8AC3E}">
        <p14:creationId xmlns:p14="http://schemas.microsoft.com/office/powerpoint/2010/main" val="1505740025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7FA7E9-CEB6-4DCA-9846-5A19A0D37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13CADE-BC75-4309-9B36-D82D2E316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Copilot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AEA3BD-D2B9-4214-A032-D1BA071ED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3｜填写名称、描述与行为规则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A3CF45-92C7-40EA-AAB9-0370644D8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截图标出了 Icon、Name、Description 和 Instructions，顶部可在 Configure 与 Preview 之间切换。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4EF7D3-7F5E-4C76-85D0-A17EED418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7052BA-E7C4-4297-BF54-EA20C1CEE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bb461f323a4b6c"/>
          <a:stretch xmlns:a="http://schemas.openxmlformats.org/drawingml/2006/main"/>
        </p:blipFill>
        <p:spPr>
          <a:xfrm xmlns:a="http://schemas.openxmlformats.org/drawingml/2006/main">
            <a:off x="838200" y="2130866"/>
            <a:ext cx="6953250" cy="3072518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385ABF-91E8-4B7F-BD7E-2CBB36314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69913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6CF90A-0836-46D6-8704-C64521E07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32575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218E37-F887-4914-A831-E38028C50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33600"/>
            <a:ext cx="2647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59BE8F-184B-4347-81C0-9DEBAB949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90800"/>
            <a:ext cx="26479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Icon 和 Name 用来识别 Agent；Description 用一句话介绍用途；Instructions 写具体工作方式。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Instructions 可以包括输入内容、处理步骤、输出栏目、资料范围，以及信息不足时怎样回应。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80C64F-D2DD-4C90-84BA-00E77722F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57800"/>
            <a:ext cx="32575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d975735253594af0"/>
              </a:rPr>
              <a:t>打开讲师示范 Lab  ↗</a:t>
            </a:r>
          </a:p>
        </p:txBody>
      </p:sp>
    </p:spTree>
    <p:extLst>
      <p:ext uri="{BB962C8B-B14F-4D97-AF65-F5344CB8AC3E}">
        <p14:creationId xmlns:p14="http://schemas.microsoft.com/office/powerpoint/2010/main" val="1520840113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175069-DB62-4A08-8647-B2CC18E8D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8DCBDE-EE19-4167-B7C2-D6E7CA75B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Copilot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213DFA-5812-46CF-A83D-A04CFB331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4｜添加知识来源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5BEFD0-E6B0-4CF3-8B94-40FDA716F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截图中的来源入口覆盖文件、网站、聊天、会议和邮件，并可按 Files、Sites、Chats、Meetings 分类筛选。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7D8E40-3C5A-4DDE-A7B5-A183E4B22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F35AA9-53DD-4FB8-B562-0A29B1862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7fd824d9024ba4"/>
          <a:stretch xmlns:a="http://schemas.openxmlformats.org/drawingml/2006/main"/>
        </p:blipFill>
        <p:spPr>
          <a:xfrm xmlns:a="http://schemas.openxmlformats.org/drawingml/2006/main">
            <a:off x="838200" y="1817456"/>
            <a:ext cx="6953250" cy="3699337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73C166-0FAA-4DF1-8ACE-AED8B14EA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69913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0DB1B8-E672-45D7-A45B-93C19C18D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32575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757980-D13B-43F5-B583-41FD8F352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33600"/>
            <a:ext cx="2647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10CB96-7B0D-4D13-9917-9D6B79649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90800"/>
            <a:ext cx="26479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上方可以输入 URL、搜索名称或拖入文件；来源包括 SharePoint、Teams、Outlook 和网站，下方还能进入个人文件、聊天、会议与邮件。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会议跟进助手会加入邮件模板和会议内容，其他无关资料暂时不选。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2E921E-0EAD-4880-A579-0F25EBDEA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57800"/>
            <a:ext cx="32575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7c3d0f59799a4bd0"/>
              </a:rPr>
              <a:t>进入 Agent Builder  ↗</a:t>
            </a:r>
          </a:p>
        </p:txBody>
      </p:sp>
    </p:spTree>
    <p:extLst>
      <p:ext uri="{BB962C8B-B14F-4D97-AF65-F5344CB8AC3E}">
        <p14:creationId xmlns:p14="http://schemas.microsoft.com/office/powerpoint/2010/main" val="1884681701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EC1594-0671-4F32-940A-B44BA871B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8E21AD-EE83-415D-8B9D-CCC8F698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Copilot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CEE916-2161-49F9-AFBB-D30D162E9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补充步骤｜查找会议模板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A58095-F589-41E0-821F-7FB2D534B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搜索结果页同时显示名称、修改时间、修改人和位置，用于区分名称相似的多个模板。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C1B095-5649-42EC-92BB-DB069EF3D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AABBFE-8684-49C4-9375-F628459BD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a54c7cefbb47ba"/>
          <a:stretch xmlns:a="http://schemas.openxmlformats.org/drawingml/2006/main"/>
        </p:blipFill>
        <p:spPr>
          <a:xfrm xmlns:a="http://schemas.openxmlformats.org/drawingml/2006/main">
            <a:off x="1378744" y="1714500"/>
            <a:ext cx="5872163" cy="3905250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3458BE-8E58-4933-9F81-A3E63944D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69913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6E3D72-F8DC-4D7B-B966-AB143D846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32575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54CE8A-B6BC-4859-A27C-CFF81801E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33600"/>
            <a:ext cx="2647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FEE978-2EDE-4D41-9E82-2661343E9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90800"/>
            <a:ext cx="26479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先按 Mail Template 搜索，再核对 Modified、Modified by 与 Location，确认模板来自哪个团队、是否为当前版本。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中文管理层邮件选择 Mail Template CN，英文沟通选择 EN；出现多个同名文件时，可以打开查看栏目和适用范围。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1F7895-4305-4EA5-85C8-1DE160274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57800"/>
            <a:ext cx="32575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dc6bab0c48094c24"/>
              </a:rPr>
              <a:t>打开 Lab 03  ↗</a:t>
            </a:r>
          </a:p>
        </p:txBody>
      </p:sp>
    </p:spTree>
    <p:extLst>
      <p:ext uri="{BB962C8B-B14F-4D97-AF65-F5344CB8AC3E}">
        <p14:creationId xmlns:p14="http://schemas.microsoft.com/office/powerpoint/2010/main" val="551692307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3F0B3F-1093-4127-82D1-54FC31CC6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440383-72CA-4586-8D3F-645ABA521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Copilot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2F5CC7-5C91-4880-BB83-0D5C22AD3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5｜设置 Suggested Prompts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B241DF-1CCF-4BF2-8C89-80C16333E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每条快捷问题由 Title 与 Message 两部分组成：Title 负责让人看懂，Message 才是实际发送给 Agent 的完整任务。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BE661A-47DF-41D6-A830-56B839643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4CDE4C-7C38-4E7B-8B91-A94864F3C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763ca748b343ad"/>
          <a:stretch xmlns:a="http://schemas.openxmlformats.org/drawingml/2006/main"/>
        </p:blipFill>
        <p:spPr>
          <a:xfrm xmlns:a="http://schemas.openxmlformats.org/drawingml/2006/main">
            <a:off x="838200" y="2484692"/>
            <a:ext cx="6953250" cy="2364866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774684-8953-43B7-9199-D28BB399B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69913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C670C3-F97F-46DE-B27B-29D347591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32575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03E580-EE0A-4557-896E-03D3DA6FE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33600"/>
            <a:ext cx="2647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1F0A9A-FBDC-4FDA-B50E-6A7EEAF62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90800"/>
            <a:ext cx="26479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Title：用一句话命名高频任务，例如“生成行动项”。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Message：写明输入、输出和必要约束。可以注明负责人、截止日期与状态。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保留 2–3 个高频入口即可。需要时点击 Add a suggested prompt，避免设置模糊任务。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8A8D97-1A48-4606-89D4-FFED81F11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57800"/>
            <a:ext cx="32575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85f117f91e894efc"/>
              </a:rPr>
              <a:t>打开 Lab 操作指南  ↗</a:t>
            </a:r>
          </a:p>
        </p:txBody>
      </p:sp>
    </p:spTree>
    <p:extLst>
      <p:ext uri="{BB962C8B-B14F-4D97-AF65-F5344CB8AC3E}">
        <p14:creationId xmlns:p14="http://schemas.microsoft.com/office/powerpoint/2010/main" val="659235055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B62B3F-C1F5-4429-A6F1-D87807699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36C2C5-E457-41A2-8645-D7CE3A663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Copilot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93C6B6-B358-46B6-93F1-C06ADDD0A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6｜预览、测试并创建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3790DF-2ACD-44C2-BFBA-72AC8926C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左侧显示 Builder 对配置的解释与修改入口，右侧 Preview 展示 Agent 身份、描述和快捷问题，顶部显示草稿状态与 Create。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F82DEF-2A8C-4625-AC27-DFADA5A57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03B19B-ACB9-4948-A261-03A882A96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58515798c94be8"/>
          <a:stretch xmlns:a="http://schemas.openxmlformats.org/drawingml/2006/main"/>
        </p:blipFill>
        <p:spPr>
          <a:xfrm xmlns:a="http://schemas.openxmlformats.org/drawingml/2006/main">
            <a:off x="838200" y="1827897"/>
            <a:ext cx="6953250" cy="3678457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88EB7C-7BEA-4A2E-8B0D-89A939FBE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69913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6EFFE4-9F26-441E-9465-DF3F70694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32575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33EC6E-0EA5-4003-A00B-8CDFCA9B8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33600"/>
            <a:ext cx="2647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A69D69-0A07-443F-8C30-7959B134C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90800"/>
            <a:ext cx="26479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先在 Preview 运行正常场景，确认任务与输出结构。再测试资料缺失、信息冲突和越界要求。观察 Agent 是否承认不知道并遵守规则。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若不稳定，返回 Configure 修改行为规则、知识来源或快捷问题。测试通过后再点 Create；Draft auto-saved 只表示草稿已保存。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4DB2B6-6BB5-4064-9150-7E10250C8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57800"/>
            <a:ext cx="32575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503f0859397447f"/>
              </a:rPr>
              <a:t>打开 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2141935343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F4B5DE-D700-4AAD-9391-B077E907F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5EE589-90AE-490C-8787-3CCFC2E5E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Copilot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65E675-8FC1-4104-A8E0-DF2AFB372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讲师示范结果｜会议跟进助手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266C2C-1B25-4EEE-BF67-A91EBD09E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示例输入指定管理层简报结构并标记不确定信息，输出明确引用 Mail Template CN.docx 的 Executive Summary 模板。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ECD401-000F-4C98-877F-DFB6EA44E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A17EB7-4992-4AE4-AAEF-4F9E8E99B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c894d2d0b147c0"/>
          <a:stretch xmlns:a="http://schemas.openxmlformats.org/drawingml/2006/main"/>
        </p:blipFill>
        <p:spPr>
          <a:xfrm xmlns:a="http://schemas.openxmlformats.org/drawingml/2006/main">
            <a:off x="838200" y="1752870"/>
            <a:ext cx="6953250" cy="3828510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22CF0B-AB99-4DB7-A5DD-BB93A4D0D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69913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400D20-71D1-43AC-966D-4374EEB01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32575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E0DFA0-613F-4A1D-AE1E-3F5CB09E7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33600"/>
            <a:ext cx="2647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E0E142-CB40-4AA4-B90D-C30867FDC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90800"/>
            <a:ext cx="26479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检查四层：背景是否准确概括客户场景；结论是否与讨论分开；风险、需支持与下一步是否明确；产品演示等未决定事项是否仍标记为待确认。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同时确认输出是否真正使用了模板、是否保留负责人和时间信息，以及生成邮件是否只需少量编辑即可发送。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DE38A2-AF34-467B-A0ED-5BECB690A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57800"/>
            <a:ext cx="32575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2a8236a94ae64dbd"/>
              </a:rPr>
              <a:t>打开 Lab 03  ↗</a:t>
            </a:r>
          </a:p>
        </p:txBody>
      </p:sp>
    </p:spTree>
    <p:extLst>
      <p:ext uri="{BB962C8B-B14F-4D97-AF65-F5344CB8AC3E}">
        <p14:creationId xmlns:p14="http://schemas.microsoft.com/office/powerpoint/2010/main" val="1151738936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657C5B-433C-4486-9883-5AE4345B4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CC0DD8-A4EE-4AF0-BE1F-8EE22B681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Copilot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CAF589-5651-440D-83C5-415AA76DF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轮到你：完成一个 Agent Lab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3D6A7F-C502-4BC1-AB22-6AA3F53C9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从前四个 Lab 中选择一个，按照网站指南在 Copilot 中完成构建。先做出可以运行的版本，再用正常任务和信息不足的场景各试一次。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18279D-F10A-49D3-A693-515B6AE9A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86772F-06A8-4A40-A613-E9D039B41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BC11CC-3127-41E3-B855-3E4C6E8FD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62125"/>
            <a:ext cx="10287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完成标准： Agent 有清楚的名称和用途，Instructions 至少包含任务、步骤、输出和边界；需要时添加知识来源；设置 2–3 个 Suggested Prompts。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测试标准： 至少运行一个正常场景和一个边界场景，检查结果是否基于资料、是否承认信息缺失、是否给出清晰可执行的输出。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实践范围： Lab 01 Chief of Staff、Lab 02 Product Manual FAQ、Lab 03 Meeting Follow-up Assistant、Lab 04 Funnel Data Analyst。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454E74-97AE-4CFB-93C5-161464E41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14850"/>
            <a:ext cx="971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完成后试一遍正常任务，再试一次信息不足的情况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DCE4E9-2FB0-4D97-88A4-0ECCF0D56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238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d33aa03b1dbf4aa1"/>
              </a:rPr>
              <a:t>Lab 01  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C41841-60FE-431C-8144-FC4638F2F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867400"/>
            <a:ext cx="1238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59fb6e924d3476f"/>
              </a:rPr>
              <a:t>Lab 02  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EFE183-6BFC-4985-B3D9-1DD863C8A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867400"/>
            <a:ext cx="1238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914dbb0f05d4f7f"/>
              </a:rPr>
              <a:t>Lab 03  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45816C-C957-487A-A88F-F7801C2D0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867400"/>
            <a:ext cx="1238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b43596a004c24bdd"/>
              </a:rPr>
              <a:t>Lab 04  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23F7D1-5043-441C-AE83-F403C8B33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867400"/>
            <a:ext cx="1714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0ecd3eacaf00440a"/>
              </a:rPr>
              <a:t>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20613364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2026-08-26T07:34:52.2460000Z</dcterms:created>
  <dcterms:modified xsi:type="dcterms:W3CDTF">2026-08-26T07:34:52.2460000Z</dcterms:modified>
</coreProperties>
</file>