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67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[Updated] Jul. townhall AI slide.pptx — slide 1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sustainability-ai-strategy-one-pager.pptx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sustainability-ai-strategy-one-pager.pptx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[Updated] Jul. townhall AI slide.pptx — slide 2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AI Gateway screenshot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ChatGPT_User One Pager.pptx — slide 1</a:t>
            </a:r>
          </a:p>
          <a:p>
            <a:r>
              <a:t>- https://www.aigateway.ai.inside.philips.com/</a:t>
            </a:r>
          </a:p>
          <a:p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ChatGPT_User One Pager.pptx — slide 1</a:t>
            </a:r>
          </a:p>
          <a:p>
            <a:r>
              <a:t>- https://www.aigateway.ai.inside.philips.com/</a:t>
            </a:r>
          </a:p>
          <a:p>
            <a:r>
              <a:t>- https://philips.service-now.com/itportal?id=sc_cat_item&amp;table=sc_cat_item&amp;sys_id=1ca637e9c3213950b95c74c4e401318d&amp;searchTerm=china%20internet%20premium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ChatGPT_User One Pager.pptx — slide 3</a:t>
            </a:r>
          </a:p>
          <a:p>
            <a:r>
              <a:t>- https://philips.service-now.com/softwareportal</a:t>
            </a:r>
          </a:p>
          <a:p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AI Gateway screenshot</a:t>
            </a:r>
          </a:p>
          <a:p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[Updated] Jul. townhall AI slide.pptx — slide 3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GCR AI Ambassador image</a:t>
            </a:r>
          </a:p>
          <a:p>
            <a:r>
              <a:t>- https://www.aigateway.ai.inside.philips.com/</a:t>
            </a:r>
          </a:p>
          <a:p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https://aiskillsnavigator.microsoft.com/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AI Skills Navigator screenshot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https://aiskillsnavigator.microsoft.com/playlists/291ff1ba-c754-44f1-9814-ef8917f8c989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https://m365.cloud.microsoft/chat</a:t>
            </a:r>
          </a:p>
          <a:p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fictional Green Office Week Project Brief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fictional Green Office Week Meeting Notes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fictional Green Office Week Timeline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M365 Copilot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讲解提示：这是示例提示词，不是唯一写法。重点是把背景、任务、输出和约束说清楚。</a:t>
            </a:r>
          </a:p>
          <a:p>
            <a:r>
              <a:t>[Sources]</a:t>
            </a:r>
          </a:p>
          <a:p>
            <a:r>
              <a:t>- Bootcamp_AI培训资料汇总_20260820/02_Copilot日常实操案例/01_绿色办公周_项目简介_虚构数据.txt</a:t>
            </a:r>
          </a:p>
          <a:p>
            <a:r>
              <a:t>- Bootcamp_AI培训资料汇总_20260820/02_Copilot日常实操案例/02_绿色办公周_会议纪要_虚构数据.txt</a:t>
            </a:r>
          </a:p>
          <a:p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Agent Builder guide screenshot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meeting follow-up output screenshot</a:t>
            </a:r>
          </a:p>
          <a:p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https://philips-ai-tool-lab.github.io/ai-tool-lab-preview/labs/chief-of-staff/</a:t>
            </a:r>
          </a:p>
          <a:p>
            <a:r>
              <a:t>- https://philips-ai-tool-lab.github.io/ai-tool-lab-preview/labs/product-manual-faq/</a:t>
            </a:r>
          </a:p>
          <a:p>
            <a:r>
              <a:t>- https://philips-ai-tool-lab.github.io/ai-tool-lab-preview/labs/meeting-follow-up/</a:t>
            </a:r>
          </a:p>
          <a:p>
            <a:r>
              <a:t>- https://philips-ai-tool-lab.github.io/ai-tool-lab-preview/labs/funnel-data-analyst/</a:t>
            </a:r>
          </a:p>
          <a:p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ilips.service-now.com/itportal?id=kb_article&amp;sysparm_article=KB1528249&amp;sys_id=24240f5bfb794b54ae1afb576eefdc0f&amp;spa=1" TargetMode="External"/><Relationship Id="rId4" Type="http://schemas.openxmlformats.org/officeDocument/2006/relationships/hyperlink" Target="https://www.aigateway.ai.inside.philips.com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ilips.service-now.com/itportal?id=sc_cat_item&amp;table=sc_cat_item&amp;sys_id=1ca637e9c3213950b95c74c4e401318d&amp;searchTerm=china%20internet%20premium" TargetMode="External"/><Relationship Id="rId4" Type="http://schemas.openxmlformats.org/officeDocument/2006/relationships/hyperlink" Target="https://www.aigateway.ai.inside.philips.com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ilips.service-now.com/itportal?id=kb_article&amp;sysparm_article=KB1528249&amp;sys_id=24240f5bfb794b54ae1afb576eefdc0f&amp;spa=1" TargetMode="External"/><Relationship Id="rId4" Type="http://schemas.openxmlformats.org/officeDocument/2006/relationships/hyperlink" Target="https://philips.service-now.com/softwareportal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igateway.ai.inside.philips.com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gateway.ai.inside.philips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365.cloud.microsoft/chat" TargetMode="External"/><Relationship Id="rId4" Type="http://schemas.openxmlformats.org/officeDocument/2006/relationships/hyperlink" Target="https://aiskillsnavigator.microsoft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365.cloud.microsoft/chat" TargetMode="External"/><Relationship Id="rId4" Type="http://schemas.openxmlformats.org/officeDocument/2006/relationships/hyperlink" Target="https://aiskillsnavigator.microsoft.com/playlists/291ff1ba-c754-44f1-9814-ef8917f8c989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iskillsnavigator.microsoft.com/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iskillsnavigator.microsoft.com/playlists/291ff1ba-c754-44f1-9814-ef8917f8c989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learn.microsoft.com/zh-cn/training/courses/ms-4004" TargetMode="External"/><Relationship Id="rId4" Type="http://schemas.openxmlformats.org/officeDocument/2006/relationships/hyperlink" Target="https://aiskillsnavigator.microsoft.com/playlists/291ff1ba-c754-44f1-9814-ef8917f8c989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iskillsnavigator.microsoft.com/playlists/291ff1ba-c754-44f1-9814-ef8917f8c989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m365.cloud.microsoft/chat" TargetMode="Externa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hilips-ai-tool-lab.github.io/ai-tool-lab-preview/#agent-builder-path" TargetMode="External"/><Relationship Id="rId4" Type="http://schemas.openxmlformats.org/officeDocument/2006/relationships/hyperlink" Target="https://philips-ai-tool-lab.github.io/ai-tool-lab-preview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labs/chief-of-staff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hilips-ai-tool-lab.github.io/ai-tool-lab-preview/labs/funnel-data-analyst/" TargetMode="External"/><Relationship Id="rId5" Type="http://schemas.openxmlformats.org/officeDocument/2006/relationships/hyperlink" Target="https://philips-ai-tool-lab.github.io/ai-tool-lab-preview/labs/meeting-follow-up/" TargetMode="External"/><Relationship Id="rId4" Type="http://schemas.openxmlformats.org/officeDocument/2006/relationships/hyperlink" Target="https://philips-ai-tool-lab.github.io/ai-tool-lab-preview/labs/product-manual-faq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chief-of-staff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product-manual-faq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funnel-data-analyst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#agent-builder-path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#agent-builder-path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365.cloud.microsoft/chat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hilips-ai-tool-lab.github.io/ai-tool-lab-preview/labs/meeting-follow-up/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philips-ai-tool-lab.github.io/ai-tool-lab-preview/labs/chief-of-staff/" TargetMode="External"/><Relationship Id="rId7" Type="http://schemas.openxmlformats.org/officeDocument/2006/relationships/hyperlink" Target="https://m365.cloud.microsoft/chat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hilips-ai-tool-lab.github.io/ai-tool-lab-preview/labs/funnel-data-analyst/" TargetMode="External"/><Relationship Id="rId5" Type="http://schemas.openxmlformats.org/officeDocument/2006/relationships/hyperlink" Target="https://philips-ai-tool-lab.github.io/ai-tool-lab-preview/labs/meeting-follow-up/" TargetMode="External"/><Relationship Id="rId4" Type="http://schemas.openxmlformats.org/officeDocument/2006/relationships/hyperlink" Target="https://philips-ai-tool-lab.github.io/ai-tool-lab-preview/labs/product-manual-faq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noGrp="1"/>
          </p:cNvSpPr>
          <p:nvPr/>
        </p:nvSpPr>
        <p:spPr>
          <a:xfrm>
            <a:off x="800100" y="7810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8096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10287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noGrp="1"/>
          </p:cNvSpPr>
          <p:nvPr/>
        </p:nvSpPr>
        <p:spPr>
          <a:xfrm>
            <a:off x="800100" y="50482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3276600" cy="2286000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noGrp="1"/>
          </p:cNvSpPr>
          <p:nvPr/>
        </p:nvSpPr>
        <p:spPr>
          <a:xfrm>
            <a:off x="1028700" y="260985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noGrp="1"/>
          </p:cNvSpPr>
          <p:nvPr/>
        </p:nvSpPr>
        <p:spPr>
          <a:xfrm>
            <a:off x="1028700" y="3143250"/>
            <a:ext cx="2781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noGrp="1"/>
          </p:cNvSpPr>
          <p:nvPr/>
        </p:nvSpPr>
        <p:spPr>
          <a:xfrm>
            <a:off x="4362450" y="1952625"/>
            <a:ext cx="3276600" cy="2286000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noGrp="1"/>
          </p:cNvSpPr>
          <p:nvPr/>
        </p:nvSpPr>
        <p:spPr>
          <a:xfrm>
            <a:off x="4610100" y="2209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noGrp="1"/>
          </p:cNvSpPr>
          <p:nvPr/>
        </p:nvSpPr>
        <p:spPr>
          <a:xfrm>
            <a:off x="4610100" y="260985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noGrp="1"/>
          </p:cNvSpPr>
          <p:nvPr/>
        </p:nvSpPr>
        <p:spPr>
          <a:xfrm>
            <a:off x="4610100" y="3143250"/>
            <a:ext cx="2781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noGrp="1"/>
          </p:cNvSpPr>
          <p:nvPr/>
        </p:nvSpPr>
        <p:spPr>
          <a:xfrm>
            <a:off x="7943850" y="1952625"/>
            <a:ext cx="3276600" cy="2286000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noGrp="1"/>
          </p:cNvSpPr>
          <p:nvPr/>
        </p:nvSpPr>
        <p:spPr>
          <a:xfrm>
            <a:off x="8191500" y="2209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noGrp="1"/>
          </p:cNvSpPr>
          <p:nvPr/>
        </p:nvSpPr>
        <p:spPr>
          <a:xfrm>
            <a:off x="8191500" y="2609850"/>
            <a:ext cx="2781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noGrp="1"/>
          </p:cNvSpPr>
          <p:nvPr/>
        </p:nvSpPr>
        <p:spPr>
          <a:xfrm>
            <a:off x="8191500" y="3143250"/>
            <a:ext cx="27813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noGrp="1"/>
          </p:cNvSpPr>
          <p:nvPr/>
        </p:nvSpPr>
        <p:spPr>
          <a:xfrm>
            <a:off x="781050" y="4533900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noGrp="1"/>
          </p:cNvSpPr>
          <p:nvPr/>
        </p:nvSpPr>
        <p:spPr>
          <a:xfrm>
            <a:off x="1123950" y="4772025"/>
            <a:ext cx="975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noGrp="1"/>
          </p:cNvSpPr>
          <p:nvPr/>
        </p:nvSpPr>
        <p:spPr>
          <a:xfrm>
            <a:off x="8763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noGrp="1"/>
          </p:cNvSpPr>
          <p:nvPr/>
        </p:nvSpPr>
        <p:spPr>
          <a:xfrm>
            <a:off x="8763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noGrp="1"/>
          </p:cNvSpPr>
          <p:nvPr/>
        </p:nvSpPr>
        <p:spPr>
          <a:xfrm>
            <a:off x="258127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noGrp="1"/>
          </p:cNvSpPr>
          <p:nvPr/>
        </p:nvSpPr>
        <p:spPr>
          <a:xfrm>
            <a:off x="283845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noGrp="1"/>
          </p:cNvSpPr>
          <p:nvPr/>
        </p:nvSpPr>
        <p:spPr>
          <a:xfrm>
            <a:off x="302895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noGrp="1"/>
          </p:cNvSpPr>
          <p:nvPr/>
        </p:nvSpPr>
        <p:spPr>
          <a:xfrm>
            <a:off x="302895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noGrp="1"/>
          </p:cNvSpPr>
          <p:nvPr/>
        </p:nvSpPr>
        <p:spPr>
          <a:xfrm>
            <a:off x="473392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noGrp="1"/>
          </p:cNvSpPr>
          <p:nvPr/>
        </p:nvSpPr>
        <p:spPr>
          <a:xfrm>
            <a:off x="49911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noGrp="1"/>
          </p:cNvSpPr>
          <p:nvPr/>
        </p:nvSpPr>
        <p:spPr>
          <a:xfrm>
            <a:off x="51816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noGrp="1"/>
          </p:cNvSpPr>
          <p:nvPr/>
        </p:nvSpPr>
        <p:spPr>
          <a:xfrm>
            <a:off x="51816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noGrp="1"/>
          </p:cNvSpPr>
          <p:nvPr/>
        </p:nvSpPr>
        <p:spPr>
          <a:xfrm>
            <a:off x="688657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noGrp="1"/>
          </p:cNvSpPr>
          <p:nvPr/>
        </p:nvSpPr>
        <p:spPr>
          <a:xfrm>
            <a:off x="714375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noGrp="1"/>
          </p:cNvSpPr>
          <p:nvPr/>
        </p:nvSpPr>
        <p:spPr>
          <a:xfrm>
            <a:off x="7334250" y="245745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noGrp="1"/>
          </p:cNvSpPr>
          <p:nvPr/>
        </p:nvSpPr>
        <p:spPr>
          <a:xfrm>
            <a:off x="733425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noGrp="1"/>
          </p:cNvSpPr>
          <p:nvPr/>
        </p:nvSpPr>
        <p:spPr>
          <a:xfrm>
            <a:off x="733425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noGrp="1"/>
          </p:cNvSpPr>
          <p:nvPr/>
        </p:nvSpPr>
        <p:spPr>
          <a:xfrm>
            <a:off x="9039225" y="2952750"/>
            <a:ext cx="24765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noGrp="1"/>
          </p:cNvSpPr>
          <p:nvPr/>
        </p:nvSpPr>
        <p:spPr>
          <a:xfrm>
            <a:off x="9296400" y="2238375"/>
            <a:ext cx="1885950" cy="1809750"/>
          </a:xfrm>
          <a:prstGeom prst="roundRect">
            <a:avLst>
              <a:gd name="adj" fmla="val 6316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noGrp="1"/>
          </p:cNvSpPr>
          <p:nvPr/>
        </p:nvSpPr>
        <p:spPr>
          <a:xfrm>
            <a:off x="9486900" y="245745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noGrp="1"/>
          </p:cNvSpPr>
          <p:nvPr/>
        </p:nvSpPr>
        <p:spPr>
          <a:xfrm>
            <a:off x="9486900" y="24574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noGrp="1"/>
          </p:cNvSpPr>
          <p:nvPr/>
        </p:nvSpPr>
        <p:spPr>
          <a:xfrm>
            <a:off x="9486900" y="3076575"/>
            <a:ext cx="1504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noGrp="1"/>
          </p:cNvSpPr>
          <p:nvPr/>
        </p:nvSpPr>
        <p:spPr>
          <a:xfrm>
            <a:off x="1066800" y="4667250"/>
            <a:ext cx="100584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Gateway 用于查看 Enterprise ChatGPT 的访问状态、申请入口和使用要求；微软课程在 AI Skills Navigator 学习，Copilot 操作则进入 Microsoft 365 Copilot。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7075" y="1762125"/>
            <a:ext cx="6604000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7075" y="1762125"/>
            <a:ext cx="6604000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覆盖双重重要性评估、数据采集及披露流程。2026 年将继续扩大已验证项目，并统一共同能力。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7075" y="1762125"/>
            <a:ext cx="6604000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114550" cy="762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noGrp="1"/>
          </p:cNvSpPr>
          <p:nvPr/>
        </p:nvSpPr>
        <p:spPr>
          <a:xfrm>
            <a:off x="7620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内部学习社群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岗位能力建设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分享实践案例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noGrp="1"/>
          </p:cNvSpPr>
          <p:nvPr/>
        </p:nvSpPr>
        <p:spPr>
          <a:xfrm>
            <a:off x="29146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noGrp="1"/>
          </p:cNvSpPr>
          <p:nvPr/>
        </p:nvSpPr>
        <p:spPr>
          <a:xfrm>
            <a:off x="2914650" y="1809750"/>
            <a:ext cx="2114550" cy="76200"/>
          </a:xfrm>
          <a:prstGeom prst="rect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noGrp="1"/>
          </p:cNvSpPr>
          <p:nvPr/>
        </p:nvSpPr>
        <p:spPr>
          <a:xfrm>
            <a:off x="30861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noGrp="1"/>
          </p:cNvSpPr>
          <p:nvPr/>
        </p:nvSpPr>
        <p:spPr>
          <a:xfrm>
            <a:off x="30861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noGrp="1"/>
          </p:cNvSpPr>
          <p:nvPr/>
        </p:nvSpPr>
        <p:spPr>
          <a:xfrm>
            <a:off x="31051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复盘赢单与失单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支持投标和定价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noGrp="1"/>
          </p:cNvSpPr>
          <p:nvPr/>
        </p:nvSpPr>
        <p:spPr>
          <a:xfrm>
            <a:off x="52387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noGrp="1"/>
          </p:cNvSpPr>
          <p:nvPr/>
        </p:nvSpPr>
        <p:spPr>
          <a:xfrm>
            <a:off x="5238750" y="1809750"/>
            <a:ext cx="2114550" cy="76200"/>
          </a:xfrm>
          <a:prstGeom prst="rect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noGrp="1"/>
          </p:cNvSpPr>
          <p:nvPr/>
        </p:nvSpPr>
        <p:spPr>
          <a:xfrm>
            <a:off x="54102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noGrp="1"/>
          </p:cNvSpPr>
          <p:nvPr/>
        </p:nvSpPr>
        <p:spPr>
          <a:xfrm>
            <a:off x="54102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noGrp="1"/>
          </p:cNvSpPr>
          <p:nvPr/>
        </p:nvSpPr>
        <p:spPr>
          <a:xfrm>
            <a:off x="54292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简化订单处理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改善服务运营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支持工厂与供应链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noGrp="1"/>
          </p:cNvSpPr>
          <p:nvPr/>
        </p:nvSpPr>
        <p:spPr>
          <a:xfrm>
            <a:off x="75628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noGrp="1"/>
          </p:cNvSpPr>
          <p:nvPr/>
        </p:nvSpPr>
        <p:spPr>
          <a:xfrm>
            <a:off x="7562850" y="1809750"/>
            <a:ext cx="2114550" cy="76200"/>
          </a:xfrm>
          <a:prstGeom prst="rect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noGrp="1"/>
          </p:cNvSpPr>
          <p:nvPr/>
        </p:nvSpPr>
        <p:spPr>
          <a:xfrm>
            <a:off x="77343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noGrp="1"/>
          </p:cNvSpPr>
          <p:nvPr/>
        </p:nvSpPr>
        <p:spPr>
          <a:xfrm>
            <a:off x="77343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noGrp="1"/>
          </p:cNvSpPr>
          <p:nvPr/>
        </p:nvSpPr>
        <p:spPr>
          <a:xfrm>
            <a:off x="77533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市场、财务与 HR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法规、质量与法务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战略与竞品信息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noGrp="1"/>
          </p:cNvSpPr>
          <p:nvPr/>
        </p:nvSpPr>
        <p:spPr>
          <a:xfrm>
            <a:off x="9886950" y="1809750"/>
            <a:ext cx="2114550" cy="2743200"/>
          </a:xfrm>
          <a:prstGeom prst="roundRect">
            <a:avLst>
              <a:gd name="adj" fmla="val 540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noGrp="1"/>
          </p:cNvSpPr>
          <p:nvPr/>
        </p:nvSpPr>
        <p:spPr>
          <a:xfrm>
            <a:off x="9886950" y="1809750"/>
            <a:ext cx="2114550" cy="762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noGrp="1"/>
          </p:cNvSpPr>
          <p:nvPr/>
        </p:nvSpPr>
        <p:spPr>
          <a:xfrm>
            <a:off x="10058400" y="2095500"/>
            <a:ext cx="1771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noGrp="1"/>
          </p:cNvSpPr>
          <p:nvPr/>
        </p:nvSpPr>
        <p:spPr>
          <a:xfrm>
            <a:off x="10058400" y="2724150"/>
            <a:ext cx="1771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noGrp="1"/>
          </p:cNvSpPr>
          <p:nvPr/>
        </p:nvSpPr>
        <p:spPr>
          <a:xfrm>
            <a:off x="10077450" y="3143250"/>
            <a:ext cx="17335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加快创新流程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连接本地 AI 伙伴</a:t>
            </a:r>
          </a:p>
          <a:p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开展生态协作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noGrp="1"/>
          </p:cNvSpPr>
          <p:nvPr/>
        </p:nvSpPr>
        <p:spPr>
          <a:xfrm>
            <a:off x="1200150" y="4686300"/>
            <a:ext cx="979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noGrp="1"/>
          </p:cNvSpPr>
          <p:nvPr/>
        </p:nvSpPr>
        <p:spPr>
          <a:xfrm>
            <a:off x="781050" y="5105400"/>
            <a:ext cx="2438400" cy="419100"/>
          </a:xfrm>
          <a:prstGeom prst="roundRect">
            <a:avLst>
              <a:gd name="adj" fmla="val 27273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noGrp="1"/>
          </p:cNvSpPr>
          <p:nvPr/>
        </p:nvSpPr>
        <p:spPr>
          <a:xfrm>
            <a:off x="895350" y="52197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noGrp="1"/>
          </p:cNvSpPr>
          <p:nvPr/>
        </p:nvSpPr>
        <p:spPr>
          <a:xfrm>
            <a:off x="3448050" y="5105400"/>
            <a:ext cx="2438400" cy="419100"/>
          </a:xfrm>
          <a:prstGeom prst="roundRect">
            <a:avLst>
              <a:gd name="adj" fmla="val 2727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noGrp="1"/>
          </p:cNvSpPr>
          <p:nvPr/>
        </p:nvSpPr>
        <p:spPr>
          <a:xfrm>
            <a:off x="3562350" y="52197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noGrp="1"/>
          </p:cNvSpPr>
          <p:nvPr/>
        </p:nvSpPr>
        <p:spPr>
          <a:xfrm>
            <a:off x="6115050" y="5105400"/>
            <a:ext cx="2438400" cy="419100"/>
          </a:xfrm>
          <a:prstGeom prst="roundRect">
            <a:avLst>
              <a:gd name="adj" fmla="val 27273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noGrp="1"/>
          </p:cNvSpPr>
          <p:nvPr/>
        </p:nvSpPr>
        <p:spPr>
          <a:xfrm>
            <a:off x="6229350" y="52197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noGrp="1"/>
          </p:cNvSpPr>
          <p:nvPr/>
        </p:nvSpPr>
        <p:spPr>
          <a:xfrm>
            <a:off x="8782050" y="5105400"/>
            <a:ext cx="2438400" cy="419100"/>
          </a:xfrm>
          <a:prstGeom prst="roundRect">
            <a:avLst>
              <a:gd name="adj" fmla="val 2727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noGrp="1"/>
          </p:cNvSpPr>
          <p:nvPr/>
        </p:nvSpPr>
        <p:spPr>
          <a:xfrm>
            <a:off x="8896350" y="5219700"/>
            <a:ext cx="2209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B684A29-409B-40DE-960D-E353D107EE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A56CCA-9E07-47B0-A059-0EA9F9FED39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DBC18C-27C1-4772-80DD-03CCF724DBD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Gateway：企业 ChatGPT 的访问与支持入口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E6527B-AA04-4C64-9284-F214729DE60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 集中展示企业 ChatGPT 的访问状态、申请支持、使用规范和运营信息。Microsoft 官方课程在 AI Skills Navigator 中学习，Copilot 的实际操作则进入 Microsoft 365 Copilot。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1A1D26-32B6-4621-B623-515D2A83348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18699-CE00-4957-9243-499FA47A5555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FB70CA-C22B-40D1-A9B1-3277E4B0163F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91F045-D0B7-437C-BEFA-81782642490C}"/>
              </a:ext>
            </a:extLst>
          </p:cNvPr>
          <p:cNvSpPr>
            <a:spLocks noGrp="1"/>
          </p:cNvSpPr>
          <p:nvPr/>
        </p:nvSpPr>
        <p:spPr>
          <a:xfrm>
            <a:off x="1047750" y="21621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EA9900-5349-4E73-A3AA-92359F79D934}"/>
              </a:ext>
            </a:extLst>
          </p:cNvPr>
          <p:cNvSpPr>
            <a:spLocks noGrp="1"/>
          </p:cNvSpPr>
          <p:nvPr/>
        </p:nvSpPr>
        <p:spPr>
          <a:xfrm>
            <a:off x="10477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833808-1182-440E-B7B8-B5DF72B77C77}"/>
              </a:ext>
            </a:extLst>
          </p:cNvPr>
          <p:cNvSpPr>
            <a:spLocks noGrp="1"/>
          </p:cNvSpPr>
          <p:nvPr/>
        </p:nvSpPr>
        <p:spPr>
          <a:xfrm>
            <a:off x="16002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访问与开通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FC513B-DD3B-479B-ABC9-852E137B8329}"/>
              </a:ext>
            </a:extLst>
          </p:cNvPr>
          <p:cNvSpPr>
            <a:spLocks noGrp="1"/>
          </p:cNvSpPr>
          <p:nvPr/>
        </p:nvSpPr>
        <p:spPr>
          <a:xfrm>
            <a:off x="10477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查看 Enterprise ChatGPT 是否已经开通、从哪里申请，以及遇到问题时怎样获得入门支持。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447FAB-4E9E-4BAB-9D9D-B17B9A6AE410}"/>
              </a:ext>
            </a:extLst>
          </p:cNvPr>
          <p:cNvSpPr>
            <a:spLocks noGrp="1"/>
          </p:cNvSpPr>
          <p:nvPr/>
        </p:nvSpPr>
        <p:spPr>
          <a:xfrm>
            <a:off x="44958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641735F-05C3-4867-980A-B28137E5687F}"/>
              </a:ext>
            </a:extLst>
          </p:cNvPr>
          <p:cNvSpPr>
            <a:spLocks noGrp="1"/>
          </p:cNvSpPr>
          <p:nvPr/>
        </p:nvSpPr>
        <p:spPr>
          <a:xfrm>
            <a:off x="4705350" y="2162175"/>
            <a:ext cx="400050" cy="400050"/>
          </a:xfrm>
          <a:prstGeom prst="ellipse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92F4DB-E573-4AD2-BE44-C34449FD556B}"/>
              </a:ext>
            </a:extLst>
          </p:cNvPr>
          <p:cNvSpPr>
            <a:spLocks noGrp="1"/>
          </p:cNvSpPr>
          <p:nvPr/>
        </p:nvSpPr>
        <p:spPr>
          <a:xfrm>
            <a:off x="47053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62EE9D-8CC0-4D3B-B63A-E8B3BA5190DA}"/>
              </a:ext>
            </a:extLst>
          </p:cNvPr>
          <p:cNvSpPr>
            <a:spLocks noGrp="1"/>
          </p:cNvSpPr>
          <p:nvPr/>
        </p:nvSpPr>
        <p:spPr>
          <a:xfrm>
            <a:off x="52578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使用要求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BDFB5D-B3E9-4DBB-A591-2DE756538CEE}"/>
              </a:ext>
            </a:extLst>
          </p:cNvPr>
          <p:cNvSpPr>
            <a:spLocks noGrp="1"/>
          </p:cNvSpPr>
          <p:nvPr/>
        </p:nvSpPr>
        <p:spPr>
          <a:xfrm>
            <a:off x="47053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了解哪些工作场景可以使用、哪些数据不能输入，以及生成内容为什么仍需人工检查。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CEBC1BA-C645-4A76-B4F7-DBEC548F2071}"/>
              </a:ext>
            </a:extLst>
          </p:cNvPr>
          <p:cNvSpPr>
            <a:spLocks noGrp="1"/>
          </p:cNvSpPr>
          <p:nvPr/>
        </p:nvSpPr>
        <p:spPr>
          <a:xfrm>
            <a:off x="8153400" y="1952625"/>
            <a:ext cx="3190875" cy="2381250"/>
          </a:xfrm>
          <a:prstGeom prst="roundRect">
            <a:avLst>
              <a:gd name="adj" fmla="val 48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C91C41A-D055-4378-A239-89C9E8A79DFF}"/>
              </a:ext>
            </a:extLst>
          </p:cNvPr>
          <p:cNvSpPr>
            <a:spLocks noGrp="1"/>
          </p:cNvSpPr>
          <p:nvPr/>
        </p:nvSpPr>
        <p:spPr>
          <a:xfrm>
            <a:off x="8362950" y="21621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7026ED-758F-44C4-A9B8-486781A7B992}"/>
              </a:ext>
            </a:extLst>
          </p:cNvPr>
          <p:cNvSpPr>
            <a:spLocks noGrp="1"/>
          </p:cNvSpPr>
          <p:nvPr/>
        </p:nvSpPr>
        <p:spPr>
          <a:xfrm>
            <a:off x="8362950" y="2219325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22D0A9-7C7E-4780-9DED-D390E3560CAE}"/>
              </a:ext>
            </a:extLst>
          </p:cNvPr>
          <p:cNvSpPr>
            <a:spLocks noGrp="1"/>
          </p:cNvSpPr>
          <p:nvPr/>
        </p:nvSpPr>
        <p:spPr>
          <a:xfrm>
            <a:off x="8915400" y="2143125"/>
            <a:ext cx="22193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用量与状态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F9DA31-BF04-4D1A-9D0C-57F9A2B8150A}"/>
              </a:ext>
            </a:extLst>
          </p:cNvPr>
          <p:cNvSpPr>
            <a:spLocks noGrp="1"/>
          </p:cNvSpPr>
          <p:nvPr/>
        </p:nvSpPr>
        <p:spPr>
          <a:xfrm>
            <a:off x="8362950" y="2657475"/>
            <a:ext cx="2771775" cy="1504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页面还会显示申请状态、使用情况和部分费用或配额信息，便于个人和平台团队查看。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5B5ACC-FA18-43FF-8162-16C099975B0F}"/>
              </a:ext>
            </a:extLst>
          </p:cNvPr>
          <p:cNvSpPr>
            <a:spLocks noGrp="1"/>
          </p:cNvSpPr>
          <p:nvPr/>
        </p:nvSpPr>
        <p:spPr>
          <a:xfrm>
            <a:off x="952500" y="4762500"/>
            <a:ext cx="1028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 AI Gateway 先找到三件事：我的访问状态、申请或咨询入口、企业使用规范。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D2049CD-A1D2-41B1-A800-7AD5F3D7E0D5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65622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FC409DB-C7B5-41C6-A475-A3CF911013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D6825F-32D2-4DF3-8362-10AE661D742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C7E150-EE12-42CB-85CC-DE78F595B570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Gateway 页面上可以找到哪些信息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2B1782-9716-461B-951D-4300D5E6229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首页可以查看 Enterprise ChatGPT 的申请入口和当前访问状态；下方内容说明费用与配额、使用情况以及标准申请流程。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B04E50-ED5E-4AD2-B4DA-F519F4A6BD8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3B9F20-266A-4D94-8AB7-1949D3E2E9B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64281"/>
            <a:ext cx="6686550" cy="3510439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BAD53D-6FF9-49C6-9745-238BDDFE70AC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0573724-3389-450A-8B70-BF59D2ABBA31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037AB6-092B-42D8-91D5-A66CFC37B7B6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5133DE-B5E1-46CD-AF1F-0606857D787E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申请入口：主卡提供“Request access”按钮。引导助手可以说明怎样申请、开通后怎样开始使用，以及企业使用要求。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访问状态：右侧卡片显示当前可使用 AI Gateway 的引导助手；ChatGPT 的具体权限和开通进度仍以页面中的账户状态为准。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页面下方：三张卡片分别介绍费用与配额、使用状态，以及企业统一的申请方式。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CBFFA5E-180E-4C08-BCCF-D495ACAD47E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692228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40119D-52D7-4CC7-92B3-B49DFF7EE2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C3D5E7-05A5-488D-811E-DB0A43F5237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3C5CD1-B718-494F-9020-DA36BB597E21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Enterprise ChatGPT：申请前先获得部门批准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31ED03-7590-4542-BC11-83C3B92E24B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 主要用于明确的部门级、企业级或产品研发场景。申请账号和中国网络服务前，需要先获得本部门管理团队（GCMT）的批准。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7A1ED3-7727-40E2-A07D-68534B2FD41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9F9FED-EA84-4071-972C-A207AB0C2CF8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46659"/>
            <a:ext cx="6743700" cy="3793331"/>
          </a:xfrm>
          <a:prstGeom prst="roundRect">
            <a:avLst>
              <a:gd name="adj" fmla="val 2885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80B673-DD97-421C-B95A-DA16C847CEEA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81800" cy="4000500"/>
          </a:xfrm>
          <a:prstGeom prst="roundRect">
            <a:avLst>
              <a:gd name="adj" fmla="val 285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11916B-61BE-495A-B5E0-AC5512FA8990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962400"/>
          </a:xfrm>
          <a:prstGeom prst="roundRect">
            <a:avLst>
              <a:gd name="adj" fmla="val 2941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ACDD2B-9BED-4648-ADCC-BF9703BA3775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申请条件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967401-C37F-462C-B9B4-6E5C63D2159A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3124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适用场景：部门或企业级应用、系统和 Agent 的设计开发，也包括 Philips 产品相关的科研与研发工作。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部门统筹：各部门根据预算和业务需求确定申请范围。原文件建议申请人数不超过部门总人数的 3%。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批准方式：个人可以取得 GCMT 邮件批准，也可以由部门统一确认申请名单；名单后续可以按月复核调整。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425299-5A47-4B9D-95B4-C550CFB99B9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Gateway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EC6A347-ECFE-435D-8765-5C8BB24F388F}"/>
              </a:ext>
            </a:extLst>
          </p:cNvPr>
          <p:cNvSpPr>
            <a:spLocks noGrp="1"/>
          </p:cNvSpPr>
          <p:nvPr/>
        </p:nvSpPr>
        <p:spPr>
          <a:xfrm>
            <a:off x="3048000" y="5867400"/>
            <a:ext cx="2381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41313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6C5844E-46ED-41FB-B7D6-FAD1D2550D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C220C6-E88B-40FD-BC12-423BC44896B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B74853-3F29-4E57-9027-9791D4340D8E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获得部门批准后，还要完成两项申请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2879E2-AE19-4ACC-9780-3B8896CF490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第一项是 Enterprise ChatGPT 账号，第二项是中国网络访问服务（China Internet Acceleration Service）。两项申请完成后会分别收到邮件。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A7CC60-BEFE-4613-B73B-323A19C542D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ACF57-DF94-4B13-975F-7F9480241345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46659"/>
            <a:ext cx="6743700" cy="3793331"/>
          </a:xfrm>
          <a:prstGeom prst="roundRect">
            <a:avLst>
              <a:gd name="adj" fmla="val 2885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181D59-D25D-470B-AD2B-8B9471AD67C0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81800" cy="4000500"/>
          </a:xfrm>
          <a:prstGeom prst="roundRect">
            <a:avLst>
              <a:gd name="adj" fmla="val 285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DCC685-A556-4389-A626-508F9DF0407C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962400"/>
          </a:xfrm>
          <a:prstGeom prst="roundRect">
            <a:avLst>
              <a:gd name="adj" fmla="val 2941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C9C306-B61D-4117-B39A-9CF54CE477E1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两条申请路径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F88624-55C7-4C7E-8EB0-9CCDC91EF9DF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3124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账号申请：进入 AI Gateway，在 AI Assistant 对话框输入“Access”，提交 Enterprise ChatGPT 账号申请。开通后会收到 OpenAI 邮件。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网络申请：在 ServiceNow 申请中国网络访问服务，并上传个人承诺书和 GCMT 批准材料。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怎样确认完成：账号开通会收到 OpenAI 邮件，网络申请完成会收到 ServiceNow（SNOW）关单邮件。两封邮件都收到后，再安装登录工具。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B74832-CB41-4A37-96F2-79949E30A62C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申请 Enterprise ChatGPT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C3D4CD-F938-416D-A536-AF2B9ACEE910}"/>
              </a:ext>
            </a:extLst>
          </p:cNvPr>
          <p:cNvSpPr>
            <a:spLocks noGrp="1"/>
          </p:cNvSpPr>
          <p:nvPr/>
        </p:nvSpPr>
        <p:spPr>
          <a:xfrm>
            <a:off x="352425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申请中国网络服务  ↗</a:t>
            </a:r>
          </a:p>
        </p:txBody>
      </p:sp>
    </p:spTree>
    <p:extLst>
      <p:ext uri="{BB962C8B-B14F-4D97-AF65-F5344CB8AC3E}">
        <p14:creationId xmlns:p14="http://schemas.microsoft.com/office/powerpoint/2010/main" val="1525466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27C3038-4B3F-4BD5-9302-14B460F358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F99657-B268-4336-B9CD-60A5E77B667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7250B7-E289-4B68-9DAA-D7C21668DC8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两项申请完成后：安装工具并登录企业工作区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B2F346-A561-4B64-8F6C-367146B7C75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Software Portal 安装 ChatGPT Proxy Doctor 登录工具，再用 Philips 账号单点登录（Single Sign-On）进入企业版 ChatGPT 工作区。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4BF12B-5509-485E-A689-9201CF2D472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94E557-F4E2-4FAD-A646-5BA2C6A668D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46659"/>
            <a:ext cx="6743700" cy="3793331"/>
          </a:xfrm>
          <a:prstGeom prst="roundRect">
            <a:avLst>
              <a:gd name="adj" fmla="val 2885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047D95-F7E8-4B4C-8DAE-08A28432439C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81800" cy="4000500"/>
          </a:xfrm>
          <a:prstGeom prst="roundRect">
            <a:avLst>
              <a:gd name="adj" fmla="val 2857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C1D392E-C7E3-4EEE-83C4-A66D9C1641C1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962400"/>
          </a:xfrm>
          <a:prstGeom prst="roundRect">
            <a:avLst>
              <a:gd name="adj" fmla="val 2941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4A8093-F6B1-4E39-AEB7-4023FA8364B4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登录与使用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B5B129-FA1B-4178-B5CA-1AC209154708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3124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安装与登录：从 Software Portal 下载 ChatGPT Proxy Doctor。通过这个工具打开网页版或桌面应用，再用 Philips 账号登录。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使用时注意：只使用 Philips 批准的企业账号和网络，不输入机密、患者或敏感个人数据。生成内容先作为草稿，重要事实和决定仍由员工确认。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如果无法使用：先确认两封审批邮件都已收到，再重启并等待权限更新。仍有问题时，记下报错内容、发生时间以及所用网络和设备，再联系 ServiceNow 或本地 IT。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E7A1CB-5FB1-4E59-80B9-30FF90B4E6E4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Software Portal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5896220-0CF0-4FAA-9DB0-7476FF65B0EC}"/>
              </a:ext>
            </a:extLst>
          </p:cNvPr>
          <p:cNvSpPr>
            <a:spLocks noGrp="1"/>
          </p:cNvSpPr>
          <p:nvPr/>
        </p:nvSpPr>
        <p:spPr>
          <a:xfrm>
            <a:off x="3333750" y="5867400"/>
            <a:ext cx="2381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193734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0FBD9CC-026B-4E9C-BB61-329E9E42F0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0D7CB4-C4CB-4B60-876F-46055DBF276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6F2F51-71D2-4370-8BB7-B7E446C22E0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常见用途与使用条件放在同一页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A40ADF-874F-4B81-9CBC-44A9FCEB723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左侧是起草、总结、研究和流程自动化等常见用途；右侧是企业使用、Responsible AI、审批和开通流程。开始使用前，可以把这两部分一起看完。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8407C8-E4D9-42E8-8BCB-50D1B0305D0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5F25-1A2A-490C-B62A-3420475A79B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64281"/>
            <a:ext cx="6686550" cy="3510439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F5F593-6356-4AC2-B8A0-4FE57335FA6F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78027C-DF95-44B3-9428-DE32147D65B3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8AA4F4-B742-4EEA-AD8B-B61237434445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B054B3-04BD-40EA-A896-32C9BBCCB68F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可以做什么：起草文档与沟通、总结报告与会议、研究与知识发现、生产力与流程自动化。四类用途都需要清楚输入、输出和人工责任。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怎样负责任地做：只在批准的 Philips 工作环境中使用；不输入不允许处理的敏感信息，并在使用前检查生成结果。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怎样获得权限：从 AI Gateway 开始申请。获得部门批准后，系统会按照相应步骤为账号开通权限。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EC8E7F-BCD2-42EC-ADD9-9F40C68633E4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查看企业使用说明  ↗</a:t>
            </a:r>
          </a:p>
        </p:txBody>
      </p:sp>
    </p:spTree>
    <p:extLst>
      <p:ext uri="{BB962C8B-B14F-4D97-AF65-F5344CB8AC3E}">
        <p14:creationId xmlns:p14="http://schemas.microsoft.com/office/powerpoint/2010/main" val="1375393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先了解 GCR AI Network 中四类角色的分工，再通过名单找到自己所在部门、业务单元或市场的 AI 联系人。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AI Gateway  ↗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noGrp="1"/>
          </p:cNvSpPr>
          <p:nvPr/>
        </p:nvSpPr>
        <p:spPr>
          <a:xfrm>
            <a:off x="781050" y="1790700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noGrp="1"/>
          </p:cNvSpPr>
          <p:nvPr/>
        </p:nvSpPr>
        <p:spPr>
          <a:xfrm>
            <a:off x="990600" y="1943100"/>
            <a:ext cx="438150" cy="4381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noGrp="1"/>
          </p:cNvSpPr>
          <p:nvPr/>
        </p:nvSpPr>
        <p:spPr>
          <a:xfrm>
            <a:off x="990600" y="203835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noGrp="1"/>
          </p:cNvSpPr>
          <p:nvPr/>
        </p:nvSpPr>
        <p:spPr>
          <a:xfrm>
            <a:off x="1657350" y="192405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noGrp="1"/>
          </p:cNvSpPr>
          <p:nvPr/>
        </p:nvSpPr>
        <p:spPr>
          <a:xfrm>
            <a:off x="1657350" y="223837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noGrp="1"/>
          </p:cNvSpPr>
          <p:nvPr/>
        </p:nvSpPr>
        <p:spPr>
          <a:xfrm>
            <a:off x="4857750" y="1981200"/>
            <a:ext cx="600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noGrp="1"/>
          </p:cNvSpPr>
          <p:nvPr/>
        </p:nvSpPr>
        <p:spPr>
          <a:xfrm>
            <a:off x="781050" y="2695575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noGrp="1"/>
          </p:cNvSpPr>
          <p:nvPr/>
        </p:nvSpPr>
        <p:spPr>
          <a:xfrm>
            <a:off x="990600" y="2847975"/>
            <a:ext cx="438150" cy="438150"/>
          </a:xfrm>
          <a:prstGeom prst="ellipse">
            <a:avLst/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noGrp="1"/>
          </p:cNvSpPr>
          <p:nvPr/>
        </p:nvSpPr>
        <p:spPr>
          <a:xfrm>
            <a:off x="990600" y="294322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noGrp="1"/>
          </p:cNvSpPr>
          <p:nvPr/>
        </p:nvSpPr>
        <p:spPr>
          <a:xfrm>
            <a:off x="1657350" y="282892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noGrp="1"/>
          </p:cNvSpPr>
          <p:nvPr/>
        </p:nvSpPr>
        <p:spPr>
          <a:xfrm>
            <a:off x="1657350" y="314325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noGrp="1"/>
          </p:cNvSpPr>
          <p:nvPr/>
        </p:nvSpPr>
        <p:spPr>
          <a:xfrm>
            <a:off x="4857750" y="2886075"/>
            <a:ext cx="600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noGrp="1"/>
          </p:cNvSpPr>
          <p:nvPr/>
        </p:nvSpPr>
        <p:spPr>
          <a:xfrm>
            <a:off x="781050" y="3600450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noGrp="1"/>
          </p:cNvSpPr>
          <p:nvPr/>
        </p:nvSpPr>
        <p:spPr>
          <a:xfrm>
            <a:off x="990600" y="3752850"/>
            <a:ext cx="438150" cy="4381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noGrp="1"/>
          </p:cNvSpPr>
          <p:nvPr/>
        </p:nvSpPr>
        <p:spPr>
          <a:xfrm>
            <a:off x="990600" y="3848100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noGrp="1"/>
          </p:cNvSpPr>
          <p:nvPr/>
        </p:nvSpPr>
        <p:spPr>
          <a:xfrm>
            <a:off x="1657350" y="3733800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noGrp="1"/>
          </p:cNvSpPr>
          <p:nvPr/>
        </p:nvSpPr>
        <p:spPr>
          <a:xfrm>
            <a:off x="1657350" y="4048125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noGrp="1"/>
          </p:cNvSpPr>
          <p:nvPr/>
        </p:nvSpPr>
        <p:spPr>
          <a:xfrm>
            <a:off x="4857750" y="3790950"/>
            <a:ext cx="600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noGrp="1"/>
          </p:cNvSpPr>
          <p:nvPr/>
        </p:nvSpPr>
        <p:spPr>
          <a:xfrm>
            <a:off x="781050" y="4505325"/>
            <a:ext cx="10439400" cy="742950"/>
          </a:xfrm>
          <a:prstGeom prst="roundRect">
            <a:avLst>
              <a:gd name="adj" fmla="val 1538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noGrp="1"/>
          </p:cNvSpPr>
          <p:nvPr/>
        </p:nvSpPr>
        <p:spPr>
          <a:xfrm>
            <a:off x="990600" y="4657725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noGrp="1"/>
          </p:cNvSpPr>
          <p:nvPr/>
        </p:nvSpPr>
        <p:spPr>
          <a:xfrm>
            <a:off x="990600" y="47529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noGrp="1"/>
          </p:cNvSpPr>
          <p:nvPr/>
        </p:nvSpPr>
        <p:spPr>
          <a:xfrm>
            <a:off x="1657350" y="4638675"/>
            <a:ext cx="2952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noGrp="1"/>
          </p:cNvSpPr>
          <p:nvPr/>
        </p:nvSpPr>
        <p:spPr>
          <a:xfrm>
            <a:off x="1657350" y="4953000"/>
            <a:ext cx="295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noGrp="1"/>
          </p:cNvSpPr>
          <p:nvPr/>
        </p:nvSpPr>
        <p:spPr>
          <a:xfrm>
            <a:off x="4857750" y="4695825"/>
            <a:ext cx="600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回到 AI Gateway  ↗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noGrp="1"/>
          </p:cNvSpPr>
          <p:nvPr/>
        </p:nvSpPr>
        <p:spPr>
          <a:xfrm>
            <a:off x="304800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三列排列，便于找到对应联系人。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83116"/>
            <a:ext cx="6686550" cy="3577517"/>
          </a:xfrm>
          <a:prstGeom prst="roundRect">
            <a:avLst>
              <a:gd name="adj" fmla="val 3158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657600"/>
          </a:xfrm>
          <a:prstGeom prst="roundRect">
            <a:avLst>
              <a:gd name="adj" fmla="val 3125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覆盖范围：名单覆盖市场、财务、法务、人力资源、战略、质量、法规、临床、创新、IT，以及各业务单元和区域市场。原图保留了完整组织缩写。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角色分工：Function Lead 是对应业务的管理负责人；AI Ambassador 负责分享学习资源和实践经验，帮助团队梳理适合 AI 的工作问题。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怎样使用名单：先在第一列找到自己的部门或业务单元，再查看同一行的 AI Ambassador。工具和学习问题可以向大使交流，业务决定和数据授权仍由本部门负责人确认。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进入 Copilot 学习与实操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noGrp="1"/>
          </p:cNvSpPr>
          <p:nvPr/>
        </p:nvSpPr>
        <p:spPr>
          <a:xfrm>
            <a:off x="352425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先认识微软官方 AI 学习网站和 MS-4004，再用一个跨岗位案例练习多来源总结、冲突识别和沟通输出。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AI Skills Navigator  ↗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MS-4004 学习路径  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noGrp="1"/>
          </p:cNvSpPr>
          <p:nvPr/>
        </p:nvSpPr>
        <p:spPr>
          <a:xfrm>
            <a:off x="56007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43385"/>
            <a:ext cx="6686550" cy="355223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左侧导航：For you 查看个性化内容，Explore content 主动搜索主题，Skilling playlists 进入成套学习路径，Credentials 与 Reporting 分别查看证书和学习记录。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首页推荐：Recommended for you 根据资料展示课程卡片；Pick up where you left off 用于继续之前的内容，右上角的学习习惯提示帮助保持连续学习。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使用方法：首次进入可以先更新 profile，再按当前岗位或工作问题搜索。Bootcamp 结束后仍可从这里继续学习 Copilot、AI 基础和其他产品方向。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43385"/>
            <a:ext cx="6686550" cy="355223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顶部信息：33 items 表示播放列表包含 33 项内容，进度条显示已完成比例，Continue learning 用于继续上次的学习位置。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建议顺序：先完成 AI 和 Copilot Chat 基础内容，熟悉提示词、文件分析和协作方式，再进入 Microsoft 365 Copilot Use Cases（MS-4004）。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在哪里：向下滚动即可看到 MS-4004。它按管理者、销售、市场、财务、IT、人力资源、运营、企业沟通、客户服务和法务组织案例。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43385"/>
            <a:ext cx="6686550" cy="355223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左侧目录：点击课程名称可以展开单元。当前基础模块包括介绍、Copilot Pages、Agents、练习和总结；下方可以看到 MS-4004。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右侧学习区：这里显示正文、重要提醒和学习目标。页面顶部还提供单元总结和转成播客等辅助复习功能。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今天怎么使用：先知道课程入口在哪里，再进入 MS-4004 查看与自己岗位接近的案例。课堂实操会选取其中可以跨岗位使用的方法。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667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MS-4004 播放列表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noGrp="1"/>
          </p:cNvSpPr>
          <p:nvPr/>
        </p:nvSpPr>
        <p:spPr>
          <a:xfrm>
            <a:off x="3524250" y="5867400"/>
            <a:ext cx="2381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noGrp="1"/>
          </p:cNvSpPr>
          <p:nvPr/>
        </p:nvSpPr>
        <p:spPr>
          <a:xfrm>
            <a:off x="9715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noGrp="1"/>
          </p:cNvSpPr>
          <p:nvPr/>
        </p:nvSpPr>
        <p:spPr>
          <a:xfrm>
            <a:off x="13811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noGrp="1"/>
          </p:cNvSpPr>
          <p:nvPr/>
        </p:nvSpPr>
        <p:spPr>
          <a:xfrm>
            <a:off x="29908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noGrp="1"/>
          </p:cNvSpPr>
          <p:nvPr/>
        </p:nvSpPr>
        <p:spPr>
          <a:xfrm>
            <a:off x="31813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noGrp="1"/>
          </p:cNvSpPr>
          <p:nvPr/>
        </p:nvSpPr>
        <p:spPr>
          <a:xfrm>
            <a:off x="35909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noGrp="1"/>
          </p:cNvSpPr>
          <p:nvPr/>
        </p:nvSpPr>
        <p:spPr>
          <a:xfrm>
            <a:off x="52006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noGrp="1"/>
          </p:cNvSpPr>
          <p:nvPr/>
        </p:nvSpPr>
        <p:spPr>
          <a:xfrm>
            <a:off x="53911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noGrp="1"/>
          </p:cNvSpPr>
          <p:nvPr/>
        </p:nvSpPr>
        <p:spPr>
          <a:xfrm>
            <a:off x="58007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noGrp="1"/>
          </p:cNvSpPr>
          <p:nvPr/>
        </p:nvSpPr>
        <p:spPr>
          <a:xfrm>
            <a:off x="74104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noGrp="1"/>
          </p:cNvSpPr>
          <p:nvPr/>
        </p:nvSpPr>
        <p:spPr>
          <a:xfrm>
            <a:off x="76009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noGrp="1"/>
          </p:cNvSpPr>
          <p:nvPr/>
        </p:nvSpPr>
        <p:spPr>
          <a:xfrm>
            <a:off x="80105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noGrp="1"/>
          </p:cNvSpPr>
          <p:nvPr/>
        </p:nvSpPr>
        <p:spPr>
          <a:xfrm>
            <a:off x="9620250" y="2000250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noGrp="1"/>
          </p:cNvSpPr>
          <p:nvPr/>
        </p:nvSpPr>
        <p:spPr>
          <a:xfrm>
            <a:off x="9810750" y="2190750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noGrp="1"/>
          </p:cNvSpPr>
          <p:nvPr/>
        </p:nvSpPr>
        <p:spPr>
          <a:xfrm>
            <a:off x="10220325" y="215265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noGrp="1"/>
          </p:cNvSpPr>
          <p:nvPr/>
        </p:nvSpPr>
        <p:spPr>
          <a:xfrm>
            <a:off x="7810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noGrp="1"/>
          </p:cNvSpPr>
          <p:nvPr/>
        </p:nvSpPr>
        <p:spPr>
          <a:xfrm>
            <a:off x="9715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noGrp="1"/>
          </p:cNvSpPr>
          <p:nvPr/>
        </p:nvSpPr>
        <p:spPr>
          <a:xfrm>
            <a:off x="13811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noGrp="1"/>
          </p:cNvSpPr>
          <p:nvPr/>
        </p:nvSpPr>
        <p:spPr>
          <a:xfrm>
            <a:off x="29908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noGrp="1"/>
          </p:cNvSpPr>
          <p:nvPr/>
        </p:nvSpPr>
        <p:spPr>
          <a:xfrm>
            <a:off x="31813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noGrp="1"/>
          </p:cNvSpPr>
          <p:nvPr/>
        </p:nvSpPr>
        <p:spPr>
          <a:xfrm>
            <a:off x="35909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noGrp="1"/>
          </p:cNvSpPr>
          <p:nvPr/>
        </p:nvSpPr>
        <p:spPr>
          <a:xfrm>
            <a:off x="52006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noGrp="1"/>
          </p:cNvSpPr>
          <p:nvPr/>
        </p:nvSpPr>
        <p:spPr>
          <a:xfrm>
            <a:off x="53911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noGrp="1"/>
          </p:cNvSpPr>
          <p:nvPr/>
        </p:nvSpPr>
        <p:spPr>
          <a:xfrm>
            <a:off x="58007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noGrp="1"/>
          </p:cNvSpPr>
          <p:nvPr/>
        </p:nvSpPr>
        <p:spPr>
          <a:xfrm>
            <a:off x="74104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noGrp="1"/>
          </p:cNvSpPr>
          <p:nvPr/>
        </p:nvSpPr>
        <p:spPr>
          <a:xfrm>
            <a:off x="76009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noGrp="1"/>
          </p:cNvSpPr>
          <p:nvPr/>
        </p:nvSpPr>
        <p:spPr>
          <a:xfrm>
            <a:off x="80105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noGrp="1"/>
          </p:cNvSpPr>
          <p:nvPr/>
        </p:nvSpPr>
        <p:spPr>
          <a:xfrm>
            <a:off x="9620250" y="3286125"/>
            <a:ext cx="1962150" cy="971550"/>
          </a:xfrm>
          <a:prstGeom prst="roundRect">
            <a:avLst>
              <a:gd name="adj" fmla="val 1176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noGrp="1"/>
          </p:cNvSpPr>
          <p:nvPr/>
        </p:nvSpPr>
        <p:spPr>
          <a:xfrm>
            <a:off x="9810750" y="3476625"/>
            <a:ext cx="361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noGrp="1"/>
          </p:cNvSpPr>
          <p:nvPr/>
        </p:nvSpPr>
        <p:spPr>
          <a:xfrm>
            <a:off x="10220325" y="3438525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noGrp="1"/>
          </p:cNvSpPr>
          <p:nvPr/>
        </p:nvSpPr>
        <p:spPr>
          <a:xfrm>
            <a:off x="1047750" y="4857750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noGrp="1"/>
          </p:cNvSpPr>
          <p:nvPr/>
        </p:nvSpPr>
        <p:spPr>
          <a:xfrm>
            <a:off x="108585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noGrp="1"/>
          </p:cNvSpPr>
          <p:nvPr/>
        </p:nvSpPr>
        <p:spPr>
          <a:xfrm>
            <a:off x="10858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noGrp="1"/>
          </p:cNvSpPr>
          <p:nvPr/>
        </p:nvSpPr>
        <p:spPr>
          <a:xfrm>
            <a:off x="16383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noGrp="1"/>
          </p:cNvSpPr>
          <p:nvPr/>
        </p:nvSpPr>
        <p:spPr>
          <a:xfrm>
            <a:off x="10858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noGrp="1"/>
          </p:cNvSpPr>
          <p:nvPr/>
        </p:nvSpPr>
        <p:spPr>
          <a:xfrm>
            <a:off x="36385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noGrp="1"/>
          </p:cNvSpPr>
          <p:nvPr/>
        </p:nvSpPr>
        <p:spPr>
          <a:xfrm>
            <a:off x="38481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noGrp="1"/>
          </p:cNvSpPr>
          <p:nvPr/>
        </p:nvSpPr>
        <p:spPr>
          <a:xfrm>
            <a:off x="38481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noGrp="1"/>
          </p:cNvSpPr>
          <p:nvPr/>
        </p:nvSpPr>
        <p:spPr>
          <a:xfrm>
            <a:off x="44005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noGrp="1"/>
          </p:cNvSpPr>
          <p:nvPr/>
        </p:nvSpPr>
        <p:spPr>
          <a:xfrm>
            <a:off x="38481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noGrp="1"/>
          </p:cNvSpPr>
          <p:nvPr/>
        </p:nvSpPr>
        <p:spPr>
          <a:xfrm>
            <a:off x="640080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noGrp="1"/>
          </p:cNvSpPr>
          <p:nvPr/>
        </p:nvSpPr>
        <p:spPr>
          <a:xfrm>
            <a:off x="6610350" y="2209800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noGrp="1"/>
          </p:cNvSpPr>
          <p:nvPr/>
        </p:nvSpPr>
        <p:spPr>
          <a:xfrm>
            <a:off x="661035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noGrp="1"/>
          </p:cNvSpPr>
          <p:nvPr/>
        </p:nvSpPr>
        <p:spPr>
          <a:xfrm>
            <a:off x="716280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noGrp="1"/>
          </p:cNvSpPr>
          <p:nvPr/>
        </p:nvSpPr>
        <p:spPr>
          <a:xfrm>
            <a:off x="661035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noGrp="1"/>
          </p:cNvSpPr>
          <p:nvPr/>
        </p:nvSpPr>
        <p:spPr>
          <a:xfrm>
            <a:off x="9163050" y="2000250"/>
            <a:ext cx="2286000" cy="2714625"/>
          </a:xfrm>
          <a:prstGeom prst="roundRect">
            <a:avLst>
              <a:gd name="adj" fmla="val 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noGrp="1"/>
          </p:cNvSpPr>
          <p:nvPr/>
        </p:nvSpPr>
        <p:spPr>
          <a:xfrm>
            <a:off x="9372600" y="2209800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noGrp="1"/>
          </p:cNvSpPr>
          <p:nvPr/>
        </p:nvSpPr>
        <p:spPr>
          <a:xfrm>
            <a:off x="9372600" y="22669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noGrp="1"/>
          </p:cNvSpPr>
          <p:nvPr/>
        </p:nvSpPr>
        <p:spPr>
          <a:xfrm>
            <a:off x="9925050" y="2190750"/>
            <a:ext cx="1314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noGrp="1"/>
          </p:cNvSpPr>
          <p:nvPr/>
        </p:nvSpPr>
        <p:spPr>
          <a:xfrm>
            <a:off x="9372600" y="2705100"/>
            <a:ext cx="1866900" cy="1838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noGrp="1"/>
          </p:cNvSpPr>
          <p:nvPr/>
        </p:nvSpPr>
        <p:spPr>
          <a:xfrm>
            <a:off x="781050" y="1695450"/>
            <a:ext cx="10629900" cy="1104900"/>
          </a:xfrm>
          <a:prstGeom prst="roundRect">
            <a:avLst>
              <a:gd name="adj" fmla="val 10345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noGrp="1"/>
          </p:cNvSpPr>
          <p:nvPr/>
        </p:nvSpPr>
        <p:spPr>
          <a:xfrm>
            <a:off x="1066800" y="1924050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noGrp="1"/>
          </p:cNvSpPr>
          <p:nvPr/>
        </p:nvSpPr>
        <p:spPr>
          <a:xfrm>
            <a:off x="1066800" y="2276475"/>
            <a:ext cx="9886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今天接手“绿色办公周”项目。请读懂三份资料，向负责人说明当前进展、主要风险和下一步安排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noGrp="1"/>
          </p:cNvSpPr>
          <p:nvPr/>
        </p:nvSpPr>
        <p:spPr>
          <a:xfrm>
            <a:off x="781050" y="3067050"/>
            <a:ext cx="3276600" cy="2095500"/>
          </a:xfrm>
          <a:prstGeom prst="roundRect">
            <a:avLst>
              <a:gd name="adj" fmla="val 545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noGrp="1"/>
          </p:cNvSpPr>
          <p:nvPr/>
        </p:nvSpPr>
        <p:spPr>
          <a:xfrm>
            <a:off x="1047750" y="33147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743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</a:t>
            </a:r>
          </a:p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规划会议纪要</a:t>
            </a:r>
          </a:p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里程碑时间表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noGrp="1"/>
          </p:cNvSpPr>
          <p:nvPr/>
        </p:nvSpPr>
        <p:spPr>
          <a:xfrm>
            <a:off x="4362450" y="3067050"/>
            <a:ext cx="3276600" cy="2095500"/>
          </a:xfrm>
          <a:prstGeom prst="roundRect">
            <a:avLst>
              <a:gd name="adj" fmla="val 545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noGrp="1"/>
          </p:cNvSpPr>
          <p:nvPr/>
        </p:nvSpPr>
        <p:spPr>
          <a:xfrm>
            <a:off x="4629150" y="33147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noGrp="1"/>
          </p:cNvSpPr>
          <p:nvPr/>
        </p:nvSpPr>
        <p:spPr>
          <a:xfrm>
            <a:off x="4629150" y="3790950"/>
            <a:ext cx="2743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提炼目标与关键进展</a:t>
            </a:r>
          </a:p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整理负责人和截止日期</a:t>
            </a:r>
          </a:p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找出冲突与待确认事项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noGrp="1"/>
          </p:cNvSpPr>
          <p:nvPr/>
        </p:nvSpPr>
        <p:spPr>
          <a:xfrm>
            <a:off x="7943850" y="3067050"/>
            <a:ext cx="3276600" cy="2095500"/>
          </a:xfrm>
          <a:prstGeom prst="roundRect">
            <a:avLst>
              <a:gd name="adj" fmla="val 5455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noGrp="1"/>
          </p:cNvSpPr>
          <p:nvPr/>
        </p:nvSpPr>
        <p:spPr>
          <a:xfrm>
            <a:off x="8210550" y="3314700"/>
            <a:ext cx="274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noGrp="1"/>
          </p:cNvSpPr>
          <p:nvPr/>
        </p:nvSpPr>
        <p:spPr>
          <a:xfrm>
            <a:off x="8210550" y="3790950"/>
            <a:ext cx="27432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</a:t>
            </a:r>
          </a:p>
          <a:p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一封跟进邮件草稿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noGrp="1"/>
          </p:cNvSpPr>
          <p:nvPr/>
        </p:nvSpPr>
        <p:spPr>
          <a:xfrm>
            <a:off x="1428750" y="2647950"/>
            <a:ext cx="9239250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619500"/>
          </a:xfrm>
          <a:prstGeom prst="roundRect">
            <a:avLst>
              <a:gd name="adj" fmla="val 3158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noGrp="1"/>
          </p:cNvSpPr>
          <p:nvPr/>
        </p:nvSpPr>
        <p:spPr>
          <a:xfrm>
            <a:off x="1428750" y="211455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noGrp="1"/>
          </p:cNvSpPr>
          <p:nvPr/>
        </p:nvSpPr>
        <p:spPr>
          <a:xfrm>
            <a:off x="1428750" y="2724150"/>
            <a:ext cx="9239250" cy="2047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3429000"/>
          </a:xfrm>
          <a:prstGeom prst="roundRect">
            <a:avLst>
              <a:gd name="adj" fmla="val 3333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noGrp="1"/>
          </p:cNvSpPr>
          <p:nvPr/>
        </p:nvSpPr>
        <p:spPr>
          <a:xfrm>
            <a:off x="1524000" y="21526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noGrp="1"/>
          </p:cNvSpPr>
          <p:nvPr/>
        </p:nvSpPr>
        <p:spPr>
          <a:xfrm>
            <a:off x="9239250" y="21526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noGrp="1"/>
          </p:cNvSpPr>
          <p:nvPr/>
        </p:nvSpPr>
        <p:spPr>
          <a:xfrm>
            <a:off x="1409700" y="25146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noGrp="1"/>
          </p:cNvSpPr>
          <p:nvPr/>
        </p:nvSpPr>
        <p:spPr>
          <a:xfrm>
            <a:off x="1524000" y="25717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noGrp="1"/>
          </p:cNvSpPr>
          <p:nvPr/>
        </p:nvSpPr>
        <p:spPr>
          <a:xfrm>
            <a:off x="7239000" y="25717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noGrp="1"/>
          </p:cNvSpPr>
          <p:nvPr/>
        </p:nvSpPr>
        <p:spPr>
          <a:xfrm>
            <a:off x="9239250" y="25717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noGrp="1"/>
          </p:cNvSpPr>
          <p:nvPr/>
        </p:nvSpPr>
        <p:spPr>
          <a:xfrm>
            <a:off x="1409700" y="29718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noGrp="1"/>
          </p:cNvSpPr>
          <p:nvPr/>
        </p:nvSpPr>
        <p:spPr>
          <a:xfrm>
            <a:off x="1524000" y="30289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noGrp="1"/>
          </p:cNvSpPr>
          <p:nvPr/>
        </p:nvSpPr>
        <p:spPr>
          <a:xfrm>
            <a:off x="7239000" y="30289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noGrp="1"/>
          </p:cNvSpPr>
          <p:nvPr/>
        </p:nvSpPr>
        <p:spPr>
          <a:xfrm>
            <a:off x="9239250" y="30289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noGrp="1"/>
          </p:cNvSpPr>
          <p:nvPr/>
        </p:nvSpPr>
        <p:spPr>
          <a:xfrm>
            <a:off x="1409700" y="34290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noGrp="1"/>
          </p:cNvSpPr>
          <p:nvPr/>
        </p:nvSpPr>
        <p:spPr>
          <a:xfrm>
            <a:off x="1524000" y="34861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noGrp="1"/>
          </p:cNvSpPr>
          <p:nvPr/>
        </p:nvSpPr>
        <p:spPr>
          <a:xfrm>
            <a:off x="7239000" y="34861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noGrp="1"/>
          </p:cNvSpPr>
          <p:nvPr/>
        </p:nvSpPr>
        <p:spPr>
          <a:xfrm>
            <a:off x="9239250" y="34861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noGrp="1"/>
          </p:cNvSpPr>
          <p:nvPr/>
        </p:nvSpPr>
        <p:spPr>
          <a:xfrm>
            <a:off x="1409700" y="3886200"/>
            <a:ext cx="9182100" cy="381000"/>
          </a:xfrm>
          <a:prstGeom prst="rect">
            <a:avLst/>
          </a:prstGeom>
          <a:solidFill>
            <a:srgbClr val="FFF2E9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noGrp="1"/>
          </p:cNvSpPr>
          <p:nvPr/>
        </p:nvSpPr>
        <p:spPr>
          <a:xfrm>
            <a:off x="1524000" y="39433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noGrp="1"/>
          </p:cNvSpPr>
          <p:nvPr/>
        </p:nvSpPr>
        <p:spPr>
          <a:xfrm>
            <a:off x="7239000" y="39433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noGrp="1"/>
          </p:cNvSpPr>
          <p:nvPr/>
        </p:nvSpPr>
        <p:spPr>
          <a:xfrm>
            <a:off x="9239250" y="39433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noGrp="1"/>
          </p:cNvSpPr>
          <p:nvPr/>
        </p:nvSpPr>
        <p:spPr>
          <a:xfrm>
            <a:off x="1409700" y="4343400"/>
            <a:ext cx="9182100" cy="381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noGrp="1"/>
          </p:cNvSpPr>
          <p:nvPr/>
        </p:nvSpPr>
        <p:spPr>
          <a:xfrm>
            <a:off x="1524000" y="4400550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noGrp="1"/>
          </p:cNvSpPr>
          <p:nvPr/>
        </p:nvSpPr>
        <p:spPr>
          <a:xfrm>
            <a:off x="7239000" y="44005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noGrp="1"/>
          </p:cNvSpPr>
          <p:nvPr/>
        </p:nvSpPr>
        <p:spPr>
          <a:xfrm>
            <a:off x="9239250" y="4400550"/>
            <a:ext cx="1238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noGrp="1"/>
          </p:cNvSpPr>
          <p:nvPr/>
        </p:nvSpPr>
        <p:spPr>
          <a:xfrm>
            <a:off x="1428750" y="49530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提示词要说明为什么做、需要 Copilot 做什么、结果以什么形式呈现，以及哪些内容不能自行推断、必须由人确认。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noGrp="1"/>
          </p:cNvSpPr>
          <p:nvPr/>
        </p:nvSpPr>
        <p:spPr>
          <a:xfrm>
            <a:off x="1219200" y="19431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noGrp="1"/>
          </p:cNvSpPr>
          <p:nvPr/>
        </p:nvSpPr>
        <p:spPr>
          <a:xfrm>
            <a:off x="1219200" y="20574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noGrp="1"/>
          </p:cNvSpPr>
          <p:nvPr/>
        </p:nvSpPr>
        <p:spPr>
          <a:xfrm>
            <a:off x="2476500" y="19716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noGrp="1"/>
          </p:cNvSpPr>
          <p:nvPr/>
        </p:nvSpPr>
        <p:spPr>
          <a:xfrm>
            <a:off x="1219200" y="29146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noGrp="1"/>
          </p:cNvSpPr>
          <p:nvPr/>
        </p:nvSpPr>
        <p:spPr>
          <a:xfrm>
            <a:off x="1219200" y="30289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noGrp="1"/>
          </p:cNvSpPr>
          <p:nvPr/>
        </p:nvSpPr>
        <p:spPr>
          <a:xfrm>
            <a:off x="2476500" y="29432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noGrp="1"/>
          </p:cNvSpPr>
          <p:nvPr/>
        </p:nvSpPr>
        <p:spPr>
          <a:xfrm>
            <a:off x="1047750" y="37528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noGrp="1"/>
          </p:cNvSpPr>
          <p:nvPr/>
        </p:nvSpPr>
        <p:spPr>
          <a:xfrm>
            <a:off x="1219200" y="38862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noGrp="1"/>
          </p:cNvSpPr>
          <p:nvPr/>
        </p:nvSpPr>
        <p:spPr>
          <a:xfrm>
            <a:off x="1219200" y="40005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noGrp="1"/>
          </p:cNvSpPr>
          <p:nvPr/>
        </p:nvSpPr>
        <p:spPr>
          <a:xfrm>
            <a:off x="2476500" y="39147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noGrp="1"/>
          </p:cNvSpPr>
          <p:nvPr/>
        </p:nvSpPr>
        <p:spPr>
          <a:xfrm>
            <a:off x="1047750" y="47244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noGrp="1"/>
          </p:cNvSpPr>
          <p:nvPr/>
        </p:nvSpPr>
        <p:spPr>
          <a:xfrm>
            <a:off x="1219200" y="48577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noGrp="1"/>
          </p:cNvSpPr>
          <p:nvPr/>
        </p:nvSpPr>
        <p:spPr>
          <a:xfrm>
            <a:off x="1219200" y="49720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noGrp="1"/>
          </p:cNvSpPr>
          <p:nvPr/>
        </p:nvSpPr>
        <p:spPr>
          <a:xfrm>
            <a:off x="2476500" y="48863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64281"/>
            <a:ext cx="6686550" cy="3510439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开始新任务：左侧 New chat 用于新建对话，Search 用于查找历史内容。Library、Notebooks 和 Agents 可以在需要时再探索。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加入资料：中央 Message Copilot 是任务输入框；点击左侧加号可以添加文件。下方几个按钮是文件分析、邮件整理、人员搜索和会议准备等快捷入口。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提交前检查：确认左下角显示 Philips 工作账号，只添加当前任务需要的资料；不确定某类敏感信息能否使用时，先查看企业规则或咨询支持人员。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noGrp="1"/>
          </p:cNvSpPr>
          <p:nvPr/>
        </p:nvSpPr>
        <p:spPr>
          <a:xfrm>
            <a:off x="1066800" y="17621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noGrp="1"/>
          </p:cNvSpPr>
          <p:nvPr/>
        </p:nvSpPr>
        <p:spPr>
          <a:xfrm>
            <a:off x="1066800" y="18478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noGrp="1"/>
          </p:cNvSpPr>
          <p:nvPr/>
        </p:nvSpPr>
        <p:spPr>
          <a:xfrm>
            <a:off x="1695450" y="17430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上传项目简介、会议纪要和里程碑时间表。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noGrp="1"/>
          </p:cNvSpPr>
          <p:nvPr/>
        </p:nvSpPr>
        <p:spPr>
          <a:xfrm>
            <a:off x="1066800" y="250507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noGrp="1"/>
          </p:cNvSpPr>
          <p:nvPr/>
        </p:nvSpPr>
        <p:spPr>
          <a:xfrm>
            <a:off x="1066800" y="25908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noGrp="1"/>
          </p:cNvSpPr>
          <p:nvPr/>
        </p:nvSpPr>
        <p:spPr>
          <a:xfrm>
            <a:off x="1695450" y="248602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输入“背景 + 任务 + 输出 + 约束”四段式提示词。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noGrp="1"/>
          </p:cNvSpPr>
          <p:nvPr/>
        </p:nvSpPr>
        <p:spPr>
          <a:xfrm>
            <a:off x="1066800" y="32480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noGrp="1"/>
          </p:cNvSpPr>
          <p:nvPr/>
        </p:nvSpPr>
        <p:spPr>
          <a:xfrm>
            <a:off x="1066800" y="33337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noGrp="1"/>
          </p:cNvSpPr>
          <p:nvPr/>
        </p:nvSpPr>
        <p:spPr>
          <a:xfrm>
            <a:off x="1695450" y="32289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查看生成的项目接手简报和跟进邮件草稿。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noGrp="1"/>
          </p:cNvSpPr>
          <p:nvPr/>
        </p:nvSpPr>
        <p:spPr>
          <a:xfrm>
            <a:off x="1066800" y="3990975"/>
            <a:ext cx="400050" cy="400050"/>
          </a:xfrm>
          <a:prstGeom prst="ellipse">
            <a:avLst/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noGrp="1"/>
          </p:cNvSpPr>
          <p:nvPr/>
        </p:nvSpPr>
        <p:spPr>
          <a:xfrm>
            <a:off x="1066800" y="40767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noGrp="1"/>
          </p:cNvSpPr>
          <p:nvPr/>
        </p:nvSpPr>
        <p:spPr>
          <a:xfrm>
            <a:off x="1695450" y="397192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找到 28 Aug 与 31 Aug 两个报名日期，保留来源并标记待确认。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noGrp="1"/>
          </p:cNvSpPr>
          <p:nvPr/>
        </p:nvSpPr>
        <p:spPr>
          <a:xfrm>
            <a:off x="1066800" y="4733925"/>
            <a:ext cx="400050" cy="4000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noGrp="1"/>
          </p:cNvSpPr>
          <p:nvPr/>
        </p:nvSpPr>
        <p:spPr>
          <a:xfrm>
            <a:off x="1066800" y="481965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noGrp="1"/>
          </p:cNvSpPr>
          <p:nvPr/>
        </p:nvSpPr>
        <p:spPr>
          <a:xfrm>
            <a:off x="1695450" y="4714875"/>
            <a:ext cx="8953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继续追问：把行动项整理成负责人、截止日期和状态三列。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noGrp="1"/>
          </p:cNvSpPr>
          <p:nvPr/>
        </p:nvSpPr>
        <p:spPr>
          <a:xfrm>
            <a:off x="1238250" y="1952625"/>
            <a:ext cx="9715500" cy="2238375"/>
          </a:xfrm>
          <a:prstGeom prst="roundRect">
            <a:avLst>
              <a:gd name="adj" fmla="val 5106"/>
            </a:avLst>
          </a:prstGeom>
          <a:solidFill>
            <a:srgbClr val="EAF4FF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noGrp="1"/>
          </p:cNvSpPr>
          <p:nvPr/>
        </p:nvSpPr>
        <p:spPr>
          <a:xfrm>
            <a:off x="1619250" y="22669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noGrp="1"/>
          </p:cNvSpPr>
          <p:nvPr/>
        </p:nvSpPr>
        <p:spPr>
          <a:xfrm>
            <a:off x="1619250" y="2743200"/>
            <a:ext cx="8667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用背景、任务、输出、约束四段结构写一个提示词。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要求 Copilot 指出至少一个不确定项、冲突或需要人工核对的事实。</a:t>
            </a:r>
          </a:p>
          <a:p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把结果改写成可直接用于沟通的一段文字、邮件或简报。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完成后与同事交流：你的提示词中，哪一条约束最重要</a:t>
            </a:r>
            <a:r>
              <a:rPr sz="1575" b="1" dirty="0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绿色办公周实操｜任务、示例提示词与预期结果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练习材料将在课程群内发放。下面提示词只是一种示例；重点是把背景、任务、输出和约束说清楚。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noGrp="1"/>
          </p:cNvSpPr>
          <p:nvPr/>
        </p:nvSpPr>
        <p:spPr>
          <a:xfrm>
            <a:off x="1047750" y="18097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noGrp="1"/>
          </p:cNvSpPr>
          <p:nvPr/>
        </p:nvSpPr>
        <p:spPr>
          <a:xfrm>
            <a:off x="1219200" y="19431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noGrp="1"/>
          </p:cNvSpPr>
          <p:nvPr/>
        </p:nvSpPr>
        <p:spPr>
          <a:xfrm>
            <a:off x="1219200" y="20574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noGrp="1"/>
          </p:cNvSpPr>
          <p:nvPr/>
        </p:nvSpPr>
        <p:spPr>
          <a:xfrm>
            <a:off x="2476500" y="19716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阅读群内发放的三份虚构资料，用 Copilot 总结项目目标、进展和行动项，比较来源并找出冲突。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noGrp="1"/>
          </p:cNvSpPr>
          <p:nvPr/>
        </p:nvSpPr>
        <p:spPr>
          <a:xfrm>
            <a:off x="1219200" y="29146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11966F"/>
          </a:solidFill>
          <a:ln w="9525">
            <a:solidFill>
              <a:srgbClr val="1196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noGrp="1"/>
          </p:cNvSpPr>
          <p:nvPr/>
        </p:nvSpPr>
        <p:spPr>
          <a:xfrm>
            <a:off x="1219200" y="30289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noGrp="1"/>
          </p:cNvSpPr>
          <p:nvPr/>
        </p:nvSpPr>
        <p:spPr>
          <a:xfrm>
            <a:off x="2476500" y="29432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“仅根据三份资料，总结目标、指标、预算、日期、决定、行动项、风险和缺失；比较来源。先输出简报，再起草邮件。不要补充资料中没有的事实；冲突列出两个版本和来源，标记‘待确认’。”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noGrp="1"/>
          </p:cNvSpPr>
          <p:nvPr/>
        </p:nvSpPr>
        <p:spPr>
          <a:xfrm>
            <a:off x="1047750" y="375285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noGrp="1"/>
          </p:cNvSpPr>
          <p:nvPr/>
        </p:nvSpPr>
        <p:spPr>
          <a:xfrm>
            <a:off x="1219200" y="388620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noGrp="1"/>
          </p:cNvSpPr>
          <p:nvPr/>
        </p:nvSpPr>
        <p:spPr>
          <a:xfrm>
            <a:off x="1219200" y="400050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noGrp="1"/>
          </p:cNvSpPr>
          <p:nvPr/>
        </p:nvSpPr>
        <p:spPr>
          <a:xfrm>
            <a:off x="2476500" y="391477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一页项目接手简报（含行动项表格）＋一封跟进邮件草稿＋一份待确认事项清单。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noGrp="1"/>
          </p:cNvSpPr>
          <p:nvPr/>
        </p:nvSpPr>
        <p:spPr>
          <a:xfrm>
            <a:off x="1047750" y="4724400"/>
            <a:ext cx="10096500" cy="762000"/>
          </a:xfrm>
          <a:prstGeom prst="roundRect">
            <a:avLst>
              <a:gd name="adj" fmla="val 15000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noGrp="1"/>
          </p:cNvSpPr>
          <p:nvPr/>
        </p:nvSpPr>
        <p:spPr>
          <a:xfrm>
            <a:off x="1219200" y="4857750"/>
            <a:ext cx="1000125" cy="495300"/>
          </a:xfrm>
          <a:prstGeom prst="roundRect">
            <a:avLst>
              <a:gd name="adj" fmla="val 23077"/>
            </a:avLst>
          </a:prstGeom>
          <a:solidFill>
            <a:srgbClr val="E8742B"/>
          </a:solidFill>
          <a:ln w="9525">
            <a:solidFill>
              <a:srgbClr val="E874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noGrp="1"/>
          </p:cNvSpPr>
          <p:nvPr/>
        </p:nvSpPr>
        <p:spPr>
          <a:xfrm>
            <a:off x="1219200" y="4972050"/>
            <a:ext cx="10001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noGrp="1"/>
          </p:cNvSpPr>
          <p:nvPr/>
        </p:nvSpPr>
        <p:spPr>
          <a:xfrm>
            <a:off x="2476500" y="4886325"/>
            <a:ext cx="8191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应发现“8月28日 / 8月31日”冲突；供应商、合同金额等缺失内容应写“资料中未找到”。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 fontScale="99154"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B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noGrp="1"/>
          </p:cNvSpPr>
          <p:nvPr/>
        </p:nvSpPr>
        <p:spPr>
          <a:xfrm>
            <a:off x="800100" y="8382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noGrp="1"/>
          </p:cNvSpPr>
          <p:nvPr/>
        </p:nvSpPr>
        <p:spPr>
          <a:xfrm>
            <a:off x="800100" y="1524000"/>
            <a:ext cx="981075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业务案例与最佳实践：Agent Builder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85725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noGrp="1"/>
          </p:cNvSpPr>
          <p:nvPr/>
        </p:nvSpPr>
        <p:spPr>
          <a:xfrm>
            <a:off x="8001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AI Tool Lab  ↗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noGrp="1"/>
          </p:cNvSpPr>
          <p:nvPr/>
        </p:nvSpPr>
        <p:spPr>
          <a:xfrm>
            <a:off x="32004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Agent Builder 路径  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noGrp="1"/>
          </p:cNvSpPr>
          <p:nvPr/>
        </p:nvSpPr>
        <p:spPr>
          <a:xfrm>
            <a:off x="5600700" y="5734050"/>
            <a:ext cx="22098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和中文分步指南。四个场景都会练习工作规则（Instructions）、参考资料、常用快捷问题（Suggested Prompts）和试运行，操作都在 Microsoft 365 Copilot 中完成。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63846"/>
            <a:ext cx="6686550" cy="3511308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四个场景：Chief of Staff、Product Manual FAQ、Meeting Follow-up Assistant 和 Funnel Data Analyst。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材料分工：PPT 用来同步解释关键画面；AI Tool Lab 网站提供完整步骤与练习材料；真正的配置、预览和创建在 Microsoft 365 Copilot 中完成。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完成之后：可以沿用同样的构建步骤，把自己的重复任务改造成一个简单、可测试的 Agent。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AI Tool Lab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noGrp="1"/>
          </p:cNvSpPr>
          <p:nvPr/>
        </p:nvSpPr>
        <p:spPr>
          <a:xfrm>
            <a:off x="3048000" y="5867400"/>
            <a:ext cx="24765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分别练习事务协调、依据资料回答问题、会议跟进和销售数据分析。讲师会演示第 3 个，学员实践时可任选一个。每个 Lab 都会完成工作规则、参考资料、快捷问题和试运行。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noGrp="1"/>
          </p:cNvSpPr>
          <p:nvPr/>
        </p:nvSpPr>
        <p:spPr>
          <a:xfrm>
            <a:off x="1028700" y="20193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noGrp="1"/>
          </p:cNvSpPr>
          <p:nvPr/>
        </p:nvSpPr>
        <p:spPr>
          <a:xfrm>
            <a:off x="1028700" y="21240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noGrp="1"/>
          </p:cNvSpPr>
          <p:nvPr/>
        </p:nvSpPr>
        <p:spPr>
          <a:xfrm>
            <a:off x="1657350" y="20002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noGrp="1"/>
          </p:cNvSpPr>
          <p:nvPr/>
        </p:nvSpPr>
        <p:spPr>
          <a:xfrm>
            <a:off x="1657350" y="24288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noGrp="1"/>
          </p:cNvSpPr>
          <p:nvPr/>
        </p:nvSpPr>
        <p:spPr>
          <a:xfrm>
            <a:off x="6229350" y="17907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noGrp="1"/>
          </p:cNvSpPr>
          <p:nvPr/>
        </p:nvSpPr>
        <p:spPr>
          <a:xfrm>
            <a:off x="6438900" y="20193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noGrp="1"/>
          </p:cNvSpPr>
          <p:nvPr/>
        </p:nvSpPr>
        <p:spPr>
          <a:xfrm>
            <a:off x="6438900" y="21240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noGrp="1"/>
          </p:cNvSpPr>
          <p:nvPr/>
        </p:nvSpPr>
        <p:spPr>
          <a:xfrm>
            <a:off x="7067550" y="20002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noGrp="1"/>
          </p:cNvSpPr>
          <p:nvPr/>
        </p:nvSpPr>
        <p:spPr>
          <a:xfrm>
            <a:off x="7067550" y="24288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noGrp="1"/>
          </p:cNvSpPr>
          <p:nvPr/>
        </p:nvSpPr>
        <p:spPr>
          <a:xfrm>
            <a:off x="1028700" y="3810000"/>
            <a:ext cx="438150" cy="4381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noGrp="1"/>
          </p:cNvSpPr>
          <p:nvPr/>
        </p:nvSpPr>
        <p:spPr>
          <a:xfrm>
            <a:off x="1028700" y="39147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noGrp="1"/>
          </p:cNvSpPr>
          <p:nvPr/>
        </p:nvSpPr>
        <p:spPr>
          <a:xfrm>
            <a:off x="1657350" y="37909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noGrp="1"/>
          </p:cNvSpPr>
          <p:nvPr/>
        </p:nvSpPr>
        <p:spPr>
          <a:xfrm>
            <a:off x="1657350" y="42195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noGrp="1"/>
          </p:cNvSpPr>
          <p:nvPr/>
        </p:nvSpPr>
        <p:spPr>
          <a:xfrm>
            <a:off x="6229350" y="3581400"/>
            <a:ext cx="5143500" cy="1562100"/>
          </a:xfrm>
          <a:prstGeom prst="roundRect">
            <a:avLst>
              <a:gd name="adj" fmla="val 731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noGrp="1"/>
          </p:cNvSpPr>
          <p:nvPr/>
        </p:nvSpPr>
        <p:spPr>
          <a:xfrm>
            <a:off x="6438900" y="3810000"/>
            <a:ext cx="438150" cy="438150"/>
          </a:xfrm>
          <a:prstGeom prst="ellipse">
            <a:avLst/>
          </a:prstGeom>
          <a:solidFill>
            <a:srgbClr val="003B78"/>
          </a:solidFill>
          <a:ln w="9525">
            <a:solidFill>
              <a:srgbClr val="003B7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noGrp="1"/>
          </p:cNvSpPr>
          <p:nvPr/>
        </p:nvSpPr>
        <p:spPr>
          <a:xfrm>
            <a:off x="6438900" y="3914775"/>
            <a:ext cx="438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noGrp="1"/>
          </p:cNvSpPr>
          <p:nvPr/>
        </p:nvSpPr>
        <p:spPr>
          <a:xfrm>
            <a:off x="7067550" y="3790950"/>
            <a:ext cx="381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noGrp="1"/>
          </p:cNvSpPr>
          <p:nvPr/>
        </p:nvSpPr>
        <p:spPr>
          <a:xfrm>
            <a:off x="7067550" y="42195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Lab 1  ↗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noGrp="1"/>
          </p:cNvSpPr>
          <p:nvPr/>
        </p:nvSpPr>
        <p:spPr>
          <a:xfrm>
            <a:off x="1952625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Lab 2  ↗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noGrp="1"/>
          </p:cNvSpPr>
          <p:nvPr/>
        </p:nvSpPr>
        <p:spPr>
          <a:xfrm>
            <a:off x="3219450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Lab 3  ↗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noGrp="1"/>
          </p:cNvSpPr>
          <p:nvPr/>
        </p:nvSpPr>
        <p:spPr>
          <a:xfrm>
            <a:off x="4486275" y="5867400"/>
            <a:ext cx="11430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6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查看当天日历、安排优先级、找出时间冲突，并为重要会议准备 2–3 个谈话要点。下方三个常用快捷问题分别对应日历、紧急事项和今日重点。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89939"/>
            <a:ext cx="6686550" cy="3659122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输入范围：日历、紧急事项和当前目标。Agent 会结合时间冲突与任务重要性进行整理。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处理规则：区分必须今天处理、可推迟和需要协调的事项；对重要会议补充目标、风险与谈话要点。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你会看到：带理由的优先级、清楚标出的时间冲突，以及可以直接用于当天安排的建议。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FAQ：回答必须来自产品资料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这个示例根据已提供的 MR 5300 产品资料回答销售问题。回答先给出要点，再解释适合客户沟通的产品价值，并在具体规格旁显示资料来源。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7658" y="1762125"/>
            <a:ext cx="6122833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任务边界：只依据已加载的产品手册回答，不把模型常识、营销想象或其他产品信息混入答案。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回答结构：先概括几个示例卖点，包括减少氦气维护、AI 辅助工作流、成像质量和长期使用成本，再把规格转化为客户能够理解的价值。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看哪里：关键规格旁能看到资料来源；如果资料没有覆盖或版本不同，回答会直接说明当前无法确认。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Assistant：用模板整理会议结果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画面右侧要求 Agent 根据 Mail Template 生成管理层简报，并按背景、决定、风险、需要支持和下一步组织内容；输出注明使用了 Mail Template CN.docx 中的管理层摘要模板。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78668"/>
            <a:ext cx="6686550" cy="3681663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需要提供：同时给出原始会议内容、阅读对象、需要的栏目，并要求标出尚未确认的信息，避免只生成普通会议摘要。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模板作用：把邮件模板作为参考资料，可以让不同会议都使用相同的管理层汇报结构和语言风格。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结果结构：决策与讨论分开呈现，行动项带负责人和时间，尚未确定的产品演示继续保留为待确认事项。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Analyst：先说清筛选条件，再解释销售图表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这是一个销售机会数据分析示例。提示词限定 East 区域和 MR 业务单元，要求按预测类别统计金额，并以百万美元为单位展示柱状图。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6301" y="1762125"/>
            <a:ext cx="6205548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noGrp="1"/>
          </p:cNvSpPr>
          <p:nvPr/>
        </p:nvSpPr>
        <p:spPr>
          <a:xfrm>
            <a:off x="666750" y="1743075"/>
            <a:ext cx="6724650" cy="3752850"/>
          </a:xfrm>
          <a:prstGeom prst="roundRect">
            <a:avLst>
              <a:gd name="adj" fmla="val 3046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noGrp="1"/>
          </p:cNvSpPr>
          <p:nvPr/>
        </p:nvSpPr>
        <p:spPr>
          <a:xfrm>
            <a:off x="7620000" y="1762125"/>
            <a:ext cx="3886200" cy="3714750"/>
          </a:xfrm>
          <a:prstGeom prst="roundRect">
            <a:avLst>
              <a:gd name="adj" fmla="val 307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noGrp="1"/>
          </p:cNvSpPr>
          <p:nvPr/>
        </p:nvSpPr>
        <p:spPr>
          <a:xfrm>
            <a:off x="7848600" y="19716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noGrp="1"/>
          </p:cNvSpPr>
          <p:nvPr/>
        </p:nvSpPr>
        <p:spPr>
          <a:xfrm>
            <a:off x="7848600" y="2390775"/>
            <a:ext cx="342900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类别怎么理解：Omitted 是暂未纳入预测的机会，Pipeline 是仍在推进的机会，Best Case 是较乐观的预期，Commit 是团队承诺的预期，Closed 是已经关闭的机会。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图上观察：Omitted 明显最高，Pipeline 居第二。图表可以回答各类别的金额分布，但不能直接说明出现差异的原因。</a:t>
            </a:r>
          </a:p>
          <a:p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下一步：让 Agent 列出筛选条件、明显异常和需要继续确认的问题，例如 Omitted 由哪些机会组成、停留了多久、不同区域是否有相同情况。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都沿用同一条路径：新建 Agent、选择构建方式、填写名称和工作规则、添加参考资料、设置常用快捷问题，最后试运行并调整。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noGrp="1"/>
          </p:cNvSpPr>
          <p:nvPr/>
        </p:nvSpPr>
        <p:spPr>
          <a:xfrm>
            <a:off x="5905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noGrp="1"/>
          </p:cNvSpPr>
          <p:nvPr/>
        </p:nvSpPr>
        <p:spPr>
          <a:xfrm>
            <a:off x="11620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noGrp="1"/>
          </p:cNvSpPr>
          <p:nvPr/>
        </p:nvSpPr>
        <p:spPr>
          <a:xfrm>
            <a:off x="11620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noGrp="1"/>
          </p:cNvSpPr>
          <p:nvPr/>
        </p:nvSpPr>
        <p:spPr>
          <a:xfrm>
            <a:off x="7620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noGrp="1"/>
          </p:cNvSpPr>
          <p:nvPr/>
        </p:nvSpPr>
        <p:spPr>
          <a:xfrm>
            <a:off x="22669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noGrp="1"/>
          </p:cNvSpPr>
          <p:nvPr/>
        </p:nvSpPr>
        <p:spPr>
          <a:xfrm>
            <a:off x="25146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noGrp="1"/>
          </p:cNvSpPr>
          <p:nvPr/>
        </p:nvSpPr>
        <p:spPr>
          <a:xfrm>
            <a:off x="30861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noGrp="1"/>
          </p:cNvSpPr>
          <p:nvPr/>
        </p:nvSpPr>
        <p:spPr>
          <a:xfrm>
            <a:off x="30861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noGrp="1"/>
          </p:cNvSpPr>
          <p:nvPr/>
        </p:nvSpPr>
        <p:spPr>
          <a:xfrm>
            <a:off x="26860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noGrp="1"/>
          </p:cNvSpPr>
          <p:nvPr/>
        </p:nvSpPr>
        <p:spPr>
          <a:xfrm>
            <a:off x="419100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noGrp="1"/>
          </p:cNvSpPr>
          <p:nvPr/>
        </p:nvSpPr>
        <p:spPr>
          <a:xfrm>
            <a:off x="44386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noGrp="1"/>
          </p:cNvSpPr>
          <p:nvPr/>
        </p:nvSpPr>
        <p:spPr>
          <a:xfrm>
            <a:off x="50101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noGrp="1"/>
          </p:cNvSpPr>
          <p:nvPr/>
        </p:nvSpPr>
        <p:spPr>
          <a:xfrm>
            <a:off x="46101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noGrp="1"/>
          </p:cNvSpPr>
          <p:nvPr/>
        </p:nvSpPr>
        <p:spPr>
          <a:xfrm>
            <a:off x="61150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noGrp="1"/>
          </p:cNvSpPr>
          <p:nvPr/>
        </p:nvSpPr>
        <p:spPr>
          <a:xfrm>
            <a:off x="63627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noGrp="1"/>
          </p:cNvSpPr>
          <p:nvPr/>
        </p:nvSpPr>
        <p:spPr>
          <a:xfrm>
            <a:off x="69342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noGrp="1"/>
          </p:cNvSpPr>
          <p:nvPr/>
        </p:nvSpPr>
        <p:spPr>
          <a:xfrm>
            <a:off x="69342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noGrp="1"/>
          </p:cNvSpPr>
          <p:nvPr/>
        </p:nvSpPr>
        <p:spPr>
          <a:xfrm>
            <a:off x="65341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noGrp="1"/>
          </p:cNvSpPr>
          <p:nvPr/>
        </p:nvSpPr>
        <p:spPr>
          <a:xfrm>
            <a:off x="803910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noGrp="1"/>
          </p:cNvSpPr>
          <p:nvPr/>
        </p:nvSpPr>
        <p:spPr>
          <a:xfrm>
            <a:off x="828675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noGrp="1"/>
          </p:cNvSpPr>
          <p:nvPr/>
        </p:nvSpPr>
        <p:spPr>
          <a:xfrm>
            <a:off x="885825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noGrp="1"/>
          </p:cNvSpPr>
          <p:nvPr/>
        </p:nvSpPr>
        <p:spPr>
          <a:xfrm>
            <a:off x="845820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noGrp="1"/>
          </p:cNvSpPr>
          <p:nvPr/>
        </p:nvSpPr>
        <p:spPr>
          <a:xfrm>
            <a:off x="9963150" y="2905125"/>
            <a:ext cx="228600" cy="361950"/>
          </a:xfrm>
          <a:prstGeom prst="chevron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noGrp="1"/>
          </p:cNvSpPr>
          <p:nvPr/>
        </p:nvSpPr>
        <p:spPr>
          <a:xfrm>
            <a:off x="10210800" y="2286000"/>
            <a:ext cx="1657350" cy="1676400"/>
          </a:xfrm>
          <a:prstGeom prst="roundRect">
            <a:avLst>
              <a:gd name="adj" fmla="val 6897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noGrp="1"/>
          </p:cNvSpPr>
          <p:nvPr/>
        </p:nvSpPr>
        <p:spPr>
          <a:xfrm>
            <a:off x="10782300" y="2476500"/>
            <a:ext cx="514350" cy="514350"/>
          </a:xfrm>
          <a:prstGeom prst="ellipse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noGrp="1"/>
          </p:cNvSpPr>
          <p:nvPr/>
        </p:nvSpPr>
        <p:spPr>
          <a:xfrm>
            <a:off x="10782300" y="2609850"/>
            <a:ext cx="514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noGrp="1"/>
          </p:cNvSpPr>
          <p:nvPr/>
        </p:nvSpPr>
        <p:spPr>
          <a:xfrm>
            <a:off x="10382250" y="3219450"/>
            <a:ext cx="1314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noGrp="1"/>
          </p:cNvSpPr>
          <p:nvPr/>
        </p:nvSpPr>
        <p:spPr>
          <a:xfrm>
            <a:off x="1238250" y="4619625"/>
            <a:ext cx="971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一个清楚的 Agent 会说明：为谁服务、处理什么任务、参考哪些资料、结果怎样呈现。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31138"/>
            <a:ext cx="6991350" cy="3671974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页面位置：左侧导航进入 Agents；Search for an agent 用来查找已有 Agent；Your agents 显示当前可用项；右侧 Create agent 开始新建。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本次操作从 Create agent 进入。Researcher、Analyst 等是已经可以使用的 Agent。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984985"/>
            <a:ext cx="6991350" cy="3364280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在输入框描述需求，Builder 会先生成草稿；点击 Skip 可以直接进入各项设置；Templates 则提供可以修改的现成模板。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本次演示选择手动填写，逐项查看名称、用途、工作规则和参考资料。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3｜填写名称、用途与工作规则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122448"/>
            <a:ext cx="6991350" cy="3089354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图标和名称帮助用户识别 Agent；用途说明用一句话告诉大家它能做什么；工作规则写清它怎样完成任务。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工作规则可以包括输入内容、处理步骤、输出栏目、参考资料范围，以及信息不足时怎样回应。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4｜添加参考资料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截图中的资料入口覆盖文件、网站、聊天、会议和邮件，并可按 Files、Sites、Chats、Meetings 分类筛选。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07321"/>
            <a:ext cx="6991350" cy="3719608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上方可以输入网址、搜索名称或拖入文件；可选来源包括 SharePoint、Teams、Outlook 和网站，也可以从个人文件、聊天、会议与邮件中选择。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会议跟进助手只加入邮件模板和会议内容，其他无关资料暂时不选。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搜索结果同时显示文件名、修改时间、修改人和保存位置，帮助我们区分名称相似的模板。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45394" y="1714500"/>
            <a:ext cx="5872163" cy="3905250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先搜索 Mail Template，再核对修改时间、修改人和保存位置，确认模板来自哪个团队、是否为当前版本。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中文管理层邮件选择 Mail Template CN，英文沟通选择 EN；出现多个同名文件时，打开查看栏目和适用范围。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5｜设置常用快捷问题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每条快捷问题包括一个简短标题（Title）和一段完整任务（Message）。用户点击标题后，系统会发送对应的任务。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478213"/>
            <a:ext cx="6991350" cy="2377824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Title：用短语说明任务，例如“行动项”。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Message：写清输入、结果和必要限制，也可以注明负责人、截止日期与状态。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保留 2–3 个常用入口。新增时点击 Add a suggested prompt。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6｜试运行、调整并创建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右侧 Preview 用于试运行 Agent，左侧 Configure 用于返回修改设置，顶部 Create 用于完成创建。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817819"/>
            <a:ext cx="6991350" cy="3698613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1742381"/>
            <a:ext cx="6991350" cy="3849488"/>
          </a:xfrm>
          <a:prstGeom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7029450" cy="3943350"/>
          </a:xfrm>
          <a:prstGeom prst="roundRect">
            <a:avLst>
              <a:gd name="adj" fmla="val 2899"/>
            </a:avLst>
          </a:prstGeom>
          <a:noFill/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noGrp="1"/>
          </p:cNvSpPr>
          <p:nvPr/>
        </p:nvSpPr>
        <p:spPr>
          <a:xfrm>
            <a:off x="7905750" y="1809750"/>
            <a:ext cx="3600450" cy="3238500"/>
          </a:xfrm>
          <a:prstGeom prst="roundRect">
            <a:avLst>
              <a:gd name="adj" fmla="val 3529"/>
            </a:avLst>
          </a:prstGeom>
          <a:solidFill>
            <a:srgbClr val="F6FAFE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noGrp="1"/>
          </p:cNvSpPr>
          <p:nvPr/>
        </p:nvSpPr>
        <p:spPr>
          <a:xfrm>
            <a:off x="8172450" y="2133600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noGrp="1"/>
          </p:cNvSpPr>
          <p:nvPr/>
        </p:nvSpPr>
        <p:spPr>
          <a:xfrm>
            <a:off x="8172450" y="2590800"/>
            <a:ext cx="3067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noGrp="1"/>
          </p:cNvSpPr>
          <p:nvPr/>
        </p:nvSpPr>
        <p:spPr>
          <a:xfrm>
            <a:off x="7905750" y="5257800"/>
            <a:ext cx="36004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66CC"/>
          </a:solidFill>
          <a:ln w="95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504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noGrp="1"/>
          </p:cNvSpPr>
          <p:nvPr/>
        </p:nvSpPr>
        <p:spPr>
          <a:xfrm>
            <a:off x="685800" y="638175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Microsoft 365 Copilot 中完成构建。先做出可以运行的版本，再分别用完整资料和信息不完整的资料试一次。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457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10820400" cy="9525"/>
          </a:xfrm>
          <a:prstGeom prst="rect">
            <a:avLst/>
          </a:prstGeom>
          <a:solidFill>
            <a:srgbClr val="C9DDF2"/>
          </a:solidFill>
          <a:ln w="9525">
            <a:solidFill>
              <a:srgbClr val="C9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noGrp="1"/>
          </p:cNvSpPr>
          <p:nvPr/>
        </p:nvSpPr>
        <p:spPr>
          <a:xfrm>
            <a:off x="952500" y="1762125"/>
            <a:ext cx="10287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完成时应该有： 清楚的名称和用途；写明任务、步骤、输出和限制的工作规则；需要时添加参考资料；设置 2–3 个常用快捷问题。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试运行时检查： 先用信息完整的材料运行一次，再删除一个重要信息。看看 Agent 是否依据资料回答、是否明确指出缺少什么、是否避免自行补充。</a:t>
            </a:r>
          </a:p>
          <a:p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可以选择： Lab 01 事务协调、Lab 02 产品资料问答、Lab 03 会议跟进、Lab 04 销售漏斗数据分析。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noGrp="1"/>
          </p:cNvSpPr>
          <p:nvPr/>
        </p:nvSpPr>
        <p:spPr>
          <a:xfrm>
            <a:off x="1238250" y="4514850"/>
            <a:ext cx="971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完成后试一遍正常任务，再试一次信息不足的情况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3"/>
              </a:rPr>
              <a:t>Lab 01  ↗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noGrp="1"/>
          </p:cNvSpPr>
          <p:nvPr/>
        </p:nvSpPr>
        <p:spPr>
          <a:xfrm>
            <a:off x="203835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4"/>
              </a:rPr>
              <a:t>Lab 02  ↗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noGrp="1"/>
          </p:cNvSpPr>
          <p:nvPr/>
        </p:nvSpPr>
        <p:spPr>
          <a:xfrm>
            <a:off x="339090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5"/>
              </a:rPr>
              <a:t>Lab 03  ↗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noGrp="1"/>
          </p:cNvSpPr>
          <p:nvPr/>
        </p:nvSpPr>
        <p:spPr>
          <a:xfrm>
            <a:off x="4743450" y="5867400"/>
            <a:ext cx="123825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6"/>
              </a:rPr>
              <a:t>Lab 04  ↗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noGrp="1"/>
          </p:cNvSpPr>
          <p:nvPr/>
        </p:nvSpPr>
        <p:spPr>
          <a:xfrm>
            <a:off x="6096000" y="5867400"/>
            <a:ext cx="1714500" cy="342900"/>
          </a:xfrm>
          <a:prstGeom prst="roundRect">
            <a:avLst>
              <a:gd name="adj" fmla="val 33333"/>
            </a:avLst>
          </a:prstGeom>
          <a:solidFill>
            <a:srgbClr val="EAF4FF"/>
          </a:solidFill>
          <a:ln w="9525">
            <a:solidFill>
              <a:srgbClr val="0066CC"/>
            </a:solidFill>
            <a:prstDash val="solid"/>
          </a:ln>
        </p:spPr>
        <p:txBody>
          <a:bodyPr wrap="none" lIns="76200" tIns="0" rIns="76200" bIns="0" anchor="ctr">
            <a:normAutofit/>
          </a:bodyPr>
          <a:lstStyle/>
          <a:p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r:id="rId7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4543</Words>
  <Application>Microsoft Office PowerPoint</Application>
  <DocSecurity>0</DocSecurity>
  <PresentationFormat>Widescreen</PresentationFormat>
  <Paragraphs>782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Microsoft YaHei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CHEN, Wang Ting</cp:lastModifiedBy>
  <cp:revision>1</cp:revision>
  <dcterms:created xsi:type="dcterms:W3CDTF">2026-09-01T06:40:03Z</dcterms:created>
  <dcterms:modified xsi:type="dcterms:W3CDTF">2026-09-01T07:05:02Z</dcterms:modified>
</cp:coreProperties>
</file>