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开场先说明：课程不是产品清单，而是一条从入口认知、日常应用到构建 Agent 的完整体验路径。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邀请学员带着一个真实工作任务来听课，后续每一部分都用这个任务检查：AI 能否真正减少重复工作。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快速说明节奏。第 3、4 部分时间最长，前两部分只建立共同语言和入口认知。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不要逐字讲解一页纸。抓住三个层次：业务目标、使能能力、治理保障，然后过渡到企业入口。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明确纠正认知：AI Gateway 与 AI Skills Navigator 分工不同。前者解决 Philips 企业访问和治理，后者提供微软官方学习内容。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请学员在页面上定位三件事：访问状态、申请按钮、Ask AI Gateway 支持入口。不要展示个人用量或成本页面。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AI Gateway screenshot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用“能做什么”和“使用时要注意什么”两条线讲解。提醒学员不要把未经批准的敏感数据放入不合适的环境。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AI Gateway screenshot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页面自动截图连接不稳定，因此这一页用站点结构示意代替截图，但保留官方可点击链接。现场可直接打开网站演示。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鼓励学员把它作为课后持续学习入口。现场可用角色或产品关键词搜索。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说明它是官方课程，不是今天完整课程本身。今天只选择其中最具普适性的工作模式进行练习。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十类岗位名称来自 MS-4004 课程结构。用最后一句过渡到通用案例。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强调四步并非固定模板，可以根据工作任务重新排序，但“核对来源与冲突”必须保留。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提醒学员：虚构数据用于练习方法。真正工作中，应使用获批环境并遵循数据处理要求。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让学员先独立浏览 20 秒，再提问：如果只能记住三件事，你会记录什么？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Project Brief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强调事实层级：Confirmed decision 与 Open question 不能混在一起。输出中应保留不确定性。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Meeting Notes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这是案例的关键检验点。评价输出时，先看是否保留冲突，再看语言是否清楚。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Timeline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现场演示时先输入一个模糊问题，再用四段结构改写，让学员观察结果差异。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现场展示页面时，指出输入框、添加文件入口，以及 Work IQ / 工作环境标识。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M365 Copilot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这页作为演示清单，不需要全部讲完再操作。每完成一步，回到页面指出为什么这样做。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本页保持在屏幕上 4 分钟。讲师巡场，只回答阻塞问题，暂不做长复盘。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先展示网站结构，再明确课堂规则：PPT 用于引导，真正操作在 AI Tool Lab 与 M365 Copilot 页面完成。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不要说“本次实践就是 Lab 3”。准确表述：讲师示范 Lab 3，学员实践范围是前四个 Lab。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简要说明这个 Lab 适合练习 Instructions：角色、工作目标、判断原则、输出格式。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提醒学员：知识来源不是自动保证正确。Instructions 仍要规定引用范围、缺失信息处理和人工升级方式。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明确标注“讲师示范案例”。后续步骤页均以这一 Agent 为例，但学员可以把方法迁移到前四个 Lab。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说明它不是只会画图，真正需要设计的是分析任务、口径、业务解释和输出格式。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六步是普适方法，不是某一个 Agent 的专属流程。后面每页只讲一个关键步骤。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meeting follow-up output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本页保持在屏幕上 18 分钟。讲师巡场时用“任务是否清楚、边界是否清楚、输出是否稳定”三个问题提供反馈。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以用户提供的 GCR AI Ambassador 图片为准。结束时只说明如何获得支持和继续学习，不增加版本说明或额外行动要求。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GCR AI Ambassador image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playlists/291ff1ba-c754-44f1-9814-ef8917f8c989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zh-cn/training/courses/ms-4004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playlists/291ff1ba-c754-44f1-9814-ef8917f8c98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-ai-tool-lab.github.io/ai-tool-lab-preview/#agent-builder-path" TargetMode="External"/><Relationship Id="rId4" Type="http://schemas.openxmlformats.org/officeDocument/2006/relationships/hyperlink" Target="https://philips-ai-tool-lab.github.io/ai-tool-lab-preview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chief-of-staff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funnel-data-analyst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#agent-builder-path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7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-ai-tool-lab.github.io/ai-tool-lab-preview/" TargetMode="External"/><Relationship Id="rId4" Type="http://schemas.openxmlformats.org/officeDocument/2006/relationships/hyperlink" Target="https://www.aigateway.ai.inside.phili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E4DBC4-8AAF-4AB1-B463-8B0DA6A0B0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96CEF-B334-4951-A71D-B9805F867668}"/>
              </a:ext>
            </a:extLst>
          </p:cNvPr>
          <p:cNvSpPr>
            <a:spLocks noGrp="1"/>
          </p:cNvSpPr>
          <p:nvPr/>
        </p:nvSpPr>
        <p:spPr>
          <a:xfrm>
            <a:off x="800100" y="781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D582E2-4BC4-43A0-B4E4-05EECAB4E22E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24EAAF-3105-4377-9FFD-503F943D7DBE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914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Microsoft 365 Copilot 实操 · Copilot Builder 动手实验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0A2A3-1F30-4228-96C4-A759D655EA22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60–90 分钟讲解版｜建议授课时长 80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B2ABB6-C12B-4169-B17A-FEFCAFE0B994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2115831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CCA60B-02DF-47DE-B32C-BBE87B139F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957F9F-2283-49BF-BAC1-A1C443054838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255783-83C0-40E6-819E-481B7B3D4D9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为什么今天要学习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F9C2F0-2EF6-40B9-A867-3D6A3B8D29A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目标不是记住所有功能，而是建立一套可迁移的工作方法。我们要学会把背景、任务、输出和限制条件说清楚，同时保留对事实、来源和业务判断的责任。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4CF199-13F6-426C-8E0C-F8FD2351B68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73DD6F-E7F6-4764-B8B7-919C925E99D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CD7A34-5880-44FB-94A2-AAF65DB5530A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10096500" cy="3524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从“会问”开始</a:t>
            </a:r>
            <a:r>
              <a:rPr sz="1500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。 AI 可以帮助我们整理信息、加速初稿并形成结构，但前提是把背景、任务、输出格式和限制条件说清楚。一个清楚的问题，往往比反复修改模糊答案更节省时间。</a:t>
            </a:r>
          </a:p>
          <a:p>
            <a:endParaRPr sz="1500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从“能用”进阶</a:t>
            </a:r>
            <a:r>
              <a:rPr sz="1500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。 </a:t>
            </a:r>
            <a:r>
              <a:rPr sz="1500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当同类任务反复出现时，可以把资料、规则和常用提示固化为</a:t>
            </a:r>
            <a:r>
              <a:rPr sz="1500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Agent，让一次性对话变成可复用的工作方式。这样做的重点不是追求复杂功能，而是让团队获得更稳定的处理步骤</a:t>
            </a:r>
            <a:r>
              <a:rPr sz="1500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endParaRPr sz="1500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始终保持判断</a:t>
            </a:r>
            <a:r>
              <a:rPr sz="1500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。 </a:t>
            </a:r>
            <a:r>
              <a:rPr sz="1500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生成结果需要核对来源、事实、敏感信息和业务语境，人仍然对最终决定与交付负责。AI</a:t>
            </a:r>
            <a:r>
              <a:rPr sz="1500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可以帮助我们更快形成选项，但不能替代责任主体作出最终判断</a:t>
            </a:r>
            <a:r>
              <a:rPr sz="1500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2A11D4-D2FA-4FB4-80A6-E1022086A81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课程学习入口  ↗</a:t>
            </a:r>
          </a:p>
        </p:txBody>
      </p:sp>
    </p:spTree>
    <p:extLst>
      <p:ext uri="{BB962C8B-B14F-4D97-AF65-F5344CB8AC3E}">
        <p14:creationId xmlns:p14="http://schemas.microsoft.com/office/powerpoint/2010/main" val="278798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4A53199-C29E-4A65-B93C-44FA6CEFFE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AF768-C5DE-4DC3-BC75-AD631C5225B8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69B124-90D9-4F87-A1EC-B6522D1B3FC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34E733-5619-41C9-A0CA-C57509C2496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0AA91C-76D0-4C0E-A0F0-C022D65393D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7F7BC5-49D1-4817-A7E9-D639B83F8E5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465DAE-8B00-43DF-B364-91AF88CD31BE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85D8CC-CC0A-46A2-9D47-B0F7E6E7ACAA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022843-787C-4E82-96AD-2DADE4E5C04B}"/>
              </a:ext>
            </a:extLst>
          </p:cNvPr>
          <p:cNvSpPr>
            <a:spLocks noGrp="1"/>
          </p:cNvSpPr>
          <p:nvPr/>
        </p:nvSpPr>
        <p:spPr>
          <a:xfrm>
            <a:off x="8763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  <a:endParaRPr sz="1425" b="1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01CFB0E0-C267-46AC-A253-B639A478B750}"/>
              </a:ext>
            </a:extLst>
          </p:cNvPr>
          <p:cNvSpPr>
            <a:spLocks noGrp="1"/>
          </p:cNvSpPr>
          <p:nvPr/>
        </p:nvSpPr>
        <p:spPr>
          <a:xfrm>
            <a:off x="25812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CF7E8A-1833-448A-9847-E76D7BF3C1F7}"/>
              </a:ext>
            </a:extLst>
          </p:cNvPr>
          <p:cNvSpPr>
            <a:spLocks noGrp="1"/>
          </p:cNvSpPr>
          <p:nvPr/>
        </p:nvSpPr>
        <p:spPr>
          <a:xfrm>
            <a:off x="28384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6E8860-CD4E-473C-B7BE-92C50782371E}"/>
              </a:ext>
            </a:extLst>
          </p:cNvPr>
          <p:cNvSpPr>
            <a:spLocks noGrp="1"/>
          </p:cNvSpPr>
          <p:nvPr/>
        </p:nvSpPr>
        <p:spPr>
          <a:xfrm>
            <a:off x="30289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9D4309-E2EB-4608-8AEE-8E83E71F6FE8}"/>
              </a:ext>
            </a:extLst>
          </p:cNvPr>
          <p:cNvSpPr>
            <a:spLocks noGrp="1"/>
          </p:cNvSpPr>
          <p:nvPr/>
        </p:nvSpPr>
        <p:spPr>
          <a:xfrm>
            <a:off x="30289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</a:t>
            </a:r>
            <a:r>
              <a:rPr sz="1425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全景与入口</a:t>
            </a:r>
            <a:endParaRPr sz="1425" b="1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2D4CC0E8-5475-4DBC-AD8D-7F8BB664CA70}"/>
              </a:ext>
            </a:extLst>
          </p:cNvPr>
          <p:cNvSpPr>
            <a:spLocks noGrp="1"/>
          </p:cNvSpPr>
          <p:nvPr/>
        </p:nvSpPr>
        <p:spPr>
          <a:xfrm>
            <a:off x="47339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2CF583-6A06-4244-9F95-54EF69E3BDE2}"/>
              </a:ext>
            </a:extLst>
          </p:cNvPr>
          <p:cNvSpPr>
            <a:spLocks noGrp="1"/>
          </p:cNvSpPr>
          <p:nvPr/>
        </p:nvSpPr>
        <p:spPr>
          <a:xfrm>
            <a:off x="49911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6E2B1F-3ADF-46B1-95A8-66AD92CE7190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60C48B-ED06-49F4-972E-F3D9D3E4585D}"/>
              </a:ext>
            </a:extLst>
          </p:cNvPr>
          <p:cNvSpPr>
            <a:spLocks noGrp="1"/>
          </p:cNvSpPr>
          <p:nvPr/>
        </p:nvSpPr>
        <p:spPr>
          <a:xfrm>
            <a:off x="51816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</a:t>
            </a:r>
            <a:r>
              <a:rPr sz="1425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实操</a:t>
            </a:r>
            <a:endParaRPr sz="1425" b="1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25E894CE-DD31-4974-9FC4-C39A8F496385}"/>
              </a:ext>
            </a:extLst>
          </p:cNvPr>
          <p:cNvSpPr>
            <a:spLocks noGrp="1"/>
          </p:cNvSpPr>
          <p:nvPr/>
        </p:nvSpPr>
        <p:spPr>
          <a:xfrm>
            <a:off x="68865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D52387F-3FE5-4D25-BAA7-BBB37E03A3EF}"/>
              </a:ext>
            </a:extLst>
          </p:cNvPr>
          <p:cNvSpPr>
            <a:spLocks noGrp="1"/>
          </p:cNvSpPr>
          <p:nvPr/>
        </p:nvSpPr>
        <p:spPr>
          <a:xfrm>
            <a:off x="71437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457D74-1A1B-458D-B9C4-2DD6769AA644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A5FC18-2191-4720-8E27-31CAC25876D8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AAF253-3A2D-43CF-9A9C-87E72D4B271E}"/>
              </a:ext>
            </a:extLst>
          </p:cNvPr>
          <p:cNvSpPr>
            <a:spLocks noGrp="1"/>
          </p:cNvSpPr>
          <p:nvPr/>
        </p:nvSpPr>
        <p:spPr>
          <a:xfrm>
            <a:off x="73342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sz="1425" b="1" dirty="0" err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</a:t>
            </a:r>
            <a:r>
              <a:rPr sz="1425" b="1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 Lab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endParaRPr sz="1425" b="1" dirty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D3995688-A2C3-4A2A-A351-195508554711}"/>
              </a:ext>
            </a:extLst>
          </p:cNvPr>
          <p:cNvSpPr>
            <a:spLocks noGrp="1"/>
          </p:cNvSpPr>
          <p:nvPr/>
        </p:nvSpPr>
        <p:spPr>
          <a:xfrm>
            <a:off x="90392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1E659A-0D44-4996-A524-27380E86B84D}"/>
              </a:ext>
            </a:extLst>
          </p:cNvPr>
          <p:cNvSpPr>
            <a:spLocks noGrp="1"/>
          </p:cNvSpPr>
          <p:nvPr/>
        </p:nvSpPr>
        <p:spPr>
          <a:xfrm>
            <a:off x="92964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3E513A-A32A-4EE8-95B6-3F2A561DDB16}"/>
              </a:ext>
            </a:extLst>
          </p:cNvPr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B85369-CD6C-4F86-A94E-C71DB163ADD1}"/>
              </a:ext>
            </a:extLst>
          </p:cNvPr>
          <p:cNvSpPr>
            <a:spLocks noGrp="1"/>
          </p:cNvSpPr>
          <p:nvPr/>
        </p:nvSpPr>
        <p:spPr>
          <a:xfrm>
            <a:off x="94869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endParaRPr sz="1425" b="1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34A48D-B1BF-4ACB-81B3-90D2B6F0F2CA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</a:t>
            </a:r>
            <a:r>
              <a:rPr sz="1500" b="0" dirty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500" b="0" dirty="0" err="1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模仿</a:t>
            </a:r>
            <a:r>
              <a:rPr sz="1500" b="0" dirty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500" b="0" dirty="0" err="1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独立完成。课堂上会保留足够的实践时间，直接在自己的工作环境中操作</a:t>
            </a:r>
            <a:r>
              <a:rPr sz="1500" b="0" dirty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8A5BA64-BF7D-4199-909E-CB440649809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563400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EEBE92-CA88-4E7E-8461-AD37CB7EE2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A540AB-6256-4D03-8A21-8B50EF8D5CE7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AAAA3-1C3B-4E2D-A98A-A1332D11DA38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FF7031-4D9B-4F4F-9F8F-A529D5F4D167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EA194-A5E8-4728-8C4B-4067FA859F85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8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0F8D57-3FB0-45DB-969E-E59B4C908CD3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90808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83AF7E-BA13-40BB-9120-16D11C473A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B22E1C-75BB-4988-B18A-88FA7E29047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B5F931-8FD9-442C-B1A9-0E6E863D872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战略：从方向到落地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43B959-08EE-4E90-941D-DD2E9CAD01B7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这份一页纸用于建立业务背景：AI 价值不仅来自工具本身，也来自治理、技能、数据和业务场景的共同作用。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C38BF-887E-43F9-BE23-67748820E8F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10BFFB-6089-4BCE-8D4A-27F6C8F592A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24667" y="1714500"/>
            <a:ext cx="6942667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89A772-0E73-4799-A15A-D83DDF4F4F45}"/>
              </a:ext>
            </a:extLst>
          </p:cNvPr>
          <p:cNvSpPr>
            <a:spLocks noGrp="1"/>
          </p:cNvSpPr>
          <p:nvPr/>
        </p:nvSpPr>
        <p:spPr>
          <a:xfrm>
            <a:off x="1123950" y="1695450"/>
            <a:ext cx="9944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1BB89B-B03F-4F11-A26F-AD5EE6BD1D9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76014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0B4636-DEB7-42DA-A2DD-3FEA78FB4E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D2E1B2-614C-489E-A35C-7DB4E913DF6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3B741-A498-4A30-9404-67A0FCA9DDA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展示的是什么？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4B2CF0-8961-491E-B6B0-8792292DE8B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它更接近企业 ChatGPT 的统一访问、治理和支持入口，而不是一个“所有 AI 工具都能在这里找到”的应用商店。理解这一定位以后，我们就知道应该在页面上寻找访问状态、申请支持和使用规范。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03DE8-40A3-48F8-8074-FC90E946E90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2F6F08-E2B7-4863-A2C8-6D51DF7E9CF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6B4AA6-3B1D-4393-ACF3-B201BC9162CC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D749CD-637A-4AF9-B90A-51695D8817FF}"/>
              </a:ext>
            </a:extLst>
          </p:cNvPr>
          <p:cNvSpPr>
            <a:spLocks noGrp="1"/>
          </p:cNvSpPr>
          <p:nvPr/>
        </p:nvSpPr>
        <p:spPr>
          <a:xfrm>
            <a:off x="1047750" y="21621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61A8C-39B7-4BEC-95C8-4226DAF9BA3A}"/>
              </a:ext>
            </a:extLst>
          </p:cNvPr>
          <p:cNvSpPr>
            <a:spLocks noGrp="1"/>
          </p:cNvSpPr>
          <p:nvPr/>
        </p:nvSpPr>
        <p:spPr>
          <a:xfrm>
            <a:off x="10477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9EDB84-C7D4-4441-86D4-694ED0E0DA6C}"/>
              </a:ext>
            </a:extLst>
          </p:cNvPr>
          <p:cNvSpPr>
            <a:spLocks noGrp="1"/>
          </p:cNvSpPr>
          <p:nvPr/>
        </p:nvSpPr>
        <p:spPr>
          <a:xfrm>
            <a:off x="16002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5F7A5-6C71-4037-9E23-5471130566CA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84604F-F86D-40B7-B197-7DB0407B64D6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1A3015-DE12-4C2A-8327-AE9B4B3D0B09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400050" cy="4000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5F2AC3-08FE-42B4-A07B-9A83F0307DA3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177F50-BF49-4572-B96F-BE45BEB65DA2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8C24BD-6F30-4582-8B6D-7F105E177760}"/>
              </a:ext>
            </a:extLst>
          </p:cNvPr>
          <p:cNvSpPr>
            <a:spLocks noGrp="1"/>
          </p:cNvSpPr>
          <p:nvPr/>
        </p:nvSpPr>
        <p:spPr>
          <a:xfrm>
            <a:off x="47053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BA970B-F060-4315-8B11-93E489BDEF00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1ACC02-8433-4BC7-BEE6-6608798C63D9}"/>
              </a:ext>
            </a:extLst>
          </p:cNvPr>
          <p:cNvSpPr>
            <a:spLocks noGrp="1"/>
          </p:cNvSpPr>
          <p:nvPr/>
        </p:nvSpPr>
        <p:spPr>
          <a:xfrm>
            <a:off x="8362950" y="21621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500FE7-9D41-4EC8-B8F4-2822B0C0110A}"/>
              </a:ext>
            </a:extLst>
          </p:cNvPr>
          <p:cNvSpPr>
            <a:spLocks noGrp="1"/>
          </p:cNvSpPr>
          <p:nvPr/>
        </p:nvSpPr>
        <p:spPr>
          <a:xfrm>
            <a:off x="83629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C99AF-E2C7-498A-A98B-EDDCEB25F9D1}"/>
              </a:ext>
            </a:extLst>
          </p:cNvPr>
          <p:cNvSpPr>
            <a:spLocks noGrp="1"/>
          </p:cNvSpPr>
          <p:nvPr/>
        </p:nvSpPr>
        <p:spPr>
          <a:xfrm>
            <a:off x="89154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DD9D4F-3C4A-4E2A-9404-4E6901AD8F48}"/>
              </a:ext>
            </a:extLst>
          </p:cNvPr>
          <p:cNvSpPr>
            <a:spLocks noGrp="1"/>
          </p:cNvSpPr>
          <p:nvPr/>
        </p:nvSpPr>
        <p:spPr>
          <a:xfrm>
            <a:off x="83629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44543E-ABAA-4707-8F05-5A5BFCBD1B9E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因此，课堂上的探索任务应聚焦：入口在哪里、如何获得支持、有哪些使用规范，而不是要求学员在页面中寻找完整的学习课程或所有 Copilot 工具。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56FE81-0D82-410E-A13F-870B8B9C878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450494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996B3C-CC1F-4653-AE11-DACAA2B193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A12989-324D-4C7D-B0B6-401919F173F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8161A-71DF-4D7F-A4D5-58E373C6772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入口与访问：从 AI Gateway 开始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CCF018-A03F-4E09-A0FF-F9E99B8C84F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页面说明 Enterprise ChatGPT for Philips 的访问方式，并通过 assistant 提供 onboarding、企业使用预期和访问申请支持。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A8D39E-E5B1-4853-A653-11E411FC7CD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B7DA23-C802-451A-B91D-98B5FC0B6FD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2071" y="1695450"/>
            <a:ext cx="7347857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DFAF94-8B9E-4D96-A2A4-12DF3342EBA6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10134600" cy="3895725"/>
          </a:xfrm>
          <a:prstGeom prst="roundRect">
            <a:avLst>
              <a:gd name="adj" fmla="val 2934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58E5BC-EC78-4652-A3EE-94BB782E1C6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798055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3A962E-A99A-43A6-A49D-132976D4D4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A3706B-69EA-4073-BF1D-A1D3DD300F5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BB8D6A-7744-48F6-994A-31FF1D51AF5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常见用途与责任边界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C4807E-5E61-475A-AA11-91D93263BEC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给出的示例覆盖起草、总结、研究和流程自动化，同时强调企业使用规范、审批流程和人工判断。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FECCC6-0F20-48FD-8695-1AF5BACFEE2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64E95-D0FD-4899-A338-44EC8D7A50D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2071" y="1695450"/>
            <a:ext cx="7347857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865171-BEC7-40A9-843A-2D28AEF19477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10134600" cy="3895725"/>
          </a:xfrm>
          <a:prstGeom prst="roundRect">
            <a:avLst>
              <a:gd name="adj" fmla="val 2934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942C20-3B91-4A27-8384-26157889625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567467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D24BF1-EF5F-41C2-984F-89F87D2CDF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12AF08-44A4-4991-BAE9-BC098DDC1CBF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992449-2DEF-4C69-90B8-6A45AF3BB5A8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FFA706-9896-48BA-A229-B0280DA11ED8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7C2C2D-C5E6-4482-ABAB-C7F38F27B368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24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BF6992-2274-4753-A53C-667641D2369A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Skills Navigator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64C501-88BE-440E-B1AB-525C1EFCFDCC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MS-4004 学习路径  ↗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C8A0ED-3579-4276-9B03-2204C379B568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2558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0D0CBAB-7A0E-4BEA-ABCD-F2A2D5D9D2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1C0FE1-7677-493B-B7DA-BD0ABFD8DBB3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3C95E-C639-4DC1-AA57-0D35A16F7CF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Navigator：微软官方 AI 学习网站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F8B098-0ED7-435D-AD4E-86DE57B0753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它是微软提供的 AI 技能学习导航站，适合按角色、产品和学习目标寻找内容。这里不仅有 Copilot 用例，也有更广泛的 AI 基础、技术和业务学习资源，可以作为课程结束后的持续学习入口。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0FE071-9E81-4409-80EA-B2D717F8F01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F3F13A-D7B7-4763-B74D-874564A3EB8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176196-A4CC-4E68-BCF9-DF410195E791}"/>
              </a:ext>
            </a:extLst>
          </p:cNvPr>
          <p:cNvSpPr>
            <a:spLocks noGrp="1"/>
          </p:cNvSpPr>
          <p:nvPr/>
        </p:nvSpPr>
        <p:spPr>
          <a:xfrm>
            <a:off x="1181100" y="1952625"/>
            <a:ext cx="9829800" cy="2714625"/>
          </a:xfrm>
          <a:prstGeom prst="roundRect">
            <a:avLst>
              <a:gd name="adj" fmla="val 4211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8A39C6-BC70-45F7-8F2E-81061D196880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891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1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AI Skills Navigator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827D3-C7D9-402D-8D80-CB16C3735E09}"/>
              </a:ext>
            </a:extLst>
          </p:cNvPr>
          <p:cNvSpPr>
            <a:spLocks noGrp="1"/>
          </p:cNvSpPr>
          <p:nvPr/>
        </p:nvSpPr>
        <p:spPr>
          <a:xfrm>
            <a:off x="1809750" y="316230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Explore AI learning paths, role-based scenarios and Microsoft training resources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477361-3C5F-4551-9C1D-2A5E85126DF6}"/>
              </a:ext>
            </a:extLst>
          </p:cNvPr>
          <p:cNvSpPr>
            <a:spLocks noGrp="1"/>
          </p:cNvSpPr>
          <p:nvPr/>
        </p:nvSpPr>
        <p:spPr>
          <a:xfrm>
            <a:off x="2190750" y="39624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本页采用结构化示意，点击下方按钮可直接进入官方站点。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82A61F-3B67-4C74-AF82-EB61E41E84C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289031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DA9DCE7-62FD-4D83-B391-514C24DC83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14DF2C-D793-4844-8C2A-3DF1125E139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1BC68A-FB46-4DC4-953F-2FF043F48F9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除了 MS-4004，还能学什么？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581A0A-F376-4C57-928E-9EC3874B0BB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的价值在于持续探索：同一网站中可以按照角色和能力水平找到不同深度的学习内容，而不是只完成一门课程。大家可以先补充 AI 基础，再按岗位学习业务场景，最后根据需要进入产品或技术方向。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56F72A-20E4-4E83-904E-CA4FF354F1F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76D87-3136-4F2C-8CFA-C3BC51F4059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E89C0F-4CB3-49E0-9437-07DCB1AEF20B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35A1E3-E16E-477C-9558-E0556F67314C}"/>
              </a:ext>
            </a:extLst>
          </p:cNvPr>
          <p:cNvSpPr>
            <a:spLocks noGrp="1"/>
          </p:cNvSpPr>
          <p:nvPr/>
        </p:nvSpPr>
        <p:spPr>
          <a:xfrm>
            <a:off x="1047750" y="21621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CF73B6-EA4F-48FE-9831-D6653F037304}"/>
              </a:ext>
            </a:extLst>
          </p:cNvPr>
          <p:cNvSpPr>
            <a:spLocks noGrp="1"/>
          </p:cNvSpPr>
          <p:nvPr/>
        </p:nvSpPr>
        <p:spPr>
          <a:xfrm>
            <a:off x="10477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24570-20F9-46CC-9F98-83E34529BAE0}"/>
              </a:ext>
            </a:extLst>
          </p:cNvPr>
          <p:cNvSpPr>
            <a:spLocks noGrp="1"/>
          </p:cNvSpPr>
          <p:nvPr/>
        </p:nvSpPr>
        <p:spPr>
          <a:xfrm>
            <a:off x="16002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基础与负责任使用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E5C0A-4EB6-417C-9246-C4098D2EB781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理解生成式 AI 的基本能力、限制、风险与验证方法，建立安全和负责任的使用习惯。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BC13A3-DD2E-4CAE-AAC6-468E0040E3EC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40498B7-99E8-418C-A837-9487BC7274EB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400050" cy="4000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710A67-B14B-47E8-99E5-7BF79D57E0BE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FF34A4-8ECA-4039-B4A4-77EC161E00D9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按角色与业务场景学习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AF19BC-8C65-4EC2-9517-6C09EDFD3B9F}"/>
              </a:ext>
            </a:extLst>
          </p:cNvPr>
          <p:cNvSpPr>
            <a:spLocks noGrp="1"/>
          </p:cNvSpPr>
          <p:nvPr/>
        </p:nvSpPr>
        <p:spPr>
          <a:xfrm>
            <a:off x="47053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围绕管理、销售、营销、财务、HR、运营等岗位，理解 Copilot 如何嵌入常见工作流程。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63F76F4-31AD-44D6-B640-DDE687E15A20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6D7434-EDD9-451D-AF0D-9513B1139CA8}"/>
              </a:ext>
            </a:extLst>
          </p:cNvPr>
          <p:cNvSpPr>
            <a:spLocks noGrp="1"/>
          </p:cNvSpPr>
          <p:nvPr/>
        </p:nvSpPr>
        <p:spPr>
          <a:xfrm>
            <a:off x="8362950" y="21621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423A38-19F7-427A-A123-E4FE408BEE6C}"/>
              </a:ext>
            </a:extLst>
          </p:cNvPr>
          <p:cNvSpPr>
            <a:spLocks noGrp="1"/>
          </p:cNvSpPr>
          <p:nvPr/>
        </p:nvSpPr>
        <p:spPr>
          <a:xfrm>
            <a:off x="83629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43178E-1B8D-491D-A9C7-7A423AB6E82D}"/>
              </a:ext>
            </a:extLst>
          </p:cNvPr>
          <p:cNvSpPr>
            <a:spLocks noGrp="1"/>
          </p:cNvSpPr>
          <p:nvPr/>
        </p:nvSpPr>
        <p:spPr>
          <a:xfrm>
            <a:off x="89154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产品与技术能力进阶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5BB5BB-2344-4727-A0C1-BFCF82B6A328}"/>
              </a:ext>
            </a:extLst>
          </p:cNvPr>
          <p:cNvSpPr>
            <a:spLocks noGrp="1"/>
          </p:cNvSpPr>
          <p:nvPr/>
        </p:nvSpPr>
        <p:spPr>
          <a:xfrm>
            <a:off x="83629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继续学习 Microsoft 365 Copilot、Azure AI、Power Platform 等产品或技术方向。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DF945E4-7718-4BA7-B2BD-3BFAD576D95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探索更多学习内容  ↗</a:t>
            </a:r>
          </a:p>
        </p:txBody>
      </p:sp>
    </p:spTree>
    <p:extLst>
      <p:ext uri="{BB962C8B-B14F-4D97-AF65-F5344CB8AC3E}">
        <p14:creationId xmlns:p14="http://schemas.microsoft.com/office/powerpoint/2010/main" val="2078930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72ECE3A-5F8D-4ECA-A9D3-727497B497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235ADC-C2FD-4B87-9694-AFE520BB9FB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17629-0BB7-424A-8C67-8895982BAF6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MS-4004：Microsoft 365 Copilot Use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80071A-94CF-4748-A920-5CCB5B2A4F3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是 AI Skills Navigator 中的一条官方学习路径，按典型岗位介绍 Microsoft 365 Copilot 的使用场景。今天不逐模块复述，而是提炼一个所有岗位都能练习的通用案例，帮助大家理解课程方法如何迁移到自己的工作。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030E44-597D-424B-A983-FCD25BB7DDA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2AFE9-BBDE-4175-9AF5-5A8FAD1B8E9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96C588-0F1A-45C7-8B09-2DFD4223D9AD}"/>
              </a:ext>
            </a:extLst>
          </p:cNvPr>
          <p:cNvSpPr>
            <a:spLocks noGrp="1"/>
          </p:cNvSpPr>
          <p:nvPr/>
        </p:nvSpPr>
        <p:spPr>
          <a:xfrm>
            <a:off x="1219200" y="2000250"/>
            <a:ext cx="9753600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4AF703-28C1-4F19-81E4-E4366EDFE56C}"/>
              </a:ext>
            </a:extLst>
          </p:cNvPr>
          <p:cNvSpPr>
            <a:spLocks noGrp="1"/>
          </p:cNvSpPr>
          <p:nvPr/>
        </p:nvSpPr>
        <p:spPr>
          <a:xfrm>
            <a:off x="1695450" y="240030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MS-4004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B34F34-7479-4B59-9E81-FB68CA644CE6}"/>
              </a:ext>
            </a:extLst>
          </p:cNvPr>
          <p:cNvSpPr>
            <a:spLocks noGrp="1"/>
          </p:cNvSpPr>
          <p:nvPr/>
        </p:nvSpPr>
        <p:spPr>
          <a:xfrm>
            <a:off x="4171950" y="240030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Empower your workforce with Microsoft 365 Copilot Use Cases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76380D-889E-4A65-8D17-1863C7828349}"/>
              </a:ext>
            </a:extLst>
          </p:cNvPr>
          <p:cNvSpPr>
            <a:spLocks noGrp="1"/>
          </p:cNvSpPr>
          <p:nvPr/>
        </p:nvSpPr>
        <p:spPr>
          <a:xfrm>
            <a:off x="4171950" y="33337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角色化案例 · 任务导向 · 可直接迁移到日常工作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65BBA1-C0CD-457F-A87E-ABDCDA044B1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MS-4004 播放列表  ↗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DCE797-9876-40A9-AF06-AD5FD321D2F1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887836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B6F694C-11BA-4E16-8EDA-B1C3E112F2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6EE0E7-69CE-4A0A-9548-ADEC99A04E9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B6E5DC-5F98-49CC-8722-4AB916EF8AF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607510-8BCA-4654-86A5-11B7189FEEC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课程通过不同岗位说明 Copilot 如何处理信息、沟通、分析与决策支持。学员无需局限于岗位名称，而应识别其中可以迁移的任务模式，例如快速理解上下文、比较多份资料并形成下一步沟通。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B6F35-22F4-49D5-BD13-83AFB568941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5EC13-B77D-46D1-A1ED-8514D2332A6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DE5143-518D-4757-9931-7C7AC23EED50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760513-E8A7-427F-A241-894CDE64281C}"/>
              </a:ext>
            </a:extLst>
          </p:cNvPr>
          <p:cNvSpPr>
            <a:spLocks noGrp="1"/>
          </p:cNvSpPr>
          <p:nvPr/>
        </p:nvSpPr>
        <p:spPr>
          <a:xfrm>
            <a:off x="9715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85EF32-6EE8-4BE1-82AA-D1A4EAFE08BC}"/>
              </a:ext>
            </a:extLst>
          </p:cNvPr>
          <p:cNvSpPr>
            <a:spLocks noGrp="1"/>
          </p:cNvSpPr>
          <p:nvPr/>
        </p:nvSpPr>
        <p:spPr>
          <a:xfrm>
            <a:off x="13811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C10A15-1BF6-4A5A-8E58-F0C89FDEF8C3}"/>
              </a:ext>
            </a:extLst>
          </p:cNvPr>
          <p:cNvSpPr>
            <a:spLocks noGrp="1"/>
          </p:cNvSpPr>
          <p:nvPr/>
        </p:nvSpPr>
        <p:spPr>
          <a:xfrm>
            <a:off x="29908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053E22-3FF4-4589-9BFA-FFBBDD0581F1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93C6BF-DA0F-4BFF-BEF5-348057F43C09}"/>
              </a:ext>
            </a:extLst>
          </p:cNvPr>
          <p:cNvSpPr>
            <a:spLocks noGrp="1"/>
          </p:cNvSpPr>
          <p:nvPr/>
        </p:nvSpPr>
        <p:spPr>
          <a:xfrm>
            <a:off x="35909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D85A09-7631-43DE-B6EA-BA49A40F8ABF}"/>
              </a:ext>
            </a:extLst>
          </p:cNvPr>
          <p:cNvSpPr>
            <a:spLocks noGrp="1"/>
          </p:cNvSpPr>
          <p:nvPr/>
        </p:nvSpPr>
        <p:spPr>
          <a:xfrm>
            <a:off x="52006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929B99-6A43-4607-BF6C-524B42D7DC6B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BC0B4-4E22-4C7C-A474-682C04C81A29}"/>
              </a:ext>
            </a:extLst>
          </p:cNvPr>
          <p:cNvSpPr>
            <a:spLocks noGrp="1"/>
          </p:cNvSpPr>
          <p:nvPr/>
        </p:nvSpPr>
        <p:spPr>
          <a:xfrm>
            <a:off x="58007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5E27DD-A274-4293-A1AC-6DFB6C379D9F}"/>
              </a:ext>
            </a:extLst>
          </p:cNvPr>
          <p:cNvSpPr>
            <a:spLocks noGrp="1"/>
          </p:cNvSpPr>
          <p:nvPr/>
        </p:nvSpPr>
        <p:spPr>
          <a:xfrm>
            <a:off x="74104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1BECC3-5676-4153-9732-B9F878915662}"/>
              </a:ext>
            </a:extLst>
          </p:cNvPr>
          <p:cNvSpPr>
            <a:spLocks noGrp="1"/>
          </p:cNvSpPr>
          <p:nvPr/>
        </p:nvSpPr>
        <p:spPr>
          <a:xfrm>
            <a:off x="76009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3391BF-96BA-463E-836C-96276F040602}"/>
              </a:ext>
            </a:extLst>
          </p:cNvPr>
          <p:cNvSpPr>
            <a:spLocks noGrp="1"/>
          </p:cNvSpPr>
          <p:nvPr/>
        </p:nvSpPr>
        <p:spPr>
          <a:xfrm>
            <a:off x="80105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AB2AD7-15BC-4BC4-964F-B96FA80F4677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8CE31B-116F-4855-BACD-35327A9E84CC}"/>
              </a:ext>
            </a:extLst>
          </p:cNvPr>
          <p:cNvSpPr>
            <a:spLocks noGrp="1"/>
          </p:cNvSpPr>
          <p:nvPr/>
        </p:nvSpPr>
        <p:spPr>
          <a:xfrm>
            <a:off x="98107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828E5-102A-4A29-97ED-1F10C0D092AD}"/>
              </a:ext>
            </a:extLst>
          </p:cNvPr>
          <p:cNvSpPr>
            <a:spLocks noGrp="1"/>
          </p:cNvSpPr>
          <p:nvPr/>
        </p:nvSpPr>
        <p:spPr>
          <a:xfrm>
            <a:off x="102203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48396E-EEDD-49CA-931A-2FDEA1343D01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D44B6C-70CC-43BD-8DDC-D6B754B41A8F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379702-EBD6-41EA-99D0-40C603D58F2A}"/>
              </a:ext>
            </a:extLst>
          </p:cNvPr>
          <p:cNvSpPr>
            <a:spLocks noGrp="1"/>
          </p:cNvSpPr>
          <p:nvPr/>
        </p:nvSpPr>
        <p:spPr>
          <a:xfrm>
            <a:off x="13811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4E175E-6CD8-43DB-A994-97B93660F3DE}"/>
              </a:ext>
            </a:extLst>
          </p:cNvPr>
          <p:cNvSpPr>
            <a:spLocks noGrp="1"/>
          </p:cNvSpPr>
          <p:nvPr/>
        </p:nvSpPr>
        <p:spPr>
          <a:xfrm>
            <a:off x="29908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388532-0FBE-4CC3-99DD-3819BCF9C40C}"/>
              </a:ext>
            </a:extLst>
          </p:cNvPr>
          <p:cNvSpPr>
            <a:spLocks noGrp="1"/>
          </p:cNvSpPr>
          <p:nvPr/>
        </p:nvSpPr>
        <p:spPr>
          <a:xfrm>
            <a:off x="31813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4E653C-C07D-4F7E-B7B3-BE922A6DFEAD}"/>
              </a:ext>
            </a:extLst>
          </p:cNvPr>
          <p:cNvSpPr>
            <a:spLocks noGrp="1"/>
          </p:cNvSpPr>
          <p:nvPr/>
        </p:nvSpPr>
        <p:spPr>
          <a:xfrm>
            <a:off x="35909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CFA31C0-0D35-4698-8229-290AB57E2E15}"/>
              </a:ext>
            </a:extLst>
          </p:cNvPr>
          <p:cNvSpPr>
            <a:spLocks noGrp="1"/>
          </p:cNvSpPr>
          <p:nvPr/>
        </p:nvSpPr>
        <p:spPr>
          <a:xfrm>
            <a:off x="52006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F34D65-3FAD-4276-A074-098483561C0C}"/>
              </a:ext>
            </a:extLst>
          </p:cNvPr>
          <p:cNvSpPr>
            <a:spLocks noGrp="1"/>
          </p:cNvSpPr>
          <p:nvPr/>
        </p:nvSpPr>
        <p:spPr>
          <a:xfrm>
            <a:off x="53911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84D887-0E45-4528-95CD-DE58ED749671}"/>
              </a:ext>
            </a:extLst>
          </p:cNvPr>
          <p:cNvSpPr>
            <a:spLocks noGrp="1"/>
          </p:cNvSpPr>
          <p:nvPr/>
        </p:nvSpPr>
        <p:spPr>
          <a:xfrm>
            <a:off x="58007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BBD2FCE-7CDE-4CB2-8E1C-5E72CEF497EB}"/>
              </a:ext>
            </a:extLst>
          </p:cNvPr>
          <p:cNvSpPr>
            <a:spLocks noGrp="1"/>
          </p:cNvSpPr>
          <p:nvPr/>
        </p:nvSpPr>
        <p:spPr>
          <a:xfrm>
            <a:off x="74104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90E49C-6A79-423A-A82E-1C4C5AB66F16}"/>
              </a:ext>
            </a:extLst>
          </p:cNvPr>
          <p:cNvSpPr>
            <a:spLocks noGrp="1"/>
          </p:cNvSpPr>
          <p:nvPr/>
        </p:nvSpPr>
        <p:spPr>
          <a:xfrm>
            <a:off x="76009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B45C3E-4FB1-41B6-B121-E58EB2A18323}"/>
              </a:ext>
            </a:extLst>
          </p:cNvPr>
          <p:cNvSpPr>
            <a:spLocks noGrp="1"/>
          </p:cNvSpPr>
          <p:nvPr/>
        </p:nvSpPr>
        <p:spPr>
          <a:xfrm>
            <a:off x="80105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81D1148-132D-468F-9534-3ADE43A90B4C}"/>
              </a:ext>
            </a:extLst>
          </p:cNvPr>
          <p:cNvSpPr>
            <a:spLocks noGrp="1"/>
          </p:cNvSpPr>
          <p:nvPr/>
        </p:nvSpPr>
        <p:spPr>
          <a:xfrm>
            <a:off x="96202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D2293D-90D9-4E9D-89EE-057A657A8FA0}"/>
              </a:ext>
            </a:extLst>
          </p:cNvPr>
          <p:cNvSpPr>
            <a:spLocks noGrp="1"/>
          </p:cNvSpPr>
          <p:nvPr/>
        </p:nvSpPr>
        <p:spPr>
          <a:xfrm>
            <a:off x="98107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F548678-256C-454E-8528-E7475E056EC5}"/>
              </a:ext>
            </a:extLst>
          </p:cNvPr>
          <p:cNvSpPr>
            <a:spLocks noGrp="1"/>
          </p:cNvSpPr>
          <p:nvPr/>
        </p:nvSpPr>
        <p:spPr>
          <a:xfrm>
            <a:off x="102203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FC5034-06D5-41A5-84E2-8D0BDD0BE9BE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051BC1A-C60D-4541-B838-B7D083606C7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830151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1883AB7-E424-429A-9654-81CF47F304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F411C8-8ACF-43F2-A9FD-8D5C8FE1D428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F15308-0349-48E2-A273-0A94B2B0D57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0F1F62-6C36-4B72-A45E-772BCC6F26F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809EE-7603-4F35-AECA-6A6D92A3507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98783-1B5E-4DA1-BDD5-106B38DC134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BFDFF4-7BEE-435F-8DB3-8E58ED972072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204FA6C-1559-4222-B636-D8E77F65E95C}"/>
              </a:ext>
            </a:extLst>
          </p:cNvPr>
          <p:cNvSpPr>
            <a:spLocks noGrp="1"/>
          </p:cNvSpPr>
          <p:nvPr/>
        </p:nvSpPr>
        <p:spPr>
          <a:xfrm>
            <a:off x="108585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F57637-E2CA-4B37-8BF9-02825C6EB1E3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448A05-8E4E-4E6D-8EFB-74695DD17D58}"/>
              </a:ext>
            </a:extLst>
          </p:cNvPr>
          <p:cNvSpPr>
            <a:spLocks noGrp="1"/>
          </p:cNvSpPr>
          <p:nvPr/>
        </p:nvSpPr>
        <p:spPr>
          <a:xfrm>
            <a:off x="16383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B1804-04A8-46AC-AABF-7F72B5D9E658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FF763B-7E92-449A-A88D-B6239D11D06B}"/>
              </a:ext>
            </a:extLst>
          </p:cNvPr>
          <p:cNvSpPr>
            <a:spLocks noGrp="1"/>
          </p:cNvSpPr>
          <p:nvPr/>
        </p:nvSpPr>
        <p:spPr>
          <a:xfrm>
            <a:off x="36385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DE19B3-B9DC-439B-BE91-27C8FEE72BA0}"/>
              </a:ext>
            </a:extLst>
          </p:cNvPr>
          <p:cNvSpPr>
            <a:spLocks noGrp="1"/>
          </p:cNvSpPr>
          <p:nvPr/>
        </p:nvSpPr>
        <p:spPr>
          <a:xfrm>
            <a:off x="38481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99C560-2FBE-4BA9-BDBB-4FC6EB3FCE78}"/>
              </a:ext>
            </a:extLst>
          </p:cNvPr>
          <p:cNvSpPr>
            <a:spLocks noGrp="1"/>
          </p:cNvSpPr>
          <p:nvPr/>
        </p:nvSpPr>
        <p:spPr>
          <a:xfrm>
            <a:off x="38481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F178A-4FAA-428A-BE08-6A2D0AA9BC12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11BC4-C1C7-4778-AD71-93E1DF1ABACA}"/>
              </a:ext>
            </a:extLst>
          </p:cNvPr>
          <p:cNvSpPr>
            <a:spLocks noGrp="1"/>
          </p:cNvSpPr>
          <p:nvPr/>
        </p:nvSpPr>
        <p:spPr>
          <a:xfrm>
            <a:off x="38481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66CFCC2-1EFB-4A64-8090-14636486E646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B901A9B-308C-4109-8B06-FFBC5D05D05C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012E42-ACB5-40C6-9DAB-31A997D99FAD}"/>
              </a:ext>
            </a:extLst>
          </p:cNvPr>
          <p:cNvSpPr>
            <a:spLocks noGrp="1"/>
          </p:cNvSpPr>
          <p:nvPr/>
        </p:nvSpPr>
        <p:spPr>
          <a:xfrm>
            <a:off x="66103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A1FB66-4A76-4FCE-B587-581A40BB1C94}"/>
              </a:ext>
            </a:extLst>
          </p:cNvPr>
          <p:cNvSpPr>
            <a:spLocks noGrp="1"/>
          </p:cNvSpPr>
          <p:nvPr/>
        </p:nvSpPr>
        <p:spPr>
          <a:xfrm>
            <a:off x="71628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A154B0-C22A-49D0-9E8A-96CEFAA440D8}"/>
              </a:ext>
            </a:extLst>
          </p:cNvPr>
          <p:cNvSpPr>
            <a:spLocks noGrp="1"/>
          </p:cNvSpPr>
          <p:nvPr/>
        </p:nvSpPr>
        <p:spPr>
          <a:xfrm>
            <a:off x="66103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3B380F-E96F-42C9-9C08-EDF60C80D602}"/>
              </a:ext>
            </a:extLst>
          </p:cNvPr>
          <p:cNvSpPr>
            <a:spLocks noGrp="1"/>
          </p:cNvSpPr>
          <p:nvPr/>
        </p:nvSpPr>
        <p:spPr>
          <a:xfrm>
            <a:off x="91630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955416-2F71-47FF-9E63-F1E5AB38837D}"/>
              </a:ext>
            </a:extLst>
          </p:cNvPr>
          <p:cNvSpPr>
            <a:spLocks noGrp="1"/>
          </p:cNvSpPr>
          <p:nvPr/>
        </p:nvSpPr>
        <p:spPr>
          <a:xfrm>
            <a:off x="93726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F508C8-82DE-43B2-BF98-69FC2A613F77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4E4267-2D13-41E5-B6B1-EDB62FC75518}"/>
              </a:ext>
            </a:extLst>
          </p:cNvPr>
          <p:cNvSpPr>
            <a:spLocks noGrp="1"/>
          </p:cNvSpPr>
          <p:nvPr/>
        </p:nvSpPr>
        <p:spPr>
          <a:xfrm>
            <a:off x="99250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C44791-BF86-4918-8AF4-A0DFB004CC19}"/>
              </a:ext>
            </a:extLst>
          </p:cNvPr>
          <p:cNvSpPr>
            <a:spLocks noGrp="1"/>
          </p:cNvSpPr>
          <p:nvPr/>
        </p:nvSpPr>
        <p:spPr>
          <a:xfrm>
            <a:off x="93726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1A12F0E-7DCC-46C1-B517-45645498262A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79110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E55781-13AD-4F71-A8F5-3442E3C864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475324-40C0-435B-8385-E67C53BA17CF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355E09-04BE-4DAB-8646-463862569F5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A46B8-CA34-4A64-9D10-A4094CBF723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你刚加入“绿色办公周”项目，需要在短时间内读懂三份资料，并向负责人说明项目现状、风险和下一步。所有资料都是虚构培训数据，不包含真实业务信息，因此我们可以把注意力集中在方法和判断过程上。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3CFBD7-C97B-49B8-B23A-3702833F0B0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695DA4-737A-46EC-A5AB-2F735FEDE51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449409-0F1F-4D66-80BD-B9320A1D00EF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10096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输入： 项目简介、规划会议纪要和里程碑时间表共同构成项目背景。三份文件包含目标、预算、行动项和一个刻意设置的日期冲突，因此不能只阅读其中一份就下结论。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处理： 让 Copilot 提炼目标与成功指标，区分已确认决策、待办事项和开放问题，并比较不同来源之间是否存在冲突或缺失信息。遇到不一致时，应保留两个版本并请求人工确认。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输出： 最终生成一页项目接手简报，以及一封用于确认冲突和推动行动的后续邮件草稿。输出需要让接收者快速看懂当前状态、责任人、截止日期和仍需决定的问题。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E19B5D-0171-40F8-B3AE-697D337E764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356842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F0C258-7ECF-46A2-83B1-96DC0F7C57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50EF33-A935-4241-B300-49F591AE040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98BFCE-262F-45EA-BAA3-1C8C8305B67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03A3B7-9849-4580-90DA-2CC0BAE8E5C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第一份资料提供项目目的、衡量指标、预算、关键日期和范围，是建立项目全貌的主要来源。阅读时应区分已经批准的内容与仍在推进中的事项，并记下后续需要与其他资料交叉核对的日期。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ACD3F1-CD81-44DA-9435-2877ADD7479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9E1F9-A3AD-4F7F-94E1-C80A2AB7D72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941AEF-241D-463C-B06A-69B5D5B01477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EE7D-155D-4F42-B2DA-5F42EE18D2B8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9EB026-AD85-48BC-BC04-8B1B5A7B06FF}"/>
              </a:ext>
            </a:extLst>
          </p:cNvPr>
          <p:cNvSpPr>
            <a:spLocks noGrp="1"/>
          </p:cNvSpPr>
          <p:nvPr/>
        </p:nvSpPr>
        <p:spPr>
          <a:xfrm>
            <a:off x="1428750" y="2647950"/>
            <a:ext cx="9239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5C6DE7-E6B4-4FB4-B630-7324F31867D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476530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F48FC76-0401-4ABC-BDB9-E827B6DB8C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D5E7E-CB6D-4A3F-8602-7791E2D8566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1E2F5B-D18D-41DA-BC3F-A092DB7C406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00AA34-1E98-411B-91A5-4F6DBBD88E1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第二份资料区分了已确认决策、行动项和开放问题。它补充了负责人角色与截止日期，也显示哪些信息仍不能被当成事实。后续输出中必须保留这种信息层级，避免把讨论中的可能性写成已经确定的结论。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994D34-4ECA-47E6-A5C8-F06BA869AEF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6A7FF-AE09-43FA-828B-7A822E26BF4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67FDA0-7ABC-44C4-AB21-16A9A8FF99BC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A20A7C-003F-48AC-B966-954F2EF83DE9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0C6DCA-FF6B-4577-9912-53740B5262A5}"/>
              </a:ext>
            </a:extLst>
          </p:cNvPr>
          <p:cNvSpPr>
            <a:spLocks noGrp="1"/>
          </p:cNvSpPr>
          <p:nvPr/>
        </p:nvSpPr>
        <p:spPr>
          <a:xfrm>
            <a:off x="1428750" y="2724150"/>
            <a:ext cx="923925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8A5F8A-77D0-451F-A7A7-285B701A63B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64984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813EE86-3D16-4800-83CD-E4C29149DB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4F9CE0-5622-489B-86C4-31300CC56A0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4D0D2A-5D3A-4EFE-9946-8AE191DCFC3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3：时间表中的刻意冲突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F48D50-0199-4574-86F4-9F2E97AF159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里程碑时间表提供负责人、截止日期和状态，但其中“报名开放日期”与项目简介不一致。Copilot 应标记冲突，而不是自行选择一个日期。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A0F64A-058B-481E-80EA-ECB86C45E60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6E9F32-1069-4707-8C87-E7F97813809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FEAC84-9F78-40EA-A72E-C7EEBD0169CC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B60A6A-7E4B-470E-96BF-B58BCA6EE2A0}"/>
              </a:ext>
            </a:extLst>
          </p:cNvPr>
          <p:cNvSpPr>
            <a:spLocks noGrp="1"/>
          </p:cNvSpPr>
          <p:nvPr/>
        </p:nvSpPr>
        <p:spPr>
          <a:xfrm>
            <a:off x="1524000" y="21526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6135C1-40DB-4E20-92F7-1BD60A5169EA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D584CA-051B-4CE9-AAA0-80F2CE3297F4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9C25B-6B0B-4A03-8003-65E3015AF4A7}"/>
              </a:ext>
            </a:extLst>
          </p:cNvPr>
          <p:cNvSpPr>
            <a:spLocks noGrp="1"/>
          </p:cNvSpPr>
          <p:nvPr/>
        </p:nvSpPr>
        <p:spPr>
          <a:xfrm>
            <a:off x="1409700" y="25146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78B767-7D03-4EAA-B8ED-1A78B75FA417}"/>
              </a:ext>
            </a:extLst>
          </p:cNvPr>
          <p:cNvSpPr>
            <a:spLocks noGrp="1"/>
          </p:cNvSpPr>
          <p:nvPr/>
        </p:nvSpPr>
        <p:spPr>
          <a:xfrm>
            <a:off x="1524000" y="25717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FA1058-D546-4AB1-BEB2-44EE7D1B2B23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76F48-4AB8-43A9-8438-421C60942ADB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A9CC9D-9CF7-4240-90B1-A8A6D5BA4CB0}"/>
              </a:ext>
            </a:extLst>
          </p:cNvPr>
          <p:cNvSpPr>
            <a:spLocks noGrp="1"/>
          </p:cNvSpPr>
          <p:nvPr/>
        </p:nvSpPr>
        <p:spPr>
          <a:xfrm>
            <a:off x="1409700" y="29718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2DC4F5-236F-4DB1-A0BF-C020BB0205DD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60E2E1-2C2B-4B19-AF65-D528062F11E0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EBC8CA-6661-4046-9C1C-F0EE999F7BB0}"/>
              </a:ext>
            </a:extLst>
          </p:cNvPr>
          <p:cNvSpPr>
            <a:spLocks noGrp="1"/>
          </p:cNvSpPr>
          <p:nvPr/>
        </p:nvSpPr>
        <p:spPr>
          <a:xfrm>
            <a:off x="9239250" y="30289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FE5C82-7AD6-46B5-BE89-FCBDFBE515B0}"/>
              </a:ext>
            </a:extLst>
          </p:cNvPr>
          <p:cNvSpPr>
            <a:spLocks noGrp="1"/>
          </p:cNvSpPr>
          <p:nvPr/>
        </p:nvSpPr>
        <p:spPr>
          <a:xfrm>
            <a:off x="1409700" y="34290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F5ADE5-2511-4679-9CB9-F8AF1354EC64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56C09C-D44D-4B2D-9A40-F64D6C55D1B8}"/>
              </a:ext>
            </a:extLst>
          </p:cNvPr>
          <p:cNvSpPr>
            <a:spLocks noGrp="1"/>
          </p:cNvSpPr>
          <p:nvPr/>
        </p:nvSpPr>
        <p:spPr>
          <a:xfrm>
            <a:off x="7239000" y="34861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36FEC-3ED7-4390-A126-E1DA60139B15}"/>
              </a:ext>
            </a:extLst>
          </p:cNvPr>
          <p:cNvSpPr>
            <a:spLocks noGrp="1"/>
          </p:cNvSpPr>
          <p:nvPr/>
        </p:nvSpPr>
        <p:spPr>
          <a:xfrm>
            <a:off x="9239250" y="34861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697B6A-8BE8-4225-B348-4EF4DEE4FC46}"/>
              </a:ext>
            </a:extLst>
          </p:cNvPr>
          <p:cNvSpPr>
            <a:spLocks noGrp="1"/>
          </p:cNvSpPr>
          <p:nvPr/>
        </p:nvSpPr>
        <p:spPr>
          <a:xfrm>
            <a:off x="1409700" y="3886200"/>
            <a:ext cx="9182100" cy="381000"/>
          </a:xfrm>
          <a:prstGeom prst="rect">
            <a:avLst/>
          </a:prstGeom>
          <a:solidFill>
            <a:srgbClr val="FFF2E9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00EFB2-C4B9-4CA0-B54A-DA69EF879438}"/>
              </a:ext>
            </a:extLst>
          </p:cNvPr>
          <p:cNvSpPr>
            <a:spLocks noGrp="1"/>
          </p:cNvSpPr>
          <p:nvPr/>
        </p:nvSpPr>
        <p:spPr>
          <a:xfrm>
            <a:off x="1524000" y="39433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978ACD-530E-4F3D-8E26-86C02E726142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5F8ED5-331A-49EF-AC03-BD1E92D1DCCE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55AB02-E0E2-4A14-A66E-A8918BB3975A}"/>
              </a:ext>
            </a:extLst>
          </p:cNvPr>
          <p:cNvSpPr>
            <a:spLocks noGrp="1"/>
          </p:cNvSpPr>
          <p:nvPr/>
        </p:nvSpPr>
        <p:spPr>
          <a:xfrm>
            <a:off x="1409700" y="43434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930651-A420-492C-B953-9F3FEF46A530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595FDC-6F60-41E9-82F5-1F4902DC4EB5}"/>
              </a:ext>
            </a:extLst>
          </p:cNvPr>
          <p:cNvSpPr>
            <a:spLocks noGrp="1"/>
          </p:cNvSpPr>
          <p:nvPr/>
        </p:nvSpPr>
        <p:spPr>
          <a:xfrm>
            <a:off x="7239000" y="44005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107000-5C0E-4B64-89F5-F946E8CAAE55}"/>
              </a:ext>
            </a:extLst>
          </p:cNvPr>
          <p:cNvSpPr>
            <a:spLocks noGrp="1"/>
          </p:cNvSpPr>
          <p:nvPr/>
        </p:nvSpPr>
        <p:spPr>
          <a:xfrm>
            <a:off x="9239250" y="44005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B5CB6B-F498-4C7D-A036-30BB5A2CF239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冲突提示：项目简介为 28 Aug，时间表为 31 Aug。正确动作是标记并请求负责人确认。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102D0C5-E139-4BA2-9477-4D394D75F5D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58994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A82DC0E-C6DA-49C6-82E5-311294A761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C3CA7-49F5-45CC-8896-BEC3C0E615C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C207D-DD39-4563-9338-F840B877E51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242838-B0FE-4A74-8A6C-54041D5DCCA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高质量提示词不是越长越好，而是让 Copilot 清楚知道你为什么做、要做什么、结果长什么样，以及哪些判断不能由它擅自完成。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7E3F87-4C41-4AD4-862D-E5D98297910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DE101F-7516-45CD-AB26-5582A65198C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CD319E-D63F-4CB9-B510-42017315BA88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EEF879-69A9-46D0-9679-345142E2E2A7}"/>
              </a:ext>
            </a:extLst>
          </p:cNvPr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6A3C41-CBFF-42B7-9B39-0F1C5CA8C3D7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89B801-95F7-49C6-98AA-2040DC146CBE}"/>
              </a:ext>
            </a:extLst>
          </p:cNvPr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8FD718-B53E-4FC1-A394-CD8CF3FB31A9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B10DD2-578F-4EA3-965D-8B687682DB28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264C6D-85C3-43F6-A75D-2067B47D1573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A55F78-98C0-481E-9440-1033854741A5}"/>
              </a:ext>
            </a:extLst>
          </p:cNvPr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FBC3F7-E01E-450A-ABF6-AD6B5CE0DB59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2136E6-4E7D-4430-9ED2-6020CCF1DA6E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EF16AB-1BE5-4456-AA1D-0D7CE033A1EF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8F9BED-779C-4614-A9B0-A22AD5389BB0}"/>
              </a:ext>
            </a:extLst>
          </p:cNvPr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9859E2A-7E50-461C-A22F-49776B18B2B6}"/>
              </a:ext>
            </a:extLst>
          </p:cNvPr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1DF717D-8529-4189-AF10-81C72DE9C22C}"/>
              </a:ext>
            </a:extLst>
          </p:cNvPr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18EB44-541D-4ED6-848B-CB93BE3B8965}"/>
              </a:ext>
            </a:extLst>
          </p:cNvPr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B1EC44-8CB3-4673-A017-AD5496C39C87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A18694-AD8F-444F-95E0-01A8A500AAE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667680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69E7A9-9D26-46B4-8437-E40BD34D91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E80323-29E0-4C50-9B22-C5C5D51014A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5E0F83-7070-420F-A873-363ABE0AE40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Copilot：实操入口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351478-B4CD-40DD-8A94-ADBD401388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Microsoft 365 Copilot Chat 开始，选择工作账户环境，准备好三份培训资料，并在提交前检查是否包含不应上传的敏感信息。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57EDC-260C-434E-BD6A-7B0B862566F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EFB0CA-939F-4412-883B-2385DD76567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2071" y="1695450"/>
            <a:ext cx="7347857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37BA79-6F8A-4967-AF12-38B03BDCBD46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10134600" cy="3895725"/>
          </a:xfrm>
          <a:prstGeom prst="roundRect">
            <a:avLst>
              <a:gd name="adj" fmla="val 2934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D73882-394E-418D-9FDC-F4CA3A68B62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340645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F9F1D1B-7BE2-4752-BBC9-19DB8E2AD8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06C27C-FC47-453F-9C49-C049FADF8172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3B819-D5D9-44D9-93E4-B23E44CD979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现场演示：从三份资料到两项可用输出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E9A22E-F4D1-4970-9029-A47AC4175A5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演示按固定顺序进行，便于学员观察每一步如何增加上下文、控制结构并保持可验证性。评价结果时不只看语言是否流畅，还要检查信息是否完整、冲突是否保留以及下一步是否清楚。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54E8C-36F0-4478-A983-C07E1329AE0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40B6F6-D84F-45D9-9C04-505B5CADCDD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DCB111-E0DE-481D-96CA-E98346577B99}"/>
              </a:ext>
            </a:extLst>
          </p:cNvPr>
          <p:cNvSpPr>
            <a:spLocks noGrp="1"/>
          </p:cNvSpPr>
          <p:nvPr/>
        </p:nvSpPr>
        <p:spPr>
          <a:xfrm>
            <a:off x="1066800" y="17621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2A886B-7C27-4BB9-AAE3-185575B96E5B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00EFC9-27A6-4BA8-A807-E6303A0993D0}"/>
              </a:ext>
            </a:extLst>
          </p:cNvPr>
          <p:cNvSpPr>
            <a:spLocks noGrp="1"/>
          </p:cNvSpPr>
          <p:nvPr/>
        </p:nvSpPr>
        <p:spPr>
          <a:xfrm>
            <a:off x="1695450" y="17430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添加三份虚构培训资料，并明确它们是本次回答的唯一事实来源。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9B7E0D-CF13-4251-B559-993AAD38E1F5}"/>
              </a:ext>
            </a:extLst>
          </p:cNvPr>
          <p:cNvSpPr>
            <a:spLocks noGrp="1"/>
          </p:cNvSpPr>
          <p:nvPr/>
        </p:nvSpPr>
        <p:spPr>
          <a:xfrm>
            <a:off x="1066800" y="25050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57280C-94A7-4BBA-9604-883C95E9FC84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9AFB7-5763-4AFD-AADA-71B2B92FBB5E}"/>
              </a:ext>
            </a:extLst>
          </p:cNvPr>
          <p:cNvSpPr>
            <a:spLocks noGrp="1"/>
          </p:cNvSpPr>
          <p:nvPr/>
        </p:nvSpPr>
        <p:spPr>
          <a:xfrm>
            <a:off x="1695450" y="24860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输入四段式提示词，要求输出项目简报与跟进邮件。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519B1D-466A-49E8-A5FE-847EEEAF5168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425048-A9AF-4868-ACF3-C20361486579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FE85E-5278-4C5B-A25A-39738E6B58E6}"/>
              </a:ext>
            </a:extLst>
          </p:cNvPr>
          <p:cNvSpPr>
            <a:spLocks noGrp="1"/>
          </p:cNvSpPr>
          <p:nvPr/>
        </p:nvSpPr>
        <p:spPr>
          <a:xfrm>
            <a:off x="1695450" y="32289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检查是否提取了目标、指标、决策、行动项、风险与开放问题。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5EFA246-36FC-492B-A1F9-8682418E1C5B}"/>
              </a:ext>
            </a:extLst>
          </p:cNvPr>
          <p:cNvSpPr>
            <a:spLocks noGrp="1"/>
          </p:cNvSpPr>
          <p:nvPr/>
        </p:nvSpPr>
        <p:spPr>
          <a:xfrm>
            <a:off x="1066800" y="39909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11D96-7D48-43FD-86FA-B6A7162F342D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F7968C-1DC6-48D4-BA8A-8923D5D26E64}"/>
              </a:ext>
            </a:extLst>
          </p:cNvPr>
          <p:cNvSpPr>
            <a:spLocks noGrp="1"/>
          </p:cNvSpPr>
          <p:nvPr/>
        </p:nvSpPr>
        <p:spPr>
          <a:xfrm>
            <a:off x="1695450" y="39719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重点确认是否识别 28 Aug 与 31 Aug 的日期冲突，并保留两个来源。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CAE5DE7-011E-4CA3-BE08-5846E407B0AB}"/>
              </a:ext>
            </a:extLst>
          </p:cNvPr>
          <p:cNvSpPr>
            <a:spLocks noGrp="1"/>
          </p:cNvSpPr>
          <p:nvPr/>
        </p:nvSpPr>
        <p:spPr>
          <a:xfrm>
            <a:off x="1066800" y="47339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701DCD-0BCE-4EEC-ADCA-1519E3D69DB3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8ABA73-23E8-43D3-8A1D-669BCC8B2C98}"/>
              </a:ext>
            </a:extLst>
          </p:cNvPr>
          <p:cNvSpPr>
            <a:spLocks noGrp="1"/>
          </p:cNvSpPr>
          <p:nvPr/>
        </p:nvSpPr>
        <p:spPr>
          <a:xfrm>
            <a:off x="1695450" y="47148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用追问改进格式：把行动项整理为负责人、截止日期和状态三列。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CFA1E7-DA89-49A4-B2DD-787F3AC65C7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896647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0461DD-2ADE-4960-8E4B-E1D993756D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948930-9DED-486F-8B24-4BCA76CE404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0A754B-401F-419B-8D7A-3E0A8A8125B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轮到你：4 分钟短练习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1D5201-241F-4150-9DD4-43EFD6A52F2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806"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请在自己的 Copilot 中完成一次小型迁移练习。可以继续使用绿色办公周资料，也可以选择一个不包含敏感信息的日常任务。练习的重点不是得到漂亮答案，而是写清任务、输出和约束，并要求 Copilot 主动标记需要人工核对的内容。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4D69F7-83BD-47D9-B112-492239425B7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4F40-9DDD-4835-8CB6-A0F79F6FABAF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650AD8-29BA-491C-B66D-5348987AF835}"/>
              </a:ext>
            </a:extLst>
          </p:cNvPr>
          <p:cNvSpPr>
            <a:spLocks noGrp="1"/>
          </p:cNvSpPr>
          <p:nvPr/>
        </p:nvSpPr>
        <p:spPr>
          <a:xfrm>
            <a:off x="1238250" y="1952625"/>
            <a:ext cx="9715500" cy="2238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86A72-0417-4870-8CD5-88F4625C7D1F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DA9F4C-2E19-4C1E-B532-D108FA994B58}"/>
              </a:ext>
            </a:extLst>
          </p:cNvPr>
          <p:cNvSpPr>
            <a:spLocks noGrp="1"/>
          </p:cNvSpPr>
          <p:nvPr/>
        </p:nvSpPr>
        <p:spPr>
          <a:xfrm>
            <a:off x="1619250" y="2743200"/>
            <a:ext cx="8667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8AF4B-D0A1-406F-80F1-AA292E27FBB4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倒计时 4 分钟｜完成后与同桌交换：你的提示词中，哪一条约束最重要？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1BC0D0-8623-48EB-AD15-87240EE6E7A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39560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83E370-CC2E-4460-81F6-D22CFB9501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3DA7D8-38B9-4932-9523-CAD844041EE2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23CB70-9EF5-4D40-8454-50E24DB6E3E4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6F2C4-A934-48FA-8ABB-7D9896AE66FE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15E323-224F-402F-8DA4-EB00C6BD60B0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40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81148-6926-49DF-8FA9-8D8A49CC8FA3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Tool Lab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F6215E-25B3-45DE-A2DC-8D30648B3700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Agent Builder 路径  ↗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42E36E-4228-4C65-9A1B-4A2AA368A23A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00136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990F94-2DD2-493D-8FE9-8B04B602DB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10E16C-FCB8-495F-9336-AB95CFA47FD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DD415A-943F-4FB4-9621-4A934B92ECF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Lab：从步骤说明进入真实操作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0412EF-977D-4BC6-B9B5-CDFD038A3DD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网站把不同业务任务设计成独立 Lab，每个 Lab 提供场景、材料和操作步骤。课堂 PPT 只保留关键步骤，完整说明和练习材料以网站为准。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E78A56-2D0C-490F-B93A-94A33210A0E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D16DAA-B69D-4EAC-9921-17ADF6017B0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2981" y="1714500"/>
            <a:ext cx="7346038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71AE94-BCEE-4742-A970-4C846DB3FB50}"/>
              </a:ext>
            </a:extLst>
          </p:cNvPr>
          <p:cNvSpPr>
            <a:spLocks noGrp="1"/>
          </p:cNvSpPr>
          <p:nvPr/>
        </p:nvSpPr>
        <p:spPr>
          <a:xfrm>
            <a:off x="1123950" y="1695450"/>
            <a:ext cx="9944100" cy="3895725"/>
          </a:xfrm>
          <a:prstGeom prst="roundRect">
            <a:avLst>
              <a:gd name="adj" fmla="val 2934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CD98E8-3F57-4FB7-84DA-7042375DA6A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Tool Lab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BB8DD6-6C2C-40C6-9167-BA62610912B9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201986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F9150CC-D83E-44EF-9AC6-DE4A825305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987090-DD40-4040-9A3A-A2622162806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6837C-D5DD-4ED9-8AE3-F249D4D45B6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DBE3B8-D74E-48DF-BA4D-6054E60A10B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Lab。虽然业务场景不同，但都要完成任务定义、边界设置、知识配置和预览测试。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D78762-5E8F-48D4-8E60-03ABCA1D488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F7B52E-F37D-4B36-9BDA-DBF6B8B213B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FAEB0E-B8DD-4398-89B7-45ACD1C8EDBB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E3AA7C5-A2FE-46DA-9F82-04D1F6811197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382C3D-A7B1-41C2-8170-13AA583D24BC}"/>
              </a:ext>
            </a:extLst>
          </p:cNvPr>
          <p:cNvSpPr>
            <a:spLocks noGrp="1"/>
          </p:cNvSpPr>
          <p:nvPr/>
        </p:nvSpPr>
        <p:spPr>
          <a:xfrm>
            <a:off x="10287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1EA9B4-18B4-438A-8819-EFBD8BF5AACB}"/>
              </a:ext>
            </a:extLst>
          </p:cNvPr>
          <p:cNvSpPr>
            <a:spLocks noGrp="1"/>
          </p:cNvSpPr>
          <p:nvPr/>
        </p:nvSpPr>
        <p:spPr>
          <a:xfrm>
            <a:off x="16573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2514D4-28A6-4890-B15D-8BA4894D58C1}"/>
              </a:ext>
            </a:extLst>
          </p:cNvPr>
          <p:cNvSpPr>
            <a:spLocks noGrp="1"/>
          </p:cNvSpPr>
          <p:nvPr/>
        </p:nvSpPr>
        <p:spPr>
          <a:xfrm>
            <a:off x="16573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C8F5B1-2272-4189-BF9B-5E34D03B103B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6301B4-9B0C-40E0-81E3-D87B34E00F6D}"/>
              </a:ext>
            </a:extLst>
          </p:cNvPr>
          <p:cNvSpPr>
            <a:spLocks noGrp="1"/>
          </p:cNvSpPr>
          <p:nvPr/>
        </p:nvSpPr>
        <p:spPr>
          <a:xfrm>
            <a:off x="64389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8B472-246D-436C-9F83-0C4DD80AA9C5}"/>
              </a:ext>
            </a:extLst>
          </p:cNvPr>
          <p:cNvSpPr>
            <a:spLocks noGrp="1"/>
          </p:cNvSpPr>
          <p:nvPr/>
        </p:nvSpPr>
        <p:spPr>
          <a:xfrm>
            <a:off x="64389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4C75B3-DB4F-45B7-9364-64BB23F98ED3}"/>
              </a:ext>
            </a:extLst>
          </p:cNvPr>
          <p:cNvSpPr>
            <a:spLocks noGrp="1"/>
          </p:cNvSpPr>
          <p:nvPr/>
        </p:nvSpPr>
        <p:spPr>
          <a:xfrm>
            <a:off x="70675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6400A-2F5B-41AC-A950-1EC7418F632C}"/>
              </a:ext>
            </a:extLst>
          </p:cNvPr>
          <p:cNvSpPr>
            <a:spLocks noGrp="1"/>
          </p:cNvSpPr>
          <p:nvPr/>
        </p:nvSpPr>
        <p:spPr>
          <a:xfrm>
            <a:off x="70675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B82D5C-F0E2-428B-ABEC-E9B8196A7E9C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A95196-E427-49C4-829D-E6203646CCD1}"/>
              </a:ext>
            </a:extLst>
          </p:cNvPr>
          <p:cNvSpPr>
            <a:spLocks noGrp="1"/>
          </p:cNvSpPr>
          <p:nvPr/>
        </p:nvSpPr>
        <p:spPr>
          <a:xfrm>
            <a:off x="1028700" y="3810000"/>
            <a:ext cx="438150" cy="4381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69F2E0-1CB7-40E4-A8C9-B0A84BA796EF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0752BC-9537-4495-8707-2EBDF19F33CA}"/>
              </a:ext>
            </a:extLst>
          </p:cNvPr>
          <p:cNvSpPr>
            <a:spLocks noGrp="1"/>
          </p:cNvSpPr>
          <p:nvPr/>
        </p:nvSpPr>
        <p:spPr>
          <a:xfrm>
            <a:off x="16573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F555CF-8910-4C0C-9EA2-E669540A0BE9}"/>
              </a:ext>
            </a:extLst>
          </p:cNvPr>
          <p:cNvSpPr>
            <a:spLocks noGrp="1"/>
          </p:cNvSpPr>
          <p:nvPr/>
        </p:nvSpPr>
        <p:spPr>
          <a:xfrm>
            <a:off x="16573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D66958-A998-4D6D-B4D9-28F84AEF5120}"/>
              </a:ext>
            </a:extLst>
          </p:cNvPr>
          <p:cNvSpPr>
            <a:spLocks noGrp="1"/>
          </p:cNvSpPr>
          <p:nvPr/>
        </p:nvSpPr>
        <p:spPr>
          <a:xfrm>
            <a:off x="62293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A873A65-5309-4DB4-B136-E24B4E5F5DE9}"/>
              </a:ext>
            </a:extLst>
          </p:cNvPr>
          <p:cNvSpPr>
            <a:spLocks noGrp="1"/>
          </p:cNvSpPr>
          <p:nvPr/>
        </p:nvSpPr>
        <p:spPr>
          <a:xfrm>
            <a:off x="6438900" y="38100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25BB3D-B18B-49E7-9F7A-E5A32EFB35F6}"/>
              </a:ext>
            </a:extLst>
          </p:cNvPr>
          <p:cNvSpPr>
            <a:spLocks noGrp="1"/>
          </p:cNvSpPr>
          <p:nvPr/>
        </p:nvSpPr>
        <p:spPr>
          <a:xfrm>
            <a:off x="64389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ACBEAD-4752-47BC-9F1B-9B4F311A1F62}"/>
              </a:ext>
            </a:extLst>
          </p:cNvPr>
          <p:cNvSpPr>
            <a:spLocks noGrp="1"/>
          </p:cNvSpPr>
          <p:nvPr/>
        </p:nvSpPr>
        <p:spPr>
          <a:xfrm>
            <a:off x="70675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7329D7-4DCF-4F65-ADA4-F67CF10710EC}"/>
              </a:ext>
            </a:extLst>
          </p:cNvPr>
          <p:cNvSpPr>
            <a:spLocks noGrp="1"/>
          </p:cNvSpPr>
          <p:nvPr/>
        </p:nvSpPr>
        <p:spPr>
          <a:xfrm>
            <a:off x="70675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3C0137-3D1B-4E94-8871-775552323A4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1  ↗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479BA62-6417-4BD7-BE5B-04A5AB7C0980}"/>
              </a:ext>
            </a:extLst>
          </p:cNvPr>
          <p:cNvSpPr>
            <a:spLocks noGrp="1"/>
          </p:cNvSpPr>
          <p:nvPr/>
        </p:nvSpPr>
        <p:spPr>
          <a:xfrm>
            <a:off x="195262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2  ↗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4F11FB-595E-4093-996A-40864214F71C}"/>
              </a:ext>
            </a:extLst>
          </p:cNvPr>
          <p:cNvSpPr>
            <a:spLocks noGrp="1"/>
          </p:cNvSpPr>
          <p:nvPr/>
        </p:nvSpPr>
        <p:spPr>
          <a:xfrm>
            <a:off x="321945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3  ↗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F9D76E8-31E9-44F5-950B-86B25DF83127}"/>
              </a:ext>
            </a:extLst>
          </p:cNvPr>
          <p:cNvSpPr>
            <a:spLocks noGrp="1"/>
          </p:cNvSpPr>
          <p:nvPr/>
        </p:nvSpPr>
        <p:spPr>
          <a:xfrm>
            <a:off x="448627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583181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5E3AF60-6E1A-4749-984C-8D1157B38F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F357AB-A346-4571-A0D3-D1130B25E2C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45846D-66A4-4FFD-A723-58DF10D966F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8BC9BC-FE47-43D3-887B-9ADAFE3134E7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面向高频协调任务：根据目标和上下文整理优先级、提出沟通建议，并保持一致的角色与输出风格。重点是把工作方式写清楚，而不是追求复杂功能。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2FF67-863C-4A34-AC85-F481AFF1C72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FA2EA2-B993-4312-AE47-DAFC85EAFE8F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9469" y="1809750"/>
            <a:ext cx="6353061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177282-3C8A-4901-A158-0230C396A6C0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182100" cy="3514725"/>
          </a:xfrm>
          <a:prstGeom prst="roundRect">
            <a:avLst>
              <a:gd name="adj" fmla="val 3252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8FABD8-B2A0-4158-86A9-0299269D2F0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56997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46D247D-F476-4E9D-8217-0382BF2C13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AEDB37-767D-4659-B334-FD59D8282233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34203C-DCC0-42CA-9A04-A30461FDA73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1C5591-FC7B-4DDD-A09E-4A53363D3F0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以产品资料为知识来源回答问题。重点练习如何限定回答范围、要求基于资料作答，并在资料不足时明确说明无法确认，而不是补造答案。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B58BE1-3FAB-49C8-97AE-C7AA1F877BC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A56BE-A74B-4173-A153-7030A70D80A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0828" y="1809750"/>
            <a:ext cx="5730344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5F7E9A-AC30-4586-A387-2A0CB4855B87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182100" cy="3514725"/>
          </a:xfrm>
          <a:prstGeom prst="roundRect">
            <a:avLst>
              <a:gd name="adj" fmla="val 3252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6F2B87-47BF-4CED-A764-2A1F17ECFBC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176961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74EF66-6BC3-4055-AD3E-EDF88F5D92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BF8132-4F37-431E-8B92-D21586807C4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FA03C2-9B94-4117-9A9E-46533587DDB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84677C-7BB0-4661-9734-2CDDD383C7E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讲师示范案例：把会议输入稳定地转换为摘要、决策、行动项和跟进邮件。它能清楚展示 Agent 如何把重复步骤、固定格式和参考模板组合起来。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D0D695-2328-4F5D-B1EF-38633CFD4E2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6B03C-74C1-46E3-AAC6-16AC7090B41F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38918" y="1809750"/>
            <a:ext cx="6314165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8A9720-0EE2-4934-8F15-9C8F48A99336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182100" cy="3514725"/>
          </a:xfrm>
          <a:prstGeom prst="roundRect">
            <a:avLst>
              <a:gd name="adj" fmla="val 3252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FC4A7D-A357-49C5-96F3-AA0D5CD4285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66439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354AD-06CF-409E-A358-A8EC8AE22A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B0DF97-A934-4D70-9147-720E7FF9597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13C62C-7C39-424F-A6BE-B13092454BE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04｜漏斗数据分析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562BA1-458D-400E-A246-158908C8592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围绕结构化漏斗数据进行分析，输出趋势、转化变化、风险和建议。它适合练习数据分析边界：说明口径、区分观察与推断，并选择清晰的表达结构。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2F719-A8BE-4872-9779-FAC1F77448A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FDABF-121D-4554-98C7-7C9E370B41C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2122" y="1809750"/>
            <a:ext cx="5807757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BEDDA6-7D4D-43D1-B1B1-72CB81AE0223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182100" cy="3514725"/>
          </a:xfrm>
          <a:prstGeom prst="roundRect">
            <a:avLst>
              <a:gd name="adj" fmla="val 3252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548D25-9146-41F4-A6CC-4B27DFE3A02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04164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26E21BD-51F7-4C29-867D-D77D31507F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67CAE7-C8E7-4B4A-BFF4-E48A9ADA1C9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1B0536-FADD-4816-AC58-2CF037508A9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E75CC5-6FBD-4311-B055-7204AFE9A8E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不同 Lab 的业务内容不同，但构建逻辑可以复用。先定义任务和边界，再配置知识与交互，最后通过预览测试发现问题。一个可用的 Agent 应该清楚说明为谁服务、依据什么资料、不能做什么以及结果如何呈现。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0DCF02-2157-4328-8261-400BDB9887E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99AFD8-B761-4F78-944D-3E5BD01F88D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AFEC61-E661-4048-A3C3-C571DC2426CB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1D8F18-D146-4D59-A83D-613B6CFB20D8}"/>
              </a:ext>
            </a:extLst>
          </p:cNvPr>
          <p:cNvSpPr>
            <a:spLocks noGrp="1"/>
          </p:cNvSpPr>
          <p:nvPr/>
        </p:nvSpPr>
        <p:spPr>
          <a:xfrm>
            <a:off x="11620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EC760-E48F-4C7F-8914-139D7D0507DA}"/>
              </a:ext>
            </a:extLst>
          </p:cNvPr>
          <p:cNvSpPr>
            <a:spLocks noGrp="1"/>
          </p:cNvSpPr>
          <p:nvPr/>
        </p:nvSpPr>
        <p:spPr>
          <a:xfrm>
            <a:off x="11620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7C7DD1-F4B9-4468-935D-1C5E9CE62806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454DAB0B-957B-4293-8B13-0FA73788B291}"/>
              </a:ext>
            </a:extLst>
          </p:cNvPr>
          <p:cNvSpPr>
            <a:spLocks noGrp="1"/>
          </p:cNvSpPr>
          <p:nvPr/>
        </p:nvSpPr>
        <p:spPr>
          <a:xfrm>
            <a:off x="22669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03FE56-8F62-4A31-8E65-38E68D83E622}"/>
              </a:ext>
            </a:extLst>
          </p:cNvPr>
          <p:cNvSpPr>
            <a:spLocks noGrp="1"/>
          </p:cNvSpPr>
          <p:nvPr/>
        </p:nvSpPr>
        <p:spPr>
          <a:xfrm>
            <a:off x="25146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6EE8E1-7EDC-41EC-8838-501A6ED73577}"/>
              </a:ext>
            </a:extLst>
          </p:cNvPr>
          <p:cNvSpPr>
            <a:spLocks noGrp="1"/>
          </p:cNvSpPr>
          <p:nvPr/>
        </p:nvSpPr>
        <p:spPr>
          <a:xfrm>
            <a:off x="30861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BCD427-5116-4535-9BF6-09282B629349}"/>
              </a:ext>
            </a:extLst>
          </p:cNvPr>
          <p:cNvSpPr>
            <a:spLocks noGrp="1"/>
          </p:cNvSpPr>
          <p:nvPr/>
        </p:nvSpPr>
        <p:spPr>
          <a:xfrm>
            <a:off x="30861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AB8BB3-2841-47B5-8333-3DC86B944324}"/>
              </a:ext>
            </a:extLst>
          </p:cNvPr>
          <p:cNvSpPr>
            <a:spLocks noGrp="1"/>
          </p:cNvSpPr>
          <p:nvPr/>
        </p:nvSpPr>
        <p:spPr>
          <a:xfrm>
            <a:off x="26860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385831A8-45DF-4F7B-85EF-FAB1553756A1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C5720A-F183-45E5-A948-DEE800A97320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B0B69C-459F-48C2-8ADA-F7903FAAC111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ACD0CC-B20B-4A9B-AC8F-8B68A2636225}"/>
              </a:ext>
            </a:extLst>
          </p:cNvPr>
          <p:cNvSpPr>
            <a:spLocks noGrp="1"/>
          </p:cNvSpPr>
          <p:nvPr/>
        </p:nvSpPr>
        <p:spPr>
          <a:xfrm>
            <a:off x="50101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B97ACD-DB57-4676-81BE-B0C4961DA3B5}"/>
              </a:ext>
            </a:extLst>
          </p:cNvPr>
          <p:cNvSpPr>
            <a:spLocks noGrp="1"/>
          </p:cNvSpPr>
          <p:nvPr/>
        </p:nvSpPr>
        <p:spPr>
          <a:xfrm>
            <a:off x="46101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A57E4CEE-4470-427F-92A0-54DA7B5DD01A}"/>
              </a:ext>
            </a:extLst>
          </p:cNvPr>
          <p:cNvSpPr>
            <a:spLocks noGrp="1"/>
          </p:cNvSpPr>
          <p:nvPr/>
        </p:nvSpPr>
        <p:spPr>
          <a:xfrm>
            <a:off x="61150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AAC04FF-741A-4E5C-BC86-EFC12F84A96E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DE545F-2FCE-41D8-A91B-7A82B8CAFAAE}"/>
              </a:ext>
            </a:extLst>
          </p:cNvPr>
          <p:cNvSpPr>
            <a:spLocks noGrp="1"/>
          </p:cNvSpPr>
          <p:nvPr/>
        </p:nvSpPr>
        <p:spPr>
          <a:xfrm>
            <a:off x="69342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9C95C1-A823-40AA-8FE3-B79F887AF7F5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760023-6982-4746-8E69-BB2326AC8A0A}"/>
              </a:ext>
            </a:extLst>
          </p:cNvPr>
          <p:cNvSpPr>
            <a:spLocks noGrp="1"/>
          </p:cNvSpPr>
          <p:nvPr/>
        </p:nvSpPr>
        <p:spPr>
          <a:xfrm>
            <a:off x="65341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1838D378-3C80-4692-8230-19D54175474F}"/>
              </a:ext>
            </a:extLst>
          </p:cNvPr>
          <p:cNvSpPr>
            <a:spLocks noGrp="1"/>
          </p:cNvSpPr>
          <p:nvPr/>
        </p:nvSpPr>
        <p:spPr>
          <a:xfrm>
            <a:off x="80391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58F47D0-F41B-480C-ADF3-6470BA1767D2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6B6548E-EF07-4C1F-9C47-1768AA672F51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49E63A-8E7E-46F4-A437-7354F42902D8}"/>
              </a:ext>
            </a:extLst>
          </p:cNvPr>
          <p:cNvSpPr>
            <a:spLocks noGrp="1"/>
          </p:cNvSpPr>
          <p:nvPr/>
        </p:nvSpPr>
        <p:spPr>
          <a:xfrm>
            <a:off x="88582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8DD51B-B079-432C-B298-46220B901137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F11AAA7D-BE82-408D-8D4C-BDD525390DBA}"/>
              </a:ext>
            </a:extLst>
          </p:cNvPr>
          <p:cNvSpPr>
            <a:spLocks noGrp="1"/>
          </p:cNvSpPr>
          <p:nvPr/>
        </p:nvSpPr>
        <p:spPr>
          <a:xfrm>
            <a:off x="99631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0B6F485-5696-4C3C-A562-9F28216A6048}"/>
              </a:ext>
            </a:extLst>
          </p:cNvPr>
          <p:cNvSpPr>
            <a:spLocks noGrp="1"/>
          </p:cNvSpPr>
          <p:nvPr/>
        </p:nvSpPr>
        <p:spPr>
          <a:xfrm>
            <a:off x="102108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F76047-77BE-46E3-BB27-35782D535431}"/>
              </a:ext>
            </a:extLst>
          </p:cNvPr>
          <p:cNvSpPr>
            <a:spLocks noGrp="1"/>
          </p:cNvSpPr>
          <p:nvPr/>
        </p:nvSpPr>
        <p:spPr>
          <a:xfrm>
            <a:off x="107823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31BB87-B50E-4D03-940B-64EA64D867C9}"/>
              </a:ext>
            </a:extLst>
          </p:cNvPr>
          <p:cNvSpPr>
            <a:spLocks noGrp="1"/>
          </p:cNvSpPr>
          <p:nvPr/>
        </p:nvSpPr>
        <p:spPr>
          <a:xfrm>
            <a:off x="107823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5F793B-7B8B-45E8-BCE5-99B64EBE39AC}"/>
              </a:ext>
            </a:extLst>
          </p:cNvPr>
          <p:cNvSpPr>
            <a:spLocks noGrp="1"/>
          </p:cNvSpPr>
          <p:nvPr/>
        </p:nvSpPr>
        <p:spPr>
          <a:xfrm>
            <a:off x="103822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F6719A8-7608-4B9D-BEEC-3185C1E93086}"/>
              </a:ext>
            </a:extLst>
          </p:cNvPr>
          <p:cNvSpPr>
            <a:spLocks noGrp="1"/>
          </p:cNvSpPr>
          <p:nvPr/>
        </p:nvSpPr>
        <p:spPr>
          <a:xfrm>
            <a:off x="1238250" y="4619625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检查标准：Agent 是否知道“为谁服务、解决什么任务、依据什么资料、不能做什么、结果应如何呈现”。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7078F9-AB08-424F-A9FF-1DF23770C37A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770023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2ADE90D-3460-4F03-A589-AC1A8915D6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C04C60-7F5B-4F12-84BD-295E7DC4A65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286FA-6333-4B03-B6DA-40ABB875481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CD154-4E2B-4433-ADC3-75A3ABB15CA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Microsoft 365 Copilot 左侧导航进入 Agents，选择新建。先确认自己处于正确的企业工作环境。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77A0D-0AE5-4EB3-A8EC-0A32A9F5502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AB9A5D-2980-4A47-B797-7952135BA0C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766103"/>
            <a:ext cx="7239000" cy="3802044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02656E-F519-4B16-8971-904F35933580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BCFD75-83CE-4019-8E10-37DFFEC8BCB9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D04746-BC17-415D-8F78-57FF9C2F7C33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71A9F1-38E0-4503-A2FD-ED4B7088A305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如果界面名称略有差异，优先寻找 Agents、New agent 或 Create agent。不要在这一步急着填写内容，先确认入口和账号环境。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13C2EB-EBD2-4DE3-8729-B5ED4701EBF9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4075076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2A6297A-B9CE-480C-9BC7-C9DC18FE87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58645F-B303-4752-B6BB-25C465A8E048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059C18-4227-4900-9096-D309D2279DA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1256D4-C74B-4043-B6CE-0C7BC682D19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可通过对话引导或直接配置来创建 Agent。课堂建议使用可见字段配置，便于理解每项内容如何影响行为。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50F10-25DF-4F5E-A471-30FA4232F50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45883-A312-41AB-B357-FEE72A05A40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925399"/>
            <a:ext cx="7239000" cy="3483451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F65454-2556-42B1-9487-CBFE9A254437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07FE73-8DF6-42BD-AEE6-4FB6E7EFEC89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5A02E8-5FDE-491E-9687-3D0D238971CA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F92356-4826-4481-9BCE-32FAF8BD4C4F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对话式构建适合快速起草；配置式构建更适合教学和精确控制。无论选择哪一种，最终都要检查生成的名称、描述、Instructions 和知识来源。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EA7192-E926-48E2-BCA5-33837A81DA1E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494811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AA73E53-3376-45BE-BDAC-F1C6046450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627368-602A-4B4D-83FF-1AEC03892A5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E79FB-05A3-4CCE-B6D3-852C905222B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E68F3-9936-4FF9-B6EA-5A535BE6456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以“会议跟进助手”为例，名称帮助用户识别用途，描述说明价值，Instructions 则定义任务、边界和输出标准。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8739CB-69DC-4AFD-BF1D-ECDD13C3B6B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FF0D02-71ED-45DD-A767-26A5AD73E82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067732"/>
            <a:ext cx="7239000" cy="3198786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7CD4CA-4BD2-42C4-BE57-7F0FDEB7A402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DF0BDF-026A-441A-A2FB-57CC48665436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6581FB-DDED-445E-875B-44D0EA931DDB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3A7E39-B367-457C-A75F-2BDB8CAEF2BB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Instructions 建议包含：角色、输入、处理步骤、输出格式、事实边界和异常处理。避免只写“帮我总结会议”，那样很难得到稳定结果。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8B45C7-D4F9-4D7B-8EFC-215D18E65777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138894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01922C9-5F6D-4774-AB8D-231DCA3C3D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FEE6F5-A852-4B37-B605-FDE1181BA7E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21BDC6-01EB-4E5C-B057-B8825A739AD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939AAC-E5E3-4461-9036-134B1F99ADA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知识来源为 Agent 提供可复用的参考材料，例如会议模板、产品手册或业务规则。添加后要验证它是否真正被使用。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C5E96C-4F94-4186-9755-1C9CD041F9D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7A8B14-6AC7-422C-A57F-34D0081CD99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741443"/>
            <a:ext cx="7239000" cy="3851365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62AC43-DFD4-43C6-B834-0250B438955D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4E92E-D671-44E8-B579-5228CD6BBB47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57F716-D856-4581-83E2-F895E542F45F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DEFBB8-BC6D-4E91-BEB8-D29B13E53C4F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选择最少但足够的资料，减少过期或相互矛盾的内容。明确要求 Agent 基于资料回答；资料未覆盖时，应说明缺口并请求人工确认。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05D3CF-F924-4E46-B009-27D327B6750A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555769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9BE0686-C091-438D-A9EB-D9C7B4259F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78B4A4-14D7-43DB-8084-ED75CBAB385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8BC65-80AE-41A2-AFD3-52DEEA66E85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E4A898-FF8E-4FC4-8346-93930F7D0397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演示如何在可用知识来源中搜索并选择会议模板。这个模板将帮助 Agent 形成一致的摘要、行动项和邮件结构。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9CAE58-D878-4C55-99AE-03772E3E24E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DD3D76-3720-4D21-A4C9-42FDF44A77A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1619" y="1714500"/>
            <a:ext cx="5872163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5CB91D-8C36-40BF-B31B-E7970EB683F6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6DE1B9-3DAE-499D-87E6-E548C843F3D1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D32658-2371-421B-A295-544CB1C73DA5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05D332-81EB-42AF-8ACD-E323FE3C250A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搜索时使用清晰关键词，并核对文件名称、来源位置和适用范围。找到文件并不等于完成，需要在预览中用真实问题测试是否引用正确。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67FA14-4533-4E87-BDEF-744A06F8D323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268779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EE6F856-2E3A-4E1B-8C0A-C2618F4C78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C72713-FB6D-475A-8C96-6F3C1C9444EB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E25B52-9E28-4802-8AA7-FA16995D329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783053-71FF-4208-95B5-9A549245C40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Suggested Prompts 是给使用者的快捷入口，展示 Agent 最适合处理的任务，也能降低第一次使用时的提问门槛。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CBF448-60B5-4129-9B6B-4C1F255A45C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55131-B59A-458B-A14E-86292119685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436099"/>
            <a:ext cx="7239000" cy="2462052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66E3E2-18A5-4E5F-9F53-FEEC28127606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F9ACA40-589F-4584-A2B7-517750684CA5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760FFE-2B39-4B8B-8BBA-8B57670C1F85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E7F00-EA25-4722-9009-4BD6A48FA923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写成可直接点击的真实任务，例如“根据会议记录生成行动项”或“起草跟进邮件”。避免使用过于宽泛的“帮我处理一下”之类表达。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C7781D-BB41-423E-BEF3-D7780A5AE5CE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2031079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C5EE8DD-9FAB-4F42-8CD8-29694E2DBC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ABCCB4-4D7A-44BC-9FA9-F520ABE16743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97E392-91F3-4CEC-9F2F-19A5915F960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151421-5A28-4692-A04C-9EF1BF9B16C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创建前先在预览区测试典型输入、边界问题和资料缺失情况。只有当结果稳定且符合预期时，再完成创建。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1A5F9-2BD9-419A-BFA9-144A49757E4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21BBA7-9740-46FE-9612-485A188FF3E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752312"/>
            <a:ext cx="7239000" cy="3829626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61ACB7-37E1-4ED0-B5DA-434109948CB7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314BE5-DE15-436A-A2CA-81F7EA15D6B7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FB4A73-9936-4B8E-A741-E5D73B981F8E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E63203-EEE4-4254-8FD0-72618BBBDAA8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至少检查三类问题：正常任务能否完成；信息缺失时是否承认不知道；包含冲突或敏感内容时是否遵循规则。记录问题并返回配置修改。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8D2DCF-3FC1-4A22-9607-6B561F80CCA1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29578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17753FC-F1EA-4672-90D7-C9635C0B85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CC2237-5D43-490B-94D1-1966E27D831D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75B112-3137-449F-BEF2-A7468B5DFD2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9D47B-041A-4416-9FB4-0870F8FA38E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这是第 3 个 Lab 的演示结果页，用于确认 Agent 能否把输入转为可行动的会议摘要、行动项和后续沟通。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B6D3E-ECF2-4DA6-B1F6-994EFF0D041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A433CD-F203-4BF8-91FB-DFE62BEB3D3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1388" y="1714500"/>
            <a:ext cx="7092623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CC74DD-91D7-48AE-B492-4C7D1837EEBD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9B1FC4-A072-43CA-B5C1-51F24E044712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A226E2-9BC8-418B-BA05-6713A5B3E6B1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38648-B411-4A6F-BC93-5974A65CC326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演示时聚焦输出结构和可用性：决策是否与行动项分开、负责人和截止日期是否清楚、未确认事项是否保留、邮件是否可直接编辑发送。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25214F-DA68-40F4-AF0C-90786EC5EC0E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12880762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C10E80D-4002-46F1-8E05-80A1E00E6E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46375E-A66D-4C8A-BE36-012F787529FF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C1096F-97D7-4270-BE65-F7AC4BDA266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轮到你：18 分钟完成一个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39F53D-82EE-475C-921B-A55EC7646C0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请选择前四个 Lab 中的一个进行实践，或按照讲师分组完成不同 Lab。目标不是追求复杂功能，而是完成可测试的最小 Agent。完成以后请运行正常场景和边界场景，确认它能够稳定执行任务，也能够在信息不足时承认缺口。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AF3B86-83E5-4C9A-AB9C-11E4E3EBD4B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09DCE8-42FF-4317-8940-3A60202A85E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B88654-BD99-40C9-9E69-110CDE44BFAD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10287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B234B7-E2CC-4E99-AF1B-A6599DB48039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倒计时 18 分钟｜PPT 保持在本页，讲师巡场支持。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E27E85-4E67-42CE-AB40-BAE9D7F8686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01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532056-11AE-421F-ABBA-D0E0D6817D56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02  ↗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3409C3-BB44-46D5-B897-6CB7180AFA29}"/>
              </a:ext>
            </a:extLst>
          </p:cNvPr>
          <p:cNvSpPr>
            <a:spLocks noGrp="1"/>
          </p:cNvSpPr>
          <p:nvPr/>
        </p:nvSpPr>
        <p:spPr>
          <a:xfrm>
            <a:off x="33909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03  ↗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6DEDCE-109E-42A2-83F1-B5C50128EC18}"/>
              </a:ext>
            </a:extLst>
          </p:cNvPr>
          <p:cNvSpPr>
            <a:spLocks noGrp="1"/>
          </p:cNvSpPr>
          <p:nvPr/>
        </p:nvSpPr>
        <p:spPr>
          <a:xfrm>
            <a:off x="47434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04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76AFDB8-C094-4B26-B342-0C34BF9D800E}"/>
              </a:ext>
            </a:extLst>
          </p:cNvPr>
          <p:cNvSpPr>
            <a:spLocks noGrp="1"/>
          </p:cNvSpPr>
          <p:nvPr/>
        </p:nvSpPr>
        <p:spPr>
          <a:xfrm>
            <a:off x="6096000" y="5867400"/>
            <a:ext cx="1714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7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8210627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D081A17-6A57-4B0E-B80E-EEE6CF685B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0FA5C3-83E3-4770-885F-55A29BE5FD1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Philips GCR AI Ambassador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A20DC-0D52-44BB-B3AC-B21FF4E6760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找到身边的 AI Ambassador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AC25B-0A3B-45A1-AEEF-A2F98CD7B5C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Ambassador 可以帮助同事交流学习资源、分享实践经验，并把有价值的业务问题带回到更广泛的 AI 学习与应用社区。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2C6A5-D64A-4CCE-A553-2AD15E0CB8A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3A562F-066A-40AA-9D1F-82848E24D28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24478" y="1714500"/>
            <a:ext cx="6943045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EF355F-5CA6-481F-AC62-C750FF830006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1013460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0AAA76-CADC-44C3-961D-14B53D3E16C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回到 AI Gateway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D44A63B-A186-4BD4-860F-99A0BD60064D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9089355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3278</Words>
  <Application>Microsoft Office PowerPoint</Application>
  <DocSecurity>0</DocSecurity>
  <PresentationFormat>Widescreen</PresentationFormat>
  <Paragraphs>597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CHEN, Wang Ting</cp:lastModifiedBy>
  <cp:revision>3</cp:revision>
  <dcterms:created xsi:type="dcterms:W3CDTF">2026-08-20T07:50:42Z</dcterms:created>
  <dcterms:modified xsi:type="dcterms:W3CDTF">2026-08-20T07:55:00Z</dcterms:modified>
</cp:coreProperties>
</file>