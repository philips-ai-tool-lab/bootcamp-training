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开场先说明：课程不是产品清单，而是一条从入口认知、日常应用到构建 Agent 的完整体验路径。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邀请学员带着一个真实工作任务来听课，后续每一部分都用这个任务检查：AI 能否真正减少重复工作。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快速说明节奏。第 3、4 部分时间最长，前两部分只建立共同语言和入口认知。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用这一页完成章节切换，先说清楚本部分的学习目标和时间安排。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先指出顶端的组合管理逻辑，再说明五条工作流都按照 Now 与 Next 展示成熟度。随后用后续两页逐项解释战略内容。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逐项解释前三条工作流，强调它们是规模化 AI 的组织、数据与治理基础。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解释后两条业务工作流和 2026 focus，提醒学员注意每列底部的 Sponsor、LT 和 Owner 责任结构。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明确纠正认知：AI Gateway 与 AI Skills Navigator 分工不同。前者解决 Philips 企业访问和治理，后者提供微软官方学习内容。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按主卡、状态卡、三张运营卡的顺序解释画面。不要展示个人用量与成本页面。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AI Gateway screenshot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把左侧能力与右侧四项条件一一对应，强调效率、合规和人工判断必须同时成立。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AI Gateway screenshot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用这一页完成章节切换，先说清楚本部分的学习目标和时间安排。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页面自动截图连接不稳定，因此这一页用站点结构示意代替截图，但保留官方可点击链接。现场可直接打开网站演示。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鼓励学员把它作为课后持续学习入口。现场可用角色或产品关键词搜索。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说明它是官方课程，不是今天完整课程本身。今天只选择其中最具普适性的工作模式进行练习。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十类岗位名称来自 MS-4004 课程结构。用最后一句过渡到通用案例。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强调四步并非固定模板，可以根据工作任务重新排序，但“核对来源与冲突”必须保留。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提醒学员：虚构数据用于练习方法。真正工作中，应使用获批环境并遵循数据处理要求。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让学员先独立浏览 20 秒，再提问：如果只能记住三件事，你会记录什么？</a:t>
            </a:r>
          </a:p>
          <a:p>
            <a:endParaRPr/>
          </a:p>
          <a:p>
            <a:r>
              <a:t>[Sources]</a:t>
            </a:r>
          </a:p>
          <a:p>
            <a:r>
              <a:t>- Local fictional Green Office Week Project Brief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强调事实层级：Confirmed decision 与 Open question 不能混在一起。输出中应保留不确定性。</a:t>
            </a:r>
          </a:p>
          <a:p>
            <a:endParaRPr/>
          </a:p>
          <a:p>
            <a:r>
              <a:t>[Sources]</a:t>
            </a:r>
          </a:p>
          <a:p>
            <a:r>
              <a:t>- Local fictional Green Office Week Meeting Notes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这是案例的关键检验点。评价输出时，先看是否保留冲突，再看语言是否清楚。</a:t>
            </a:r>
          </a:p>
          <a:p>
            <a:endParaRPr/>
          </a:p>
          <a:p>
            <a:r>
              <a:t>[Sources]</a:t>
            </a:r>
          </a:p>
          <a:p>
            <a:r>
              <a:t>- Local fictional Green Office Week Timeline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现场演示时先输入一个模糊问题，再用四段结构改写，让学员观察结果差异。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按左侧导航、中央输入区、账号与环境三个区域逐项讲解，并把画面直接连接到后面的三份资料实操。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M365 Copilot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这页作为演示清单，不需要全部讲完再操作。每完成一步，回到页面指出为什么这样做。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本页保持在屏幕上 4 分钟。讲师巡场，只回答阻塞问题，暂不做长复盘。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用这一页完成章节切换，先说清楚本部分的学习目标和时间安排。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解释封面中的四个 Lab、中文指南和三个工具之间的分工，再进入具体 Lab。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不要说“本次实践就是 Lab 3”。准确表述：讲师示范 Lab 3，学员实践范围是前四个 Lab。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逐项解读主提示和三个 Suggested Prompts，说明 Instructions 要怎样支撑这些输出。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指向回答中的资料引用，解释为什么知识型 Agent 的首要评价标准是可追溯，而不是文笔。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明确这是讲师示范的第 3 个 Lab，逐项检查输入结构、模板引用与输出可行动性。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先读提示词中的过滤条件和指标，再读图表；强调观察、推断和行动建议必须分层表达。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六步是普适方法，不是某一个 Agent 的专属流程。后面每页只讲一个关键步骤。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meeting follow-up output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本页保持在屏幕上 18 分钟。讲师巡场时用“任务是否清楚、边界是否清楚、输出是否稳定”三个问题提供反馈。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按网络规模、表格三列和角色分工进行解释。不要把 AI Ambassador 描述为审批者或业务责任人。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GCR AI Ambassador image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aiskillsnavigator.microsoft.com/playlists/291ff1ba-c754-44f1-9814-ef8917f8c989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playlists/291ff1ba-c754-44f1-9814-ef8917f8c989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zh-cn/training/courses/ms-4004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playlists/291ff1ba-c754-44f1-9814-ef8917f8c989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-ai-tool-lab.github.io/ai-tool-lab-preview/#agent-builder-path" TargetMode="External"/><Relationship Id="rId4" Type="http://schemas.openxmlformats.org/officeDocument/2006/relationships/hyperlink" Target="https://philips-ai-tool-lab.github.io/ai-tool-lab-preview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chief-of-staff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funnel-data-analyst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#agent-builder-path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7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-ai-tool-lab.github.io/ai-tool-lab-preview/" TargetMode="External"/><Relationship Id="rId4" Type="http://schemas.openxmlformats.org/officeDocument/2006/relationships/hyperlink" Target="https://www.aigateway.ai.inside.phili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AE40AF-D53C-408A-BAE1-8A25C564AE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7AB465-94EE-4BD3-B24E-BCF6DF612464}"/>
              </a:ext>
            </a:extLst>
          </p:cNvPr>
          <p:cNvSpPr>
            <a:spLocks noGrp="1"/>
          </p:cNvSpPr>
          <p:nvPr/>
        </p:nvSpPr>
        <p:spPr>
          <a:xfrm>
            <a:off x="800100" y="7810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9877D8-76A9-4D40-8183-6C9544E17CD7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F2AFD7-01D6-4C54-BD9B-69DC8EEBBFF9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914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Microsoft 365 Copilot 实操 · Copilot Builder 动手实验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3C1140-ACAC-4B3B-AA06-EAB4C9A81266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66991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292697-80B0-4FA7-8BDF-157F8A65BF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2EE08C-D4E7-4982-B0D4-C76DD6678A1B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1A4988-792C-464A-89AB-BC8CD5E47AD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为什么今天要学习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CBAC33-8DBC-4A46-8B6C-A15C2988E30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目标不是记住所有功能，而是建立一套可迁移的工作方法。我们要学会把背景、任务、输出和限制条件说清楚，同时保留对事实、来源和业务判断的责任。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FA245-9247-400B-ACF1-5A503C65AC8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BA4A87-3D93-4846-9739-B7E41495A81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DF9427-EF01-4BC0-A395-3F0247A39FB6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1009650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从“会问”开始。 AI 可以帮助我们整理信息、加速初稿并形成结构，但前提是把背景、任务、输出格式和限制条件说清楚。一个清楚的问题，往往比反复修改模糊答案更节省时间。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从“能用”进阶。 当同类任务反复出现时，可以把资料、规则和常用提示固化为 Agent，让一次性对话变成可复用的工作方式。这样做的重点不是追求复杂功能，而是让团队获得更稳定的处理步骤。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始终保持判断。 生成结果需要核对来源、事实、敏感信息和业务语境，人仍然对最终决定与交付负责。AI 可以帮助我们更快形成选项，但不能替代责任主体作出最终判断。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65743C-DF44-4247-BF4C-6D6D215E4F4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课程学习入口  ↗</a:t>
            </a:r>
          </a:p>
        </p:txBody>
      </p:sp>
    </p:spTree>
    <p:extLst>
      <p:ext uri="{BB962C8B-B14F-4D97-AF65-F5344CB8AC3E}">
        <p14:creationId xmlns:p14="http://schemas.microsoft.com/office/powerpoint/2010/main" val="39127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B0A3256-BB31-4CCF-9E29-979DE7FB75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B2BA93-1763-43E0-A474-21ADE850E340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3F2032-B159-4D73-A96E-43FE5F7A9CB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8941E-E052-4B37-A1A2-8EBFB59683D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5CA5F2-556B-4CBB-A731-2A3350044EA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FE4B87-B01F-420A-9C74-62C581C3BB2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48CD69-7ECA-4157-AADB-75C9D43FA91F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3BF02-5403-42A7-9208-E139024DA4F3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D98014-D1C2-450D-993B-CA5A85841079}"/>
              </a:ext>
            </a:extLst>
          </p:cNvPr>
          <p:cNvSpPr>
            <a:spLocks noGrp="1"/>
          </p:cNvSpPr>
          <p:nvPr/>
        </p:nvSpPr>
        <p:spPr>
          <a:xfrm>
            <a:off x="8763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 分钟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5B793F71-353F-4222-8F31-74839461E1D3}"/>
              </a:ext>
            </a:extLst>
          </p:cNvPr>
          <p:cNvSpPr>
            <a:spLocks noGrp="1"/>
          </p:cNvSpPr>
          <p:nvPr/>
        </p:nvSpPr>
        <p:spPr>
          <a:xfrm>
            <a:off x="25812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3FE7D3-FBA5-4587-B310-F77A716EEAF5}"/>
              </a:ext>
            </a:extLst>
          </p:cNvPr>
          <p:cNvSpPr>
            <a:spLocks noGrp="1"/>
          </p:cNvSpPr>
          <p:nvPr/>
        </p:nvSpPr>
        <p:spPr>
          <a:xfrm>
            <a:off x="28384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D26B3B-2D0F-4DF7-BDB3-D536F4318801}"/>
              </a:ext>
            </a:extLst>
          </p:cNvPr>
          <p:cNvSpPr>
            <a:spLocks noGrp="1"/>
          </p:cNvSpPr>
          <p:nvPr/>
        </p:nvSpPr>
        <p:spPr>
          <a:xfrm>
            <a:off x="30289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CA50A0-6580-427F-800A-BA8209BD82F7}"/>
              </a:ext>
            </a:extLst>
          </p:cNvPr>
          <p:cNvSpPr>
            <a:spLocks noGrp="1"/>
          </p:cNvSpPr>
          <p:nvPr/>
        </p:nvSpPr>
        <p:spPr>
          <a:xfrm>
            <a:off x="30289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8 分钟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76C345DF-EF71-49DE-8C8C-1EF9D774D8F5}"/>
              </a:ext>
            </a:extLst>
          </p:cNvPr>
          <p:cNvSpPr>
            <a:spLocks noGrp="1"/>
          </p:cNvSpPr>
          <p:nvPr/>
        </p:nvSpPr>
        <p:spPr>
          <a:xfrm>
            <a:off x="47339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5C435A-F8D6-43F5-BA5D-E7BB708ED172}"/>
              </a:ext>
            </a:extLst>
          </p:cNvPr>
          <p:cNvSpPr>
            <a:spLocks noGrp="1"/>
          </p:cNvSpPr>
          <p:nvPr/>
        </p:nvSpPr>
        <p:spPr>
          <a:xfrm>
            <a:off x="49911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7C09C9-3F75-45F3-9646-C1ECD795D394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B84262-786E-4C8A-B15C-0ABCBA3C800C}"/>
              </a:ext>
            </a:extLst>
          </p:cNvPr>
          <p:cNvSpPr>
            <a:spLocks noGrp="1"/>
          </p:cNvSpPr>
          <p:nvPr/>
        </p:nvSpPr>
        <p:spPr>
          <a:xfrm>
            <a:off x="51816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24 分钟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504ADBE9-B5F8-4659-9A51-9EC508D7BFC4}"/>
              </a:ext>
            </a:extLst>
          </p:cNvPr>
          <p:cNvSpPr>
            <a:spLocks noGrp="1"/>
          </p:cNvSpPr>
          <p:nvPr/>
        </p:nvSpPr>
        <p:spPr>
          <a:xfrm>
            <a:off x="68865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18E290-93EF-469C-B714-47CC8CD24C25}"/>
              </a:ext>
            </a:extLst>
          </p:cNvPr>
          <p:cNvSpPr>
            <a:spLocks noGrp="1"/>
          </p:cNvSpPr>
          <p:nvPr/>
        </p:nvSpPr>
        <p:spPr>
          <a:xfrm>
            <a:off x="71437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976B68-2611-471D-9AEE-6332AB365A0F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28565D-29FF-470F-93B8-42E47A06986E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B9958A-2EB3-4A8C-969D-824456FB1F07}"/>
              </a:ext>
            </a:extLst>
          </p:cNvPr>
          <p:cNvSpPr>
            <a:spLocks noGrp="1"/>
          </p:cNvSpPr>
          <p:nvPr/>
        </p:nvSpPr>
        <p:spPr>
          <a:xfrm>
            <a:off x="73342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40 分钟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CC267870-B8EA-48CB-8CAD-655E5AAB9847}"/>
              </a:ext>
            </a:extLst>
          </p:cNvPr>
          <p:cNvSpPr>
            <a:spLocks noGrp="1"/>
          </p:cNvSpPr>
          <p:nvPr/>
        </p:nvSpPr>
        <p:spPr>
          <a:xfrm>
            <a:off x="90392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92C2835-F0BE-48F8-9AFE-8E2BD91A7C11}"/>
              </a:ext>
            </a:extLst>
          </p:cNvPr>
          <p:cNvSpPr>
            <a:spLocks noGrp="1"/>
          </p:cNvSpPr>
          <p:nvPr/>
        </p:nvSpPr>
        <p:spPr>
          <a:xfrm>
            <a:off x="92964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3571A0-CE45-40D8-8D40-BF278B59D01A}"/>
              </a:ext>
            </a:extLst>
          </p:cNvPr>
          <p:cNvSpPr>
            <a:spLocks noGrp="1"/>
          </p:cNvSpPr>
          <p:nvPr/>
        </p:nvSpPr>
        <p:spPr>
          <a:xfrm>
            <a:off x="94869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90D43B-02DE-4027-9E9B-5B572CF05891}"/>
              </a:ext>
            </a:extLst>
          </p:cNvPr>
          <p:cNvSpPr>
            <a:spLocks noGrp="1"/>
          </p:cNvSpPr>
          <p:nvPr/>
        </p:nvSpPr>
        <p:spPr>
          <a:xfrm>
            <a:off x="94869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 分钟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C7A768-2D10-4BD4-B2DD-C6D13C7C0B1D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1ECA4A-7944-4021-BBAB-42D1298BE5A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291311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4366DA-F7CA-4BAD-B462-60A0D9EF57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C1E372-5A35-44E6-A181-A5DE1525E086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6A6BE2-60D7-4E9C-A48F-884DA5F30A23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6DEAC5-E0B5-4348-AA20-98DA710FB43A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2F842A-34E5-412A-B130-BEC7B126FD9E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 8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50B73D-10DA-4B4B-92ED-219D9ECD1D81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58460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FDB8E4-3793-409B-B097-8212CF2595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AA5438-21CE-4B56-A59F-17BEF8252A82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BC6B06-5D4D-43CB-856E-63E0E451E85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战略：从零散尝试走向规模化组合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BBC999-35AA-4626-8AF9-28A76DC55AE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这份战略一页纸的核心不是罗列工具，而是说明 Group Sustainability 正从孤立的 AI 用例转向有明确负责人、实际业务价值和扩展优先级的重点项目组合。绿色 Now 表示已经在运行或部署，橙色 Next 表示下一阶段准备规模化的能力。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2D0B43-3440-4F98-B242-9FF2C8677FC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C7BD4A-3C99-4886-9F70-4235F72B887B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24667" y="1714500"/>
            <a:ext cx="6942667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ADF7D7-C8C5-427D-8D82-0E13CDE0ED32}"/>
              </a:ext>
            </a:extLst>
          </p:cNvPr>
          <p:cNvSpPr>
            <a:spLocks noGrp="1"/>
          </p:cNvSpPr>
          <p:nvPr/>
        </p:nvSpPr>
        <p:spPr>
          <a:xfrm>
            <a:off x="1123950" y="1695450"/>
            <a:ext cx="9944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1F7329-8144-4413-9D93-EBAC910930B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113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91BF785-A8DC-4DB1-97F1-A829C730A5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DC3709-24AC-482A-9001-F250F8615BD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966BD-A360-40C6-B368-CCD15AFD2AB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战略主线：能力、供应商与合规三条基础工作流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263B8A-2CC1-4143-A142-A15550C3307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前三条工作流共同解决规模化的基础问题：员工是否具备能力、供应链数据是否能够转化为风险洞察，以及法规变化是否能够被及时、稳定地处理。它们把 AI 从个人效率工具提升为可重复运行的组织能力。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F6A5B-344A-4B02-BE13-B163936A6E6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4ABE74-690D-4700-97AC-05E1B57552B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482E0-FE8E-4EC3-9E25-ACDB81438360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102870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1｜AI Capability &amp; Adoption：当前正在开发面向 GSO 岗位的角色化学习路径，并通过实践社区分享用例和采用经验；下一步建立 AI 价值漏斗与 champion network，把高价值用例识别、排序并推动规模化。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2｜Supplier Sustainability：当前 AI 已用于强化供应商可持续风险洞察与成熟度评估，并借助自动化公共信息筛查推进供应商风险画像；下一步处理非结构化供应商数据，进一步支持改进措施。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3｜Regulatory &amp; Compliance：当前 AI 每年辅助分流 2,000 多项可持续发展法规，并扩展到更快、更一致的 B/R/F 指导解读；下一步把监测能力连接到 QMS 要求和审计流程。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FDCB7-D9A5-49F3-A2D0-B7272ADD5FAF}"/>
              </a:ext>
            </a:extLst>
          </p:cNvPr>
          <p:cNvSpPr>
            <a:spLocks noGrp="1"/>
          </p:cNvSpPr>
          <p:nvPr/>
        </p:nvSpPr>
        <p:spPr>
          <a:xfrm>
            <a:off x="1238250" y="5238750"/>
            <a:ext cx="971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策略含义：先标准化学习、数据处理和法规解读，再谈跨团队复制；规模化的前提是共同方法、清晰责任和可验证的流程。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F19F60-90EC-4C9B-AE17-2FEF77094821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970236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18413BB-746E-4BFE-B3C2-A839991F5E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D77782-6E0B-4675-A418-2FB1918A8E4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74A0F5-274E-4946-B342-341FFAE0BB69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战略落地：商业支持、报告分析与 2026 规模化重点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70155B-D5E6-42BA-9366-DE3FFAE27A7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后两条工作流把基础能力转化为直接业务价值：一条面向投标与市场支持，另一条面向双重重要性评估、数据采集和披露流程。底部横条进一步给出 2026 年的统一方向。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CD71FC-689E-42D0-AA23-3499C95C079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66273B-B373-48B6-B25D-AFBE7D99C8F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4AE2F1-22D4-4B7A-AB91-0BB6F5522A13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102870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4｜Business &amp; Markets：Tender Assistant 正在部署，用于支持 150 多个销售后台团队；同时通过简化工作流减少人工协调、释放专家产能。下一步将在更多区域和优先投标场景中扩大 AI 支持。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5｜Reporting &amp; Analysis：AI 当前支持 Double Materiality Assessment，并通过 GLYNT.ai 扩大制造基地的发票数据采集；下一步计划支持 CDP 等披露工作流和部分 DJSI 步骤。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focus：规模化已经验证的用例、标准化共同能力，并优先选择能够衡量影响的项目。换句话说，不以“用了多少 AI”为目标，而以是否形成可复制流程、明确责任和可量化结果来判断价值。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84E989-D825-48CD-A2CA-6D053205ABD2}"/>
              </a:ext>
            </a:extLst>
          </p:cNvPr>
          <p:cNvSpPr>
            <a:spLocks noGrp="1"/>
          </p:cNvSpPr>
          <p:nvPr/>
        </p:nvSpPr>
        <p:spPr>
          <a:xfrm>
            <a:off x="1095375" y="52578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五条工作流的共同结构是：明确现有证据 → 指定下一步扩展方向 → 配置 Sponsor、Leadership Team 与 Owner，确保项目有人负责、有人推动、能够度量。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3660A6-BF19-477E-8463-99E812293FB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513793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5BC5E9B-EE4E-4FE8-99A9-7632EC1B3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595661-8DAD-4B22-970C-672208F18125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ACF1D-2BF4-45D1-AE83-10141D679E8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 展示的是什么？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8E1A56-5E1D-4791-B3F3-B2A8EEF5373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它更接近企业 ChatGPT 的统一访问、治理和支持入口，而不是一个“所有 AI 工具都能在这里找到”的应用商店。理解这一定位以后，我们就知道应该在页面上寻找访问状态、申请支持和使用规范。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F04259-50D9-4B5A-9394-FDD36177661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47DA5-0387-40AF-992A-7BB3A51AA5C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0C0C75-3E3D-44D6-B934-E0BA5790E99E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4A5003-C556-463E-9201-A7A00E8859A6}"/>
              </a:ext>
            </a:extLst>
          </p:cNvPr>
          <p:cNvSpPr>
            <a:spLocks noGrp="1"/>
          </p:cNvSpPr>
          <p:nvPr/>
        </p:nvSpPr>
        <p:spPr>
          <a:xfrm>
            <a:off x="1047750" y="21621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44F02F-DF62-4FC8-9414-A7FEC1C9A7F9}"/>
              </a:ext>
            </a:extLst>
          </p:cNvPr>
          <p:cNvSpPr>
            <a:spLocks noGrp="1"/>
          </p:cNvSpPr>
          <p:nvPr/>
        </p:nvSpPr>
        <p:spPr>
          <a:xfrm>
            <a:off x="10477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CB496A-651B-4EFE-BFC2-0316812D056C}"/>
              </a:ext>
            </a:extLst>
          </p:cNvPr>
          <p:cNvSpPr>
            <a:spLocks noGrp="1"/>
          </p:cNvSpPr>
          <p:nvPr/>
        </p:nvSpPr>
        <p:spPr>
          <a:xfrm>
            <a:off x="16002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FE7840-B760-4FBA-8F6C-0A066CCA3353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7E38C8-4B70-4BC7-AFE5-7F73D6A76FB6}"/>
              </a:ext>
            </a:extLst>
          </p:cNvPr>
          <p:cNvSpPr>
            <a:spLocks noGrp="1"/>
          </p:cNvSpPr>
          <p:nvPr/>
        </p:nvSpPr>
        <p:spPr>
          <a:xfrm>
            <a:off x="44958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CE5062-3A4B-4D7E-A0CE-6D3F2606430C}"/>
              </a:ext>
            </a:extLst>
          </p:cNvPr>
          <p:cNvSpPr>
            <a:spLocks noGrp="1"/>
          </p:cNvSpPr>
          <p:nvPr/>
        </p:nvSpPr>
        <p:spPr>
          <a:xfrm>
            <a:off x="4705350" y="2162175"/>
            <a:ext cx="400050" cy="4000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4E9D76-DB36-43E1-A1B6-74E380386A83}"/>
              </a:ext>
            </a:extLst>
          </p:cNvPr>
          <p:cNvSpPr>
            <a:spLocks noGrp="1"/>
          </p:cNvSpPr>
          <p:nvPr/>
        </p:nvSpPr>
        <p:spPr>
          <a:xfrm>
            <a:off x="47053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B1D15C-CEAC-4B2E-83CB-90A3E7A8A360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C91C43-3671-48BC-9EAB-2E251A5D093F}"/>
              </a:ext>
            </a:extLst>
          </p:cNvPr>
          <p:cNvSpPr>
            <a:spLocks noGrp="1"/>
          </p:cNvSpPr>
          <p:nvPr/>
        </p:nvSpPr>
        <p:spPr>
          <a:xfrm>
            <a:off x="47053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E01472C-5B22-42DD-8C82-FE2EFE221F7E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DDDE320-D349-4A89-ACF3-C004E43333CF}"/>
              </a:ext>
            </a:extLst>
          </p:cNvPr>
          <p:cNvSpPr>
            <a:spLocks noGrp="1"/>
          </p:cNvSpPr>
          <p:nvPr/>
        </p:nvSpPr>
        <p:spPr>
          <a:xfrm>
            <a:off x="8362950" y="21621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C7529-78F4-4EA7-A994-2336F811F82A}"/>
              </a:ext>
            </a:extLst>
          </p:cNvPr>
          <p:cNvSpPr>
            <a:spLocks noGrp="1"/>
          </p:cNvSpPr>
          <p:nvPr/>
        </p:nvSpPr>
        <p:spPr>
          <a:xfrm>
            <a:off x="83629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E5E154-0101-455A-8567-A65BF0038CE7}"/>
              </a:ext>
            </a:extLst>
          </p:cNvPr>
          <p:cNvSpPr>
            <a:spLocks noGrp="1"/>
          </p:cNvSpPr>
          <p:nvPr/>
        </p:nvSpPr>
        <p:spPr>
          <a:xfrm>
            <a:off x="89154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CC527A-2985-4F66-9A46-8B673D1BF4B7}"/>
              </a:ext>
            </a:extLst>
          </p:cNvPr>
          <p:cNvSpPr>
            <a:spLocks noGrp="1"/>
          </p:cNvSpPr>
          <p:nvPr/>
        </p:nvSpPr>
        <p:spPr>
          <a:xfrm>
            <a:off x="83629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6FCE1E-7FFF-482F-B834-6941A8F445F9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因此，课堂上的探索任务应聚焦：入口在哪里、如何获得支持、有哪些使用规范，而不是要求学员在页面中寻找完整的学习课程或所有 Copilot 工具。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1023A6A-7A53-45DE-B9B3-4C242AF2A22D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928970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D1B3DF7-5A52-494F-8D7F-9A80417BC5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23B562-4366-4DF5-82DF-A5535923E192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63F90D-7A3B-4BC4-B84E-7756E014AFB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入口与访问：AI Gateway 同时管理开通、治理与运营可见性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6EFF25-FC76-47A8-82AF-590478060B5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22"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首页上方说明 Enterprise ChatGPT for Philips 的定位；右侧状态卡显示当前标准用户配置可使用引导助手。下方三张卡分别对应成本与配额、使用可见性和标准化 onboarding，说明这是受企业运营模型管理的入口。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979923-7296-41CE-ABF1-A0C76CFADC5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7F8B90-D063-4B07-A40F-50D5F325E08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6711" y="1809750"/>
            <a:ext cx="6531429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40D25A-ECD9-4B62-8DBC-986784BE59EA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6991350" cy="3467100"/>
          </a:xfrm>
          <a:prstGeom prst="roundRect">
            <a:avLst>
              <a:gd name="adj" fmla="val 329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61824F-9C34-4348-80F9-AC009FD1C7E6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5814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ED1761-2A4C-4438-9F89-76D9C8DD1856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画面解析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C77009-4EF3-4DF8-8A6E-BCC095D89CF1}"/>
              </a:ext>
            </a:extLst>
          </p:cNvPr>
          <p:cNvSpPr>
            <a:spLocks noGrp="1"/>
          </p:cNvSpPr>
          <p:nvPr/>
        </p:nvSpPr>
        <p:spPr>
          <a:xfrm>
            <a:off x="8153400" y="243840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 fontScale="95238"/>
          </a:bodyPr>
          <a:lstStyle/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访问入口：主卡提供 Request access through the assistant，并明确 assistant 可回答 onboarding、企业使用预期、Responsible AI 和申请步骤。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状态判断：右侧卡片要区分“可使用引导助手”和“具体 ChatGPT 权限状态”，不要把页面提示简单理解为所有功能都已自动开通。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运营机制：下方三项说明用量与成本配额相连、请求与治理信号可观察、申请按 Philips group 和审批路径标准化。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CA1249-F574-48EF-A19B-D35AAF81D6C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76238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2D7056-1766-4C03-BDA4-84E74383DA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765993-43BB-4F1B-B306-206E5221B413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D29A7F-230E-4493-912F-3AA63D60482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常见用途与责任边界：能力清单必须和使用条件一起读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9A7834-6B65-4BED-962F-37765BC9E25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左侧列出团队常见的四类用途，右侧列出首次使用前必须理解的四项条件。画面的设计在提醒我们：起草、总结、研究和自动化带来效率，但必须同时满足批准场景、数据边界、人工复核与正式开通流程。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32D12A-8361-4C17-B0F1-F21D7880EA8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ED9D7F-A45D-4FAA-9320-7DCBBB3A3E6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6711" y="1809750"/>
            <a:ext cx="6531429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1E4616-55A2-4A99-9167-B653402F31F8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6991350" cy="3467100"/>
          </a:xfrm>
          <a:prstGeom prst="roundRect">
            <a:avLst>
              <a:gd name="adj" fmla="val 329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DE33C7-318E-489E-B830-76FF5EB25E79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5814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AD6629-5D57-448C-AD94-4D69DD399AE3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画面解析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A0A449-E89E-4653-9612-C4587FD42BAE}"/>
              </a:ext>
            </a:extLst>
          </p:cNvPr>
          <p:cNvSpPr>
            <a:spLocks noGrp="1"/>
          </p:cNvSpPr>
          <p:nvPr/>
        </p:nvSpPr>
        <p:spPr>
          <a:xfrm>
            <a:off x="8153400" y="243840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 fontScale="97573"/>
          </a:bodyPr>
          <a:lstStyle/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怎样负责任地做：仅在批准的 Philips 工作情境中使用，遵守企业数据处理与可见性要求；审阅生成结果，不在未批准环境中放入敏感信息。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怎样获得权限：访问需要经过 Philips 审批与 provisioning；准备申请时从 AI Gateway 开始，并按所在 group 的引导路径完成。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8C6FFA-3385-472D-8551-763142C8991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1587199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F38BCA-D298-47C5-93B1-235163F7F5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E7DD84-6964-49F3-9961-C6770C6382D5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AF3FAE-E28F-4419-BCEA-55D0CAC0CF89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25E98D-1B95-4153-BC05-3110E525B726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DB793-687C-4652-9B8F-7ED0CEA8A972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 24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A8EC40-4195-475B-B07E-512D3F2A346E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Skills Navigator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44F05D-E3A8-4559-B887-BD14D17A9DF6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MS-4004 学习路径  ↗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621F6E-3495-4F65-BDA6-0EB75B3A80E7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85899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BAF8034-979B-4730-9364-6437F90985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18B51F-5A31-4167-B997-2EAC451BC2E9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27F339-7208-4725-9FA6-D0CD3723323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Navigator：微软官方 AI 学习网站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02803-5829-4BC7-BDDC-DF5C583B976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它是微软提供的 AI 技能学习导航站，适合按角色、产品和学习目标寻找内容。这里不仅有 Copilot 用例，也有更广泛的 AI 基础、技术和业务学习资源，可以作为课程结束后的持续学习入口。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D210D8-4869-4FF3-818C-77F88B94045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09D3E6-76DE-4961-936F-D764213E2E0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341A4F-6241-4D8A-9AA6-819CFAA591CD}"/>
              </a:ext>
            </a:extLst>
          </p:cNvPr>
          <p:cNvSpPr>
            <a:spLocks noGrp="1"/>
          </p:cNvSpPr>
          <p:nvPr/>
        </p:nvSpPr>
        <p:spPr>
          <a:xfrm>
            <a:off x="1181100" y="1952625"/>
            <a:ext cx="9829800" cy="2714625"/>
          </a:xfrm>
          <a:prstGeom prst="roundRect">
            <a:avLst>
              <a:gd name="adj" fmla="val 4211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519A21-4242-40D1-8B3B-FDDF88DD838B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891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1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AI Skills Navigator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08F306-BE5D-413A-9EE1-8700212C5DD8}"/>
              </a:ext>
            </a:extLst>
          </p:cNvPr>
          <p:cNvSpPr>
            <a:spLocks noGrp="1"/>
          </p:cNvSpPr>
          <p:nvPr/>
        </p:nvSpPr>
        <p:spPr>
          <a:xfrm>
            <a:off x="1809750" y="316230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Explore AI learning paths, role-based scenarios and Microsoft training resources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15F92C-717A-4C16-B549-5788E4FD40AD}"/>
              </a:ext>
            </a:extLst>
          </p:cNvPr>
          <p:cNvSpPr>
            <a:spLocks noGrp="1"/>
          </p:cNvSpPr>
          <p:nvPr/>
        </p:nvSpPr>
        <p:spPr>
          <a:xfrm>
            <a:off x="2190750" y="39624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本页采用结构化示意，点击下方按钮可直接进入官方站点。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A08EDD-D2E7-4A93-9EC7-6493B6F1CE4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460672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21E405C-1AD8-4857-97C7-2EE29D9DD6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DD0D0B-2932-4115-BE33-F5AC9753BCE5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16B83C-5835-4471-A662-90F26584908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除了 MS-4004，还能学什么？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3B3A59-F8A9-404A-AB9A-D20BC96E455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的价值在于持续探索：同一网站中可以按照角色和能力水平找到不同深度的学习内容，而不是只完成一门课程。大家可以先补充 AI 基础，再按岗位学习业务场景，最后根据需要进入产品或技术方向。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C51DD-E8F6-4350-BDE2-DE467845146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B3CE48-869A-47A8-82F1-EA264F6E5E5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D157DF-0EB4-4356-8AAF-B57928CCE22F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3190875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C4F65B-B85D-4187-8567-59BCCD8024B4}"/>
              </a:ext>
            </a:extLst>
          </p:cNvPr>
          <p:cNvSpPr>
            <a:spLocks noGrp="1"/>
          </p:cNvSpPr>
          <p:nvPr/>
        </p:nvSpPr>
        <p:spPr>
          <a:xfrm>
            <a:off x="1047750" y="21621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1519A-91E0-4E30-8702-A8B350F0B921}"/>
              </a:ext>
            </a:extLst>
          </p:cNvPr>
          <p:cNvSpPr>
            <a:spLocks noGrp="1"/>
          </p:cNvSpPr>
          <p:nvPr/>
        </p:nvSpPr>
        <p:spPr>
          <a:xfrm>
            <a:off x="10477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AF768-E812-4195-AFA0-C5104F866B43}"/>
              </a:ext>
            </a:extLst>
          </p:cNvPr>
          <p:cNvSpPr>
            <a:spLocks noGrp="1"/>
          </p:cNvSpPr>
          <p:nvPr/>
        </p:nvSpPr>
        <p:spPr>
          <a:xfrm>
            <a:off x="16002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基础与负责任使用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95222-AC73-4F86-A2CF-857BC1475BA9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277177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理解生成式 AI 的基本能力、限制、风险与验证方法，建立安全和负责任的使用习惯。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3CA029-D78C-45F5-9185-24FF7EE9FF66}"/>
              </a:ext>
            </a:extLst>
          </p:cNvPr>
          <p:cNvSpPr>
            <a:spLocks noGrp="1"/>
          </p:cNvSpPr>
          <p:nvPr/>
        </p:nvSpPr>
        <p:spPr>
          <a:xfrm>
            <a:off x="4495800" y="1952625"/>
            <a:ext cx="3190875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3369AAA-D351-4179-B68A-65906C4D77D8}"/>
              </a:ext>
            </a:extLst>
          </p:cNvPr>
          <p:cNvSpPr>
            <a:spLocks noGrp="1"/>
          </p:cNvSpPr>
          <p:nvPr/>
        </p:nvSpPr>
        <p:spPr>
          <a:xfrm>
            <a:off x="4705350" y="2162175"/>
            <a:ext cx="400050" cy="4000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37F33C-C55E-44CA-9933-BDC797F38E9B}"/>
              </a:ext>
            </a:extLst>
          </p:cNvPr>
          <p:cNvSpPr>
            <a:spLocks noGrp="1"/>
          </p:cNvSpPr>
          <p:nvPr/>
        </p:nvSpPr>
        <p:spPr>
          <a:xfrm>
            <a:off x="47053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324946-7BED-4424-923F-8E06A2EC68DE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按角色与业务场景学习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31011D-54E7-49FC-AF97-ACF02D468F03}"/>
              </a:ext>
            </a:extLst>
          </p:cNvPr>
          <p:cNvSpPr>
            <a:spLocks noGrp="1"/>
          </p:cNvSpPr>
          <p:nvPr/>
        </p:nvSpPr>
        <p:spPr>
          <a:xfrm>
            <a:off x="4705350" y="2657475"/>
            <a:ext cx="277177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围绕管理、销售、营销、财务、HR、运营等岗位，理解 Copilot 如何嵌入常见工作流程。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494507-2826-4B49-A0A6-D13E1EDF9E48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3190875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C2C513-555A-42F3-AFA7-45DB0DEF8162}"/>
              </a:ext>
            </a:extLst>
          </p:cNvPr>
          <p:cNvSpPr>
            <a:spLocks noGrp="1"/>
          </p:cNvSpPr>
          <p:nvPr/>
        </p:nvSpPr>
        <p:spPr>
          <a:xfrm>
            <a:off x="8362950" y="21621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6FA259-5494-4DA1-9DAB-2332C8F4F890}"/>
              </a:ext>
            </a:extLst>
          </p:cNvPr>
          <p:cNvSpPr>
            <a:spLocks noGrp="1"/>
          </p:cNvSpPr>
          <p:nvPr/>
        </p:nvSpPr>
        <p:spPr>
          <a:xfrm>
            <a:off x="83629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A9CE00-A2C7-4593-8BC0-33C969EB64F2}"/>
              </a:ext>
            </a:extLst>
          </p:cNvPr>
          <p:cNvSpPr>
            <a:spLocks noGrp="1"/>
          </p:cNvSpPr>
          <p:nvPr/>
        </p:nvSpPr>
        <p:spPr>
          <a:xfrm>
            <a:off x="89154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产品与技术能力进阶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4BC369-53EE-4D73-A560-5DF2B2DB4064}"/>
              </a:ext>
            </a:extLst>
          </p:cNvPr>
          <p:cNvSpPr>
            <a:spLocks noGrp="1"/>
          </p:cNvSpPr>
          <p:nvPr/>
        </p:nvSpPr>
        <p:spPr>
          <a:xfrm>
            <a:off x="8362950" y="2657475"/>
            <a:ext cx="277177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继续学习 Microsoft 365 Copilot、Azure AI、Power Platform 等产品或技术方向。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2D1B17-9275-4F17-99F9-AB0115A2E15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探索更多学习内容  ↗</a:t>
            </a:r>
          </a:p>
        </p:txBody>
      </p:sp>
    </p:spTree>
    <p:extLst>
      <p:ext uri="{BB962C8B-B14F-4D97-AF65-F5344CB8AC3E}">
        <p14:creationId xmlns:p14="http://schemas.microsoft.com/office/powerpoint/2010/main" val="711355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1CD2C79-B955-46EE-BD1E-C92DFB347D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442C2-54BF-45CA-9EFD-DFF72A19CA9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361653-A2FA-4031-9BA6-4DE55D52A94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MS-4004：Microsoft 365 Copilot Use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30BDC-4108-4106-BC9D-AD2E45C3F3F3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是 AI Skills Navigator 中的一条官方学习路径，按典型岗位介绍 Microsoft 365 Copilot 的使用场景。今天不逐模块复述，而是提炼一个所有岗位都能练习的通用案例，帮助大家理解课程方法如何迁移到自己的工作。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65834C-FAD1-4EEF-B5B8-37017F68E46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2462BF-07FC-414C-92E9-2E6BDD7A623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9E7394-829C-42C1-A8D1-8D2ED1DEA1C0}"/>
              </a:ext>
            </a:extLst>
          </p:cNvPr>
          <p:cNvSpPr>
            <a:spLocks noGrp="1"/>
          </p:cNvSpPr>
          <p:nvPr/>
        </p:nvSpPr>
        <p:spPr>
          <a:xfrm>
            <a:off x="1219200" y="2000250"/>
            <a:ext cx="9753600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EBF30B-3B6F-479E-8D8E-4B7D94F8FB27}"/>
              </a:ext>
            </a:extLst>
          </p:cNvPr>
          <p:cNvSpPr>
            <a:spLocks noGrp="1"/>
          </p:cNvSpPr>
          <p:nvPr/>
        </p:nvSpPr>
        <p:spPr>
          <a:xfrm>
            <a:off x="1695450" y="240030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MS-4004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5B6BD5-228C-4E88-B468-1D4DD10F323B}"/>
              </a:ext>
            </a:extLst>
          </p:cNvPr>
          <p:cNvSpPr>
            <a:spLocks noGrp="1"/>
          </p:cNvSpPr>
          <p:nvPr/>
        </p:nvSpPr>
        <p:spPr>
          <a:xfrm>
            <a:off x="4171950" y="240030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Empower your workforce with Microsoft 365 Copilot Use Cases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EE1EB0-6C99-423F-BAE5-2D0FF4D48A72}"/>
              </a:ext>
            </a:extLst>
          </p:cNvPr>
          <p:cNvSpPr>
            <a:spLocks noGrp="1"/>
          </p:cNvSpPr>
          <p:nvPr/>
        </p:nvSpPr>
        <p:spPr>
          <a:xfrm>
            <a:off x="4171950" y="33337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角色化案例 · 任务导向 · 可直接迁移到日常工作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230163-9D02-45F9-9394-5E4EA47209D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MS-4004 播放列表  ↗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210531-CDCA-4974-A11A-6DA2459E15D9}"/>
              </a:ext>
            </a:extLst>
          </p:cNvPr>
          <p:cNvSpPr>
            <a:spLocks noGrp="1"/>
          </p:cNvSpPr>
          <p:nvPr/>
        </p:nvSpPr>
        <p:spPr>
          <a:xfrm>
            <a:off x="352425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897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52A7675-3192-45A7-8F8A-FBD8C353A7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A4AE02-94BB-443F-90C5-33E50E958240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D3BC0-C857-4DFC-9610-5B7E65F1128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51186D-E238-4BA1-930E-F4B28B4205F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课程通过不同岗位说明 Copilot 如何处理信息、沟通、分析与决策支持。学员无需局限于岗位名称，而应识别其中可以迁移的任务模式，例如快速理解上下文、比较多份资料并形成下一步沟通。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08322D-2A9C-41E6-BAB5-AE152313198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8C589-C5D3-4EC4-A7C8-E910357FCBAA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EB39EC-AAC7-455F-B0DE-B624A8B2EB3B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3906B8-C6B3-469D-B8D6-8EC87BEA0591}"/>
              </a:ext>
            </a:extLst>
          </p:cNvPr>
          <p:cNvSpPr>
            <a:spLocks noGrp="1"/>
          </p:cNvSpPr>
          <p:nvPr/>
        </p:nvSpPr>
        <p:spPr>
          <a:xfrm>
            <a:off x="9715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82A09F-DD59-4EAB-8B82-5E6CDF72A42F}"/>
              </a:ext>
            </a:extLst>
          </p:cNvPr>
          <p:cNvSpPr>
            <a:spLocks noGrp="1"/>
          </p:cNvSpPr>
          <p:nvPr/>
        </p:nvSpPr>
        <p:spPr>
          <a:xfrm>
            <a:off x="13811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ABD339-C1BA-4F79-B41F-F244ABFDE253}"/>
              </a:ext>
            </a:extLst>
          </p:cNvPr>
          <p:cNvSpPr>
            <a:spLocks noGrp="1"/>
          </p:cNvSpPr>
          <p:nvPr/>
        </p:nvSpPr>
        <p:spPr>
          <a:xfrm>
            <a:off x="29908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4CE24C-F595-484B-929A-E6E7AF2BDE66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DBA107-916E-425D-9731-8FF448762F81}"/>
              </a:ext>
            </a:extLst>
          </p:cNvPr>
          <p:cNvSpPr>
            <a:spLocks noGrp="1"/>
          </p:cNvSpPr>
          <p:nvPr/>
        </p:nvSpPr>
        <p:spPr>
          <a:xfrm>
            <a:off x="35909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0005E8-47D3-4B52-9219-8BDCA301828C}"/>
              </a:ext>
            </a:extLst>
          </p:cNvPr>
          <p:cNvSpPr>
            <a:spLocks noGrp="1"/>
          </p:cNvSpPr>
          <p:nvPr/>
        </p:nvSpPr>
        <p:spPr>
          <a:xfrm>
            <a:off x="52006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C6870D-8BA6-4FEE-8474-522B29E4115C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32A75-1038-4D71-9B4F-C10FE14ADBE2}"/>
              </a:ext>
            </a:extLst>
          </p:cNvPr>
          <p:cNvSpPr>
            <a:spLocks noGrp="1"/>
          </p:cNvSpPr>
          <p:nvPr/>
        </p:nvSpPr>
        <p:spPr>
          <a:xfrm>
            <a:off x="58007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02E89D-A3CC-4F0E-AF81-EF4688C80333}"/>
              </a:ext>
            </a:extLst>
          </p:cNvPr>
          <p:cNvSpPr>
            <a:spLocks noGrp="1"/>
          </p:cNvSpPr>
          <p:nvPr/>
        </p:nvSpPr>
        <p:spPr>
          <a:xfrm>
            <a:off x="74104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F6D49B-5D07-428E-8415-6FF24090C672}"/>
              </a:ext>
            </a:extLst>
          </p:cNvPr>
          <p:cNvSpPr>
            <a:spLocks noGrp="1"/>
          </p:cNvSpPr>
          <p:nvPr/>
        </p:nvSpPr>
        <p:spPr>
          <a:xfrm>
            <a:off x="76009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D2C182-62C8-47F8-B6C5-A6E81352108A}"/>
              </a:ext>
            </a:extLst>
          </p:cNvPr>
          <p:cNvSpPr>
            <a:spLocks noGrp="1"/>
          </p:cNvSpPr>
          <p:nvPr/>
        </p:nvSpPr>
        <p:spPr>
          <a:xfrm>
            <a:off x="80105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C641A6B-22CE-4874-A6DE-AD46A2173985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8DB07A-22DB-489D-893C-14108D6F9952}"/>
              </a:ext>
            </a:extLst>
          </p:cNvPr>
          <p:cNvSpPr>
            <a:spLocks noGrp="1"/>
          </p:cNvSpPr>
          <p:nvPr/>
        </p:nvSpPr>
        <p:spPr>
          <a:xfrm>
            <a:off x="98107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FDA816-7338-49B4-8DAD-F29E04143083}"/>
              </a:ext>
            </a:extLst>
          </p:cNvPr>
          <p:cNvSpPr>
            <a:spLocks noGrp="1"/>
          </p:cNvSpPr>
          <p:nvPr/>
        </p:nvSpPr>
        <p:spPr>
          <a:xfrm>
            <a:off x="102203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05FFA76-C2C1-45D7-9FA8-57B745E9809F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513C12-2E71-4AFB-9F78-2842C72341F7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4EE337-4572-4595-8389-3982D8DC182B}"/>
              </a:ext>
            </a:extLst>
          </p:cNvPr>
          <p:cNvSpPr>
            <a:spLocks noGrp="1"/>
          </p:cNvSpPr>
          <p:nvPr/>
        </p:nvSpPr>
        <p:spPr>
          <a:xfrm>
            <a:off x="13811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D97A504-0D1B-463C-BF2F-A47B76D1B8F6}"/>
              </a:ext>
            </a:extLst>
          </p:cNvPr>
          <p:cNvSpPr>
            <a:spLocks noGrp="1"/>
          </p:cNvSpPr>
          <p:nvPr/>
        </p:nvSpPr>
        <p:spPr>
          <a:xfrm>
            <a:off x="29908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B773BF-4A6C-4908-9C71-6FAD746630FC}"/>
              </a:ext>
            </a:extLst>
          </p:cNvPr>
          <p:cNvSpPr>
            <a:spLocks noGrp="1"/>
          </p:cNvSpPr>
          <p:nvPr/>
        </p:nvSpPr>
        <p:spPr>
          <a:xfrm>
            <a:off x="31813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152AC7-EFA3-4EBE-83A8-DD3F11A68A33}"/>
              </a:ext>
            </a:extLst>
          </p:cNvPr>
          <p:cNvSpPr>
            <a:spLocks noGrp="1"/>
          </p:cNvSpPr>
          <p:nvPr/>
        </p:nvSpPr>
        <p:spPr>
          <a:xfrm>
            <a:off x="35909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0E8D517-4153-4CBD-82E0-DCF7DBDF14D5}"/>
              </a:ext>
            </a:extLst>
          </p:cNvPr>
          <p:cNvSpPr>
            <a:spLocks noGrp="1"/>
          </p:cNvSpPr>
          <p:nvPr/>
        </p:nvSpPr>
        <p:spPr>
          <a:xfrm>
            <a:off x="52006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E2C3A8-A1CA-425B-B298-384690431926}"/>
              </a:ext>
            </a:extLst>
          </p:cNvPr>
          <p:cNvSpPr>
            <a:spLocks noGrp="1"/>
          </p:cNvSpPr>
          <p:nvPr/>
        </p:nvSpPr>
        <p:spPr>
          <a:xfrm>
            <a:off x="53911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0AA6A5-9829-43AD-9B0E-214B76E7DAD5}"/>
              </a:ext>
            </a:extLst>
          </p:cNvPr>
          <p:cNvSpPr>
            <a:spLocks noGrp="1"/>
          </p:cNvSpPr>
          <p:nvPr/>
        </p:nvSpPr>
        <p:spPr>
          <a:xfrm>
            <a:off x="58007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9D167DC-E9CD-47ED-A85B-422B640EBF1A}"/>
              </a:ext>
            </a:extLst>
          </p:cNvPr>
          <p:cNvSpPr>
            <a:spLocks noGrp="1"/>
          </p:cNvSpPr>
          <p:nvPr/>
        </p:nvSpPr>
        <p:spPr>
          <a:xfrm>
            <a:off x="74104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2088C0-40CF-4137-A63D-7614683E84A3}"/>
              </a:ext>
            </a:extLst>
          </p:cNvPr>
          <p:cNvSpPr>
            <a:spLocks noGrp="1"/>
          </p:cNvSpPr>
          <p:nvPr/>
        </p:nvSpPr>
        <p:spPr>
          <a:xfrm>
            <a:off x="76009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92B015-BD03-4066-BFAA-0F653B547C80}"/>
              </a:ext>
            </a:extLst>
          </p:cNvPr>
          <p:cNvSpPr>
            <a:spLocks noGrp="1"/>
          </p:cNvSpPr>
          <p:nvPr/>
        </p:nvSpPr>
        <p:spPr>
          <a:xfrm>
            <a:off x="80105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1B2DD8-D3BE-4DD4-8BC7-6BE4963B66DA}"/>
              </a:ext>
            </a:extLst>
          </p:cNvPr>
          <p:cNvSpPr>
            <a:spLocks noGrp="1"/>
          </p:cNvSpPr>
          <p:nvPr/>
        </p:nvSpPr>
        <p:spPr>
          <a:xfrm>
            <a:off x="96202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B8D3CA-4A90-4F3F-882E-B583C078960B}"/>
              </a:ext>
            </a:extLst>
          </p:cNvPr>
          <p:cNvSpPr>
            <a:spLocks noGrp="1"/>
          </p:cNvSpPr>
          <p:nvPr/>
        </p:nvSpPr>
        <p:spPr>
          <a:xfrm>
            <a:off x="98107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56D2A0B-49B8-4F81-9F67-95383417F3BB}"/>
              </a:ext>
            </a:extLst>
          </p:cNvPr>
          <p:cNvSpPr>
            <a:spLocks noGrp="1"/>
          </p:cNvSpPr>
          <p:nvPr/>
        </p:nvSpPr>
        <p:spPr>
          <a:xfrm>
            <a:off x="102203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49E8AC-8675-44A0-AF8A-7256F3F3051B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BD2D072-E2BF-4378-A7C1-13882A022D8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280826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376C5CC-E446-444F-A7DF-6599B4328F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D4B985-3DF6-4AD7-9447-8F7A1F8CFD3F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9462A1-6283-4C03-96E5-2D3CCC4A480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D9419-460B-4A3D-A58E-EC36A60BDC1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ED521E-477C-4751-A34B-502D1EC3BA0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E5820-207D-41E8-BEF7-552C72CD3C0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D60119-C7A8-4ABC-B8A4-558D81DD47F9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67EF28-BD0C-4AA4-B3F7-E8EBB461C482}"/>
              </a:ext>
            </a:extLst>
          </p:cNvPr>
          <p:cNvSpPr>
            <a:spLocks noGrp="1"/>
          </p:cNvSpPr>
          <p:nvPr/>
        </p:nvSpPr>
        <p:spPr>
          <a:xfrm>
            <a:off x="108585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5FDB60-07B8-412D-A2D1-8CEA8646E549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58FE91-67DD-4370-A241-782EACFF4172}"/>
              </a:ext>
            </a:extLst>
          </p:cNvPr>
          <p:cNvSpPr>
            <a:spLocks noGrp="1"/>
          </p:cNvSpPr>
          <p:nvPr/>
        </p:nvSpPr>
        <p:spPr>
          <a:xfrm>
            <a:off x="16383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614C6E-6E87-4F8D-B1A2-FF5A3C8FF9B6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635A33-93C1-42CE-8A9B-FE9C40A05216}"/>
              </a:ext>
            </a:extLst>
          </p:cNvPr>
          <p:cNvSpPr>
            <a:spLocks noGrp="1"/>
          </p:cNvSpPr>
          <p:nvPr/>
        </p:nvSpPr>
        <p:spPr>
          <a:xfrm>
            <a:off x="36385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B6E112D-3267-47B9-A76F-E1E01FE9CD78}"/>
              </a:ext>
            </a:extLst>
          </p:cNvPr>
          <p:cNvSpPr>
            <a:spLocks noGrp="1"/>
          </p:cNvSpPr>
          <p:nvPr/>
        </p:nvSpPr>
        <p:spPr>
          <a:xfrm>
            <a:off x="38481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51077D-E37E-4215-8D27-4EABE13F8C92}"/>
              </a:ext>
            </a:extLst>
          </p:cNvPr>
          <p:cNvSpPr>
            <a:spLocks noGrp="1"/>
          </p:cNvSpPr>
          <p:nvPr/>
        </p:nvSpPr>
        <p:spPr>
          <a:xfrm>
            <a:off x="38481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C569FB-F017-4415-9E95-671B8B3A9341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44AC4B-979E-4220-8879-7B426C400437}"/>
              </a:ext>
            </a:extLst>
          </p:cNvPr>
          <p:cNvSpPr>
            <a:spLocks noGrp="1"/>
          </p:cNvSpPr>
          <p:nvPr/>
        </p:nvSpPr>
        <p:spPr>
          <a:xfrm>
            <a:off x="38481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46D570-DD00-41FD-B6B0-6E7C8B81E335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015139-F7A3-4E20-AC1E-CBBAD88C3468}"/>
              </a:ext>
            </a:extLst>
          </p:cNvPr>
          <p:cNvSpPr>
            <a:spLocks noGrp="1"/>
          </p:cNvSpPr>
          <p:nvPr/>
        </p:nvSpPr>
        <p:spPr>
          <a:xfrm>
            <a:off x="6610350" y="2209800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24D5FC-1958-4EAE-950E-4B129FB1D8B3}"/>
              </a:ext>
            </a:extLst>
          </p:cNvPr>
          <p:cNvSpPr>
            <a:spLocks noGrp="1"/>
          </p:cNvSpPr>
          <p:nvPr/>
        </p:nvSpPr>
        <p:spPr>
          <a:xfrm>
            <a:off x="66103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67AFC6-3C4A-4EEC-BF55-4A28F957C9EC}"/>
              </a:ext>
            </a:extLst>
          </p:cNvPr>
          <p:cNvSpPr>
            <a:spLocks noGrp="1"/>
          </p:cNvSpPr>
          <p:nvPr/>
        </p:nvSpPr>
        <p:spPr>
          <a:xfrm>
            <a:off x="71628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1FBE96-3CFB-448D-93AD-B807DBCC7C9B}"/>
              </a:ext>
            </a:extLst>
          </p:cNvPr>
          <p:cNvSpPr>
            <a:spLocks noGrp="1"/>
          </p:cNvSpPr>
          <p:nvPr/>
        </p:nvSpPr>
        <p:spPr>
          <a:xfrm>
            <a:off x="66103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2A302A-C3EE-4161-807B-1D8CA15B9F89}"/>
              </a:ext>
            </a:extLst>
          </p:cNvPr>
          <p:cNvSpPr>
            <a:spLocks noGrp="1"/>
          </p:cNvSpPr>
          <p:nvPr/>
        </p:nvSpPr>
        <p:spPr>
          <a:xfrm>
            <a:off x="91630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292990-11B3-421A-A4DB-F6B90DFF0487}"/>
              </a:ext>
            </a:extLst>
          </p:cNvPr>
          <p:cNvSpPr>
            <a:spLocks noGrp="1"/>
          </p:cNvSpPr>
          <p:nvPr/>
        </p:nvSpPr>
        <p:spPr>
          <a:xfrm>
            <a:off x="93726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A1614E-BDAA-4FB9-89F7-DC7B52F291DB}"/>
              </a:ext>
            </a:extLst>
          </p:cNvPr>
          <p:cNvSpPr>
            <a:spLocks noGrp="1"/>
          </p:cNvSpPr>
          <p:nvPr/>
        </p:nvSpPr>
        <p:spPr>
          <a:xfrm>
            <a:off x="93726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E30645-5FBF-436B-8981-7AEB9128B119}"/>
              </a:ext>
            </a:extLst>
          </p:cNvPr>
          <p:cNvSpPr>
            <a:spLocks noGrp="1"/>
          </p:cNvSpPr>
          <p:nvPr/>
        </p:nvSpPr>
        <p:spPr>
          <a:xfrm>
            <a:off x="99250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3CF8FB-A42B-46BD-B60D-CFC3F293A34A}"/>
              </a:ext>
            </a:extLst>
          </p:cNvPr>
          <p:cNvSpPr>
            <a:spLocks noGrp="1"/>
          </p:cNvSpPr>
          <p:nvPr/>
        </p:nvSpPr>
        <p:spPr>
          <a:xfrm>
            <a:off x="93726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C56C79B-0345-4CA6-8C59-285B5D533CC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80131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D47008-45A5-43F7-8C23-FFC67A4BA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21D78F-0E6E-4A4D-A6FC-7A0359473A9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FEE5D1-9A22-4710-A436-5E33A5CB71C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F6433D-98F0-4F79-AF1E-4C6546E5C20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你刚加入“绿色办公周”项目，需要在短时间内读懂三份资料，并向负责人说明项目现状、风险和下一步。所有资料都是虚构培训数据，不包含真实业务信息，因此我们可以把注意力集中在方法和判断过程上。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1C017-B642-400B-831E-F43B1AEB080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306A4-ABF3-4820-A050-E15DC6CA969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801076-C5CC-4877-9F14-9C73CB80B4CB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10096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输入： 项目简介、规划会议纪要和里程碑时间表共同构成项目背景。三份文件包含目标、预算、行动项和一个刻意设置的日期冲突，因此不能只阅读其中一份就下结论。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处理： 让 Copilot 提炼目标与成功指标，区分已确认决策、待办事项和开放问题，并比较不同来源之间是否存在冲突或缺失信息。遇到不一致时，应保留两个版本并请求人工确认。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输出： 最终生成一页项目接手简报，以及一封用于确认冲突和推动行动的后续邮件草稿。输出需要让接收者快速看懂当前状态、责任人、截止日期和仍需决定的问题。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AFA0B4-FBCD-4C11-A34E-129B515A08C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692660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A6417B-5F65-415E-9258-0D93433654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39A85-C2E0-421C-83F1-963666E610C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BF003A-EFC1-400F-A54C-848C93F1BA09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3FCCFC-E13D-4745-A0AF-C9BE418F714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第一份资料提供项目目的、衡量指标、预算、关键日期和范围，是建立项目全貌的主要来源。阅读时应区分已经批准的内容与仍在推进中的事项，并记下后续需要与其他资料交叉核对的日期。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0D11A8-C12A-40C3-8F83-BDADCF2427C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FBBABD-2AFB-4C83-BF90-27D9F708817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7689EF-15A4-4BBD-A804-9BF4D80B5A84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D6DA31-9E1F-4FE7-B5F3-E34AB3335689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990AD-8686-4E54-952F-C68BB74699C5}"/>
              </a:ext>
            </a:extLst>
          </p:cNvPr>
          <p:cNvSpPr>
            <a:spLocks noGrp="1"/>
          </p:cNvSpPr>
          <p:nvPr/>
        </p:nvSpPr>
        <p:spPr>
          <a:xfrm>
            <a:off x="1428750" y="2647950"/>
            <a:ext cx="9239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F9AB5A-EB52-42E0-B124-34AD5172E08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965358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6BEBE5-6388-4CEA-98A9-C0665DFC5C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20CAB3-934F-4537-AAB1-36F028C667E9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550E8D-25BF-4408-8EA6-BAD719AEFCC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935CFB-8E60-4630-9894-2193A2797AA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第二份资料区分了已确认决策、行动项和开放问题。它补充了负责人角色与截止日期，也显示哪些信息仍不能被当成事实。后续输出中必须保留这种信息层级，避免把讨论中的可能性写成已经确定的结论。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FA030A-C6C6-4067-84A2-F31FFD80476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E03583-BEB5-481A-BB3D-AAB47092B48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14BB8F-14F8-40FF-BB5F-FAF0871CC108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E7FD4A-8B7C-439D-8967-9662CF5FE0C6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915AFE-4891-434F-B6D0-F1BB1C0F5C3F}"/>
              </a:ext>
            </a:extLst>
          </p:cNvPr>
          <p:cNvSpPr>
            <a:spLocks noGrp="1"/>
          </p:cNvSpPr>
          <p:nvPr/>
        </p:nvSpPr>
        <p:spPr>
          <a:xfrm>
            <a:off x="1428750" y="2724150"/>
            <a:ext cx="923925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84B3C9-A9AA-4CBE-8B8D-B0888E4D000A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46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0240820-6E1A-46DE-9730-55D8E041CC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0B7B3D-CDAF-4210-AE02-757CE18DF16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A1F02-03A6-48BF-BA53-C4D6EA689059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3：时间表中的刻意冲突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ECE1C-AD99-4EEC-9EEA-3255DE61491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里程碑时间表提供负责人、截止日期和状态，但其中“报名开放日期”与项目简介不一致。Copilot 应标记冲突，而不是自行选择一个日期。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C6F408-032E-4B73-BF98-52E632D50A7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55DB62-E67B-410C-B168-7F5BD51AF71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49AD9B-7702-44CE-B5B1-715A6A9254DD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8BA1DF-817A-4222-BB0E-77F13B22EE0B}"/>
              </a:ext>
            </a:extLst>
          </p:cNvPr>
          <p:cNvSpPr>
            <a:spLocks noGrp="1"/>
          </p:cNvSpPr>
          <p:nvPr/>
        </p:nvSpPr>
        <p:spPr>
          <a:xfrm>
            <a:off x="1524000" y="21526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0E9DC-4186-4224-93D0-7BE769E532EF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8E966-0C7B-449F-8059-D9EDAE17E58A}"/>
              </a:ext>
            </a:extLst>
          </p:cNvPr>
          <p:cNvSpPr>
            <a:spLocks noGrp="1"/>
          </p:cNvSpPr>
          <p:nvPr/>
        </p:nvSpPr>
        <p:spPr>
          <a:xfrm>
            <a:off x="9239250" y="21526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6105F3-1A15-4482-9BBA-E54E701C45A1}"/>
              </a:ext>
            </a:extLst>
          </p:cNvPr>
          <p:cNvSpPr>
            <a:spLocks noGrp="1"/>
          </p:cNvSpPr>
          <p:nvPr/>
        </p:nvSpPr>
        <p:spPr>
          <a:xfrm>
            <a:off x="1409700" y="25146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3F9E7-9171-430B-A3E6-74E1550B5E96}"/>
              </a:ext>
            </a:extLst>
          </p:cNvPr>
          <p:cNvSpPr>
            <a:spLocks noGrp="1"/>
          </p:cNvSpPr>
          <p:nvPr/>
        </p:nvSpPr>
        <p:spPr>
          <a:xfrm>
            <a:off x="1524000" y="25717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A45E42-1221-48AA-8DDF-CE3A1863BE02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1A360-DAF2-4AE9-971A-5EDD6BDDC6D8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09202-1BD7-464B-8FDA-84FAE73B71BF}"/>
              </a:ext>
            </a:extLst>
          </p:cNvPr>
          <p:cNvSpPr>
            <a:spLocks noGrp="1"/>
          </p:cNvSpPr>
          <p:nvPr/>
        </p:nvSpPr>
        <p:spPr>
          <a:xfrm>
            <a:off x="1409700" y="29718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A34FA9-5D59-4EA0-A3EF-F2EBAF7C502B}"/>
              </a:ext>
            </a:extLst>
          </p:cNvPr>
          <p:cNvSpPr>
            <a:spLocks noGrp="1"/>
          </p:cNvSpPr>
          <p:nvPr/>
        </p:nvSpPr>
        <p:spPr>
          <a:xfrm>
            <a:off x="1524000" y="3028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F21D9C-7232-4A74-BE9C-F75FAA779435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3400BB-7C62-4C8C-96C2-A4625634D100}"/>
              </a:ext>
            </a:extLst>
          </p:cNvPr>
          <p:cNvSpPr>
            <a:spLocks noGrp="1"/>
          </p:cNvSpPr>
          <p:nvPr/>
        </p:nvSpPr>
        <p:spPr>
          <a:xfrm>
            <a:off x="9239250" y="30289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4B2F6D-83AE-48D6-8B41-52905CA56078}"/>
              </a:ext>
            </a:extLst>
          </p:cNvPr>
          <p:cNvSpPr>
            <a:spLocks noGrp="1"/>
          </p:cNvSpPr>
          <p:nvPr/>
        </p:nvSpPr>
        <p:spPr>
          <a:xfrm>
            <a:off x="1409700" y="34290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8F9C11-8546-4D70-B5DF-710260C8F1E5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5E256E-4F5B-4848-AC47-E910CF686E6D}"/>
              </a:ext>
            </a:extLst>
          </p:cNvPr>
          <p:cNvSpPr>
            <a:spLocks noGrp="1"/>
          </p:cNvSpPr>
          <p:nvPr/>
        </p:nvSpPr>
        <p:spPr>
          <a:xfrm>
            <a:off x="7239000" y="34861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06F817-B58A-479D-986E-295C349CFB16}"/>
              </a:ext>
            </a:extLst>
          </p:cNvPr>
          <p:cNvSpPr>
            <a:spLocks noGrp="1"/>
          </p:cNvSpPr>
          <p:nvPr/>
        </p:nvSpPr>
        <p:spPr>
          <a:xfrm>
            <a:off x="9239250" y="34861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5A07D8-389A-4EDE-BF99-DF3A1270D871}"/>
              </a:ext>
            </a:extLst>
          </p:cNvPr>
          <p:cNvSpPr>
            <a:spLocks noGrp="1"/>
          </p:cNvSpPr>
          <p:nvPr/>
        </p:nvSpPr>
        <p:spPr>
          <a:xfrm>
            <a:off x="1409700" y="3886200"/>
            <a:ext cx="9182100" cy="381000"/>
          </a:xfrm>
          <a:prstGeom prst="rect">
            <a:avLst/>
          </a:prstGeom>
          <a:solidFill>
            <a:srgbClr val="FFF2E9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E89FFB-9800-4373-865E-67912994A4DF}"/>
              </a:ext>
            </a:extLst>
          </p:cNvPr>
          <p:cNvSpPr>
            <a:spLocks noGrp="1"/>
          </p:cNvSpPr>
          <p:nvPr/>
        </p:nvSpPr>
        <p:spPr>
          <a:xfrm>
            <a:off x="1524000" y="39433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F50D3A-27DA-4ABE-9729-AC7C80574A02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9AFB2B-B8F4-446F-9206-B179FE342095}"/>
              </a:ext>
            </a:extLst>
          </p:cNvPr>
          <p:cNvSpPr>
            <a:spLocks noGrp="1"/>
          </p:cNvSpPr>
          <p:nvPr/>
        </p:nvSpPr>
        <p:spPr>
          <a:xfrm>
            <a:off x="9239250" y="39433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53AA33-DE22-4374-AE10-E1908C57E1FD}"/>
              </a:ext>
            </a:extLst>
          </p:cNvPr>
          <p:cNvSpPr>
            <a:spLocks noGrp="1"/>
          </p:cNvSpPr>
          <p:nvPr/>
        </p:nvSpPr>
        <p:spPr>
          <a:xfrm>
            <a:off x="1409700" y="43434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48A040-215D-4F36-A0F5-3A1D3C68DE45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6F5D48-9499-4AB9-99A2-9620A4BAB301}"/>
              </a:ext>
            </a:extLst>
          </p:cNvPr>
          <p:cNvSpPr>
            <a:spLocks noGrp="1"/>
          </p:cNvSpPr>
          <p:nvPr/>
        </p:nvSpPr>
        <p:spPr>
          <a:xfrm>
            <a:off x="7239000" y="44005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9B8998-C6C1-4B2D-9B08-832955AD01FB}"/>
              </a:ext>
            </a:extLst>
          </p:cNvPr>
          <p:cNvSpPr>
            <a:spLocks noGrp="1"/>
          </p:cNvSpPr>
          <p:nvPr/>
        </p:nvSpPr>
        <p:spPr>
          <a:xfrm>
            <a:off x="9239250" y="44005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B71861-887E-42D9-8DA7-B4AB6FF0C685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冲突提示：项目简介为 28 Aug，时间表为 31 Aug。正确动作是标记并请求负责人确认。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1EDB08A-8390-4B44-ABD4-AC6C17DB297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331187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04A131C-D256-4533-81DB-01EBC3C9EE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708F2-54D8-48B2-AECD-CBFFD435CD40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FED94A-7742-4AD3-BEDC-80B41D42A15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BCE384-7341-4C4D-9280-F29E8A5ADCD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高质量提示词不是越长越好，而是让 Copilot 清楚知道你为什么做、要做什么、结果长什么样，以及哪些判断不能由它擅自完成。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99DE7-87F4-4694-85C9-8D3DE38A200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9C4C0-EC1C-4612-BBE9-9F00B997750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0E9010-B561-45D2-8EF2-84275BAD4696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69F5D9-6DB3-4935-AD9A-A6021107E577}"/>
              </a:ext>
            </a:extLst>
          </p:cNvPr>
          <p:cNvSpPr>
            <a:spLocks noGrp="1"/>
          </p:cNvSpPr>
          <p:nvPr/>
        </p:nvSpPr>
        <p:spPr>
          <a:xfrm>
            <a:off x="1219200" y="19431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F3423A-E475-442B-A589-E79A0D78CBE6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0AF49-AD69-4CA0-A40E-AAF78BE9A4D2}"/>
              </a:ext>
            </a:extLst>
          </p:cNvPr>
          <p:cNvSpPr>
            <a:spLocks noGrp="1"/>
          </p:cNvSpPr>
          <p:nvPr/>
        </p:nvSpPr>
        <p:spPr>
          <a:xfrm>
            <a:off x="2476500" y="19716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D496B3-1918-48FE-836F-6845C75BF6A5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347603-9FAA-4049-8093-E8E14AF5DF7C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0D659-9AF9-4E71-B664-FD924C3120D8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AF947D-800D-4D03-8B61-A8F1FD092C2B}"/>
              </a:ext>
            </a:extLst>
          </p:cNvPr>
          <p:cNvSpPr>
            <a:spLocks noGrp="1"/>
          </p:cNvSpPr>
          <p:nvPr/>
        </p:nvSpPr>
        <p:spPr>
          <a:xfrm>
            <a:off x="2476500" y="29432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E39B12-C18E-4C5C-812E-046E986A9B43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68D050-EE5F-49DE-8477-C69C2EED9A2B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99AA83-43D7-485A-BB00-CBEE683D7FB1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189EC2-EA34-4AB5-A569-28C4F008F08D}"/>
              </a:ext>
            </a:extLst>
          </p:cNvPr>
          <p:cNvSpPr>
            <a:spLocks noGrp="1"/>
          </p:cNvSpPr>
          <p:nvPr/>
        </p:nvSpPr>
        <p:spPr>
          <a:xfrm>
            <a:off x="2476500" y="39147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51E5FB-3BD9-4E12-A786-799A6C04A1E0}"/>
              </a:ext>
            </a:extLst>
          </p:cNvPr>
          <p:cNvSpPr>
            <a:spLocks noGrp="1"/>
          </p:cNvSpPr>
          <p:nvPr/>
        </p:nvSpPr>
        <p:spPr>
          <a:xfrm>
            <a:off x="1047750" y="47244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89E158-EBD4-403F-9A8A-9B656648087E}"/>
              </a:ext>
            </a:extLst>
          </p:cNvPr>
          <p:cNvSpPr>
            <a:spLocks noGrp="1"/>
          </p:cNvSpPr>
          <p:nvPr/>
        </p:nvSpPr>
        <p:spPr>
          <a:xfrm>
            <a:off x="1219200" y="48577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1B9E45-FCC7-4D57-AF80-67CC6E80C243}"/>
              </a:ext>
            </a:extLst>
          </p:cNvPr>
          <p:cNvSpPr>
            <a:spLocks noGrp="1"/>
          </p:cNvSpPr>
          <p:nvPr/>
        </p:nvSpPr>
        <p:spPr>
          <a:xfrm>
            <a:off x="1219200" y="49720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D3B188-65AA-46A1-A0C4-699840970A62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D80C9E-1E0A-46A6-A2ED-D6227279CDB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448245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A0EC3B2-A316-494E-8F23-6CBE1335F6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956284-7A01-4237-9691-B6967C0C7EE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18AD85-8ABB-4956-BD15-713BA727137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Copilot：从工作环境、资料入口到任务执行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C6F1B-D4B2-4FEF-82B3-942A4B45941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这张首页截图包含三层入口：左侧用于管理对话、资料与 Agent，中间用于输入任务和添加上下文，上方的 Work IQ 与 Auto 用于确认工作环境和交互模式。开始实操前，应先确认账号、资料来源和数据敏感性。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F050EF-F853-42B1-A0CF-4DDA5F25D7C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E21757-4523-4617-8C66-9DC8194F6EB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6711" y="1809750"/>
            <a:ext cx="6531429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B6F869-C09B-4D29-A9A3-FF3731BDF05B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6991350" cy="3467100"/>
          </a:xfrm>
          <a:prstGeom prst="roundRect">
            <a:avLst>
              <a:gd name="adj" fmla="val 329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5D51A4-E824-4846-AD91-00A31D3D18E6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5814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06C613-19CB-40B1-9486-BAF9DE6CA7C7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画面解析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A56D56-6485-4F70-A315-9B46D5BB17F9}"/>
              </a:ext>
            </a:extLst>
          </p:cNvPr>
          <p:cNvSpPr>
            <a:spLocks noGrp="1"/>
          </p:cNvSpPr>
          <p:nvPr/>
        </p:nvSpPr>
        <p:spPr>
          <a:xfrm>
            <a:off x="8153400" y="243840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 fontScale="88889"/>
          </a:bodyPr>
          <a:lstStyle/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左侧导航：New chat 开始新任务，Search 找历史内容，Library 与 Notebooks 管理资料；Agents 区域还提供 Researcher、Analyst、Excel、PowerPoint 和 New agent 等入口。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任务输入区：中央 Message Copilot 是主提示框，左侧加号用于加入文件或其他上下文；File Insights、Inbox Triage、People Search、Meeting Prep 是常见任务快捷入口。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提交前检查：确认左下角为企业工作账户和相应许可，并核对 Work IQ 环境；只添加本任务需要的资料，敏感信息按企业规则处理。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93F1C5-6787-4347-8E40-CA0B8241D38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40039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E1227A9-C561-4566-9A9C-7F9762F9CE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D494C-463E-4372-BD48-15A0A4882B00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E8AA9D-ECE8-4B30-AAB2-F776E6DEDC2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现场演示：从三份资料到两项可用输出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181A25-7F2C-4D5D-B6A8-91FBC61D69B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演示按固定顺序进行，便于学员观察每一步如何增加上下文、控制结构并保持可验证性。评价结果时不只看语言是否流畅，还要检查信息是否完整、冲突是否保留以及下一步是否清楚。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A33504-3EDD-49D7-8896-E55E7CF9922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BCD7E-8E47-4DAD-AB3D-8EE1964DD70B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B60C52-3E13-4578-8A8C-290CEF1360B5}"/>
              </a:ext>
            </a:extLst>
          </p:cNvPr>
          <p:cNvSpPr>
            <a:spLocks noGrp="1"/>
          </p:cNvSpPr>
          <p:nvPr/>
        </p:nvSpPr>
        <p:spPr>
          <a:xfrm>
            <a:off x="1066800" y="17621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FE49D7-22F3-4220-81A8-8F75C3F2419A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570760-4CDB-4C8A-8B5A-32404EF283FD}"/>
              </a:ext>
            </a:extLst>
          </p:cNvPr>
          <p:cNvSpPr>
            <a:spLocks noGrp="1"/>
          </p:cNvSpPr>
          <p:nvPr/>
        </p:nvSpPr>
        <p:spPr>
          <a:xfrm>
            <a:off x="1695450" y="17430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添加三份虚构培训资料，并明确它们是本次回答的唯一事实来源。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F14447-B60A-4330-B546-52559CB3CF53}"/>
              </a:ext>
            </a:extLst>
          </p:cNvPr>
          <p:cNvSpPr>
            <a:spLocks noGrp="1"/>
          </p:cNvSpPr>
          <p:nvPr/>
        </p:nvSpPr>
        <p:spPr>
          <a:xfrm>
            <a:off x="1066800" y="25050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DB4E7F-160E-4B6A-A1A4-49AD2680AE53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E3C47B-EAC2-4DF9-B69E-E8897DBDE228}"/>
              </a:ext>
            </a:extLst>
          </p:cNvPr>
          <p:cNvSpPr>
            <a:spLocks noGrp="1"/>
          </p:cNvSpPr>
          <p:nvPr/>
        </p:nvSpPr>
        <p:spPr>
          <a:xfrm>
            <a:off x="1695450" y="24860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输入四段式提示词，要求输出项目简报与跟进邮件。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648F8B-23F5-4CE2-95C2-87ABEF0AF437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648CD1-75D5-47DA-8FE5-FE823558A39D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A51B48-0303-4FC0-9C26-476F178854A4}"/>
              </a:ext>
            </a:extLst>
          </p:cNvPr>
          <p:cNvSpPr>
            <a:spLocks noGrp="1"/>
          </p:cNvSpPr>
          <p:nvPr/>
        </p:nvSpPr>
        <p:spPr>
          <a:xfrm>
            <a:off x="1695450" y="32289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检查是否提取了目标、指标、决策、行动项、风险与开放问题。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BC579C-BAB6-45B9-83A9-9A9526C2B83D}"/>
              </a:ext>
            </a:extLst>
          </p:cNvPr>
          <p:cNvSpPr>
            <a:spLocks noGrp="1"/>
          </p:cNvSpPr>
          <p:nvPr/>
        </p:nvSpPr>
        <p:spPr>
          <a:xfrm>
            <a:off x="1066800" y="39909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B6AF9A-3091-4B9F-ABF2-9CBF89B8745B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C260E8-FDF4-460E-8971-523033D287B3}"/>
              </a:ext>
            </a:extLst>
          </p:cNvPr>
          <p:cNvSpPr>
            <a:spLocks noGrp="1"/>
          </p:cNvSpPr>
          <p:nvPr/>
        </p:nvSpPr>
        <p:spPr>
          <a:xfrm>
            <a:off x="1695450" y="39719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重点确认是否识别 28 Aug 与 31 Aug 的日期冲突，并保留两个来源。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329EABE-C49A-40D6-8DBF-A528CBDD497B}"/>
              </a:ext>
            </a:extLst>
          </p:cNvPr>
          <p:cNvSpPr>
            <a:spLocks noGrp="1"/>
          </p:cNvSpPr>
          <p:nvPr/>
        </p:nvSpPr>
        <p:spPr>
          <a:xfrm>
            <a:off x="1066800" y="47339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713C6C-8EAE-40A7-BA1C-310F0851A1B6}"/>
              </a:ext>
            </a:extLst>
          </p:cNvPr>
          <p:cNvSpPr>
            <a:spLocks noGrp="1"/>
          </p:cNvSpPr>
          <p:nvPr/>
        </p:nvSpPr>
        <p:spPr>
          <a:xfrm>
            <a:off x="1066800" y="48196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423DDB-1B96-4BC0-B588-C5FA8F8E9150}"/>
              </a:ext>
            </a:extLst>
          </p:cNvPr>
          <p:cNvSpPr>
            <a:spLocks noGrp="1"/>
          </p:cNvSpPr>
          <p:nvPr/>
        </p:nvSpPr>
        <p:spPr>
          <a:xfrm>
            <a:off x="1695450" y="47148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用追问改进格式：把行动项整理为负责人、截止日期和状态三列。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397EDD-7BB8-48A0-AC39-3DEA2C91CA3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498749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939889A-82E2-45DC-A34C-E926DEBD3E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D8BDFF-4796-45D7-8E91-F5CF0F4F6C1B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34AA14-AB25-4896-8DC6-233FF13F83C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轮到你：4 分钟短练习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955CE-2EED-4DBB-9C78-641CC6EE55E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806"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请在自己的 Copilot 中完成一次小型迁移练习。可以继续使用绿色办公周资料，也可以选择一个不包含敏感信息的日常任务。练习的重点不是得到漂亮答案，而是写清任务、输出和约束，并要求 Copilot 主动标记需要人工核对的内容。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919B2-DCD0-4682-82F8-CF9E25EDF9C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8F59A3-1E66-488E-93C9-8EAEBA996DA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F46BC3-AAB4-4A0B-89E8-9363580581BD}"/>
              </a:ext>
            </a:extLst>
          </p:cNvPr>
          <p:cNvSpPr>
            <a:spLocks noGrp="1"/>
          </p:cNvSpPr>
          <p:nvPr/>
        </p:nvSpPr>
        <p:spPr>
          <a:xfrm>
            <a:off x="1238250" y="1952625"/>
            <a:ext cx="9715500" cy="2238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08692D-975C-4C2C-8410-A4FC4604EAFF}"/>
              </a:ext>
            </a:extLst>
          </p:cNvPr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CAD8C-6972-4815-A3AE-3FEF5AE2024F}"/>
              </a:ext>
            </a:extLst>
          </p:cNvPr>
          <p:cNvSpPr>
            <a:spLocks noGrp="1"/>
          </p:cNvSpPr>
          <p:nvPr/>
        </p:nvSpPr>
        <p:spPr>
          <a:xfrm>
            <a:off x="1619250" y="2743200"/>
            <a:ext cx="8667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62D54-5756-4A7D-84B6-E1F87958980E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倒计时 4 分钟｜完成后与同桌交换：你的提示词中，哪一条约束最重要？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B83C7D-2B19-4994-AD61-4FBE6562AB7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366805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97E3B0-A497-4783-9ABE-9BA5E313B8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D6046-AE1C-47F7-958D-C46CC7F8C830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F74AE3-14D9-4434-894A-6EC1D7CAD6EC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B0300F-5DF6-4465-BC65-AEAF9AE51644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A7420F-748C-4230-96FD-7BA4E791D8C1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 40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724067-F8E2-4954-B46F-3888272F62E8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Tool Lab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218A31-5665-4944-B98B-5C4EFD1AADEC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Agent Builder 路径  ↗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819B30-15AA-492F-9D65-CAFEBE8BB814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345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A15764-7FFA-4CB1-893E-087466B79B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315350-CD7B-48A7-8629-80F9ECFB07AB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AB89E9-89FF-467A-AC82-33D8FBF86203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EEB0D0-269E-4BCF-A579-4EFB6AB5945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封面明确了实验定位：从零构建 Microsoft 365 Copilot Agent，并提供四个实战 Lab 和中文分步指南。右侧的模块、流程与清单图形对应 Agent 的三个组成部分——能力模块、处理流程和可执行规则。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836EE-77A1-40F7-9BA1-A6848447624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674AC-C69A-44CE-A658-AF7A7F5A33C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7519" y="1809750"/>
            <a:ext cx="6529812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1C2D10-8B41-4498-A5EE-5B698B9AF15A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6991350" cy="3467100"/>
          </a:xfrm>
          <a:prstGeom prst="roundRect">
            <a:avLst>
              <a:gd name="adj" fmla="val 329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93BCBD-528F-48F0-9120-58CB1905CFAA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5814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8AEEEF-E181-4BE2-AE86-4C283CAE3CF2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画面解析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7188F-F587-42AA-B1B3-106574E42BFB}"/>
              </a:ext>
            </a:extLst>
          </p:cNvPr>
          <p:cNvSpPr>
            <a:spLocks noGrp="1"/>
          </p:cNvSpPr>
          <p:nvPr/>
        </p:nvSpPr>
        <p:spPr>
          <a:xfrm>
            <a:off x="8153400" y="243840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 fontScale="95238"/>
          </a:bodyPr>
          <a:lstStyle/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学习对象：不是只学习一个固定 Agent，而是通过四种业务任务练习任务定义、Instructions、知识来源、Suggested Prompts 和测试。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迁移目标：完成任一 Lab 后，应能把相同方法迁移到自己的重复任务，而不是复制一个只能在课堂里运行的示例。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9156FF-26C6-4B1F-8BD7-C0B3BCF1814B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Tool Lab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871B63-CFDE-41E6-9FE2-CEA982263F9C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283078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DC6A5A3-D855-4170-BABE-C3B7173FE6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6C2EED-EB3A-488B-B0C3-0F9291CE5059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5A6548-7EBE-4F89-8F2A-58457447B86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18C1E7-3428-42B2-A2D4-6D081CFF4E5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Lab。虽然业务场景不同，但都要完成任务定义、边界设置、知识配置和预览测试。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473E5E-A976-4F15-8075-CFC7743B3FF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B593E-44B8-4F93-872F-784DEB1762C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9B728A-95B8-484D-9F0C-E41983D599E5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BE0540-C1CA-44D1-87C0-D7AB5F949874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6BA3B0-2FB6-498F-AF79-A347B9023B49}"/>
              </a:ext>
            </a:extLst>
          </p:cNvPr>
          <p:cNvSpPr>
            <a:spLocks noGrp="1"/>
          </p:cNvSpPr>
          <p:nvPr/>
        </p:nvSpPr>
        <p:spPr>
          <a:xfrm>
            <a:off x="10287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7A4248-1881-4FA4-A434-1B8A44BD7783}"/>
              </a:ext>
            </a:extLst>
          </p:cNvPr>
          <p:cNvSpPr>
            <a:spLocks noGrp="1"/>
          </p:cNvSpPr>
          <p:nvPr/>
        </p:nvSpPr>
        <p:spPr>
          <a:xfrm>
            <a:off x="16573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BF3CF1-800F-4AD3-AF88-DFB4D6F301BE}"/>
              </a:ext>
            </a:extLst>
          </p:cNvPr>
          <p:cNvSpPr>
            <a:spLocks noGrp="1"/>
          </p:cNvSpPr>
          <p:nvPr/>
        </p:nvSpPr>
        <p:spPr>
          <a:xfrm>
            <a:off x="16573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98CB16-A1BC-44ED-AE7C-1DA2694B7268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0A46E6-6986-42E6-BE6A-0097240F9A1B}"/>
              </a:ext>
            </a:extLst>
          </p:cNvPr>
          <p:cNvSpPr>
            <a:spLocks noGrp="1"/>
          </p:cNvSpPr>
          <p:nvPr/>
        </p:nvSpPr>
        <p:spPr>
          <a:xfrm>
            <a:off x="64389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4E0D69-CA1B-4F1B-A368-268393E8A5F6}"/>
              </a:ext>
            </a:extLst>
          </p:cNvPr>
          <p:cNvSpPr>
            <a:spLocks noGrp="1"/>
          </p:cNvSpPr>
          <p:nvPr/>
        </p:nvSpPr>
        <p:spPr>
          <a:xfrm>
            <a:off x="64389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EAFADD-9A11-45EB-AD33-A8F8BD651A64}"/>
              </a:ext>
            </a:extLst>
          </p:cNvPr>
          <p:cNvSpPr>
            <a:spLocks noGrp="1"/>
          </p:cNvSpPr>
          <p:nvPr/>
        </p:nvSpPr>
        <p:spPr>
          <a:xfrm>
            <a:off x="70675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1BAA8B-0BE4-47FB-9C35-85C4F5A4CE0A}"/>
              </a:ext>
            </a:extLst>
          </p:cNvPr>
          <p:cNvSpPr>
            <a:spLocks noGrp="1"/>
          </p:cNvSpPr>
          <p:nvPr/>
        </p:nvSpPr>
        <p:spPr>
          <a:xfrm>
            <a:off x="70675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F8E5252-49BB-49F7-A213-D13D8A21346D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CBE336-0AF5-404A-8E2D-BED071272087}"/>
              </a:ext>
            </a:extLst>
          </p:cNvPr>
          <p:cNvSpPr>
            <a:spLocks noGrp="1"/>
          </p:cNvSpPr>
          <p:nvPr/>
        </p:nvSpPr>
        <p:spPr>
          <a:xfrm>
            <a:off x="1028700" y="3810000"/>
            <a:ext cx="438150" cy="4381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62AB8B-1579-460B-B2AE-432D0C201B79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D6BB1C-C556-4214-BB5A-7F9B6A7D7379}"/>
              </a:ext>
            </a:extLst>
          </p:cNvPr>
          <p:cNvSpPr>
            <a:spLocks noGrp="1"/>
          </p:cNvSpPr>
          <p:nvPr/>
        </p:nvSpPr>
        <p:spPr>
          <a:xfrm>
            <a:off x="16573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53854B-8FA8-4BC2-A35A-25E545CDCE31}"/>
              </a:ext>
            </a:extLst>
          </p:cNvPr>
          <p:cNvSpPr>
            <a:spLocks noGrp="1"/>
          </p:cNvSpPr>
          <p:nvPr/>
        </p:nvSpPr>
        <p:spPr>
          <a:xfrm>
            <a:off x="16573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62947BF-868C-42AB-96F4-0216DAF6E91D}"/>
              </a:ext>
            </a:extLst>
          </p:cNvPr>
          <p:cNvSpPr>
            <a:spLocks noGrp="1"/>
          </p:cNvSpPr>
          <p:nvPr/>
        </p:nvSpPr>
        <p:spPr>
          <a:xfrm>
            <a:off x="62293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F74A82-C446-4A7C-9545-4BB1434E03CD}"/>
              </a:ext>
            </a:extLst>
          </p:cNvPr>
          <p:cNvSpPr>
            <a:spLocks noGrp="1"/>
          </p:cNvSpPr>
          <p:nvPr/>
        </p:nvSpPr>
        <p:spPr>
          <a:xfrm>
            <a:off x="6438900" y="38100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420524-07F7-4EC6-8E21-3D770C1656D6}"/>
              </a:ext>
            </a:extLst>
          </p:cNvPr>
          <p:cNvSpPr>
            <a:spLocks noGrp="1"/>
          </p:cNvSpPr>
          <p:nvPr/>
        </p:nvSpPr>
        <p:spPr>
          <a:xfrm>
            <a:off x="64389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6C818D-61DF-4B06-A8E8-BDA44DCC203B}"/>
              </a:ext>
            </a:extLst>
          </p:cNvPr>
          <p:cNvSpPr>
            <a:spLocks noGrp="1"/>
          </p:cNvSpPr>
          <p:nvPr/>
        </p:nvSpPr>
        <p:spPr>
          <a:xfrm>
            <a:off x="70675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0AF13-AEBA-40BC-9178-EDB3ABD66E18}"/>
              </a:ext>
            </a:extLst>
          </p:cNvPr>
          <p:cNvSpPr>
            <a:spLocks noGrp="1"/>
          </p:cNvSpPr>
          <p:nvPr/>
        </p:nvSpPr>
        <p:spPr>
          <a:xfrm>
            <a:off x="70675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E070CD-2464-4032-BF2E-6C4B8F37C3F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1  ↗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EC0C70B-CC43-4690-BD7B-C2E7BDF6CFD1}"/>
              </a:ext>
            </a:extLst>
          </p:cNvPr>
          <p:cNvSpPr>
            <a:spLocks noGrp="1"/>
          </p:cNvSpPr>
          <p:nvPr/>
        </p:nvSpPr>
        <p:spPr>
          <a:xfrm>
            <a:off x="195262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2  ↗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475EC58-5FF0-4D43-99D3-FD59EE30738F}"/>
              </a:ext>
            </a:extLst>
          </p:cNvPr>
          <p:cNvSpPr>
            <a:spLocks noGrp="1"/>
          </p:cNvSpPr>
          <p:nvPr/>
        </p:nvSpPr>
        <p:spPr>
          <a:xfrm>
            <a:off x="321945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3  ↗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6A1FADD-8A6E-4FE5-B9FF-9D9C5C6AF2E6}"/>
              </a:ext>
            </a:extLst>
          </p:cNvPr>
          <p:cNvSpPr>
            <a:spLocks noGrp="1"/>
          </p:cNvSpPr>
          <p:nvPr/>
        </p:nvSpPr>
        <p:spPr>
          <a:xfrm>
            <a:off x="448627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2994017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8A85252-B676-4A5D-B279-A630ABCD45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A5422-2778-45C0-88E6-AEEB2A65CB5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7DDC0-3CC4-4645-BD85-53418CAA8D0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Staff：把日程、优先级和会议准备串成工作流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135C55-CB39-4A0B-B1DB-9FFF800603A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画面中的主提示要求 Agent 审阅当天日历、建议优先级、发现冲突，并为重要会议给出 2–3 个谈话要点。下方 Suggested Prompts 则把这种工作方式拆成 Today’s calendar、Urgent today 和 Top priorities 三个可重复入口。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51A0D-BBBE-4FCB-A246-C34507CAC30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368377-5415-4668-A838-02FF3324011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9408" y="1809750"/>
            <a:ext cx="6266033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46058F-935F-41FF-9524-45D07477268B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6991350" cy="3467100"/>
          </a:xfrm>
          <a:prstGeom prst="roundRect">
            <a:avLst>
              <a:gd name="adj" fmla="val 329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D6DEE8-DAE6-427D-A815-F19388D76B7D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5814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3779C7-4F0E-4712-B711-8E9F37A9DD3A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画面解析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E49B6-6F3E-42D2-9B55-64481405AA76}"/>
              </a:ext>
            </a:extLst>
          </p:cNvPr>
          <p:cNvSpPr>
            <a:spLocks noGrp="1"/>
          </p:cNvSpPr>
          <p:nvPr/>
        </p:nvSpPr>
        <p:spPr>
          <a:xfrm>
            <a:off x="8153400" y="243840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需要先理解时间冲突与任务重要性，不能只按出现顺序罗列。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输出标准：优先级应有理由，冲突应被明确标记，建议应能直接用于当天安排；快捷问题让团队以一致方式启动任务。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71B95B-75BA-4857-AA53-DC4A27DD99E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1383699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8E75F57-F44A-40D5-B19B-D1A480AC8F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11794A-B9FD-4A76-9D1C-729E6C3A665D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E9BA69-BF1D-4671-B924-143BFA1DB70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FAQ：答案必须能追溯到产品资料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E16660-ADF7-44F3-A486-B8FBEAA7DB57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用户要求基于已提供资料提炼 MR 5300 的核心销售卖点并注明来源。回答先给直接结论，再展开适合售前沟通的卖点，并在具体规格旁显示 Product Specifications 引用，体现“结论—证据—表达”的结构。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32F124-7872-4E2F-B04B-EEC5FF72B64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9F2C4-FE4D-4272-85CD-6A1C2F6C764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6502" y="1809750"/>
            <a:ext cx="5651846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EA5399-EB16-4BDC-8805-F630447ED65A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6991350" cy="3467100"/>
          </a:xfrm>
          <a:prstGeom prst="roundRect">
            <a:avLst>
              <a:gd name="adj" fmla="val 329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65C020-412A-4AAC-81A4-FC6D94CDBDEB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5814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5AE4A1-3F44-4B57-A91B-7C37AAEA4BB6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画面解析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9D58E-F812-4B2C-A327-C5F0993AED4E}"/>
              </a:ext>
            </a:extLst>
          </p:cNvPr>
          <p:cNvSpPr>
            <a:spLocks noGrp="1"/>
          </p:cNvSpPr>
          <p:nvPr/>
        </p:nvSpPr>
        <p:spPr>
          <a:xfrm>
            <a:off x="8153400" y="243840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回答结构：先概括零氦运维、AI 自动化工作流、高质量成像和全生命周期成本优化，再把规格转化为客户可理解的价值。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质量检查：每个关键规格都应有可追溯来源；资料不足或存在版本差异时要明确说明，不能用流畅语言掩盖证据缺口。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EF1E22-9C25-426C-BFD1-6836506BD30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051299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B2AD65-F802-4A06-BB52-DC59A9AC8A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17CFBE-66C2-46EA-BAE7-6820D9C71E5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367B9B-CA4E-496D-B4AD-323378E4837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Assistant：用模板把会议内容变成行动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136972-F7ED-469C-A034-F2E35E4D08E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画面右侧的输入明确要求根据 Mail Template 生成面向管理层的简要汇报，并规定背景、结论/决策、风险/需支持和下一步等栏目；输出则注明使用了 Mail Template CN.docx 的 Executive Summary 结构。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CCB69F-D631-4738-813B-020F7863AC1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74B325-C105-4E76-ABA3-A28A7216041B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590" y="1809750"/>
            <a:ext cx="6227669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123D3E-F4EF-43FF-AC6A-ECD77FA13722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6991350" cy="3467100"/>
          </a:xfrm>
          <a:prstGeom prst="roundRect">
            <a:avLst>
              <a:gd name="adj" fmla="val 329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D9D368-1D30-407F-9E61-F26335CBAA81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5814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308617-28B4-413F-9752-81888C06C6A5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画面解析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D6A1DD-C3BA-4CCE-8EA8-C08BDC20B8AA}"/>
              </a:ext>
            </a:extLst>
          </p:cNvPr>
          <p:cNvSpPr>
            <a:spLocks noGrp="1"/>
          </p:cNvSpPr>
          <p:nvPr/>
        </p:nvSpPr>
        <p:spPr>
          <a:xfrm>
            <a:off x="8153400" y="243840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输入设计：同时给出原始会议内容、目标受众、输出栏目和不确定信息标记，避免 Agent 只生成普通会议摘要。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模板作用：知识来源用于固定管理层汇报结构和语言风格，使不同会议得到一致、可比较的输出。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验收标准：决策与讨论必须分开，行动项要有负责人和时间；未确定的产品演示等事项要保留为待确认，不能自动写成承诺。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10424D-C947-4279-BC80-E10790CD0C2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772426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BC16B6-0008-4C3B-936F-CC7BAFDF4D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33DDF9-8B78-4A04-98E9-1FB0A678D755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92CB19-8EB3-4779-A10B-3D560DB1423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Analyst：先锁定口径，再解释图表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4735E5-FA16-4E12-AAF7-7061B884761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提示词先限定数据文件、Zone=East、Local BU=MR，并规定 Forecast Category 的顺序、统计字段 Total Price in USD 和 million 单位。生成结果复述了筛选条件并给出柱状图，说明分析前必须把口径写清楚。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0C802C-12F6-43A2-AC4C-75630F5E73B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56589A-5292-4E0A-A8CE-78B1CF81C57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8326" y="1809750"/>
            <a:ext cx="5728199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4F55EA-D559-4131-A2DC-613D15DA5BE0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6991350" cy="3467100"/>
          </a:xfrm>
          <a:prstGeom prst="roundRect">
            <a:avLst>
              <a:gd name="adj" fmla="val 329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2DF4A8-6CB6-4A6A-86C0-88F2FB087362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5814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DA28AA-D8BC-46F6-8089-EA5FBC36716E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画面解析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466FE7-5CF3-4B2B-B266-5809E1C23285}"/>
              </a:ext>
            </a:extLst>
          </p:cNvPr>
          <p:cNvSpPr>
            <a:spLocks noGrp="1"/>
          </p:cNvSpPr>
          <p:nvPr/>
        </p:nvSpPr>
        <p:spPr>
          <a:xfrm>
            <a:off x="8153400" y="243840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 fontScale="91662"/>
          </a:bodyPr>
          <a:lstStyle/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明显高于其他类别，Pipeline 居第二，Best Case、Commit 和 Closed 相对较小；这是需要业务人员进一步调查的结构。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分析边界：柱高只能证明类别金额分布，不能单凭画面判断销售动作、数据质量或转化原因；这些需要结合时间、阶段定义和记录完整性。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输出筛选口径、异常点、可验证假设和后续问题，例如 Omitted 的构成、阶段停留时间及不同区域对比。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38E9C6-F5E4-4300-AB72-251A0B9C1E7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2104944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2B4EA673-3937-4CB9-A270-B2335F90F8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D3A4F-AA0E-4F66-A27D-89E597A968E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1F0576-A76A-4FBD-87EE-E29CD1E6984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EB369-9DBD-4E68-BDC3-478BC18F5D9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不同 Lab 的业务内容不同，但构建逻辑可以复用。先定义任务和边界，再配置知识与交互，最后通过预览测试发现问题。一个可用的 Agent 应该清楚说明为谁服务、依据什么资料、不能做什么以及结果如何呈现。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1286D-48B1-4440-946B-8AB3675B746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4B67F2-F309-4023-81A4-48BFD265FC4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724D2D-D2B6-4675-A883-03BA409F3928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C71F0D-CD9C-464D-9678-9C9C3071C7E1}"/>
              </a:ext>
            </a:extLst>
          </p:cNvPr>
          <p:cNvSpPr>
            <a:spLocks noGrp="1"/>
          </p:cNvSpPr>
          <p:nvPr/>
        </p:nvSpPr>
        <p:spPr>
          <a:xfrm>
            <a:off x="11620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15ABF8-A27B-4AC1-8D6B-3DC32DE06931}"/>
              </a:ext>
            </a:extLst>
          </p:cNvPr>
          <p:cNvSpPr>
            <a:spLocks noGrp="1"/>
          </p:cNvSpPr>
          <p:nvPr/>
        </p:nvSpPr>
        <p:spPr>
          <a:xfrm>
            <a:off x="11620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1BCE86-7EB7-40C2-BD97-A44D5628B8E9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786B2F85-A8B3-4B34-BBE6-446464489700}"/>
              </a:ext>
            </a:extLst>
          </p:cNvPr>
          <p:cNvSpPr>
            <a:spLocks noGrp="1"/>
          </p:cNvSpPr>
          <p:nvPr/>
        </p:nvSpPr>
        <p:spPr>
          <a:xfrm>
            <a:off x="22669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A87ABE-2B75-4E36-8BD2-476341725618}"/>
              </a:ext>
            </a:extLst>
          </p:cNvPr>
          <p:cNvSpPr>
            <a:spLocks noGrp="1"/>
          </p:cNvSpPr>
          <p:nvPr/>
        </p:nvSpPr>
        <p:spPr>
          <a:xfrm>
            <a:off x="25146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D79935-4555-4D53-813F-87CA88827E46}"/>
              </a:ext>
            </a:extLst>
          </p:cNvPr>
          <p:cNvSpPr>
            <a:spLocks noGrp="1"/>
          </p:cNvSpPr>
          <p:nvPr/>
        </p:nvSpPr>
        <p:spPr>
          <a:xfrm>
            <a:off x="30861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2990DB-E9E7-4955-8E9A-AF9A44A27BBE}"/>
              </a:ext>
            </a:extLst>
          </p:cNvPr>
          <p:cNvSpPr>
            <a:spLocks noGrp="1"/>
          </p:cNvSpPr>
          <p:nvPr/>
        </p:nvSpPr>
        <p:spPr>
          <a:xfrm>
            <a:off x="30861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A7747C-9981-4FC1-88B3-491EB9810D95}"/>
              </a:ext>
            </a:extLst>
          </p:cNvPr>
          <p:cNvSpPr>
            <a:spLocks noGrp="1"/>
          </p:cNvSpPr>
          <p:nvPr/>
        </p:nvSpPr>
        <p:spPr>
          <a:xfrm>
            <a:off x="26860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9AFBEABC-447C-4D67-9B2A-E04E42BE14BA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FAB0E3-591B-495F-90CE-D948C5587385}"/>
              </a:ext>
            </a:extLst>
          </p:cNvPr>
          <p:cNvSpPr>
            <a:spLocks noGrp="1"/>
          </p:cNvSpPr>
          <p:nvPr/>
        </p:nvSpPr>
        <p:spPr>
          <a:xfrm>
            <a:off x="44386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FAB244E-CDF1-42E8-9EA4-9526B4CC4C3B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72159A-BAD7-4038-8F55-4D0F5A962C92}"/>
              </a:ext>
            </a:extLst>
          </p:cNvPr>
          <p:cNvSpPr>
            <a:spLocks noGrp="1"/>
          </p:cNvSpPr>
          <p:nvPr/>
        </p:nvSpPr>
        <p:spPr>
          <a:xfrm>
            <a:off x="50101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FF79A3-F563-4DB8-BBEF-7D4706499C3B}"/>
              </a:ext>
            </a:extLst>
          </p:cNvPr>
          <p:cNvSpPr>
            <a:spLocks noGrp="1"/>
          </p:cNvSpPr>
          <p:nvPr/>
        </p:nvSpPr>
        <p:spPr>
          <a:xfrm>
            <a:off x="46101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AD2AC2F2-87A9-4C8D-8A77-7FB654BEA395}"/>
              </a:ext>
            </a:extLst>
          </p:cNvPr>
          <p:cNvSpPr>
            <a:spLocks noGrp="1"/>
          </p:cNvSpPr>
          <p:nvPr/>
        </p:nvSpPr>
        <p:spPr>
          <a:xfrm>
            <a:off x="61150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9A15FE-082C-4C0B-8C4B-1C852355A146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4B3F25-2A6C-4993-B719-A77BC4371EA4}"/>
              </a:ext>
            </a:extLst>
          </p:cNvPr>
          <p:cNvSpPr>
            <a:spLocks noGrp="1"/>
          </p:cNvSpPr>
          <p:nvPr/>
        </p:nvSpPr>
        <p:spPr>
          <a:xfrm>
            <a:off x="69342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64C7A1-89AC-4F8B-A5DE-2855DFA3BCC0}"/>
              </a:ext>
            </a:extLst>
          </p:cNvPr>
          <p:cNvSpPr>
            <a:spLocks noGrp="1"/>
          </p:cNvSpPr>
          <p:nvPr/>
        </p:nvSpPr>
        <p:spPr>
          <a:xfrm>
            <a:off x="69342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C14703-C01E-4E5E-900B-AE0D7BB77C91}"/>
              </a:ext>
            </a:extLst>
          </p:cNvPr>
          <p:cNvSpPr>
            <a:spLocks noGrp="1"/>
          </p:cNvSpPr>
          <p:nvPr/>
        </p:nvSpPr>
        <p:spPr>
          <a:xfrm>
            <a:off x="65341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D41C186C-0325-4A1F-91B7-148E35674373}"/>
              </a:ext>
            </a:extLst>
          </p:cNvPr>
          <p:cNvSpPr>
            <a:spLocks noGrp="1"/>
          </p:cNvSpPr>
          <p:nvPr/>
        </p:nvSpPr>
        <p:spPr>
          <a:xfrm>
            <a:off x="80391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A0E0ACA-B1A7-43AA-9278-27BFB2E0271F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6952317-350B-442F-8EF0-46AF0F6BC24A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C88328-2474-40A1-8FB3-A18C3DBF1CBB}"/>
              </a:ext>
            </a:extLst>
          </p:cNvPr>
          <p:cNvSpPr>
            <a:spLocks noGrp="1"/>
          </p:cNvSpPr>
          <p:nvPr/>
        </p:nvSpPr>
        <p:spPr>
          <a:xfrm>
            <a:off x="88582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BAD533-DFA4-4B65-9FA3-B913C4FE438E}"/>
              </a:ext>
            </a:extLst>
          </p:cNvPr>
          <p:cNvSpPr>
            <a:spLocks noGrp="1"/>
          </p:cNvSpPr>
          <p:nvPr/>
        </p:nvSpPr>
        <p:spPr>
          <a:xfrm>
            <a:off x="84582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95431801-AA2E-42A9-BFBC-A27FAF2065B7}"/>
              </a:ext>
            </a:extLst>
          </p:cNvPr>
          <p:cNvSpPr>
            <a:spLocks noGrp="1"/>
          </p:cNvSpPr>
          <p:nvPr/>
        </p:nvSpPr>
        <p:spPr>
          <a:xfrm>
            <a:off x="99631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2132BD-DB47-4FFF-A4A2-E50DC6109FB4}"/>
              </a:ext>
            </a:extLst>
          </p:cNvPr>
          <p:cNvSpPr>
            <a:spLocks noGrp="1"/>
          </p:cNvSpPr>
          <p:nvPr/>
        </p:nvSpPr>
        <p:spPr>
          <a:xfrm>
            <a:off x="102108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BBCB59E-922B-4CA3-8631-F021C69ABD39}"/>
              </a:ext>
            </a:extLst>
          </p:cNvPr>
          <p:cNvSpPr>
            <a:spLocks noGrp="1"/>
          </p:cNvSpPr>
          <p:nvPr/>
        </p:nvSpPr>
        <p:spPr>
          <a:xfrm>
            <a:off x="107823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7F1829-F782-4F5C-84F8-660B6592F58B}"/>
              </a:ext>
            </a:extLst>
          </p:cNvPr>
          <p:cNvSpPr>
            <a:spLocks noGrp="1"/>
          </p:cNvSpPr>
          <p:nvPr/>
        </p:nvSpPr>
        <p:spPr>
          <a:xfrm>
            <a:off x="107823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00022B-A6CC-4760-A4E7-5EFB70B2AC3E}"/>
              </a:ext>
            </a:extLst>
          </p:cNvPr>
          <p:cNvSpPr>
            <a:spLocks noGrp="1"/>
          </p:cNvSpPr>
          <p:nvPr/>
        </p:nvSpPr>
        <p:spPr>
          <a:xfrm>
            <a:off x="103822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F4542D-86B3-4B7E-B636-80325B62F215}"/>
              </a:ext>
            </a:extLst>
          </p:cNvPr>
          <p:cNvSpPr>
            <a:spLocks noGrp="1"/>
          </p:cNvSpPr>
          <p:nvPr/>
        </p:nvSpPr>
        <p:spPr>
          <a:xfrm>
            <a:off x="1238250" y="4619625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检查标准：Agent 是否知道“为谁服务、解决什么任务、依据什么资料、不能做什么、结果应如何呈现”。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FD4918E-6C02-47E1-897E-606E8C3ADB2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01705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EBC78EC-02D3-4E36-8972-100CE5B07E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41CC33-DFAE-4219-B28E-C76FCC59029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A1EDF3-081A-402C-B227-35B2CEC86ED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FD1D28-406B-4EEB-82BF-93576F9D399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EF50D-FFA9-4BCA-956F-B05A44708C1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30762-A329-432E-84A6-BE8A7948020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841143"/>
            <a:ext cx="6953250" cy="3651963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EF4A55-1396-49DE-9933-09320A8A410B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69913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65A916-314A-457F-B232-01FEF4166E92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EF56AB-130F-47D7-9B2E-97BE3648778E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29F4F2-D8D2-47BE-AC56-D608353EF736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479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画面定位：左侧导航进入 Agents；中间 Search for an agent 用于查找已有 Agent；Your agents 展示当前可用项；右侧 Create agent 开始新建。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操作判断：先确认企业账号和环境，再点击新建；不要把 Agent Store 中已有的 Researcher、Analyst 等成品 Agent 当作本次要编辑的对象。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9EE80F-4FA2-44F1-8BF4-2DE0519E6AA0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32575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8679941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E224961-DFBD-4639-A18B-66B4B7D24D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B3D833-CD9A-497D-B2B4-5E09B2588DFD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9D7B4D-FB54-4005-8AEC-DB6EB9B34863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E7D138-E270-4189-A22E-D250C153A67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截图同时给出自然语言描述、Skip 进入手动配置，以及从 Templates 开始三种路径。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7F171-BBB5-4C8A-9D5C-35AB2AFF7E8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0BE89F-54C7-44FE-A9CE-31899F2E6FA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994152"/>
            <a:ext cx="6953250" cy="3345946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94A913-DCDC-4A44-92A3-5C17C8BD23AA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69913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CDF5BA-9A31-4BAA-8545-409856E123AE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BC6BB-6B29-4DA5-BEBD-7003E03ED9F5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67E3D-1510-4730-A7D8-9C1CC0E639CA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479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三种入口：在输入框描述需求，可让 Builder 先生成草稿；点击 Skip 直接进入字段配置；也可从 Templates 选择接近的起点。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课堂选择：建议手动配置，便于逐项查看名称、描述、行为规则和知识来源。其他方式生成草稿后，也要回到配置页逐项核对。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2E646A-66BC-489E-8B13-83F4573A1546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32575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278055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D5FEB0-C8D0-4271-9178-C4D2CD52D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EA3918-43FC-4D9F-A5F5-5E62A290C23A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FAC05E-DE7B-4B63-B956-F01C8D65D96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33392-587C-4365-9C02-72312B92318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 Icon、Name、Description 和 Instructions，顶部可在 Configure 与 Preview 之间切换。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65DD7-B967-4527-9E4D-4F910B6F5C3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D5BD72-9E78-4C1C-BF79-5AF0E7426DFA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130866"/>
            <a:ext cx="6953250" cy="3072518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7996A2-3F3D-4A04-A2B7-F1DD4E83BC49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69913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3114DE-21B5-47F9-A0F7-797F71D79FD6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B24F6A-51A5-43C2-8B18-A2281CCA0855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98B4B9-E7E0-4FDC-9F47-02C638DFFB2B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479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字段作用：图标与名称帮助识别；描述用一句话说明服务对象和价值；行为规则是核心字段，且不能为空。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建议写法：明确输入、处理步骤、输出栏目、事实边界和资料不足时的回应。只有名称和描述清楚，并不能保证 Agent 行为稳定。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2065F1-3700-45D6-86AE-9A8588A83AA6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32575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2911693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FA4F631-40D9-4490-B29D-403FCAC484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CBAAE0-6F48-42B3-B6BA-E3F01A2AACC3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1BCE4C-E9AF-4BBD-ABFC-B3D9CB67910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7F9981-A19C-4785-B0F5-103C8ACC282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截图中的来源入口覆盖文件、网站、聊天、会议和邮件，并可按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FFD0D-5B3E-4707-91E6-E49A8DCBB58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0BAD5C-0FBE-4E86-9943-7C1E34231BA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817456"/>
            <a:ext cx="6953250" cy="3699337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0CE2EF-F255-460F-983D-FEEF3FB5852D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69913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947B83-4D81-44A0-902B-042BD2391B04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62F433-89D4-4091-8BA8-512DE15818FA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F1E9DD-D716-4E42-9892-0EE8A9605A55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479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画面解析：上方可输入 URL、名称或拖入文件；来源可以来自 SharePoint、Teams、Outlook 和网站；下方还可进入个人文件、聊天会议与邮件。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选择原则：只加入当前任务所需、版本明确、权限合适的资料；会议跟进助手需要模板和会议内容，不需要把大量无关文件全部加入。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4E071B-CE1E-4497-9694-448518D2E307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32575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4415137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E4E6852-27F7-43C9-BB84-6DB4CD51DD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550B93-C925-46B0-A7E7-9CE7267C3178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A485F9-0B4E-421E-9D7A-A4EB3085CD33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5E7EEA-5014-4C5F-96AB-6521FD6A8B7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搜索结果页同时显示名称、修改时间、修改人和位置，用于区分名称相似的多个模板。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D731DB-F7DF-4365-815A-E26BFCBD808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E812B-E92A-4538-9B4B-08410F7ED4AA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8744" y="1714500"/>
            <a:ext cx="5872163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F74C97-1686-4EFE-93B7-ABEFCD396B49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69913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5AC0C-6F9C-4DE6-B819-84758FAFED11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29DFEC-8A90-4489-91C4-415A0D9EEF5A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EA0E8D-202D-4F5C-B6DA-9FBE476C0E2C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479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不要只看文件名：先按 Mail Template 搜索，再核对 Modified、Modified by 与 Location，确认模板是否来自正确团队和正确版本。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场景匹配：中文管理层邮件选择 Mail Template CN，英文沟通选择 EN；若出现多个同名文件，应打开核对栏目与适用范围，再添加到知识来源。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D71E5D-7AF3-46EE-B896-D39FDD06F670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32575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1961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FC4D750-2584-40B2-AE50-1ACF9F3CAC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86ABBC-1728-4E5E-82D2-93F6C1F6A080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51D5CE-DE9E-4EBD-8697-210158E385F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89BDCD-871A-4FEB-9D64-1D8276096B2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每条快捷问题由 Title 与 Message 两部分组成：Title 负责让人看懂，Message 才是实际发送给 Agent 的完整任务。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71073C-8192-45A5-9819-2BDB2078101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F8AF1-1D0E-4EAB-BCE1-D850921D647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484692"/>
            <a:ext cx="6953250" cy="2364866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542519-3807-4B07-A57C-3E6E554172FB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69913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097EF9-A7B3-4AA7-8C62-B7E3A760FCE3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FBFDF3-BBE4-45F4-9B68-604E5BA8A286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7F897A-66AA-4AAA-9B4F-F137A237E579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479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Title：用一句话命名高频任务，例如“生成行动项”。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Message：写明输入、输出和必要约束。可以注明负责人、截止日期与状态。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个高频入口即可。需要时点击 Add a suggested prompt，避免设置模糊任务。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DB8FC2-72C0-490D-A60E-56B59E5CE91A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32575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881887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0C719FD-FCB4-4523-BE77-3EB415C557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BCF4C2-64BF-4FBA-A585-C58433F9902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436BBC-0627-4DDE-8F72-08799978E99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1BFD0A-C45F-43D3-A977-206388F021E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左侧显示 Builder 对配置的解释与修改入口，右侧 Preview 展示 Agent 身份、描述和快捷问题，顶部显示草稿状态与 Create。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455EE-4A20-4643-9A25-1944341240A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995EB6-1621-4188-91AD-165B8D4CAB4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827897"/>
            <a:ext cx="6953250" cy="3678457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7DD9D5-10CD-4982-90FF-B194321A18B5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69913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7FE4E1-79E7-4B4E-97FE-E45827D71C65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71B9DE-2416-4F1F-8252-EE11FAA6D31E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A701C-D017-4A6B-BDD4-5D2226276DB5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479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先在 Preview 运行正常场景，确认任务与输出结构。再测试资料缺失、信息冲突和越界要求。观察 Agent 是否承认不知道并遵守规则。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若不稳定，返回 Configure 修改行为规则、知识来源或快捷问题。测试通过后再点 Create；Draft auto-saved 只表示草稿已保存。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954A9F-8415-44FB-B44C-1100A7D9710E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32575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459029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E9E1505-B962-49FD-B43C-1143D04709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DE07F-DD20-4BC2-A040-11D33CA2E960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BBD614-F471-4A2A-AC8F-DFC7D3B541F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8ACD7-4D54-4CFA-9CFF-ED389B24C00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示例输入指定管理层简报结构并标记不确定信息，输出明确引用 Mail Template CN.docx 的 Executive Summary 模板。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6A47E6-EBB4-41AC-A1FA-6AD50A5585D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F6BE7-E801-469B-BD80-D5CD74358EC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752870"/>
            <a:ext cx="6953250" cy="382851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FC45A1-B1FE-459F-BADD-83E371CA934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69913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F5D9DDA-231C-43C1-A5EA-BF6DBF38537E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1AF2D0-348D-48D4-A9F2-1D9EB4201A3D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68852-3E19-4933-9E60-7E403174B8BA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479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检查四层：背景是否准确概括客户场景；结论是否与讨论分开；风险、需支持与下一步是否明确；产品演示等未决定事项是否仍标记为待确认。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同时确认输出是否真正使用了模板、是否保留负责人和时间信息，以及生成邮件是否只需少量编辑即可发送。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CD2355-416C-4A3C-8689-E43E02506056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32575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972448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878BD4A-0F78-4A5F-8A48-FE5279EB79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C5C0A0-9CBC-4544-8451-20C2EC5EEF3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7CD51-92FD-4FC6-9ECD-8A2C47685FF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轮到你：18 分钟完成一个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BFEF0-886A-4DD6-8072-D46525FB3E9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请选择前四个 Lab 中的一个进行实践，或按照讲师分组完成不同 Lab。目标不是追求复杂功能，而是完成可测试的最小 Agent。完成以后请运行正常场景和边界场景，确认它能够稳定执行任务，也能够在信息不足时承认缺口。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9B499-AC67-462F-A954-B0C857B9BBD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B169AE-F181-41A1-ACC0-4116DD8BDD8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17C9E-1FB7-4E50-98CC-C4C3BC6E7B6E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10287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2F47D5-2590-4949-A014-0E87A207A428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倒计时 18 分钟｜PPT 保持在本页，讲师巡场支持。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DDD134-802F-4F59-AA5C-7ED926528A7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01  ↗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4BA45C-9AA4-445B-8BA4-4F4B5DE867AB}"/>
              </a:ext>
            </a:extLst>
          </p:cNvPr>
          <p:cNvSpPr>
            <a:spLocks noGrp="1"/>
          </p:cNvSpPr>
          <p:nvPr/>
        </p:nvSpPr>
        <p:spPr>
          <a:xfrm>
            <a:off x="20383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02  ↗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7C9BD8-9635-4953-9287-ACD5C04A92D8}"/>
              </a:ext>
            </a:extLst>
          </p:cNvPr>
          <p:cNvSpPr>
            <a:spLocks noGrp="1"/>
          </p:cNvSpPr>
          <p:nvPr/>
        </p:nvSpPr>
        <p:spPr>
          <a:xfrm>
            <a:off x="33909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03  ↗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B7C49C-8A3F-462E-BF7C-8519BD7E4668}"/>
              </a:ext>
            </a:extLst>
          </p:cNvPr>
          <p:cNvSpPr>
            <a:spLocks noGrp="1"/>
          </p:cNvSpPr>
          <p:nvPr/>
        </p:nvSpPr>
        <p:spPr>
          <a:xfrm>
            <a:off x="47434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04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ED6AEA-84C9-4581-82F2-89812926A722}"/>
              </a:ext>
            </a:extLst>
          </p:cNvPr>
          <p:cNvSpPr>
            <a:spLocks noGrp="1"/>
          </p:cNvSpPr>
          <p:nvPr/>
        </p:nvSpPr>
        <p:spPr>
          <a:xfrm>
            <a:off x="6096000" y="5867400"/>
            <a:ext cx="1714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7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472451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0031BD8-0DA5-4B48-8C1F-26BF0B4F3D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1BB551-6411-47C4-9B3E-887747A6045B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Philips GCR AI Ambassador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1EDBF2-7AA6-447C-88FF-F0F3468BC00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Ambassador：覆盖职能与市场的本地连接网络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A37F45-D073-452A-85D9-C443D26A469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图片顶部说明 GCR AI Ambassador Representative Chair 为 Alison Gu，网络规模为 24 FTE。下方表格按 Function / BU、GCMT / Function Lead 和 AI Ambassador 三列建立对应关系，把中央学习资源与各职能、业务单元和市场中的实际问题连接起来。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87C3F2-7D68-47B9-9DA4-3835F436049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43ADE1-945A-4336-B9D9-6E1FC93C708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6956" y="1809750"/>
            <a:ext cx="6230938" cy="3333750"/>
          </a:xfrm>
          <a:prstGeom prst="roundRect">
            <a:avLst>
              <a:gd name="adj" fmla="val 3429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941A11-8C61-4B2E-B225-648A1E27F68B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6991350" cy="3371850"/>
          </a:xfrm>
          <a:prstGeom prst="roundRect">
            <a:avLst>
              <a:gd name="adj" fmla="val 3390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D83C75-F52A-4682-A720-4A5D6C95804A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581400" cy="3333750"/>
          </a:xfrm>
          <a:prstGeom prst="roundRect">
            <a:avLst>
              <a:gd name="adj" fmla="val 34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F3ECC1-DB69-4157-A0D1-9C8BE2233D1D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画面解析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CF35F3-53FF-4E87-83EA-AE9DE64CCCDA}"/>
              </a:ext>
            </a:extLst>
          </p:cNvPr>
          <p:cNvSpPr>
            <a:spLocks noGrp="1"/>
          </p:cNvSpPr>
          <p:nvPr/>
        </p:nvSpPr>
        <p:spPr>
          <a:xfrm>
            <a:off x="8153400" y="2438400"/>
            <a:ext cx="3124200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 fontScale="85621"/>
          </a:bodyPr>
          <a:lstStyle/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覆盖范围：名单跨 ISC &amp; SSD、市场、财务、法务、HR、战略、质量、法规、临床、创新、IT，以及 ULS、各区域市场、EI、HPM、SRC、PH、HK、TW、Medical Officer、Government Affairs 等。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代表业务和管理责任；AI Ambassador 负责连接学习资源、分享实践方法、帮助梳理 AI 机会，并把共性问题带回社区。</a:t>
            </a:r>
          </a:p>
          <a:p>
            <a:endParaRPr sz="127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怎样使用网络：遇到入口、学习路径、案例迁移或 Agent 设计问题时，先找到所属 Function / BU 对应的大使交流；业务决策、数据授权和最终交付仍由相应负责人承担。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522FF5-EEFB-47C7-A9CF-EC562B4FDCF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回到 AI Gateway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E8B124-E7C5-42D0-8ADF-36179F3FC280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9447070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4223</Words>
  <Application>Microsoft Office PowerPoint</Application>
  <DocSecurity>0</DocSecurity>
  <PresentationFormat>Widescreen</PresentationFormat>
  <Paragraphs>704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Microsoft YaHei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CHEN, Wang Ting</cp:lastModifiedBy>
  <cp:revision>1</cp:revision>
  <dcterms:created xsi:type="dcterms:W3CDTF">2026-08-20T08:22:14Z</dcterms:created>
  <dcterms:modified xsi:type="dcterms:W3CDTF">2026-08-20T08:38:38Z</dcterms:modified>
</cp:coreProperties>
</file>