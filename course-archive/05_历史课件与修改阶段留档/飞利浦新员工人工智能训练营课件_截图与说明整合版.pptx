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1ef6f3d55b4963" /><Relationship Type="http://schemas.openxmlformats.org/officeDocument/2006/relationships/extended-properties" Target="/docProps/app.xml" Id="R8e7c0f52e7f9442b" /><Relationship Type="http://schemas.openxmlformats.org/officeDocument/2006/relationships/officeDocument" Target="/ppt/presentation.xml" Id="R4b7895bf380d48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cb4e5cd4b5448c"/>
  </p:sldMasterIdLst>
  <p:notesMasterIdLst>
    <p:notesMasterId xmlns:r="http://schemas.openxmlformats.org/officeDocument/2006/relationships" r:id="R5d5492489c114a5d"/>
  </p:notesMasterIdLst>
  <p:sldIdLst>
    <p:sldId xmlns:r="http://schemas.openxmlformats.org/officeDocument/2006/relationships" id="256" r:id="R48a963e57c034960"/>
    <p:sldId xmlns:r="http://schemas.openxmlformats.org/officeDocument/2006/relationships" id="257" r:id="R351cad52d11c4e8b"/>
    <p:sldId xmlns:r="http://schemas.openxmlformats.org/officeDocument/2006/relationships" id="258" r:id="Rffebd1be977c4fe8"/>
    <p:sldId xmlns:r="http://schemas.openxmlformats.org/officeDocument/2006/relationships" id="259" r:id="R4b9763446f624f43"/>
    <p:sldId xmlns:r="http://schemas.openxmlformats.org/officeDocument/2006/relationships" id="260" r:id="R051840c38b6c486f"/>
    <p:sldId xmlns:r="http://schemas.openxmlformats.org/officeDocument/2006/relationships" id="261" r:id="R22a26af58cc04824"/>
    <p:sldId xmlns:r="http://schemas.openxmlformats.org/officeDocument/2006/relationships" id="262" r:id="Rdc5e41915c594953"/>
    <p:sldId xmlns:r="http://schemas.openxmlformats.org/officeDocument/2006/relationships" id="263" r:id="R9e9d6fc845784290"/>
    <p:sldId xmlns:r="http://schemas.openxmlformats.org/officeDocument/2006/relationships" id="264" r:id="Rc7a8f7673c9944ba"/>
    <p:sldId xmlns:r="http://schemas.openxmlformats.org/officeDocument/2006/relationships" id="265" r:id="R6348090668544da6"/>
    <p:sldId xmlns:r="http://schemas.openxmlformats.org/officeDocument/2006/relationships" id="266" r:id="Rce1e3e0c370440af"/>
    <p:sldId xmlns:r="http://schemas.openxmlformats.org/officeDocument/2006/relationships" id="267" r:id="R7a0933846b6a46b8"/>
    <p:sldId xmlns:r="http://schemas.openxmlformats.org/officeDocument/2006/relationships" id="268" r:id="Rccde74ed7a4e4804"/>
    <p:sldId xmlns:r="http://schemas.openxmlformats.org/officeDocument/2006/relationships" id="269" r:id="R3d8e8214f2c74124"/>
    <p:sldId xmlns:r="http://schemas.openxmlformats.org/officeDocument/2006/relationships" id="270" r:id="R2c34d4c054b14a28"/>
    <p:sldId xmlns:r="http://schemas.openxmlformats.org/officeDocument/2006/relationships" id="271" r:id="Rc13de7bd642540f6"/>
    <p:sldId xmlns:r="http://schemas.openxmlformats.org/officeDocument/2006/relationships" id="272" r:id="R7c6c9a06895c42de"/>
    <p:sldId xmlns:r="http://schemas.openxmlformats.org/officeDocument/2006/relationships" id="273" r:id="R9ade3cc2d5ee485c"/>
    <p:sldId xmlns:r="http://schemas.openxmlformats.org/officeDocument/2006/relationships" id="274" r:id="Rbf251b99c6244fa2"/>
    <p:sldId xmlns:r="http://schemas.openxmlformats.org/officeDocument/2006/relationships" id="275" r:id="Rc24b1411c0c4410c"/>
    <p:sldId xmlns:r="http://schemas.openxmlformats.org/officeDocument/2006/relationships" id="276" r:id="Raaf3beaf8da147bd"/>
    <p:sldId xmlns:r="http://schemas.openxmlformats.org/officeDocument/2006/relationships" id="277" r:id="R38f5124c59994d13"/>
    <p:sldId xmlns:r="http://schemas.openxmlformats.org/officeDocument/2006/relationships" id="278" r:id="Rf154d3628528419d"/>
    <p:sldId xmlns:r="http://schemas.openxmlformats.org/officeDocument/2006/relationships" id="279" r:id="R14ad437900a04fb4"/>
    <p:sldId xmlns:r="http://schemas.openxmlformats.org/officeDocument/2006/relationships" id="280" r:id="R10dcaf56be8f4183"/>
    <p:sldId xmlns:r="http://schemas.openxmlformats.org/officeDocument/2006/relationships" id="281" r:id="R88b76d90da7a4dba"/>
    <p:sldId xmlns:r="http://schemas.openxmlformats.org/officeDocument/2006/relationships" id="282" r:id="Rd1e3140670f149ee"/>
    <p:sldId xmlns:r="http://schemas.openxmlformats.org/officeDocument/2006/relationships" id="283" r:id="Rdeddb601137a4b09"/>
    <p:sldId xmlns:r="http://schemas.openxmlformats.org/officeDocument/2006/relationships" id="284" r:id="R2bc64629845146b0"/>
    <p:sldId xmlns:r="http://schemas.openxmlformats.org/officeDocument/2006/relationships" id="285" r:id="R258351ffb8ae4cfa"/>
    <p:sldId xmlns:r="http://schemas.openxmlformats.org/officeDocument/2006/relationships" id="286" r:id="R683736314a0547ee"/>
    <p:sldId xmlns:r="http://schemas.openxmlformats.org/officeDocument/2006/relationships" id="287" r:id="Rf87bef5a49d04ac5"/>
    <p:sldId xmlns:r="http://schemas.openxmlformats.org/officeDocument/2006/relationships" id="288" r:id="R83c1e4e8e62247d8"/>
    <p:sldId xmlns:r="http://schemas.openxmlformats.org/officeDocument/2006/relationships" id="289" r:id="Rea1964112945424f"/>
    <p:sldId xmlns:r="http://schemas.openxmlformats.org/officeDocument/2006/relationships" id="290" r:id="R86de962acf90463d"/>
    <p:sldId xmlns:r="http://schemas.openxmlformats.org/officeDocument/2006/relationships" id="291" r:id="Re6b27020e1d049a5"/>
    <p:sldId xmlns:r="http://schemas.openxmlformats.org/officeDocument/2006/relationships" id="292" r:id="R6027154f13a94e52"/>
    <p:sldId xmlns:r="http://schemas.openxmlformats.org/officeDocument/2006/relationships" id="293" r:id="R41102e791ff94938"/>
    <p:sldId xmlns:r="http://schemas.openxmlformats.org/officeDocument/2006/relationships" id="294" r:id="R7bc5e27c835a4909"/>
    <p:sldId xmlns:r="http://schemas.openxmlformats.org/officeDocument/2006/relationships" id="295" r:id="Rb9ed74fd32ef4a19"/>
    <p:sldId xmlns:r="http://schemas.openxmlformats.org/officeDocument/2006/relationships" id="296" r:id="R87cd7206114f4f85"/>
    <p:sldId xmlns:r="http://schemas.openxmlformats.org/officeDocument/2006/relationships" id="297" r:id="R50436c11d99a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091f4bf536419d" /><Relationship Type="http://schemas.openxmlformats.org/officeDocument/2006/relationships/slideMaster" Target="/ppt/slideMasters/slideMaster1.xml" Id="Rafcb4e5cd4b5448c" /><Relationship Type="http://schemas.openxmlformats.org/officeDocument/2006/relationships/notesMaster" Target="/ppt/notesMasters/notesMaster1.xml" Id="R5d5492489c114a5d" /><Relationship Type="http://schemas.openxmlformats.org/officeDocument/2006/relationships/presProps" Target="/ppt/presProps.xml" Id="R4f23bc968ed24bde" /><Relationship Type="http://schemas.openxmlformats.org/officeDocument/2006/relationships/tableStyles" Target="/ppt/tableStyles.xml" Id="R801ab51ab02e4236" /><Relationship Type="http://schemas.openxmlformats.org/officeDocument/2006/relationships/slide" Target="/ppt/slides/slide1.xml" Id="R48a963e57c034960" /><Relationship Type="http://schemas.openxmlformats.org/officeDocument/2006/relationships/slide" Target="/ppt/slides/slide2.xml" Id="R351cad52d11c4e8b" /><Relationship Type="http://schemas.openxmlformats.org/officeDocument/2006/relationships/slide" Target="/ppt/slides/slide3.xml" Id="Rffebd1be977c4fe8" /><Relationship Type="http://schemas.openxmlformats.org/officeDocument/2006/relationships/slide" Target="/ppt/slides/slide4.xml" Id="R4b9763446f624f43" /><Relationship Type="http://schemas.openxmlformats.org/officeDocument/2006/relationships/slide" Target="/ppt/slides/slide5.xml" Id="R051840c38b6c486f" /><Relationship Type="http://schemas.openxmlformats.org/officeDocument/2006/relationships/slide" Target="/ppt/slides/slide6.xml" Id="R22a26af58cc04824" /><Relationship Type="http://schemas.openxmlformats.org/officeDocument/2006/relationships/slide" Target="/ppt/slides/slide7.xml" Id="Rdc5e41915c594953" /><Relationship Type="http://schemas.openxmlformats.org/officeDocument/2006/relationships/slide" Target="/ppt/slides/slide8.xml" Id="R9e9d6fc845784290" /><Relationship Type="http://schemas.openxmlformats.org/officeDocument/2006/relationships/slide" Target="/ppt/slides/slide9.xml" Id="Rc7a8f7673c9944ba" /><Relationship Type="http://schemas.openxmlformats.org/officeDocument/2006/relationships/slide" Target="/ppt/slides/slide10.xml" Id="R6348090668544da6" /><Relationship Type="http://schemas.openxmlformats.org/officeDocument/2006/relationships/slide" Target="/ppt/slides/slide11.xml" Id="Rce1e3e0c370440af" /><Relationship Type="http://schemas.openxmlformats.org/officeDocument/2006/relationships/slide" Target="/ppt/slides/slide12.xml" Id="R7a0933846b6a46b8" /><Relationship Type="http://schemas.openxmlformats.org/officeDocument/2006/relationships/slide" Target="/ppt/slides/slide13.xml" Id="Rccde74ed7a4e4804" /><Relationship Type="http://schemas.openxmlformats.org/officeDocument/2006/relationships/slide" Target="/ppt/slides/slide14.xml" Id="R3d8e8214f2c74124" /><Relationship Type="http://schemas.openxmlformats.org/officeDocument/2006/relationships/slide" Target="/ppt/slides/slide15.xml" Id="R2c34d4c054b14a28" /><Relationship Type="http://schemas.openxmlformats.org/officeDocument/2006/relationships/slide" Target="/ppt/slides/slide16.xml" Id="Rc13de7bd642540f6" /><Relationship Type="http://schemas.openxmlformats.org/officeDocument/2006/relationships/slide" Target="/ppt/slides/slide17.xml" Id="R7c6c9a06895c42de" /><Relationship Type="http://schemas.openxmlformats.org/officeDocument/2006/relationships/slide" Target="/ppt/slides/slide18.xml" Id="R9ade3cc2d5ee485c" /><Relationship Type="http://schemas.openxmlformats.org/officeDocument/2006/relationships/slide" Target="/ppt/slides/slide19.xml" Id="Rbf251b99c6244fa2" /><Relationship Type="http://schemas.openxmlformats.org/officeDocument/2006/relationships/slide" Target="/ppt/slides/slide20.xml" Id="Rc24b1411c0c4410c" /><Relationship Type="http://schemas.openxmlformats.org/officeDocument/2006/relationships/slide" Target="/ppt/slides/slide21.xml" Id="Raaf3beaf8da147bd" /><Relationship Type="http://schemas.openxmlformats.org/officeDocument/2006/relationships/slide" Target="/ppt/slides/slide22.xml" Id="R38f5124c59994d13" /><Relationship Type="http://schemas.openxmlformats.org/officeDocument/2006/relationships/slide" Target="/ppt/slides/slide23.xml" Id="Rf154d3628528419d" /><Relationship Type="http://schemas.openxmlformats.org/officeDocument/2006/relationships/slide" Target="/ppt/slides/slide24.xml" Id="R14ad437900a04fb4" /><Relationship Type="http://schemas.openxmlformats.org/officeDocument/2006/relationships/slide" Target="/ppt/slides/slide25.xml" Id="R10dcaf56be8f4183" /><Relationship Type="http://schemas.openxmlformats.org/officeDocument/2006/relationships/slide" Target="/ppt/slides/slide26.xml" Id="R88b76d90da7a4dba" /><Relationship Type="http://schemas.openxmlformats.org/officeDocument/2006/relationships/slide" Target="/ppt/slides/slide27.xml" Id="Rd1e3140670f149ee" /><Relationship Type="http://schemas.openxmlformats.org/officeDocument/2006/relationships/slide" Target="/ppt/slides/slide28.xml" Id="Rdeddb601137a4b09" /><Relationship Type="http://schemas.openxmlformats.org/officeDocument/2006/relationships/slide" Target="/ppt/slides/slide29.xml" Id="R2bc64629845146b0" /><Relationship Type="http://schemas.openxmlformats.org/officeDocument/2006/relationships/slide" Target="/ppt/slides/slide30.xml" Id="R258351ffb8ae4cfa" /><Relationship Type="http://schemas.openxmlformats.org/officeDocument/2006/relationships/slide" Target="/ppt/slides/slide31.xml" Id="R683736314a0547ee" /><Relationship Type="http://schemas.openxmlformats.org/officeDocument/2006/relationships/slide" Target="/ppt/slides/slide32.xml" Id="Rf87bef5a49d04ac5" /><Relationship Type="http://schemas.openxmlformats.org/officeDocument/2006/relationships/slide" Target="/ppt/slides/slide33.xml" Id="R83c1e4e8e62247d8" /><Relationship Type="http://schemas.openxmlformats.org/officeDocument/2006/relationships/slide" Target="/ppt/slides/slide34.xml" Id="Rea1964112945424f" /><Relationship Type="http://schemas.openxmlformats.org/officeDocument/2006/relationships/slide" Target="/ppt/slides/slide35.xml" Id="R86de962acf90463d" /><Relationship Type="http://schemas.openxmlformats.org/officeDocument/2006/relationships/slide" Target="/ppt/slides/slide36.xml" Id="Re6b27020e1d049a5" /><Relationship Type="http://schemas.openxmlformats.org/officeDocument/2006/relationships/slide" Target="/ppt/slides/slide37.xml" Id="R6027154f13a94e52" /><Relationship Type="http://schemas.openxmlformats.org/officeDocument/2006/relationships/slide" Target="/ppt/slides/slide38.xml" Id="R41102e791ff94938" /><Relationship Type="http://schemas.openxmlformats.org/officeDocument/2006/relationships/slide" Target="/ppt/slides/slide39.xml" Id="R7bc5e27c835a4909" /><Relationship Type="http://schemas.openxmlformats.org/officeDocument/2006/relationships/slide" Target="/ppt/slides/slide40.xml" Id="Rb9ed74fd32ef4a19" /><Relationship Type="http://schemas.openxmlformats.org/officeDocument/2006/relationships/slide" Target="/ppt/slides/slide41.xml" Id="R87cd7206114f4f85" /><Relationship Type="http://schemas.openxmlformats.org/officeDocument/2006/relationships/slide" Target="/ppt/slides/slide42.xml" Id="R50436c11d99a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8a1ab84422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e85042ed6c4140" /><Relationship Type="http://schemas.openxmlformats.org/officeDocument/2006/relationships/notesMaster" Target="/ppt/notesMasters/notesMaster1.xml" Id="R577096a98f2946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ffbdb7376f4e05" /><Relationship Type="http://schemas.openxmlformats.org/officeDocument/2006/relationships/notesMaster" Target="/ppt/notesMasters/notesMaster1.xml" Id="R2101d3f3ce2342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d21383f21c46ca" /><Relationship Type="http://schemas.openxmlformats.org/officeDocument/2006/relationships/notesMaster" Target="/ppt/notesMasters/notesMaster1.xml" Id="R8888bd356145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7c43e852145ad" /><Relationship Type="http://schemas.openxmlformats.org/officeDocument/2006/relationships/notesMaster" Target="/ppt/notesMasters/notesMaster1.xml" Id="R964df52afe2847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0e98c0e09044ad" /><Relationship Type="http://schemas.openxmlformats.org/officeDocument/2006/relationships/notesMaster" Target="/ppt/notesMasters/notesMaster1.xml" Id="R6585f4ef7319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64fc80d52f48af" /><Relationship Type="http://schemas.openxmlformats.org/officeDocument/2006/relationships/notesMaster" Target="/ppt/notesMasters/notesMaster1.xml" Id="Re65ff46fe30b4c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3f1e4512e54197" /><Relationship Type="http://schemas.openxmlformats.org/officeDocument/2006/relationships/notesMaster" Target="/ppt/notesMasters/notesMaster1.xml" Id="Rdcad2cfa8d2a42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9c2f01a6ad4636" /><Relationship Type="http://schemas.openxmlformats.org/officeDocument/2006/relationships/notesMaster" Target="/ppt/notesMasters/notesMaster1.xml" Id="Rf0dc21e65c1747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90ea10aba643dc" /><Relationship Type="http://schemas.openxmlformats.org/officeDocument/2006/relationships/notesMaster" Target="/ppt/notesMasters/notesMaster1.xml" Id="Rc0a5200cab2942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21d9160eba418f" /><Relationship Type="http://schemas.openxmlformats.org/officeDocument/2006/relationships/notesMaster" Target="/ppt/notesMasters/notesMaster1.xml" Id="R7c479e2965bc4d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e1ab2979c04aef" /><Relationship Type="http://schemas.openxmlformats.org/officeDocument/2006/relationships/notesMaster" Target="/ppt/notesMasters/notesMaster1.xml" Id="Rdc3d60448e4548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9341af6f0b4596" /><Relationship Type="http://schemas.openxmlformats.org/officeDocument/2006/relationships/notesMaster" Target="/ppt/notesMasters/notesMaster1.xml" Id="R463ab6a8d6cc48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98570e78be4656" /><Relationship Type="http://schemas.openxmlformats.org/officeDocument/2006/relationships/notesMaster" Target="/ppt/notesMasters/notesMaster1.xml" Id="R3d9a72dcf02040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eafcdb269d4ffa" /><Relationship Type="http://schemas.openxmlformats.org/officeDocument/2006/relationships/notesMaster" Target="/ppt/notesMasters/notesMaster1.xml" Id="Rf89ed24470d041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cc62be4a334be5" /><Relationship Type="http://schemas.openxmlformats.org/officeDocument/2006/relationships/notesMaster" Target="/ppt/notesMasters/notesMaster1.xml" Id="Rdfe650ebf87f45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91847e00c04120" /><Relationship Type="http://schemas.openxmlformats.org/officeDocument/2006/relationships/notesMaster" Target="/ppt/notesMasters/notesMaster1.xml" Id="R8348e403855241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4dc03309de45ff" /><Relationship Type="http://schemas.openxmlformats.org/officeDocument/2006/relationships/notesMaster" Target="/ppt/notesMasters/notesMaster1.xml" Id="R92a1e3e62b294b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a714f7da854ab9" /><Relationship Type="http://schemas.openxmlformats.org/officeDocument/2006/relationships/notesMaster" Target="/ppt/notesMasters/notesMaster1.xml" Id="Rca157365c5de4a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001383568e4852" /><Relationship Type="http://schemas.openxmlformats.org/officeDocument/2006/relationships/notesMaster" Target="/ppt/notesMasters/notesMaster1.xml" Id="R72ef3ac1b30049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d1795784c943da" /><Relationship Type="http://schemas.openxmlformats.org/officeDocument/2006/relationships/notesMaster" Target="/ppt/notesMasters/notesMaster1.xml" Id="R07efeac30a3a4a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787edccd2474886" /><Relationship Type="http://schemas.openxmlformats.org/officeDocument/2006/relationships/notesMaster" Target="/ppt/notesMasters/notesMaster1.xml" Id="Ra14e67eaa7074c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064ce977da41b8" /><Relationship Type="http://schemas.openxmlformats.org/officeDocument/2006/relationships/notesMaster" Target="/ppt/notesMasters/notesMaster1.xml" Id="R2fd8c803b3d640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dfe88025a74740" /><Relationship Type="http://schemas.openxmlformats.org/officeDocument/2006/relationships/notesMaster" Target="/ppt/notesMasters/notesMaster1.xml" Id="R924631eca3d0442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0b532bdc6c4f4c" /><Relationship Type="http://schemas.openxmlformats.org/officeDocument/2006/relationships/notesMaster" Target="/ppt/notesMasters/notesMaster1.xml" Id="R0b54f68b26b443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6fd3ce3cdc47e7" /><Relationship Type="http://schemas.openxmlformats.org/officeDocument/2006/relationships/notesMaster" Target="/ppt/notesMasters/notesMaster1.xml" Id="R750ecb00f6e14cb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25a0a537cb145d5" /><Relationship Type="http://schemas.openxmlformats.org/officeDocument/2006/relationships/notesMaster" Target="/ppt/notesMasters/notesMaster1.xml" Id="Re9c4afb01613476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ff3cfdb4914f99" /><Relationship Type="http://schemas.openxmlformats.org/officeDocument/2006/relationships/notesMaster" Target="/ppt/notesMasters/notesMaster1.xml" Id="R9aeecd1ac68045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d7d34c9a0e402f" /><Relationship Type="http://schemas.openxmlformats.org/officeDocument/2006/relationships/notesMaster" Target="/ppt/notesMasters/notesMaster1.xml" Id="R7a9ceaa7ef2e4a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7ee3806c3c3487d" /><Relationship Type="http://schemas.openxmlformats.org/officeDocument/2006/relationships/notesMaster" Target="/ppt/notesMasters/notesMaster1.xml" Id="R68e0c921c003465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67b62b5eecd469c" /><Relationship Type="http://schemas.openxmlformats.org/officeDocument/2006/relationships/notesMaster" Target="/ppt/notesMasters/notesMaster1.xml" Id="R6b1be5f91b4b4ee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1df0b9f3e03423a" /><Relationship Type="http://schemas.openxmlformats.org/officeDocument/2006/relationships/notesMaster" Target="/ppt/notesMasters/notesMaster1.xml" Id="Rddf47e2a2d17428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977fdf46b14186" /><Relationship Type="http://schemas.openxmlformats.org/officeDocument/2006/relationships/notesMaster" Target="/ppt/notesMasters/notesMaster1.xml" Id="Rc0c3540825ad4f8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26762203561485e" /><Relationship Type="http://schemas.openxmlformats.org/officeDocument/2006/relationships/notesMaster" Target="/ppt/notesMasters/notesMaster1.xml" Id="R15940886c98c41f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6cbad08f8844791" /><Relationship Type="http://schemas.openxmlformats.org/officeDocument/2006/relationships/notesMaster" Target="/ppt/notesMasters/notesMaster1.xml" Id="R3bdc20c24a504b9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2bb4d990f24c3d" /><Relationship Type="http://schemas.openxmlformats.org/officeDocument/2006/relationships/notesMaster" Target="/ppt/notesMasters/notesMaster1.xml" Id="Ra4c9cfece4df450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173080d4a1b4207" /><Relationship Type="http://schemas.openxmlformats.org/officeDocument/2006/relationships/notesMaster" Target="/ppt/notesMasters/notesMaster1.xml" Id="R1d65457f99f348b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a33e22d15424c84" /><Relationship Type="http://schemas.openxmlformats.org/officeDocument/2006/relationships/notesMaster" Target="/ppt/notesMasters/notesMaster1.xml" Id="R67f932a6553b4ca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5ade96f63264b92" /><Relationship Type="http://schemas.openxmlformats.org/officeDocument/2006/relationships/notesMaster" Target="/ppt/notesMasters/notesMaster1.xml" Id="Ra30bf30bf1c6413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e389ed880244e62" /><Relationship Type="http://schemas.openxmlformats.org/officeDocument/2006/relationships/notesMaster" Target="/ppt/notesMasters/notesMaster1.xml" Id="R32f16f42db8145e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20586e82ca420c" /><Relationship Type="http://schemas.openxmlformats.org/officeDocument/2006/relationships/notesMaster" Target="/ppt/notesMasters/notesMaster1.xml" Id="R3c50417e4ac34d6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3e3d90629434e0b" /><Relationship Type="http://schemas.openxmlformats.org/officeDocument/2006/relationships/notesMaster" Target="/ppt/notesMasters/notesMaster1.xml" Id="R2d240ae3d03c488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bbe2a68be6f4662" /><Relationship Type="http://schemas.openxmlformats.org/officeDocument/2006/relationships/notesMaster" Target="/ppt/notesMasters/notesMaster1.xml" Id="R37ee5b50dd4145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开场先说明：课程不是产品清单，而是一条从入口认知、日常应用到构建 Agent 的完整体验路径。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邀请学员带着一个真实工作任务来听课，后续每一部分都用这个任务检查：AI 能否真正减少重复工作。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快速说明节奏。第 3、4 部分时间最长，前两部分只建立共同语言和入口认知。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用这一页完成章节切换，先说清楚本部分的学习目标和时间安排。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先解释截图顶部的组合管理逻辑和 Now/Next 结构，再进入后续两页的五条工作流。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逐项解释前三条工作流，强调它们是规模化 AI 的组织、数据与治理基础。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解释后两条业务工作流和 2026 focus，提醒学员注意每列底部的 Sponsor、LT 和 Owner 责任结构。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明确纠正认知：AI Gateway 与 AI Skills Navigator 分工不同。前者解决 Philips 企业访问和治理，后者提供微软官方学习内容。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按主卡、状态卡、三张运营卡的顺序解释画面。不要展示个人用量与成本页面。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把左侧能力与右侧四项条件一一对应，强调效率、合规和人工判断必须同时成立。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用这一页完成章节切换，先说清楚本部分的学习目标和时间安排。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按左侧导航、首页推荐和持续学习三个区域讲解用户提供的最新界面。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说明播放列表的进度、内容结构和 MS-4004 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准确说明当前截图展示的是课程播放器和左侧 MS-4004 导航，而不是 MS-4004 某个岗位单元的正文。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十类岗位名称来自 MS-4004 课程结构。用最后一句过渡到通用案例。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强调四步并非固定模板，可以根据工作任务重新排序，但“核对来源与冲突”必须保留。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提醒学员：虚构数据用于练习方法。真正工作中，应使用获批环境并遵循数据处理要求。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让学员先独立浏览 20 秒，再提问：如果只能记住三件事，你会记录什么？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强调事实层级：Confirmed decision 与 Open question 不能混在一起。输出中应保留不确定性。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这是案例的关键检验点。评价输出时，先看是否保留冲突，再看语言是否清楚。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现场演示时先输入一个模糊问题，再用四段结构改写，让学员观察结果差异。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按左侧导航、中央输入区、账号与环境三个区域逐项讲解，并把画面直接连接到后面的三份资料实操。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这页作为演示清单，不需要全部讲完再操作。每完成一步，回到页面指出为什么这样做。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讲师巡场，只回答阻塞问题，完成后请学员交换并比较提示词中的关键约束。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用这一页完成章节切换，先说清楚本部分的学习目标和时间安排。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解释封面中的四个 Lab、中文指南和三个工具之间的分工，再进入具体 Lab。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不要说“本次实践就是 Lab 3”。准确表述：讲师示范 Lab 3，学员实践范围是前四个 Lab。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逐项解读主提示和三个 Suggested Prompts，说明 Instructions 要怎样支撑这些输出。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指向回答中的资料引用，解释为什么知识型 Agent 的首要评价标准是可追溯，而不是文笔。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明确这是讲师示范的第 3 个 Lab，逐项检查输入结构、模板引用与输出可行动性。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先读提示词中的过滤条件和指标，再读图表；强调观察、推断和行动建议必须分层表达。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六步是普适方法，不是某一个 Agent 的专属流程。后面每页只讲一个关键步骤。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按页面画面演示本步。完成后停顿，确认学员已经找到相同入口，再进入下一步。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讲师巡场时用“任务是否清楚、边界是否清楚、输出是否稳定”三个问题提供反馈。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按网络规模、表格三列和角色分工进行解释。不要把 AI Ambassador 描述为审批者或业务责任人。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841b905124b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6826152da04377" /><Relationship Type="http://schemas.openxmlformats.org/officeDocument/2006/relationships/slideLayout" Target="/ppt/slideLayouts/slideLayout1.xml" Id="R2b4c1749a1da4a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4c1749a1da4a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379db4ed44c71" /><Relationship Type="http://schemas.openxmlformats.org/officeDocument/2006/relationships/hyperlink" Target="https://aiskillsnavigator.microsoft.com/" TargetMode="External" Id="R6356b23e33a44a7e" /><Relationship Type="http://schemas.openxmlformats.org/officeDocument/2006/relationships/notesSlide" Target="/ppt/notesSlides/notesSlide1.xml" Id="R090dc4ed4c0148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07a31f9804ea1" /><Relationship Type="http://schemas.openxmlformats.org/officeDocument/2006/relationships/hyperlink" Target="https://aiskillsnavigator.microsoft.com/" TargetMode="External" Id="R8596f1b81f4b425d" /><Relationship Type="http://schemas.openxmlformats.org/officeDocument/2006/relationships/notesSlide" Target="/ppt/notesSlides/notesSlide2.xml" Id="R56e8e6a31ce147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13ce22e6b4af3" /><Relationship Type="http://schemas.openxmlformats.org/officeDocument/2006/relationships/hyperlink" Target="https://aiskillsnavigator.microsoft.com/" TargetMode="External" Id="Rf57b9c892488422d" /><Relationship Type="http://schemas.openxmlformats.org/officeDocument/2006/relationships/notesSlide" Target="/ppt/notesSlides/notesSlide3.xml" Id="R0eba41e4f5de43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86e053e6a48e8" /><Relationship Type="http://schemas.openxmlformats.org/officeDocument/2006/relationships/hyperlink" Target="https://www.aigateway.ai.inside.philips.com/" TargetMode="External" Id="R7d8f39f2bb1d4ff0" /><Relationship Type="http://schemas.openxmlformats.org/officeDocument/2006/relationships/notesSlide" Target="/ppt/notesSlides/notesSlide4.xml" Id="R39c02e87d5c046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dced63f814609" /><Relationship Type="http://schemas.openxmlformats.org/officeDocument/2006/relationships/image" Target="/ppt/media/image.png" Id="R4ffe4d5127ff4ec5" /><Relationship Type="http://schemas.openxmlformats.org/officeDocument/2006/relationships/hyperlink" Target="https://www.aigateway.ai.inside.philips.com/" TargetMode="External" Id="Re7aea7810b874429" /><Relationship Type="http://schemas.openxmlformats.org/officeDocument/2006/relationships/notesSlide" Target="/ppt/notesSlides/notesSlide5.xml" Id="Rbf65ac77c555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886120ae84334" /><Relationship Type="http://schemas.openxmlformats.org/officeDocument/2006/relationships/image" Target="/ppt/media/image2.png" Id="R25f0705a8b124b8a" /><Relationship Type="http://schemas.openxmlformats.org/officeDocument/2006/relationships/hyperlink" Target="https://www.aigateway.ai.inside.philips.com/" TargetMode="External" Id="R273b1f98fed54813" /><Relationship Type="http://schemas.openxmlformats.org/officeDocument/2006/relationships/notesSlide" Target="/ppt/notesSlides/notesSlide6.xml" Id="Rad8d23df467d45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cf5c0abf24b7d" /><Relationship Type="http://schemas.openxmlformats.org/officeDocument/2006/relationships/image" Target="/ppt/media/image3.png" Id="R8900ac013c434079" /><Relationship Type="http://schemas.openxmlformats.org/officeDocument/2006/relationships/hyperlink" Target="https://www.aigateway.ai.inside.philips.com/" TargetMode="External" Id="Rfbb1791141254ee7" /><Relationship Type="http://schemas.openxmlformats.org/officeDocument/2006/relationships/notesSlide" Target="/ppt/notesSlides/notesSlide7.xml" Id="R3e82220eb8f14c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1a2d09d11473c" /><Relationship Type="http://schemas.openxmlformats.org/officeDocument/2006/relationships/hyperlink" Target="https://www.aigateway.ai.inside.philips.com/" TargetMode="External" Id="R1870f625c54c4d57" /><Relationship Type="http://schemas.openxmlformats.org/officeDocument/2006/relationships/notesSlide" Target="/ppt/notesSlides/notesSlide8.xml" Id="R9bf3f5b1091b4e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f584f4d844f05" /><Relationship Type="http://schemas.openxmlformats.org/officeDocument/2006/relationships/image" Target="/ppt/media/image4.png" Id="R51d24b3911994edd" /><Relationship Type="http://schemas.openxmlformats.org/officeDocument/2006/relationships/hyperlink" Target="https://www.aigateway.ai.inside.philips.com/" TargetMode="External" Id="R06e107d569914031" /><Relationship Type="http://schemas.openxmlformats.org/officeDocument/2006/relationships/notesSlide" Target="/ppt/notesSlides/notesSlide9.xml" Id="R938c4656415f4f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75350e3bd4d82" /><Relationship Type="http://schemas.openxmlformats.org/officeDocument/2006/relationships/image" Target="/ppt/media/image5.png" Id="Rab800e4023284549" /><Relationship Type="http://schemas.openxmlformats.org/officeDocument/2006/relationships/hyperlink" Target="https://www.aigateway.ai.inside.philips.com/" TargetMode="External" Id="Rfedfc4410f294b4d" /><Relationship Type="http://schemas.openxmlformats.org/officeDocument/2006/relationships/notesSlide" Target="/ppt/notesSlides/notesSlide10.xml" Id="Rcb77b34bf0bb47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c9137dace4ed6" /><Relationship Type="http://schemas.openxmlformats.org/officeDocument/2006/relationships/hyperlink" Target="https://aiskillsnavigator.microsoft.com/" TargetMode="External" Id="Rad24f132f7d94b57" /><Relationship Type="http://schemas.openxmlformats.org/officeDocument/2006/relationships/hyperlink" Target="https://aiskillsnavigator.microsoft.com/playlists/291ff1ba-c754-44f1-9814-ef8917f8c989" TargetMode="External" Id="R61113d4b59254fd7" /><Relationship Type="http://schemas.openxmlformats.org/officeDocument/2006/relationships/hyperlink" Target="https://m365.cloud.microsoft/chat" TargetMode="External" Id="R866d5f01c3c646c5" /><Relationship Type="http://schemas.openxmlformats.org/officeDocument/2006/relationships/notesSlide" Target="/ppt/notesSlides/notesSlide11.xml" Id="Rf03b06e9c7da45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d5a55f8ab436f" /><Relationship Type="http://schemas.openxmlformats.org/officeDocument/2006/relationships/image" Target="/ppt/media/image6.png" Id="Rf7ee3aee80244dc3" /><Relationship Type="http://schemas.openxmlformats.org/officeDocument/2006/relationships/hyperlink" Target="https://aiskillsnavigator.microsoft.com/" TargetMode="External" Id="R021d3c2600fa4308" /><Relationship Type="http://schemas.openxmlformats.org/officeDocument/2006/relationships/notesSlide" Target="/ppt/notesSlides/notesSlide12.xml" Id="R296e508c42bb4f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1bc1a38d442c2" /><Relationship Type="http://schemas.openxmlformats.org/officeDocument/2006/relationships/image" Target="/ppt/media/image7.png" Id="Rbe0f159bf3ff48f3" /><Relationship Type="http://schemas.openxmlformats.org/officeDocument/2006/relationships/hyperlink" Target="https://aiskillsnavigator.microsoft.com/playlists/291ff1ba-c754-44f1-9814-ef8917f8c989" TargetMode="External" Id="Ra92378a73a5c4381" /><Relationship Type="http://schemas.openxmlformats.org/officeDocument/2006/relationships/notesSlide" Target="/ppt/notesSlides/notesSlide13.xml" Id="Re3ddf64784e449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203922ab4260" /><Relationship Type="http://schemas.openxmlformats.org/officeDocument/2006/relationships/image" Target="/ppt/media/image8.png" Id="R63873ecc4fa7485f" /><Relationship Type="http://schemas.openxmlformats.org/officeDocument/2006/relationships/hyperlink" Target="https://aiskillsnavigator.microsoft.com/playlists/291ff1ba-c754-44f1-9814-ef8917f8c989" TargetMode="External" Id="Rf50a8a0964bf4b83" /><Relationship Type="http://schemas.openxmlformats.org/officeDocument/2006/relationships/hyperlink" Target="https://learn.microsoft.com/zh-cn/training/courses/ms-4004" TargetMode="External" Id="Rf3dd0f20efcb4574" /><Relationship Type="http://schemas.openxmlformats.org/officeDocument/2006/relationships/notesSlide" Target="/ppt/notesSlides/notesSlide14.xml" Id="Re93a69f28bb24c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029ec594247c3" /><Relationship Type="http://schemas.openxmlformats.org/officeDocument/2006/relationships/hyperlink" Target="https://aiskillsnavigator.microsoft.com/playlists/291ff1ba-c754-44f1-9814-ef8917f8c989" TargetMode="External" Id="R3e90bd47bfd54389" /><Relationship Type="http://schemas.openxmlformats.org/officeDocument/2006/relationships/notesSlide" Target="/ppt/notesSlides/notesSlide15.xml" Id="R2288d8d28d9649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25543132b4835" /><Relationship Type="http://schemas.openxmlformats.org/officeDocument/2006/relationships/hyperlink" Target="https://m365.cloud.microsoft/chat" TargetMode="External" Id="Rfbeba4620bf247a1" /><Relationship Type="http://schemas.openxmlformats.org/officeDocument/2006/relationships/notesSlide" Target="/ppt/notesSlides/notesSlide16.xml" Id="R42974c264ef449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1afc1de704730" /><Relationship Type="http://schemas.openxmlformats.org/officeDocument/2006/relationships/hyperlink" Target="https://m365.cloud.microsoft/chat" TargetMode="External" Id="R9ea3b017fec44082" /><Relationship Type="http://schemas.openxmlformats.org/officeDocument/2006/relationships/notesSlide" Target="/ppt/notesSlides/notesSlide17.xml" Id="Rafdfb46d0a344a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bd815b20548f2" /><Relationship Type="http://schemas.openxmlformats.org/officeDocument/2006/relationships/hyperlink" Target="https://m365.cloud.microsoft/chat" TargetMode="External" Id="Re48163f14fe84964" /><Relationship Type="http://schemas.openxmlformats.org/officeDocument/2006/relationships/notesSlide" Target="/ppt/notesSlides/notesSlide18.xml" Id="Rff8e6f188dd541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f901e480f4d40" /><Relationship Type="http://schemas.openxmlformats.org/officeDocument/2006/relationships/hyperlink" Target="https://m365.cloud.microsoft/chat" TargetMode="External" Id="R9fbb567d98e74dda" /><Relationship Type="http://schemas.openxmlformats.org/officeDocument/2006/relationships/notesSlide" Target="/ppt/notesSlides/notesSlide19.xml" Id="Rd87678a3af0144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a6b58657d4dbb" /><Relationship Type="http://schemas.openxmlformats.org/officeDocument/2006/relationships/hyperlink" Target="https://m365.cloud.microsoft/chat" TargetMode="External" Id="R2a9271164ec04e9e" /><Relationship Type="http://schemas.openxmlformats.org/officeDocument/2006/relationships/notesSlide" Target="/ppt/notesSlides/notesSlide20.xml" Id="R333287c2b74f48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7e71a51a041b8" /><Relationship Type="http://schemas.openxmlformats.org/officeDocument/2006/relationships/hyperlink" Target="https://m365.cloud.microsoft/chat" TargetMode="External" Id="R1599f942fdfe4c52" /><Relationship Type="http://schemas.openxmlformats.org/officeDocument/2006/relationships/notesSlide" Target="/ppt/notesSlides/notesSlide21.xml" Id="Rf4de1e0204b445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5877c9c7f478b" /><Relationship Type="http://schemas.openxmlformats.org/officeDocument/2006/relationships/image" Target="/ppt/media/image9.png" Id="R5200989d371d40dd" /><Relationship Type="http://schemas.openxmlformats.org/officeDocument/2006/relationships/hyperlink" Target="https://m365.cloud.microsoft/chat" TargetMode="External" Id="R603bfdb9e99e46b4" /><Relationship Type="http://schemas.openxmlformats.org/officeDocument/2006/relationships/notesSlide" Target="/ppt/notesSlides/notesSlide22.xml" Id="R303e7230c9774b5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bcbdf450c4704" /><Relationship Type="http://schemas.openxmlformats.org/officeDocument/2006/relationships/hyperlink" Target="https://m365.cloud.microsoft/chat" TargetMode="External" Id="Rf86f2939b85a4e98" /><Relationship Type="http://schemas.openxmlformats.org/officeDocument/2006/relationships/notesSlide" Target="/ppt/notesSlides/notesSlide23.xml" Id="Rf23bc0dbdef94f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6dfd8eeea467a" /><Relationship Type="http://schemas.openxmlformats.org/officeDocument/2006/relationships/hyperlink" Target="https://m365.cloud.microsoft/chat" TargetMode="External" Id="R41170747754b42fa" /><Relationship Type="http://schemas.openxmlformats.org/officeDocument/2006/relationships/notesSlide" Target="/ppt/notesSlides/notesSlide24.xml" Id="Rb57e4b7d153b44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6d3b989f4634" /><Relationship Type="http://schemas.openxmlformats.org/officeDocument/2006/relationships/hyperlink" Target="https://philips-ai-tool-lab.github.io/ai-tool-lab-preview/" TargetMode="External" Id="R30c0dbc700274df8" /><Relationship Type="http://schemas.openxmlformats.org/officeDocument/2006/relationships/hyperlink" Target="https://philips-ai-tool-lab.github.io/ai-tool-lab-preview/#agent-builder-path" TargetMode="External" Id="Rcf8cdfd11fd34f87" /><Relationship Type="http://schemas.openxmlformats.org/officeDocument/2006/relationships/hyperlink" Target="https://m365.cloud.microsoft/chat" TargetMode="External" Id="R06181d94ebf44c33" /><Relationship Type="http://schemas.openxmlformats.org/officeDocument/2006/relationships/notesSlide" Target="/ppt/notesSlides/notesSlide25.xml" Id="R0d94805e0f8044e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ffd003e6740a5" /><Relationship Type="http://schemas.openxmlformats.org/officeDocument/2006/relationships/image" Target="/ppt/media/image10.png" Id="Rcff32df2a7ac4c67" /><Relationship Type="http://schemas.openxmlformats.org/officeDocument/2006/relationships/hyperlink" Target="https://philips-ai-tool-lab.github.io/ai-tool-lab-preview/" TargetMode="External" Id="R5e69f36c674d4f6f" /><Relationship Type="http://schemas.openxmlformats.org/officeDocument/2006/relationships/hyperlink" Target="https://philips-ai-tool-lab.github.io/ai-tool-lab-preview/#agent-builder-path" TargetMode="External" Id="Rd3d6839f28344379" /><Relationship Type="http://schemas.openxmlformats.org/officeDocument/2006/relationships/notesSlide" Target="/ppt/notesSlides/notesSlide26.xml" Id="R3d963b58a6f940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67ac770714ce2" /><Relationship Type="http://schemas.openxmlformats.org/officeDocument/2006/relationships/hyperlink" Target="https://philips-ai-tool-lab.github.io/ai-tool-lab-preview/labs/chief-of-staff/" TargetMode="External" Id="R21358adf477c405b" /><Relationship Type="http://schemas.openxmlformats.org/officeDocument/2006/relationships/hyperlink" Target="https://philips-ai-tool-lab.github.io/ai-tool-lab-preview/labs/product-manual-faq/" TargetMode="External" Id="R48e1575f66aa45ef" /><Relationship Type="http://schemas.openxmlformats.org/officeDocument/2006/relationships/hyperlink" Target="https://philips-ai-tool-lab.github.io/ai-tool-lab-preview/labs/meeting-follow-up/" TargetMode="External" Id="R87f879b035834e4d" /><Relationship Type="http://schemas.openxmlformats.org/officeDocument/2006/relationships/hyperlink" Target="https://philips-ai-tool-lab.github.io/ai-tool-lab-preview/labs/funnel-data-analyst/" TargetMode="External" Id="R47049fa68cb640a6" /><Relationship Type="http://schemas.openxmlformats.org/officeDocument/2006/relationships/notesSlide" Target="/ppt/notesSlides/notesSlide27.xml" Id="R65c14d1624b445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91489322b4663" /><Relationship Type="http://schemas.openxmlformats.org/officeDocument/2006/relationships/image" Target="/ppt/media/image11.png" Id="Rd9b0b77c4c194838" /><Relationship Type="http://schemas.openxmlformats.org/officeDocument/2006/relationships/hyperlink" Target="https://philips-ai-tool-lab.github.io/ai-tool-lab-preview/labs/chief-of-staff/" TargetMode="External" Id="Rda87c72e665b40de" /><Relationship Type="http://schemas.openxmlformats.org/officeDocument/2006/relationships/notesSlide" Target="/ppt/notesSlides/notesSlide28.xml" Id="Rb89f35e917b341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667b4688941b6" /><Relationship Type="http://schemas.openxmlformats.org/officeDocument/2006/relationships/image" Target="/ppt/media/image12.png" Id="R6085c23f931b476c" /><Relationship Type="http://schemas.openxmlformats.org/officeDocument/2006/relationships/hyperlink" Target="https://philips-ai-tool-lab.github.io/ai-tool-lab-preview/labs/product-manual-faq/" TargetMode="External" Id="R4f9db69922694fe4" /><Relationship Type="http://schemas.openxmlformats.org/officeDocument/2006/relationships/notesSlide" Target="/ppt/notesSlides/notesSlide29.xml" Id="R7c32f2fcfd124f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54c0598f84d35" /><Relationship Type="http://schemas.openxmlformats.org/officeDocument/2006/relationships/image" Target="/ppt/media/image13.png" Id="Rd768c0f0a374496c" /><Relationship Type="http://schemas.openxmlformats.org/officeDocument/2006/relationships/hyperlink" Target="https://philips-ai-tool-lab.github.io/ai-tool-lab-preview/labs/meeting-follow-up/" TargetMode="External" Id="R02204a818cb44b0a" /><Relationship Type="http://schemas.openxmlformats.org/officeDocument/2006/relationships/notesSlide" Target="/ppt/notesSlides/notesSlide30.xml" Id="R4b073aa4f5b7473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6e80afbe4cd2" /><Relationship Type="http://schemas.openxmlformats.org/officeDocument/2006/relationships/image" Target="/ppt/media/image14.png" Id="Rfd8787a75bed4e6d" /><Relationship Type="http://schemas.openxmlformats.org/officeDocument/2006/relationships/hyperlink" Target="https://philips-ai-tool-lab.github.io/ai-tool-lab-preview/labs/funnel-data-analyst/" TargetMode="External" Id="R6a0a63dfe8144909" /><Relationship Type="http://schemas.openxmlformats.org/officeDocument/2006/relationships/notesSlide" Target="/ppt/notesSlides/notesSlide31.xml" Id="R63df53632dac434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751e3dd6b40b5" /><Relationship Type="http://schemas.openxmlformats.org/officeDocument/2006/relationships/hyperlink" Target="https://philips-ai-tool-lab.github.io/ai-tool-lab-preview/#agent-builder-path" TargetMode="External" Id="Rf663a17c29674ce5" /><Relationship Type="http://schemas.openxmlformats.org/officeDocument/2006/relationships/notesSlide" Target="/ppt/notesSlides/notesSlide32.xml" Id="R7a936f86ba48496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f2e75a06a48d1" /><Relationship Type="http://schemas.openxmlformats.org/officeDocument/2006/relationships/image" Target="/ppt/media/image15.png" Id="R8df712f3681e4896" /><Relationship Type="http://schemas.openxmlformats.org/officeDocument/2006/relationships/hyperlink" Target="https://m365.cloud.microsoft/chat" TargetMode="External" Id="Rc815ef3cc4f1468e" /><Relationship Type="http://schemas.openxmlformats.org/officeDocument/2006/relationships/notesSlide" Target="/ppt/notesSlides/notesSlide33.xml" Id="Rebe96fb3c4ee45f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34014e13647ad" /><Relationship Type="http://schemas.openxmlformats.org/officeDocument/2006/relationships/image" Target="/ppt/media/image16.png" Id="R6b1d8e7fd7a44fee" /><Relationship Type="http://schemas.openxmlformats.org/officeDocument/2006/relationships/hyperlink" Target="https://philips-ai-tool-lab.github.io/ai-tool-lab-preview/#agent-builder-path" TargetMode="External" Id="Ra092a13e8cff45db" /><Relationship Type="http://schemas.openxmlformats.org/officeDocument/2006/relationships/notesSlide" Target="/ppt/notesSlides/notesSlide34.xml" Id="R52ef4466c0d5418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08debf24844f5" /><Relationship Type="http://schemas.openxmlformats.org/officeDocument/2006/relationships/image" Target="/ppt/media/image17.png" Id="Re5243b2703544485" /><Relationship Type="http://schemas.openxmlformats.org/officeDocument/2006/relationships/hyperlink" Target="https://philips-ai-tool-lab.github.io/ai-tool-lab-preview/labs/meeting-follow-up/" TargetMode="External" Id="R4defabf18f0f4946" /><Relationship Type="http://schemas.openxmlformats.org/officeDocument/2006/relationships/notesSlide" Target="/ppt/notesSlides/notesSlide35.xml" Id="Rbdf6bdc53ff1465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e8054b69498f" /><Relationship Type="http://schemas.openxmlformats.org/officeDocument/2006/relationships/image" Target="/ppt/media/image18.png" Id="R1f7ccd19f0b04167" /><Relationship Type="http://schemas.openxmlformats.org/officeDocument/2006/relationships/hyperlink" Target="https://philips-ai-tool-lab.github.io/ai-tool-lab-preview/#agent-builder-path" TargetMode="External" Id="R75dfb7d7b4864f91" /><Relationship Type="http://schemas.openxmlformats.org/officeDocument/2006/relationships/notesSlide" Target="/ppt/notesSlides/notesSlide36.xml" Id="Rcaa5a21800cb446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84d5e1fc4f3a" /><Relationship Type="http://schemas.openxmlformats.org/officeDocument/2006/relationships/image" Target="/ppt/media/image19.png" Id="Rd6bfd62dcf384b4e" /><Relationship Type="http://schemas.openxmlformats.org/officeDocument/2006/relationships/hyperlink" Target="https://philips-ai-tool-lab.github.io/ai-tool-lab-preview/labs/meeting-follow-up/" TargetMode="External" Id="R93e7de860ac74aa7" /><Relationship Type="http://schemas.openxmlformats.org/officeDocument/2006/relationships/notesSlide" Target="/ppt/notesSlides/notesSlide37.xml" Id="Rb638557de24940d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875fd8a3a4d7e" /><Relationship Type="http://schemas.openxmlformats.org/officeDocument/2006/relationships/image" Target="/ppt/media/image20.png" Id="R1b5d27bdc3ca4467" /><Relationship Type="http://schemas.openxmlformats.org/officeDocument/2006/relationships/hyperlink" Target="https://philips-ai-tool-lab.github.io/ai-tool-lab-preview/#agent-builder-path" TargetMode="External" Id="R112ad1b425ef4b03" /><Relationship Type="http://schemas.openxmlformats.org/officeDocument/2006/relationships/notesSlide" Target="/ppt/notesSlides/notesSlide38.xml" Id="R33bea4b7a5f043c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7dcd66e1a4d77" /><Relationship Type="http://schemas.openxmlformats.org/officeDocument/2006/relationships/image" Target="/ppt/media/image21.png" Id="R2f84e99280f54f41" /><Relationship Type="http://schemas.openxmlformats.org/officeDocument/2006/relationships/hyperlink" Target="https://m365.cloud.microsoft/chat" TargetMode="External" Id="R3d0c5b9b96bd4a1b" /><Relationship Type="http://schemas.openxmlformats.org/officeDocument/2006/relationships/notesSlide" Target="/ppt/notesSlides/notesSlide39.xml" Id="Rddc12f4fc9354c4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dd950af034399" /><Relationship Type="http://schemas.openxmlformats.org/officeDocument/2006/relationships/image" Target="/ppt/media/image22.png" Id="R3acc09aa0cd84291" /><Relationship Type="http://schemas.openxmlformats.org/officeDocument/2006/relationships/hyperlink" Target="https://philips-ai-tool-lab.github.io/ai-tool-lab-preview/labs/meeting-follow-up/" TargetMode="External" Id="R33e11679425f4b37" /><Relationship Type="http://schemas.openxmlformats.org/officeDocument/2006/relationships/notesSlide" Target="/ppt/notesSlides/notesSlide40.xml" Id="Ra6cf917fc5e142a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03c672ebf433e" /><Relationship Type="http://schemas.openxmlformats.org/officeDocument/2006/relationships/hyperlink" Target="https://philips-ai-tool-lab.github.io/ai-tool-lab-preview/labs/chief-of-staff/" TargetMode="External" Id="R79dfeae854f5458b" /><Relationship Type="http://schemas.openxmlformats.org/officeDocument/2006/relationships/hyperlink" Target="https://philips-ai-tool-lab.github.io/ai-tool-lab-preview/labs/product-manual-faq/" TargetMode="External" Id="R887b4a1a4c4c4eb3" /><Relationship Type="http://schemas.openxmlformats.org/officeDocument/2006/relationships/hyperlink" Target="https://philips-ai-tool-lab.github.io/ai-tool-lab-preview/labs/meeting-follow-up/" TargetMode="External" Id="Racee4512f99f415f" /><Relationship Type="http://schemas.openxmlformats.org/officeDocument/2006/relationships/hyperlink" Target="https://philips-ai-tool-lab.github.io/ai-tool-lab-preview/labs/funnel-data-analyst/" TargetMode="External" Id="Ra2025f99b99b4c30" /><Relationship Type="http://schemas.openxmlformats.org/officeDocument/2006/relationships/hyperlink" Target="https://m365.cloud.microsoft/chat" TargetMode="External" Id="Rde872954b235453d" /><Relationship Type="http://schemas.openxmlformats.org/officeDocument/2006/relationships/notesSlide" Target="/ppt/notesSlides/notesSlide41.xml" Id="R3032708214424aa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52ace7a1b4f7d" /><Relationship Type="http://schemas.openxmlformats.org/officeDocument/2006/relationships/image" Target="/ppt/media/image23.png" Id="R9ebe4b979ef64d80" /><Relationship Type="http://schemas.openxmlformats.org/officeDocument/2006/relationships/hyperlink" Target="https://www.aigateway.ai.inside.philips.com/" TargetMode="External" Id="R82681bf4318d4b3f" /><Relationship Type="http://schemas.openxmlformats.org/officeDocument/2006/relationships/hyperlink" Target="https://philips-ai-tool-lab.github.io/ai-tool-lab-preview/" TargetMode="External" Id="R184fb718510b4127" /><Relationship Type="http://schemas.openxmlformats.org/officeDocument/2006/relationships/notesSlide" Target="/ppt/notesSlides/notesSlide42.xml" Id="R4d97c42f94a4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0498-FC1D-411A-9DDE-D31CE8F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B8805-B2CF-4301-A256-AB3BB007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1CBA8-C76B-419F-AD0C-969F177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E7F82-7F74-450B-9EB7-A7E487A6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Microsoft 365 Copilot 实操 · Copilot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AF5CE-89BA-4334-A6D1-BB9B7156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FC752-48D4-4F48-B693-83319E8E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56b23e33a44a7e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1692041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3C1D8-80FB-4370-A3EF-743B5ED7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8AE26-4812-42D4-A1CF-16128001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FDAA9-0D07-4770-B090-ECE1CCB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为什么今天要学习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6464E-839A-4931-837B-5713FD6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目标不是记住所有功能，而是建立一套可迁移的工作方法。我们要学会把背景、任务、输出和限制条件说清楚，同时保留对事实、来源和业务判断的责任。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1B3CF-8337-42A7-948A-BE63DED7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34263-077C-455B-99D5-46E76CE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19D8F-9DB9-4546-BDB7-5CE49C29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096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从“会问”开始。 AI 可以帮助我们整理信息、加速初稿并形成结构，但前提是把背景、任务、输出格式和限制条件说清楚。一个清楚的问题，往往比反复修改模糊答案更节省时间。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从“能用”进阶。 当同类任务反复出现时，可以把资料、规则和常用提示固化为 Agent，让一次性对话变成可复用的工作方式。这样做的重点不是追求复杂功能，而是让团队获得更稳定的处理步骤。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始终保持判断。 生成结果需要核对来源、事实、敏感信息和业务语境，人仍然对最终决定与交付负责。AI 可以帮助我们更快形成选项，但不能替代责任主体作出最终判断。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DAA00-6A65-402F-A395-4D1CD78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96f1b81f4b425d"/>
              </a:rPr>
              <a:t>课程学习入口  ↗</a:t>
            </a:r>
          </a:p>
        </p:txBody>
      </p:sp>
    </p:spTree>
    <p:extLst>
      <p:ext uri="{BB962C8B-B14F-4D97-AF65-F5344CB8AC3E}">
        <p14:creationId xmlns:p14="http://schemas.microsoft.com/office/powerpoint/2010/main" val="80080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5C4D8-FAEF-4304-805B-B372FDE9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A18D6-1E1F-4C26-8C75-0ECCDAEF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2F978-526E-4483-8917-4DF8A8A4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5FE5E-E902-4F69-AE85-96D2EF7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AF958-9142-43DC-B20E-2711001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E4C60-D205-4E5A-AE33-15AE2775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D3D4B-63F7-4167-AECD-67CB02A6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B26F2-3821-4DDB-B28F-88A10DF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137DD-7FA7-4947-9674-69BF8F9C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E6508-2C69-4838-99E3-BDF677B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1812C-A694-4869-B12C-7480D11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1D4EF-4107-4908-9D5E-B2FD9AAF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CDB50-4B9A-436E-9EF9-44BF410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66A51-D0B6-425E-B7F5-04F9D4B4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806C2-C0E0-4892-8BA9-56743C9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24E07-20F5-47CE-A5E5-ECD7BA10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BFDC5-78B1-4D23-ABA3-EE94A4D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33E96-B1C0-4C5C-A330-A57F950A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67142-0E77-4A88-AB24-99D78CFC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CC169-322A-464B-AA78-BD8433D8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50DCD-CC53-4972-834A-03CC06D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85433-9E38-4B3B-A166-EA90A86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497F5-9D42-45FF-9494-6F246A45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92455-D184-4274-ADAB-09FC4516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60E45-C292-4231-880F-0B2A578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B6C98D-6D3F-42B4-9529-12F7B68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C1078-6DB6-4665-90F9-4BD14CB0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ED205-D4D6-452B-A782-3917DBA0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7b9c892488422d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333517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89B2F-939A-4FD9-A01A-0E75557C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8C5D2-97C0-43EF-BAB6-A76C0F22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1EDB1-6C95-4942-8EE0-2E6C702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081F5-3C0D-4668-97DE-D5C0C815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961BC-3001-426F-B983-BEB248F5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8f39f2bb1d4ff0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124060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B50F1-26A7-4B7B-A7D4-9599566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CAAC8-CFFE-4AE5-B7ED-514B6AE9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53EC0-8F15-4F44-9E30-1C532524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战略：从零散尝试走向规模化组合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F2F10-A594-4281-B8FC-53F5F50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这份战略一页纸的核心不是罗列工具，而是说明 Group Sustainability 正从孤立的 AI 用例转向有明确负责人、实际业务价值和扩展优先级的重点项目组合。绿色 Now 表示已经在运行或部署，橙色 Next 表示下一阶段准备规模化的能力。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765AC-390B-408C-BAD7-02A78FCC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21DAC-BDD5-44B3-886F-4FC2E79F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e4d5127ff4ec5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215A1-B065-482D-8D5F-AC4407B0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6A4E7-6D25-4DC5-BB16-D9B0E4B8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DEEAE-2B55-481E-AC71-96875F3D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B885E-4BA3-4ADE-8D3D-ACEB338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069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组合管理：顶部说明 Group Sustainability 正从孤立用例转向重点项目组合，每个方向都需要清楚的 ownership、实际价值和扩展优先级。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成熟度路线：每一列都按 Now 与 Next 展开。Now 是已投入使用或正在部署的能力，Next 是准备扩展、标准化或连接到正式流程的下一步。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共同目标：提升合规工作效率、加强商业支持并减少报告工作量；AI 的价值最终要体现在可复制流程和可衡量影响上。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2A720-0ED7-4534-A708-D1FD88B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aea7810b874429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121027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EA452-24F4-4752-AB1C-A09A5C2A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F5ECD-94A5-4A78-89BB-A0FBDFFA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521EF-3FF8-401E-AA0E-5B2AAD5D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战略主线：能力、供应商与合规三条基础工作流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257C4-C2BB-4BCF-A5FC-4E8636ED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前三条工作流共同解决规模化的基础问题：员工是否具备能力、供应链数据是否能够转化为风险洞察，以及法规变化是否能够被及时、稳定地处理。它们把 AI 从个人效率工具提升为可重复运行的组织能力。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6839-AB1A-430E-A221-A80B599A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86FD9-4591-4874-B1F2-2506F5DE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0705a8b124b8a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A4FD3-B20E-4331-B987-E479BB32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67E83-F0D2-40F2-9C42-11B0E56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7B34A-DA1A-4B49-A17E-A17E847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9C3FB-FCAD-4A52-806D-682DB58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1｜AI Capability &amp; Adoption：当前正在开发面向 GSO 岗位的角色化学习路径，并通过实践社区分享用例和采用经验；下一步建立 AI 价值漏斗与 champion network，把高价值用例识别、排序并推动规模化。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2｜Supplier Sustainability：当前 AI 已用于强化供应商可持续风险洞察与成熟度评估，并借助自动化公共信息筛查推进供应商风险画像；下一步处理非结构化供应商数据，进一步支持改进措施。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3｜Regulatory &amp; Compliance：当前 AI 每年辅助分流 2,000 多项可持续发展法规，并扩展到更快、更一致的 B/R/F 指导解读；下一步把监测能力连接到 QMS 要求和审计流程。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0EA26-D906-40EF-83B3-E0FAABA8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3b1f98fed54813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87907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00FA9-5EB0-422E-A608-3E9CF99C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09BE3-98DC-439D-A627-E1C08FD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1B8D1-926B-467C-92CC-ECB9D0A5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战略落地：商业支持、报告分析与 2026 规模化重点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A166A-0D55-47C3-BB81-2D9A7255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后两条工作流把基础能力转化为直接业务价值：一条面向投标与市场支持，另一条面向双重重要性评估、数据采集和披露流程。底部横条进一步给出 2026 年的统一方向。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058B2-433F-4BC4-8A6C-ED96D04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2E1E2-5813-47A7-A243-8F393923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0ac013c434079"/>
          <a:stretch xmlns:a="http://schemas.openxmlformats.org/drawingml/2006/main"/>
        </p:blipFill>
        <p:spPr>
          <a:xfrm xmlns:a="http://schemas.openxmlformats.org/drawingml/2006/main">
            <a:off x="1114425" y="18097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90598-A5CA-49D9-B6D0-46C9B521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141A7-0FED-45D5-A301-A113E6FD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C10C9-0727-4BBB-AFA8-BD594DC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950F1-1CE7-4669-8446-6E72B5AA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4｜Business &amp; Markets：Tender Assistant 正在部署，用于支持 150 多个销售后台团队；同时通过简化工作流减少人工协调、释放专家产能。下一步将在更多区域和优先投标场景中扩大 AI 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5｜Reporting &amp; Analysis：AI 当前支持 Double Materiality Assessment，并通过 GLYNT.ai 扩大制造基地的发票数据采集；下一步计划支持 CDP 等披露工作流和部分 DJSI 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focus：规模化已经验证的用例、标准化共同能力，并优先选择能够衡量影响的项目。每列底部的 Sponsor、LT 和 Owner 确保项目有人负责、有人推动。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B1F57-06E9-4993-B78F-01BDD6F2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b1791141254ee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57143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EDDA6-840F-41AF-8669-186501FC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87142-09FC-4AF1-96EE-CE8CE5DD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83059-0ED2-4DBF-A39C-E28B782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展示的是什么？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79AC5-3385-4142-8FFA-93DD31D5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它更接近企业 ChatGPT 的统一访问、治理和支持入口，而不是一个“所有 AI 工具都能在这里找到”的应用商店。理解这一定位以后，我们就知道应该在页面上寻找访问状态、申请支持和使用规范。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84E25-F7B3-42CB-B132-39E3659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99E9A-BA14-41F5-9081-16B847A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35BD2-742C-42AE-B213-D8387B5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A1846-3578-46DA-BA9E-9F61DC67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27FDA-C262-4067-9175-59721D3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D9663-F28B-4812-9385-312C8CF0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CB3DD-2273-4B78-89F9-1256DC99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FFA17-6377-464F-ACDE-B939E448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D6016-FA1D-4864-8C9E-59F0CCA5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38312-BDA3-4651-82D9-96DCCF71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C7BEB-46D5-47D7-87CF-4BE35FFF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A26EC-42E1-4AFC-9F42-F81BECE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1462F-F59A-409F-B881-17BE7C7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E97A6-9CBE-43B0-BF66-58F713D8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AD858-016F-4990-9B1F-4DF05C1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5B963-D79B-42F5-A46B-D0AF371D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6B7B5-38AD-4092-8174-32891CDE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20565-3219-4323-8F3B-D4DCFD8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因此，课堂上的探索任务应聚焦：入口在哪里、如何获得支持、有哪些使用规范，而不是要求学员在页面中寻找完整的学习课程或所有 Copilot 工具。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D3681-9530-4B8D-9ACE-ADEFAC4D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70f625c54c4d57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711180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C12F6-B7B7-4D73-8F08-3ED318B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F42E3-0921-47F2-A2F9-06E2F35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E3C03-0D59-45A7-AD88-6542805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入口与访问：AI Gateway 同时管理开通、治理与运营可见性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0ADAE-D544-452A-AAF7-53227122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首页上方说明 Enterprise ChatGPT for Philips 的定位；右侧状态卡显示当前标准用户配置可使用引导助手。下方三张卡分别对应成本与配额、使用可见性和标准化 onboarding，说明这是受企业运营模型管理的入口。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50C37-3644-448D-81BC-449B590D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AAC61-2623-4FEF-9F43-D954CAC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24b3911994edd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7101E-BAE2-4C68-B204-76287ED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5A5ED-B2DA-43A0-97A6-9E861B1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2FC39-FCF9-49F0-A8DA-49A40D16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25517-549D-4BF9-90DF-19BD4634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访问入口：主卡提供 Request access through the assistant，并明确 assistant 可回答 onboarding、企业使用预期、Responsible AI 和申请步骤。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状态判断：右侧卡片要区分“可使用引导助手”和“具体 ChatGPT 权限状态”，不要把页面提示简单理解为所有功能都已自动开通。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运营机制：下方三项说明用量与成本配额相连、请求与治理信号可观察、申请按 Philips group 和审批路径标准化。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AAA0C-8AFF-46CF-B597-612215F0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e107d569914031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453712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ACD93-E3E4-4C45-93A7-63A52C4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A58D1-9D03-4A15-A98B-3571A395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61315-6492-460E-9BB5-2476615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常见用途与责任边界：能力清单必须和使用条件一起读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3F9A5-5386-46A8-AE0E-30151252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左侧列出团队常见的四类用途，右侧列出首次使用前必须理解的四项条件。画面的设计在提醒我们：起草、总结、研究和自动化带来效率，但必须同时满足批准场景、数据边界、人工复核与正式开通流程。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9935-A3D9-4DC4-A028-33E9AC2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97A86-7507-404F-A309-F90C167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00e4023284549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F06FD-55FC-4202-B36B-8DB7B671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3D81-13B0-4F38-B881-7E3B86E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0D6F-F672-46BD-9946-E69C4498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B28F4-DE37-4FF6-B05D-8FCC42C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7573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怎样负责任地做：仅在批准的 Philips 工作情境中使用，遵守企业数据处理与可见性要求；审阅生成结果，不在未批准环境中放入敏感信息。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怎样获得权限：访问需要经过 Philips 审批与 provisioning；准备申请时从 AI Gateway 开始，并按所在 group 的引导路径完成。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14B22-6C59-4970-B876-C5952FFA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dfc4410f294b4d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80659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C706-AB7E-4B5F-AB3C-A9FB6BC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4BC28-3F57-4563-BC02-A723648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41E4D-5739-4E64-8081-423ED80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C5BF9-E5E3-4D6E-B410-BE47E24D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106E7-D4A2-4BA9-8A46-71CDF20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24f132f7d94b57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8B427-B521-425C-BCF1-6848333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113d4b59254fd7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B6BF9-4C4A-4727-B571-C59B1A9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6d5f01c3c646c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91151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E66A0-A04C-4759-920F-28B051DA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C8D51-2F1C-405B-8385-EB510DE3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535BD-7FCC-4CA5-BBAC-9CB8386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432B6-5097-45EB-899E-5ABB8FCB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这是微软官方 AI 学习网站的个性化首页。它不会只展示一门固定课程，而是根据学习记录和个人资料推荐内容，同时保留搜索、播放列表、证书与学习报告等入口，适合作为持续学习门户。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1CD5C-567A-4C8C-8EAE-F90EF3D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7B7AD-9288-489A-B6F9-0E51507E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e3aee80244dc3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9A929-1F51-4266-A254-26185A8B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5B2A6-5AFD-4900-823A-6F8AF67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8C0ED-38C8-46BE-BE30-C2D8B20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56858-3EB5-4F64-B8BC-E3189F91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A8C9C-AACC-48F5-AD89-3280FA4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1d3c2600fa4308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479871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B6292-C766-4BF0-9BE7-1B601F52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4C82E-6751-4817-9BEB-749F585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3482B-95BA-4EA9-8182-A68D13B3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playlists：把分散课程组织成可持续推进的学习路径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629AE-B38B-4439-B5AA-8B8A59C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Courses。顶部汇总播放列表的内容数量和总体进度，下面按主题组织 AI-3025、Microsoft 365 Copilot Chat 基础模块以及 MS-4004 等课程，便于按顺序持续学习。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4D3E3-E306-4C22-9F74-D2005AB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918B9-D714-421A-ABE3-BB106B1E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f159bf3ff48f3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5FCB4-3E52-4757-948A-4C8DD71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179B1-341C-4D56-B26A-4990D68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7388C-7FEF-4CAA-8599-59AFF9B9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E794A-EF92-41DE-A5B1-A80A74A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7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播放列表信息：顶部显示 33 items、总体进度和 Continue learning。它把文本、视频、Learning path 与 Module 组合在同一条学习路线中。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学习顺序：可以先完成 Work Smarter with AI 和 Copilot Chat Basic，建立提示、文件分析与协作基础，再进入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位置：页面下方已经列出 MS-4004，并明确覆盖 Executives、Sales、Marketing、Finance、IT、HR、Operations、Communications、Customer Service 和 Legal。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EACFC-0AC6-4DA5-83BB-ADA5BE40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2378a73a5c4381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9002229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5A813-A77F-4469-BD05-8F891D7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D32F7-08C6-4614-A66B-31DB94D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3DE8E-7CC2-4AB9-B86A-28068838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课程播放器与 MS-4004 导航：按单元学习并随时返回目录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11050-57E7-4185-92F7-93661EA5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 Navigation 展示整个播放列表的层级。当前截图选中的是 Copilot Chat Basic 的 Introduction；MS-4004 已显示在左侧目录中，展开后可以进入各岗位 use case。右侧主区用于阅读内容、查看学习目标并完成单元。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BDA04-0831-4021-B72A-4FDAC0CA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7A95E-2EFC-4347-89B5-2BD3BDE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73ecc4fa7485f"/>
          <a:stretch xmlns:a="http://schemas.openxmlformats.org/drawingml/2006/main"/>
        </p:blipFill>
        <p:spPr>
          <a:xfrm xmlns:a="http://schemas.openxmlformats.org/drawingml/2006/main">
            <a:off x="935131" y="1809750"/>
            <a:ext cx="6454588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5F184-E330-4D91-8E10-7884BDD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39D12-EC6E-4C1E-925F-B42C16C2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C6320-C68A-44AB-852D-3F01F07B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6CE27-3DD2-45BF-A20A-11014A4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左侧目录：可以展开课程和单元，当前模块包含 Introduction、Copilot Pages、Agents、练习和 Summary；下方的 MS-4004 是后续角色化用例入口。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主学习区：页面显示当前单元、正文、Important 提醒和学习目标；顶部还可 Summarize module 或 Turn module into podcast，便于按不同方式复习。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与课堂衔接：先理解 Copilot Chat 的基础能力，再进入 MS-4004 的岗位案例。接下来的课堂实操会提炼这些案例中共通的读、理、查、写方法。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35B74-1A65-495B-B3CD-90B1A6A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0a8a0964bf4b83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67AC3-56CF-4FD9-B8BC-AD35C08B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dd0f20efcb457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922634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648E5-94E3-47AF-8640-68C7913A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D984F-314A-4177-807B-86D73D72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84204-48D0-418C-BCF8-2A3C645D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CEA1A-1D76-4115-9920-77FDAC4D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课程通过不同岗位说明 Copilot 如何处理信息、沟通、分析与决策支持。学员无需局限于岗位名称，而应识别其中可以迁移的任务模式，例如快速理解上下文、比较多份资料并形成下一步沟通。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5D0B5-8465-4D8F-8B76-37B5F6E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2699-5C58-480F-B078-96554E1A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08D53-3FDF-4788-A0A6-70374E8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353AC-F0BC-4940-9D21-03E2053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9B1CE-2D1B-4D20-9E6B-C5B40FBA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F1699-B14F-4446-BC81-06C999DF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2C6CC-B6F3-4876-A10F-6431BAB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EC746-A926-4CCA-86D0-9F88ED44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555CA-70F6-4F0F-867C-CF3DA6BC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87AF7-2945-47AB-80CB-76342D81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49EDA-B396-4974-9227-48DD7ACA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FC7CE-3772-40EF-BE92-DB8DBB3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8062D-8791-4FA6-BE50-242D19F7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54018-AFA6-4D31-9B55-263A2662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AE95B-3226-4D44-B432-86E1D4AC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CAE5B-A554-4A07-A768-E929215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98653-4AFC-480C-9A15-D3E8D68B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65509-5AFD-451F-BB8E-014D5F95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32485-174F-4D49-B62F-78D250B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16725-5941-460D-893B-10B9F56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EC1A6-3BBA-4978-B910-801FD82F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3A002-18D8-4284-8087-4F3FB223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C2A959-60DA-4792-9A03-85930D48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339D8-B28B-4DB8-9E9F-23B42844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5AA5A-226E-4B2F-ADDC-D723C5A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C522B-59D5-4E3E-A4C7-BFDDDE8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5FD5C4-4F66-48A4-970F-FAA5124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7F347-F575-4C0F-9423-9224A26D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044B0-D4F6-4429-9DE3-82C87B2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13355-A03B-4E16-988E-6C12BBD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10D8DA-A918-4B64-A46A-B8AFCAF8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0A394E-DE68-4756-8030-213740A6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BDAAE5-791A-4019-A29E-C2E59EB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49D4B-F2BF-44B1-90CC-BF21F776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90bd47bfd54389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7985006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B76FC-1B74-49D7-821A-77727E0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72411-0909-4CBC-97B9-31AF7C6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F050F-0EE2-4585-AC2D-BD0EC55B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A7153-9856-469F-8729-44A061A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2D8D4-3E3A-4BDC-8064-1D88686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45CE5-97F2-4DB3-A48B-D205F6C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F8BEE-C298-4C5F-8E1A-3BC7DB4D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9844A-22F9-4A2F-BDAA-86557F85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EDDBA-CB0B-4C13-B093-41363526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0AE57-0F1C-4314-B2B7-BE1B327F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755C1-3ED7-434F-BC67-D752796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592D4-E1F7-4B35-A26B-C688C1D1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13D2D-87AF-4D85-8EF5-013C8EC3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46A8C-7E03-48CE-9238-BAC7FEA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CD164-EAC8-4931-B1B5-BAFFBC1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7C495-13E7-4C2D-A36F-7C61036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4F1B5-994F-4105-AEE1-ACE2701A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55C42-6548-4C51-AFB0-85DB37EF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64D13-8EE0-41C2-AFCC-71391DF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52E6C-E847-4209-A86C-D647368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E625A-0183-4F64-98F3-39ED3C1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2DF13-405B-4A1B-BD02-D256A462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4CC8C-B6BD-4DDB-B32A-B5F7E99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D9F09-0CB8-4F7B-84BE-14FF426F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EC5E5-D3FC-4BC2-BFE4-E856C1E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C0979-9F7A-4A84-8C65-C793426D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163AD-5F60-4B6B-ACB5-1F5F5D4D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eba4620bf247a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572807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487C0-0D65-4772-B646-93283DC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DFE8D-E89C-4232-AFDD-87C54311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E2599-9A94-40F1-9A4C-2C68A7C0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8D1DB-1567-4C86-A157-950D4A2D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你刚加入“绿色办公周”项目，需要在短时间内读懂三份资料，并向负责人说明项目现状、风险和下一步。所有资料都是虚构培训数据，不包含真实业务信息，因此我们可以把注意力集中在方法和判断过程上。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49068-3AB6-4D17-A476-6A276B23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788BA-2145-42F8-8299-704B2C0A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02F7F-8C49-4B82-838B-A7906F23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输入： 项目简介、规划会议纪要和里程碑时间表共同构成项目背景。三份文件包含目标、预算、行动项和一个刻意设置的日期冲突，因此不能只阅读其中一份就下结论。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处理： 让 Copilot 提炼目标与成功指标，区分已确认决策、待办事项和开放问题，并比较不同来源之间是否存在冲突或缺失信息。遇到不一致时，应保留两个版本并请求人工确认。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输出： 最终生成一页项目接手简报，以及一封用于确认冲突和推动行动的后续邮件草稿。输出需要让接收者快速看懂当前状态、责任人、截止日期和仍需决定的问题。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B2403-6045-41E5-A807-51204AB2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ea3b017fec44082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1088254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F86BE-7F6A-4714-BBF6-2983275D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1053D-C6CF-42C7-8F8B-0C66883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39CAA-2153-4FBB-B222-DC7EE9C1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11D4C-038F-4E3B-B7B2-54AE3D0E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第一份资料提供项目目的、衡量指标、预算、关键日期和范围，是建立项目全貌的主要来源。阅读时应区分已经批准的内容与仍在推进中的事项，并记下后续需要与其他资料交叉核对的日期。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11174-AA7A-4B43-985D-E394FCA3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49462-8601-43C7-9751-BD2252AD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E2B20-D679-4E1B-9D66-0D0E456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5CF21-1956-488A-88BC-DD91DF8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6F333-EF79-46DD-BD65-40012C7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C7FE0-96FA-4E44-B094-1F246E28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8163f14fe84964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7974957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0943B-410E-44C9-9C9E-FD41F3E2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BB64E-A0DA-45FD-A960-E086BB5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9D43E-BC0E-4CEC-AB8E-D1CA7DF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9141E-C272-4397-BF1C-B51D0B4F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第二份资料区分了已确认决策、行动项和开放问题。它补充了负责人角色与截止日期，也显示哪些信息仍不能被当成事实。后续输出中必须保留这种信息层级，避免把讨论中的可能性写成已经确定的结论。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9F6E4-7389-485A-9EC2-73D8E443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F63C8-06BD-4453-9EE2-BFE1017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650ED-A19C-4B08-9004-6D986DB2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13A70-0268-4E3A-B639-309302F3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1D9AD-9042-4866-8C5F-F5E759E6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BD2DA-A188-4BB6-875A-84F290E5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bb567d98e74dda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9850969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10CE3E-0DCA-464E-8BEE-90A3BE40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72F42-326B-4BEF-92B8-EF6CB7D7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9922C-7E29-42EE-93C8-083544AA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3：时间表中的刻意冲突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20C71-7FF9-48A9-80E1-389A3D30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里程碑时间表提供负责人、截止日期和状态，但其中“报名开放日期”与项目简介不一致。Copilot 应标记冲突，而不是自行选择一个日期。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C1C9D-9CD8-4128-A356-84EA2EC0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343B6-76F3-4052-B198-F2D5899F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CD531-1650-4341-8979-9690259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80BF3-38AF-4193-A6AF-7823B25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8F0B7-1E3D-4BA9-8E1A-316BAE88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D4EF5-39AC-4319-87E4-1AA64A70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3C2B3-2AF9-4980-B254-FF5AAACB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BA540-7C9D-414A-A93C-3F60A9D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5FC14-78F0-4857-A90C-AC62A111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7ABE3-0277-432B-9130-C25917C4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E0642-B5E7-4459-BDC1-024088E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C3AB5-4AE0-47E6-B144-CA7D693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C9457-F696-49BD-8278-1319C29F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D9F09-9B72-455F-A987-CBAA246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7E829-030E-4C5E-8DE9-64B2A531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C2F59-72FC-4784-A521-A6A985F4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044F4-2430-4FDA-AC93-21DE473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3E72B-57FF-4E61-89E6-0613DFB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E7BCE-B2EA-42A9-B849-CDA1C26F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862FF-92C9-4A78-945E-4FC064D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E80C5-5A7C-4E93-802D-6832D2D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69D9C-D3CD-4B77-B37C-728311C2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46BD8-B9F2-4AC8-95F6-EA76A29F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2D428D-14AB-4014-BD7B-509B56E8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D1A79-276B-45BA-8E22-E1934AA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FBD87-F1E9-4C34-AAD6-D9752B1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34D64F-6111-443B-B589-0D02439E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冲突提示：项目简介为 28 Aug，时间表为 31 Aug。正确动作是标记并请求负责人确认。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0A28C-88D3-4094-8C5B-0DE90F0F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9271164ec04e9e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5639503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7E7B5-33FB-411A-8D7E-A9F7099F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8E80B-C8E9-45D5-B79D-ED9BD60C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DBF66-9583-46E8-B722-EDFA024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59307-8EC1-469F-9651-81B516B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F2D91-31A2-4556-915B-A8B9442C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5713D-90D4-4484-B224-900CDFF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88E52-D28E-47E2-A9AC-624FB95E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1FF16-C888-494C-9AE9-A0DA0160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38814-435B-4906-A72B-99AFD3A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C74B0-4CEE-4D4F-A0DD-7A0CB6AF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E8032-A90B-40C3-A176-CF96B4C2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F6664-B593-42AE-9F4F-6E7DFD7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28B46-43FF-4F37-8440-2704ABAB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3B2E7-F5A7-4336-B5DB-4395030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F854E-3C8C-4DA0-A56E-4BF7ABD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1899C-12A3-4F48-AD66-D754EC3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3EDA9-3104-4830-9797-25A3E6FD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8E696-93BE-4B15-AF41-1C1D1405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444DD-234C-4E26-A11B-6B8846B1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9DC32-6603-46DC-83A2-CD7CD03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15535-5030-4341-8AAF-CEC31800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3DAF3-9335-4894-B9EF-66DC423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55C18-48A0-4CE9-BCC2-5515C80C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599f942fdfe4c52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8768189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773DC-8CCC-4C75-B008-DC266C9B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C6A58-F5C4-4576-BCDD-1A6A167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7DAF9-AACD-45F7-86AA-48DF486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Copilot：从工作环境、资料入口到任务执行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07406-D47B-4988-B061-EF7C9D87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这张首页截图包含三层入口：左侧用于管理对话、资料与 Agent，中间用于输入任务和添加上下文，上方的 Work IQ 与 Auto 用于确认工作环境和交互模式。开始实操前，应先确认账号、资料来源和数据敏感性。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7E3AC-A2A7-441E-8435-5B0FB89C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56BFD-A396-472D-94CF-103ABC8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0989d371d40dd"/>
          <a:stretch xmlns:a="http://schemas.openxmlformats.org/drawingml/2006/main"/>
        </p:blipFill>
        <p:spPr>
          <a:xfrm xmlns:a="http://schemas.openxmlformats.org/drawingml/2006/main">
            <a:off x="896711" y="1809750"/>
            <a:ext cx="653142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2B42B-A914-4B1B-97DD-54C0631F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4580B-69D2-43D3-83F7-3733560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12C35-C986-42E1-A15B-3822F96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EB680-D0A8-49BB-8C60-299FB1B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左侧导航：New chat 开始新任务，Search 找历史内容，Library 与 Notebooks 管理资料；Agents 区域还提供 Researcher、Analyst、Excel、PowerPoint 和 New agent 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任务输入区：中央 Message Copilot 是主提示框，左侧加号用于加入文件或其他上下文；File Insights、Inbox Triage、People Search、Meeting Prep 是常见任务快捷入口。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提交前检查：确认左下角为企业工作账户和相应许可，并核对 Work IQ 环境；只添加本任务需要的资料，敏感信息按企业规则处理。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7C5D3-25BE-49F3-AEF8-D62C0F2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3bfdb9e99e46b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926634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75303-D49F-4A56-BCFE-1E1F7C6F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23B93-E0DC-40E3-B14A-0F77E2C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24A80-EAFC-484A-96B2-28AB7A9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现场演示：从三份资料到两项可用输出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1DD19-BA8D-4107-8A33-F8F7F025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演示按固定顺序进行，便于学员观察每一步如何增加上下文、控制结构并保持可验证性。评价结果时不只看语言是否流畅，还要检查信息是否完整、冲突是否保留以及下一步是否清楚。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9E3DD-D018-4B61-B049-DB5D85C4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4EE8E-38E4-4A70-8D6D-A217DA8F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754BA-8B7E-426C-965F-4BA2453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6BE3D-FDA9-4855-97CD-0729EA9A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222D8-9E81-4132-AEA2-468F9E48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添加三份虚构培训资料，并明确它们是本次回答的唯一事实来源。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91D65-BB05-4788-899A-7A21A9BD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2E454-D6C4-4651-82DA-89B3F345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D2F70-77AA-4067-802A-871E4F1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输入四段式提示词，要求输出项目简报与跟进邮件。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DB3F5-8A5A-4875-84DF-475B3C53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FBA32-3656-4CCF-AB6A-6AB15D44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BE092-C504-4814-8BA6-BBE46A6A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检查是否提取了目标、指标、决策、行动项、风险与开放问题。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198D4-D4FD-4CAE-B93B-DF4028CE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F44DA-5308-46CA-BEF2-A2BAA1D7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79B8E-9665-43DD-8D53-5D45DA2F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重点确认是否识别 28 Aug 与 31 Aug 的日期冲突，并保留两个来源。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40183-24B7-4D91-92F3-6B065786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2415C-17A2-434E-83A1-9E5F5AC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75EB4-C28A-4773-A597-A13B13E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用追问改进格式：把行动项整理为负责人、截止日期和状态三列。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9C1ED-BFCA-4B35-96D2-E5E62258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6f2939b85a4e98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7060122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38961-D762-462A-B7C1-015D0AA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64C2B-31E2-45B1-B71F-AFF9E5C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81687-742A-49AA-AA5D-72BDAB9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轮到你：完成一次短练习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4A6D4-E7ED-444F-B0FF-69C9ECC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请在自己的 Copilot 中完成一次小型迁移练习。可以继续使用绿色办公周资料，也可以选择一个不包含敏感信息的日常任务。练习的重点不是得到漂亮答案，而是写清任务、输出和约束，并要求 Copilot 主动标记需要人工核对的内容。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4DE5F-2799-4E0C-90DD-0BA409E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46533-AEB8-4FF0-B67A-EA74A9D6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746ED-6883-43B0-8201-10DEBC5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0634-925D-432C-BB71-3DB97144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7706E-C553-47E9-8F5A-164637E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85381-AA3B-4964-BCC9-90BDC700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C0CF4-48D1-4D9A-A5D8-9695EEC4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170747754b42fa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8818796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88712-1E1D-431E-A7F8-E67DB08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79FC4-8493-445B-AE7A-B9B955A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E762E-69DC-4D15-B236-8A8A4DE3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BAD0-A706-4324-B027-BF276733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258C3-055A-42F6-B2B1-A649480B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0c0dbc700274df8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FD1B7-A8EA-4D56-940E-646BF2D0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8cdfd11fd34f87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1AE89-2BEA-4516-8B80-A86436C1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181d94ebf44c33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4355737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C7E1C-8CD4-41BE-9A6E-746DC73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74135-D871-4C46-A9B8-92E9DD0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C3608-A663-4D9F-95A8-43903422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C6DA6-F397-4CFD-AE14-B08D9769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封面明确了实验定位：从零构建 Microsoft 365 Copilot Agent，并提供四个实战 Lab 和中文分步指南。右侧的模块、流程与清单图形对应 Agent 的三个组成部分——能力模块、处理流程和可执行规则。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BC928-D1D0-4B02-9160-3C31CB0B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1E9D5-4093-4F2F-BC86-23B5F5A5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32df2a7ac4c67"/>
          <a:stretch xmlns:a="http://schemas.openxmlformats.org/drawingml/2006/main"/>
        </p:blipFill>
        <p:spPr>
          <a:xfrm xmlns:a="http://schemas.openxmlformats.org/drawingml/2006/main">
            <a:off x="897519" y="1809750"/>
            <a:ext cx="6529812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61BB4-EABF-4362-88BF-382DF76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9559E-EBAA-4B34-8979-D90D66F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C1C20-2348-4C17-A935-3C399BF7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2E235-33EB-49A2-9DED-272D71CF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学习对象：不是只学习一个固定 Agent，而是通过四种业务任务练习任务定义、Instructions、知识来源、Suggested Prompts 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迁移目标：完成任一 Lab 后，应能把相同方法迁移到自己的重复任务，而不是复制一个只能在课堂里运行的示例。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CCB9E-639B-4A6E-8B53-663F65B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69f36c674d4f6f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38422-7AE9-48AE-8756-1AA205C6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d6839f28344379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5773821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0465-3F79-452B-85BC-955AA1B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D7C4C-21A0-4D75-A700-73DBEB52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DCB1-1134-4DF4-9A2F-C0BD2CD9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F26BC-B7D3-4259-B09D-620E8C8B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D0B56-FCF8-4BBB-8072-CB301E61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98B51-C69B-4B84-BE92-648B77C2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14FE5-6E3D-4295-A3E8-F1A587B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1098E-B3E2-4BCF-A27F-B72A638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9C78A-FCC8-450E-94FC-BABDAB4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147C2-472A-41C3-B0CF-4E25D5D4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1E086-F785-417B-B8F1-545B9045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B58F7-7C17-401E-9CDD-D736F67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25A96-35FA-4201-A374-822DBDDB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124FE-EE6C-4B99-9783-7D7D8854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31B25-29D4-40AB-A215-B579B4DC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21E79-1E18-49E0-A62A-A1A42695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5632B-FBC4-4528-91B7-C527FB09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50800-8B8A-4FB8-B381-5D196C15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53F90-B64B-4E13-BF36-D08BBAA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E93B3-2A9A-4915-8078-F3D07D2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265A3-3726-48E2-8F78-71239718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9129C-7FA7-4079-9C60-C8F35D5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DBD5F-27BF-42BF-B4D0-9E9E37E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A43C4-9342-464B-81A8-DCB6F5CB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69288-F2A1-493A-9744-B628B4C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627B6-2F93-4B91-9F98-0EF238C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F15ED-F8B8-461F-A4B0-2C289B4B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1358adf477c405b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25949-E6C6-43DA-BB95-2CE242F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e1575f66aa45ef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9CBFC-4D8F-479A-A791-FEC29407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f879b035834e4d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687F7-3F86-4DE8-8380-C3EBAEE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049fa68cb640a6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30768429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77AE1-D296-4060-80A3-F5B1BB7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18C8E-BDFD-47B7-A5A4-E40EE0DA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5817E-E0C3-426A-A753-10EAD22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Staff：把日程、优先级和会议准备串成工作流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CC6CA-A5F2-4479-8DE7-7DEE4B0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画面中的主提示要求 Agent 审阅当天日历、建议优先级、发现冲突，并为重要会议给出 2–3 个谈话要点。下方 Suggested Prompts 则把这种工作方式拆成 Today’s calendar、Urgent today 和 Top priorities 三个可重复入口。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561C3-CEFD-476C-9755-81ABE7D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965AF-BF1C-4EB9-850D-548FC0FC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0b77c4c194838"/>
          <a:stretch xmlns:a="http://schemas.openxmlformats.org/drawingml/2006/main"/>
        </p:blipFill>
        <p:spPr>
          <a:xfrm xmlns:a="http://schemas.openxmlformats.org/drawingml/2006/main">
            <a:off x="1029408" y="1809750"/>
            <a:ext cx="6266033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B8F73-7C58-467F-90C0-8808F67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13B53-3D1B-49ED-BA92-8C28491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1D0CF-2276-4490-8641-AC8530F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4F148-03ED-4492-8B77-CF8FDD7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需要先理解时间冲突与任务重要性，不能只按出现顺序罗列。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输出标准：优先级应有理由，冲突应被明确标记，建议应能直接用于当天安排；快捷问题让团队以一致方式启动任务。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1C1F9-2130-4B29-A1A0-CCC6546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87c72e665b40de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21152587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D2AD4-F9D7-44A3-BDB3-6D12AAC2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B2233-D63B-4DCC-A9D9-D144243D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EB300-7189-4F7B-B658-586C079D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FAQ：答案必须能追溯到产品资料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6CD6D-0583-4564-9AA1-7696F94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用户要求基于已提供资料提炼 MR 5300 的核心销售卖点并注明来源。回答先给直接结论，再展开适合售前沟通的卖点，并在具体规格旁显示 Product Specifications 引用，体现“结论—证据—表达”的结构。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F36CC-1D04-4CFA-B03F-70E5EAEA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CBC95-8DBA-4F5F-BB4A-E7314779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5c23f931b476c"/>
          <a:stretch xmlns:a="http://schemas.openxmlformats.org/drawingml/2006/main"/>
        </p:blipFill>
        <p:spPr>
          <a:xfrm xmlns:a="http://schemas.openxmlformats.org/drawingml/2006/main">
            <a:off x="1336502" y="1809750"/>
            <a:ext cx="5651846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D81D9-13DE-46C4-B179-1227866E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B9235-E91F-4077-856E-39C59200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4B64C-5942-4B4C-8941-CB288D68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7080B-E3E8-44D3-80DE-FB758FE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回答结构：先概括零氦运维、AI 自动化工作流、高质量成像和全生命周期成本优化，再把规格转化为客户可理解的价值。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质量检查：每个关键规格都应有可追溯来源；资料不足或存在版本差异时要明确说明，不能用流畅语言掩盖证据缺口。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A4C46-1694-4C3C-A7C1-2861BDCC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9db69922694fe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3280776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94480-89CE-4254-B821-51F5CB7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A0028-AD15-4512-9A19-A829EF60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9C732-EEFE-4EE3-83C6-292D506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Assistant：用模板把会议内容变成行动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BA0A6-620A-4840-B6F0-F940F86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画面右侧的输入明确要求根据 Mail Template 生成面向管理层的简要汇报，并规定背景、结论/决策、风险/需支持和下一步等栏目；输出则注明使用了 Mail Template CN.docx 的 Executive Summary 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735C-DFC9-4F11-81F5-37035145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5DF65-8279-411F-BEE4-9582453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8c0f0a374496c"/>
          <a:stretch xmlns:a="http://schemas.openxmlformats.org/drawingml/2006/main"/>
        </p:blipFill>
        <p:spPr>
          <a:xfrm xmlns:a="http://schemas.openxmlformats.org/drawingml/2006/main">
            <a:off x="1048590" y="1809750"/>
            <a:ext cx="622766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86F58-2F5E-4F4A-BA0A-66348E8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DF4A9-4200-44D9-AD60-31E5B52E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4DF5F-8339-47F4-9729-8549BA3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47C5A-AFAF-4FD6-9103-79C0701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输入设计：同时给出原始会议内容、目标受众、输出栏目和不确定信息标记，避免 Agent 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模板作用：知识来源用于固定管理层汇报结构和语言风格，使不同会议得到一致、可比较的输出。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验收标准：决策与讨论必须分开，行动项要有负责人和时间；未确定的产品演示等事项要保留为待确认，不能自动写成承诺。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70AC8-4B6B-44F9-86C3-5EBF5F5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204a818cb44b0a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20322443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0DEA0-3ABF-4837-9F27-3D66116A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53FCB-7C34-422B-80A9-CB04EEEC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C3828-6827-4C95-A6BC-8B23403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Analyst：先锁定口径，再解释图表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97660-DB6F-4F3D-98DB-B90FD4B7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提示词先限定数据文件、Zone=East、Local BU=MR，并规定 Forecast Category 的顺序、统计字段 Total Price in USD 和 million 单位。生成结果复述了筛选条件并给出柱状图，说明分析前必须把口径写清楚。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7F702-23DA-49C1-8F6E-7F0A5AD6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593F6-6452-4D14-9B6D-33A4EF11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787a75bed4e6d"/>
          <a:stretch xmlns:a="http://schemas.openxmlformats.org/drawingml/2006/main"/>
        </p:blipFill>
        <p:spPr>
          <a:xfrm xmlns:a="http://schemas.openxmlformats.org/drawingml/2006/main">
            <a:off x="1298326" y="1809750"/>
            <a:ext cx="5728199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D8BEF-77CA-4808-8AC6-8D7E4621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467100"/>
          </a:xfrm>
          <a:prstGeom xmlns:a="http://schemas.openxmlformats.org/drawingml/2006/main" prst="roundRect">
            <a:avLst>
              <a:gd name="adj" fmla="val 329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B322-BA58-423B-A259-441AD4CD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45A84-ECCE-4035-ABC4-7B53A26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D9591-012D-4F02-98A8-A45F077F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166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明显高于其他类别，Pipeline 居第二，Best Case、Commit 和 Closed 相对较小；这是需要业务人员进一步调查的结构。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分析边界：柱高只能证明类别金额分布，不能单凭画面判断销售动作、数据质量或转化原因；这些需要结合时间、阶段定义和记录完整性。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输出筛选口径、异常点、可验证假设和后续问题，例如 Omitted 的构成、阶段停留时间及不同区域对比。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36FCF-3DE0-48F4-A27D-E97475B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0a63dfe8144909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2860981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F8076A-5F93-42B4-9877-7FB8C85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95CD7-B2F2-4129-B939-D8A7CF23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F173-4EFE-4291-BAAC-440678F1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AFF78-DF53-447D-9E07-34B58F76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不同 Lab 的业务内容不同，但构建逻辑可以复用。先定义任务和边界，再配置知识与交互，最后通过预览测试发现问题。一个可用的 Agent 应该清楚说明为谁服务、依据什么资料、不能做什么以及结果如何呈现。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1723C-4070-4B19-92EE-384D084B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30621-E30D-4A72-9658-8B3C2AC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4E27C-AFB7-4DB4-94B6-88EC177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97E17-E7F6-4641-9DBF-6CB7312B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C10F-F49B-4533-BE1C-B8C056C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7FAA-284C-4ACF-B0DC-2EEF1269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7B300-517F-4885-871C-0141C0B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652DB-A20A-4DA4-A487-57A538F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59FCA-4272-4B55-9214-E868454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27F63-66C6-4252-B369-9B6327AE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015BC-105D-4586-BA83-94AF14B3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0AFCF-759E-4069-B099-D422EA5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F3071-1067-4BA0-BE7B-BD695568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5F45D-AB51-41C6-94E7-28CAF165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3E5AE-FDF9-44CB-81C2-AE9B8D7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B163A-2BB2-423A-9CC5-E7C48C5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73E14-A594-41A8-A6FF-5C30AFC7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8C64D-7004-4929-8863-0B47D95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6FB2D-AEFC-4ABD-9F68-1F102E1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B1143-3951-4CE1-9042-3D8D2388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38D7E-114F-46FB-98AB-EEAA389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53E9D-8B88-44E8-870C-15ABC999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92CDD-ED41-49E2-BDCD-900BDA5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401E0-E354-4C31-B052-1D79D135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D2D362-5132-4A96-9DE5-6B0CD082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35310-1AF0-4E5F-AF46-0094CBEA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3930A-38A2-4793-BE53-6133E31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2C910-0E9C-48FB-BFB7-29FCA2F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D4328-96C2-487F-B992-EE6DD6E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16CF3-5C69-4D24-93EB-A833C8F9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1E9488-F8F7-4B68-97B9-1DA71FFC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7F2A19-832C-4DD9-89DA-17B50274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检查标准：Agent 是否知道“为谁服务、解决什么任务、依据什么资料、不能做什么、结果应如何呈现”。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CFCA41-A42B-480E-8408-5371AB2F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663a17c29674ce5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837392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44C99-551D-4653-9EA3-F03956DE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DCF85-6EF9-4D5E-8FB7-6F1E694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702D0-CC41-422B-83FB-3B69F75E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E10F-BE55-4D88-8600-5C134090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05488-3053-4C03-A7B4-8B7096D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889B7-2BE9-4D6F-BB0C-EB688ED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712f3681e4896"/>
          <a:stretch xmlns:a="http://schemas.openxmlformats.org/drawingml/2006/main"/>
        </p:blipFill>
        <p:spPr>
          <a:xfrm xmlns:a="http://schemas.openxmlformats.org/drawingml/2006/main">
            <a:off x="838200" y="1841143"/>
            <a:ext cx="6953250" cy="365196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FC043-56F4-4A7A-B198-650A5C8D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FD588-31E0-4D6E-9E1E-DB64B9F2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A380D-6B58-4C45-93BB-36455E4D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A9F2-19F4-4702-9795-E4D5B905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画面定位：左侧导航进入 Agents；中间 Search for an agent 用于查找已有 Agent；Your agents 展示当前可用项；右侧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操作判断：先确认企业账号和环境，再点击新建；不要把 Agent Store 中已有的 Researcher、Analyst 等成品 Agent 当作本次要编辑的对象。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FF609-4F12-4D9E-AB3C-85C977F2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15ef3cc4f1468e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544186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58E14-C0C9-40B3-AF54-EB3F0AED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A423B-37C6-435D-8211-6B7D595E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C7DC1-A48F-4315-B1D0-081FA72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77CEA-3B6F-4489-AA91-2ABC0F50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截图同时给出自然语言描述、Skip 进入手动配置，以及从 Templates 开始三种路径。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C1759-5FF4-46BA-91CE-35BC7424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7FEA1-6C4D-4FFC-B39A-A3BCC416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d8e7fd7a44fee"/>
          <a:stretch xmlns:a="http://schemas.openxmlformats.org/drawingml/2006/main"/>
        </p:blipFill>
        <p:spPr>
          <a:xfrm xmlns:a="http://schemas.openxmlformats.org/drawingml/2006/main">
            <a:off x="838200" y="1994152"/>
            <a:ext cx="6953250" cy="334594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6108F-11A8-423C-B905-5F9C1BFF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DD90-97D6-436B-997D-3BBF62A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0F8D2-719B-469C-82A2-38A1F9E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A9D50-CD4B-490A-A954-9E767899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三种入口：在输入框描述需求，可让 Builder 先生成草稿；点击 Skip 直接进入字段配置；也可从 Templates 选择接近的起点。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课堂选择：建议手动配置，便于逐项查看名称、描述、行为规则和知识来源。其他方式生成草稿后，也要回到配置页逐项核对。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2EFAB-D436-4347-9BC9-8CC84BB2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092a13e8cff45db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475163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F1908-C3B3-41E5-A1D6-5D87009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E2C46-EC60-4750-8C98-751B509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B2585-31AF-478B-B218-17C6D2F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F37FE-064D-4BFD-8C7B-1909CA95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 Icon、Name、Description 和 Instructions，顶部可在 Configure 与 Preview 之间切换。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2CDB7-88C0-4DD1-8A76-0D16F406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1282B-0014-4494-A242-73910D1D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43b2703544485"/>
          <a:stretch xmlns:a="http://schemas.openxmlformats.org/drawingml/2006/main"/>
        </p:blipFill>
        <p:spPr>
          <a:xfrm xmlns:a="http://schemas.openxmlformats.org/drawingml/2006/main">
            <a:off x="838200" y="2130866"/>
            <a:ext cx="6953250" cy="307251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4BEC8-1164-47DD-AE00-E9A23AE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457FC-9EDF-464A-8ADC-244D4A1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ACD95-7097-4842-87EA-46063DA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B70B1-146A-43AD-B08E-B4FDAD2F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字段作用：图标与名称帮助识别；描述用一句话说明服务对象和价值；行为规则是核心字段，且不能为空。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建议写法：明确输入、处理步骤、输出栏目、事实边界和资料不足时的回应。只有名称和描述清楚，并不能保证 Agent 行为稳定。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44EC7-8CB1-4911-AE4F-8A4D3CF4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efabf18f0f4946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189486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CE284-CA24-4142-A8E6-6671F22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0CC7-B408-40DA-AB69-65278262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DD42A-4235-49EA-8EF1-24475DF5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1FA7E-170A-471D-8755-60884781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截图中的来源入口覆盖文件、网站、聊天、会议和邮件，并可按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537FB-A9ED-4138-9D32-8ABCE1B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1B6B7-0428-4E87-9C1B-3C3BA0C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ccd19f0b04167"/>
          <a:stretch xmlns:a="http://schemas.openxmlformats.org/drawingml/2006/main"/>
        </p:blipFill>
        <p:spPr>
          <a:xfrm xmlns:a="http://schemas.openxmlformats.org/drawingml/2006/main">
            <a:off x="838200" y="1817456"/>
            <a:ext cx="6953250" cy="369933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0F159-1F1A-4F0E-86BC-DF42191B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E2770-A23C-451B-B2D7-A87209DB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3AA26-2338-4370-AAFF-98C3AFF8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4BCD1-9E21-47F2-9E8F-34B4CC0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页面内容：上方可输入 URL、名称或拖入文件；来源可以来自 SharePoint、Teams、Outlook 和网站；下方还可进入个人文件、聊天会议与邮件。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选择原则：只加入当前任务所需、版本明确、权限合适的资料；会议跟进助手需要模板和会议内容，不需要把大量无关文件全部加入。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F6A36-5F9F-48D9-94BF-836898F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dfb7d7b4864f91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5963041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3992F-59C7-48F8-8641-2D82F072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BC5CE-C7FC-4210-92E5-71450870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7457D-50ED-491A-A217-4091145B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D7B3A-55FB-4BAB-A524-4393D27A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搜索结果页同时显示名称、修改时间、修改人和位置，用于区分名称相似的多个模板。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A910D-45D4-40A8-9992-470DD46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88210-C1A9-4781-A67A-936BE6A8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fd62dcf384b4e"/>
          <a:stretch xmlns:a="http://schemas.openxmlformats.org/drawingml/2006/main"/>
        </p:blipFill>
        <p:spPr>
          <a:xfrm xmlns:a="http://schemas.openxmlformats.org/drawingml/2006/main">
            <a:off x="137874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9D486-B8F9-4348-8159-C1382A0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12F1A-551A-4914-AC21-0DF5CA71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8C29E-7CB5-4C43-A377-E63716E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77092-B010-4937-8353-94EDA686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不要只看文件名：先按 Mail Template 搜索，再核对 Modified、Modified by 与 Location，确认模板是否来自正确团队和正确版本。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场景匹配：中文管理层邮件选择 Mail Template CN，英文沟通选择 EN；若出现多个同名文件，应打开核对栏目与适用范围，再添加到知识来源。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CFB0A-A093-4867-921F-F899A29E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e7de860ac74aa7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8046996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C3C1B-7047-493F-BD3E-57110538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D6527-2EF5-4F7B-92DB-A24CB5A8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8443B-94BC-49FD-B9E7-0FDB1CD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F10BC-9190-4CC0-A756-CCE62F6F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每条快捷问题由 Title 与 Message 两部分组成：Title 负责让人看懂，Message 才是实际发送给 Agent 的完整任务。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20783-4161-4698-8A12-0134D06E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C94A9-0164-43CC-8B1D-7AFC43D9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d27bdc3ca4467"/>
          <a:stretch xmlns:a="http://schemas.openxmlformats.org/drawingml/2006/main"/>
        </p:blipFill>
        <p:spPr>
          <a:xfrm xmlns:a="http://schemas.openxmlformats.org/drawingml/2006/main">
            <a:off x="838200" y="2484692"/>
            <a:ext cx="6953250" cy="2364866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3A311-8AD6-4701-AECC-EC03EE6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EA9C0-4C3F-4B46-9DC5-D115B7D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54859-FC68-4412-9EA3-1C29948A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EC9D8-A36C-468D-9C47-CBAFF56E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Title：用一句话命名高频任务，例如“生成行动项”。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Message：写明输入、输出和必要约束。可以注明负责人、截止日期与状态。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个高频入口即可。需要时点击 Add a suggested prompt，避免设置模糊任务。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82DE8-439A-414B-97A2-B2D82F5C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2ad1b425ef4b03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20730314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6F311-EA16-4322-9845-F6DE2990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CB97-EF70-4F56-AA2E-6EA36EBA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5A42E-E248-4C54-AE93-B0C9D858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7D318-D990-4AF5-87AA-AAFA67BB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左侧显示 Builder 对配置的解释与修改入口，右侧 Preview 展示 Agent 身份、描述和快捷问题，顶部显示草稿状态与 Create。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1CCBD-3237-4FFA-9EA1-0A25E35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0EDFD-FCA8-4B93-872A-9CF2F8D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4e99280f54f41"/>
          <a:stretch xmlns:a="http://schemas.openxmlformats.org/drawingml/2006/main"/>
        </p:blipFill>
        <p:spPr>
          <a:xfrm xmlns:a="http://schemas.openxmlformats.org/drawingml/2006/main">
            <a:off x="838200" y="1827897"/>
            <a:ext cx="6953250" cy="3678457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6B075-AB55-40A6-A525-CE7A6223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54EAD-B6DC-48CE-9C08-B95812E9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0756B-3541-4B4C-9D15-9A2A6B1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E5033-16EB-4ED9-98C2-AE8DF64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先在 Preview 运行正常场景，确认任务与输出结构。再测试资料缺失、信息冲突和越界要求。观察 Agent 是否承认不知道并遵守规则。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若不稳定，返回 Configure 修改行为规则、知识来源或快捷问题。测试通过后再点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ECF14-E518-43A5-BE5C-5406490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d0c5b9b96bd4a1b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343121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8C51E-7E67-4679-B309-A85F1AAF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6A36-9CDA-4022-89E5-7E6883D3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0265E-AD88-4B8E-B943-1318A79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23BD-B626-4F3C-9FE8-668C86B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示例输入指定管理层简报结构并标记不确定信息，输出明确引用 Mail Template CN.docx 的 Executive Summary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5F45B-E7CA-4E77-991E-6B09A45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7E12D-6A4F-4AF7-9F1E-EC9C233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c09aa0cd84291"/>
          <a:stretch xmlns:a="http://schemas.openxmlformats.org/drawingml/2006/main"/>
        </p:blipFill>
        <p:spPr>
          <a:xfrm xmlns:a="http://schemas.openxmlformats.org/drawingml/2006/main">
            <a:off x="838200" y="1752870"/>
            <a:ext cx="6953250" cy="382851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E5012-2DC6-4596-9FEF-9A23E1DE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9913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8B8D8-8CBC-49F2-8E50-2889482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575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CDF6D-217B-422C-BD81-47BB34F9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8B47A-2069-4E67-8E48-EDF682F7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647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检查四层：背景是否准确概括客户场景；结论是否与讨论分开；风险、需支持与下一步是否明确；产品演示等未决定事项是否仍标记为待确认。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同时确认输出是否真正使用了模板、是否保留负责人和时间信息，以及生成邮件是否只需少量编辑即可发送。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0DFD2-7ED0-4E8F-993A-E56BE00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575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e11679425f4b37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90549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EF193-8742-4A62-9259-32B91DC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A30E7-276F-43D3-858E-D4D846A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41200-4EB9-4C1C-9885-B00DD22B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15606-D659-4DA3-94FE-7E1A5FC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请选择前四个 Lab 中的一个进行实践，或按照讲师分组完成不同 Lab。目标不是追求复杂功能，而是完成可测试的最小 Agent。完成以后请运行正常场景和边界场景，确认它能够稳定执行任务，也能够在信息不足时承认缺口。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87C4E-9844-4AE2-B17A-12CE7F2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3B032-A2C4-494D-BCC9-E2A6BC2F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4D853-CE19-4C60-910F-FC55CEC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213A0-DBE0-4013-BA4F-C977E94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完成后至少运行正常场景和边界场景｜讲师巡场支持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07363-B2A9-4B86-BFA8-217BF9B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dfeae854f5458b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FC40E-32A2-403C-9C17-CD04641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87b4a1a4c4c4eb3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E1004-8E01-4405-BF91-4BBBBC87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cee4512f99f415f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F7528-72CC-4898-8F9E-CD3464E3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025f99b99b4c30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47B2D-AFD4-4FDB-8E98-017A50F3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872954b235453d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75246351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1A85-5622-4B62-8AF8-2239588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A110A-4D55-47DB-9A54-6508013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1A2DF-87AD-4BA3-83B3-C33D1A9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Ambassador：覆盖职能与市场的本地连接网络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16FF-71F6-4905-BB9E-2AC6422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图片顶部说明 GCR AI Ambassador Representative Chair 为 Alison Gu，网络规模为 24 FTE。下方表格按 Function / BU、GCMT / Function Lead 和 AI Ambassador 三列建立对应关系，把中央学习资源与各职能、业务单元和市场中的实际问题连接起来。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F9B62-5336-40D6-BF3C-FDF228B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3A759-56E1-4E63-BFDC-A1EFA216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e4b979ef64d80"/>
          <a:stretch xmlns:a="http://schemas.openxmlformats.org/drawingml/2006/main"/>
        </p:blipFill>
        <p:spPr>
          <a:xfrm xmlns:a="http://schemas.openxmlformats.org/drawingml/2006/main">
            <a:off x="1046956" y="1809750"/>
            <a:ext cx="6230938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E4EA5-9420-4EFF-B4A4-1EB3BC9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991350" cy="3371850"/>
          </a:xfrm>
          <a:prstGeom xmlns:a="http://schemas.openxmlformats.org/drawingml/2006/main" prst="roundRect">
            <a:avLst>
              <a:gd name="adj" fmla="val 33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04CBF-5D0C-4823-95B6-8671437F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81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9418C-DFC8-49ED-8C37-7019EA94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ECE97-8BFB-46D5-9335-0CE83B9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621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覆盖范围：名单跨 ISC &amp; SSD、市场、财务、法务、HR、战略、质量、法规、临床、创新、IT，以及 ULS、各区域市场、EI、HPM、SRC、PH、HK、TW、Medical Officer、Government Affairs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代表业务和管理责任；AI Ambassador 负责连接学习资源、分享实践方法、帮助梳理 AI 机会，并把共性问题带回社区。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怎样使用网络：遇到入口、学习路径、案例迁移或 Agent 设计问题时，先找到所属 Function / BU 对应的大使交流；业务决策、数据授权和最终交付仍由相应负责人承担。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BED2C-D680-48D4-905B-B145965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681bf4318d4b3f"/>
              </a:rPr>
              <a:t>回到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37496-CEC1-4663-8595-7BD4363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4fb718510b4127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773304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2026-08-20T08:45:03.5060000Z</dcterms:created>
  <dcterms:modified xsi:type="dcterms:W3CDTF">2026-08-20T08:45:03.5060000Z</dcterms:modified>
</coreProperties>
</file>