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7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开场先说明：课程不是产品清单，而是一条从入口认知、日常应用到构建 Agent 的完整体验路径。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邀请学员带着一个真实工作任务来听课，后续每一部分都用这个任务检查：AI 能否真正减少重复工作。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快速说明节奏。第 3、4 部分时间最长，前两部分只建立共同语言和入口认知。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用这一页完成章节切换，先说清楚本部分的学习目标和时间安排。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不要逐字讲解一页纸。抓住三个层次：业务目标、使能能力、治理保障，然后过渡到企业入口。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sustainability-ai-strategy-one-pager.pptx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明确纠正认知：AI Gateway 与 AI Skills Navigator 分工不同。前者解决 Philips 企业访问和治理，后者提供微软官方学习内容。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请学员在页面上定位三件事：访问状态、申请按钮、Ask AI Gateway 支持入口。不要展示个人用量或成本页面。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AI Gateway screenshot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用“能做什么”和“使用时要注意什么”两条线讲解。提醒学员不要把未经批准的敏感数据放入不合适的环境。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AI Gateway screenshot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用这一页完成章节切换，先说清楚本部分的学习目标和时间安排。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页面自动截图连接不稳定，因此这一页用站点结构示意代替截图，但保留官方可点击链接。现场可直接打开网站演示。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鼓励学员把它作为课后持续学习入口。现场可用角色或产品关键词搜索。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说明它是官方课程，不是今天完整课程本身。今天只选择其中最具普适性的工作模式进行练习。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十类岗位名称来自 MS-4004 课程结构。用最后一句过渡到通用案例。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强调四步并非固定模板，可以根据工作任务重新排序，但“核对来源与冲突”必须保留。</a:t>
            </a:r>
          </a:p>
          <a:p>
            <a:endParaRPr/>
          </a:p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提醒学员：虚构数据用于练习方法。真正工作中，应使用获批环境并遵循数据处理要求。</a:t>
            </a:r>
          </a:p>
          <a:p>
            <a:endParaRPr/>
          </a:p>
          <a:p>
            <a:r>
              <a:t>[Sources]</a:t>
            </a:r>
          </a:p>
          <a:p>
            <a:r>
              <a:t>- https://m365.cloud.microsoft/chat</a:t>
            </a:r>
          </a:p>
          <a:p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让学员先独立浏览 20 秒，再提问：如果只能记住三件事，你会记录什么？</a:t>
            </a:r>
          </a:p>
          <a:p>
            <a:endParaRPr/>
          </a:p>
          <a:p>
            <a:r>
              <a:t>[Sources]</a:t>
            </a:r>
          </a:p>
          <a:p>
            <a:r>
              <a:t>- Local fictional Green Office Week Project Brief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强调事实层级：Confirmed decision 与 Open question 不能混在一起。输出中应保留不确定性。</a:t>
            </a:r>
          </a:p>
          <a:p>
            <a:endParaRPr/>
          </a:p>
          <a:p>
            <a:r>
              <a:t>[Sources]</a:t>
            </a:r>
          </a:p>
          <a:p>
            <a:r>
              <a:t>- Local fictional Green Office Week Meeting Notes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这是案例的关键检验点。评价输出时，先看是否保留冲突，再看语言是否清楚。</a:t>
            </a:r>
          </a:p>
          <a:p>
            <a:endParaRPr/>
          </a:p>
          <a:p>
            <a:r>
              <a:t>[Sources]</a:t>
            </a:r>
          </a:p>
          <a:p>
            <a:r>
              <a:t>- Local fictional Green Office Week Timeline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现场演示时先输入一个模糊问题，再用四段结构改写，让学员观察结果差异。</a:t>
            </a:r>
          </a:p>
          <a:p>
            <a:endParaRPr/>
          </a:p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现场展示页面时，指出输入框、添加文件入口，以及 Work IQ / 工作环境标识。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M365 Copilot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这页作为演示清单，不需要全部讲完再操作。每完成一步，回到页面指出为什么这样做。</a:t>
            </a:r>
          </a:p>
          <a:p>
            <a:endParaRPr/>
          </a:p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本页保持在屏幕上 4 分钟。讲师巡场，只回答阻塞问题，暂不做长复盘。</a:t>
            </a:r>
          </a:p>
          <a:p>
            <a:endParaRPr/>
          </a:p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用这一页完成章节切换，先说清楚本部分的学习目标和时间安排。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</a:t>
            </a:r>
          </a:p>
          <a:p>
            <a:r>
              <a:t>- https://philips-ai-tool-lab.github.io/ai-tool-lab-preview/#agent-builder-path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先展示网站结构，再明确课堂规则：PPT 用于引导，真正操作在 AI Tool Lab 与 M365 Copilot 页面完成。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不要说“本次实践就是 Lab 3”。准确表述：讲师示范 Lab 3，学员实践范围是前四个 Lab。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  <a:p>
            <a:r>
              <a:t>- https://philips-ai-tool-lab.github.io/ai-tool-lab-preview/labs/product-manual-faq/</a:t>
            </a:r>
          </a:p>
          <a:p>
            <a:r>
              <a:t>- https://philips-ai-tool-lab.github.io/ai-tool-lab-preview/labs/meeting-follow-up/</a:t>
            </a:r>
          </a:p>
          <a:p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简要说明这个 Lab 适合练习 Instructions：角色、工作目标、判断原则、输出格式。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提醒学员：知识来源不是自动保证正确。Instructions 仍要规定引用范围、缺失信息处理和人工升级方式。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明确标注“讲师示范案例”。后续步骤页均以这一 Agent 为例，但学员可以把方法迁移到前四个 Lab。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说明它不是只会画图，真正需要设计的是分析任务、口径、业务解释和输出格式。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六步是普适方法，不是某一个 Agent 的专属流程。后面每页只讲一个关键步骤。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按页面画面演示本步。完成后停顿，确认学员已经找到相同入口，再进入下一步。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meeting follow-up output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本页保持在屏幕上 18 分钟。讲师巡场时用“任务是否清楚、边界是否清楚、输出是否稳定”三个问题提供反馈。</a:t>
            </a:r>
          </a:p>
          <a:p>
            <a:endParaRPr/>
          </a:p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  <a:p>
            <a:r>
              <a:t>- https://philips-ai-tool-lab.github.io/ai-tool-lab-preview/labs/product-manual-faq/</a:t>
            </a:r>
          </a:p>
          <a:p>
            <a:r>
              <a:t>- https://philips-ai-tool-lab.github.io/ai-tool-lab-preview/labs/meeting-follow-up/</a:t>
            </a:r>
          </a:p>
          <a:p>
            <a:r>
              <a:t>- https://philips-ai-tool-lab.github.io/ai-tool-lab-preview/labs/funnel-data-analyst/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以用户提供的 GCR AI Ambassador 图片为准。结束时只说明如何获得支持和继续学习，不增加版本说明或额外行动要求。</a:t>
            </a:r>
          </a:p>
          <a:p>
            <a:endParaRPr/>
          </a:p>
          <a:p>
            <a:r>
              <a:t>[Sources]</a:t>
            </a:r>
          </a:p>
          <a:p>
            <a:r>
              <a:t>- User-provided GCR AI Ambassador image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365.cloud.microsoft/chat" TargetMode="External"/><Relationship Id="rId4" Type="http://schemas.openxmlformats.org/officeDocument/2006/relationships/hyperlink" Target="https://aiskillsnavigator.microsoft.com/playlists/291ff1ba-c754-44f1-9814-ef8917f8c989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playlists/291ff1ba-c754-44f1-9814-ef8917f8c989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earn.microsoft.com/zh-cn/training/courses/ms-4004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playlists/291ff1ba-c754-44f1-9814-ef8917f8c989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365.cloud.microsoft/chat" TargetMode="Externa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hilips-ai-tool-lab.github.io/ai-tool-lab-preview/#agent-builder-path" TargetMode="External"/><Relationship Id="rId4" Type="http://schemas.openxmlformats.org/officeDocument/2006/relationships/hyperlink" Target="https://philips-ai-tool-lab.github.io/ai-tool-lab-preview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labs/chief-of-staff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hilips-ai-tool-lab.github.io/ai-tool-lab-preview/labs/funnel-data-analyst/" TargetMode="External"/><Relationship Id="rId5" Type="http://schemas.openxmlformats.org/officeDocument/2006/relationships/hyperlink" Target="https://philips-ai-tool-lab.github.io/ai-tool-lab-preview/labs/meeting-follow-up/" TargetMode="External"/><Relationship Id="rId4" Type="http://schemas.openxmlformats.org/officeDocument/2006/relationships/hyperlink" Target="https://philips-ai-tool-lab.github.io/ai-tool-lab-preview/labs/product-manual-faq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chief-of-staff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product-manual-faq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funnel-data-analyst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#agent-builder-path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labs/chief-of-staff/" TargetMode="External"/><Relationship Id="rId7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hilips-ai-tool-lab.github.io/ai-tool-lab-preview/labs/funnel-data-analyst/" TargetMode="External"/><Relationship Id="rId5" Type="http://schemas.openxmlformats.org/officeDocument/2006/relationships/hyperlink" Target="https://philips-ai-tool-lab.github.io/ai-tool-lab-preview/labs/meeting-follow-up/" TargetMode="External"/><Relationship Id="rId4" Type="http://schemas.openxmlformats.org/officeDocument/2006/relationships/hyperlink" Target="https://philips-ai-tool-lab.github.io/ai-tool-lab-preview/labs/product-manual-faq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hilips-ai-tool-lab.github.io/ai-tool-lab-preview/" TargetMode="External"/><Relationship Id="rId4" Type="http://schemas.openxmlformats.org/officeDocument/2006/relationships/hyperlink" Target="https://www.aigateway.ai.inside.phili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F4C4A7F-A883-45E4-ADB3-BCC9B7E1EF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10DCDA-4EAD-4C61-B82E-CEA6B10A05F9}"/>
              </a:ext>
            </a:extLst>
          </p:cNvPr>
          <p:cNvSpPr>
            <a:spLocks noGrp="1"/>
          </p:cNvSpPr>
          <p:nvPr/>
        </p:nvSpPr>
        <p:spPr>
          <a:xfrm>
            <a:off x="800100" y="7810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1BE8E4-9807-4D06-9BDC-91793A3D57A6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72E8EE-3867-4735-BFB2-0E6178D713D5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9144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Microsoft 365 Copilot 实操 · Copilot Builder 动手实验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0BACFB-5989-473F-9E5F-A1857A31D52C}"/>
              </a:ext>
            </a:extLst>
          </p:cNvPr>
          <p:cNvSpPr>
            <a:spLocks noGrp="1"/>
          </p:cNvSpPr>
          <p:nvPr/>
        </p:nvSpPr>
        <p:spPr>
          <a:xfrm>
            <a:off x="800100" y="50482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60–90 分钟讲解版｜建议授课时长 80 分钟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722074-E075-4AB4-A7E6-420EFDDB68D5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904100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3915B9-3990-4BF5-8EBA-9FBF513F64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649415-6CF6-4C14-9FA5-9AE95FB70819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2E9E45-9218-4B8E-A423-9FCC165BD86D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为什么今天要学习 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86929-112B-4A25-9289-E943721C975F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目标不是记住所有功能，而是建立一套可迁移的工作方法。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6EB183-3466-4996-A82F-4B4994C0306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72B4E8-86F4-4E85-B3E6-941E31AB38E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7F88AE-5173-40FD-9495-0D01E224AA44}"/>
              </a:ext>
            </a:extLst>
          </p:cNvPr>
          <p:cNvSpPr>
            <a:spLocks noGrp="1"/>
          </p:cNvSpPr>
          <p:nvPr/>
        </p:nvSpPr>
        <p:spPr>
          <a:xfrm>
            <a:off x="876300" y="1828800"/>
            <a:ext cx="100965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65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从“会问”开始。 AI 可以帮助我们整理信息、加速初稿并形成结构，但需要把背景、任务、输出格式和限制条件说清楚。</a:t>
            </a:r>
          </a:p>
          <a:p>
            <a:endParaRPr sz="165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65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从“能用”进阶。 当任务反复出现时，可以把资料、规则和常用提示固化为 Agent，让一次性对话变成可复用的工作方式。</a:t>
            </a:r>
          </a:p>
          <a:p>
            <a:endParaRPr sz="165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65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始终保持判断。 生成结果需要核对来源、事实、敏感信息和业务语境，人仍然对最终决定与交付负责。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9DBAA0-BF16-43AA-9686-632E3F64D783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课程学习入口  ↗</a:t>
            </a:r>
          </a:p>
        </p:txBody>
      </p:sp>
    </p:spTree>
    <p:extLst>
      <p:ext uri="{BB962C8B-B14F-4D97-AF65-F5344CB8AC3E}">
        <p14:creationId xmlns:p14="http://schemas.microsoft.com/office/powerpoint/2010/main" val="133489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EC5A011-D62C-40EE-8D24-192BC178AE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0F6E9A-FEF6-4A27-B003-C82DADE07275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8C26AB-B33C-475B-838A-6FA405CFE55A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D0B106-02E3-4895-A889-4794C63C40CF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C022BE-049E-4627-90DB-FA6DE022B81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E284FB-7FA9-4F12-A7F0-2B72BBD1326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036776-6E22-42A3-BD50-68AD3AD3877D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70E123-2FEA-4A01-AF4E-7E7C0FAA2522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D33FEE-9C33-4DA4-9373-7D369AF71B4B}"/>
              </a:ext>
            </a:extLst>
          </p:cNvPr>
          <p:cNvSpPr>
            <a:spLocks noGrp="1"/>
          </p:cNvSpPr>
          <p:nvPr/>
        </p:nvSpPr>
        <p:spPr>
          <a:xfrm>
            <a:off x="8763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 分钟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EC93E20A-0E30-4210-A789-AE60397138F3}"/>
              </a:ext>
            </a:extLst>
          </p:cNvPr>
          <p:cNvSpPr>
            <a:spLocks noGrp="1"/>
          </p:cNvSpPr>
          <p:nvPr/>
        </p:nvSpPr>
        <p:spPr>
          <a:xfrm>
            <a:off x="258127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5EB17B-3FF5-4CE7-A9C1-5BD0B927D05D}"/>
              </a:ext>
            </a:extLst>
          </p:cNvPr>
          <p:cNvSpPr>
            <a:spLocks noGrp="1"/>
          </p:cNvSpPr>
          <p:nvPr/>
        </p:nvSpPr>
        <p:spPr>
          <a:xfrm>
            <a:off x="283845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B47758-AC3E-4C7E-88AC-955D3B135D21}"/>
              </a:ext>
            </a:extLst>
          </p:cNvPr>
          <p:cNvSpPr>
            <a:spLocks noGrp="1"/>
          </p:cNvSpPr>
          <p:nvPr/>
        </p:nvSpPr>
        <p:spPr>
          <a:xfrm>
            <a:off x="302895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B917DD-0438-4960-B033-E8C9216A6EA1}"/>
              </a:ext>
            </a:extLst>
          </p:cNvPr>
          <p:cNvSpPr>
            <a:spLocks noGrp="1"/>
          </p:cNvSpPr>
          <p:nvPr/>
        </p:nvSpPr>
        <p:spPr>
          <a:xfrm>
            <a:off x="302895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8 分钟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2316F916-AACE-4463-9D00-8F22786D4ADD}"/>
              </a:ext>
            </a:extLst>
          </p:cNvPr>
          <p:cNvSpPr>
            <a:spLocks noGrp="1"/>
          </p:cNvSpPr>
          <p:nvPr/>
        </p:nvSpPr>
        <p:spPr>
          <a:xfrm>
            <a:off x="473392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87C77B-9772-4298-BA7B-1A5C561CE500}"/>
              </a:ext>
            </a:extLst>
          </p:cNvPr>
          <p:cNvSpPr>
            <a:spLocks noGrp="1"/>
          </p:cNvSpPr>
          <p:nvPr/>
        </p:nvSpPr>
        <p:spPr>
          <a:xfrm>
            <a:off x="49911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64168C-C042-43B5-8257-969B16AB28BF}"/>
              </a:ext>
            </a:extLst>
          </p:cNvPr>
          <p:cNvSpPr>
            <a:spLocks noGrp="1"/>
          </p:cNvSpPr>
          <p:nvPr/>
        </p:nvSpPr>
        <p:spPr>
          <a:xfrm>
            <a:off x="51816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51AD17-0859-41A0-82F0-1B25A75DEFA0}"/>
              </a:ext>
            </a:extLst>
          </p:cNvPr>
          <p:cNvSpPr>
            <a:spLocks noGrp="1"/>
          </p:cNvSpPr>
          <p:nvPr/>
        </p:nvSpPr>
        <p:spPr>
          <a:xfrm>
            <a:off x="51816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24 分钟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0325FFAB-2DBF-4AB7-93F3-E8492CDF2593}"/>
              </a:ext>
            </a:extLst>
          </p:cNvPr>
          <p:cNvSpPr>
            <a:spLocks noGrp="1"/>
          </p:cNvSpPr>
          <p:nvPr/>
        </p:nvSpPr>
        <p:spPr>
          <a:xfrm>
            <a:off x="688657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9D134D8-F9E6-43B2-B47F-FFD4D863AAAF}"/>
              </a:ext>
            </a:extLst>
          </p:cNvPr>
          <p:cNvSpPr>
            <a:spLocks noGrp="1"/>
          </p:cNvSpPr>
          <p:nvPr/>
        </p:nvSpPr>
        <p:spPr>
          <a:xfrm>
            <a:off x="714375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4F61758-62C0-4C56-8A53-60FE1C4ADE0C}"/>
              </a:ext>
            </a:extLst>
          </p:cNvPr>
          <p:cNvSpPr>
            <a:spLocks noGrp="1"/>
          </p:cNvSpPr>
          <p:nvPr/>
        </p:nvSpPr>
        <p:spPr>
          <a:xfrm>
            <a:off x="7334250" y="245745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EC8AAA-7697-4274-BE04-AAC6B08C5C60}"/>
              </a:ext>
            </a:extLst>
          </p:cNvPr>
          <p:cNvSpPr>
            <a:spLocks noGrp="1"/>
          </p:cNvSpPr>
          <p:nvPr/>
        </p:nvSpPr>
        <p:spPr>
          <a:xfrm>
            <a:off x="733425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C3C025-D553-4980-B2D5-D67113C4449E}"/>
              </a:ext>
            </a:extLst>
          </p:cNvPr>
          <p:cNvSpPr>
            <a:spLocks noGrp="1"/>
          </p:cNvSpPr>
          <p:nvPr/>
        </p:nvSpPr>
        <p:spPr>
          <a:xfrm>
            <a:off x="733425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40 分钟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E913DA5E-EAA2-4C2C-A79E-F6BDA0F4852B}"/>
              </a:ext>
            </a:extLst>
          </p:cNvPr>
          <p:cNvSpPr>
            <a:spLocks noGrp="1"/>
          </p:cNvSpPr>
          <p:nvPr/>
        </p:nvSpPr>
        <p:spPr>
          <a:xfrm>
            <a:off x="903922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307497F-B470-4281-9BE7-9624BF7B12DA}"/>
              </a:ext>
            </a:extLst>
          </p:cNvPr>
          <p:cNvSpPr>
            <a:spLocks noGrp="1"/>
          </p:cNvSpPr>
          <p:nvPr/>
        </p:nvSpPr>
        <p:spPr>
          <a:xfrm>
            <a:off x="92964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3972FF-C074-4E38-8342-17389C1E8B07}"/>
              </a:ext>
            </a:extLst>
          </p:cNvPr>
          <p:cNvSpPr>
            <a:spLocks noGrp="1"/>
          </p:cNvSpPr>
          <p:nvPr/>
        </p:nvSpPr>
        <p:spPr>
          <a:xfrm>
            <a:off x="94869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9AAF16-FEA3-4653-8319-C340ADE9DB57}"/>
              </a:ext>
            </a:extLst>
          </p:cNvPr>
          <p:cNvSpPr>
            <a:spLocks noGrp="1"/>
          </p:cNvSpPr>
          <p:nvPr/>
        </p:nvSpPr>
        <p:spPr>
          <a:xfrm>
            <a:off x="94869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  <a:p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 分钟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314832-038F-4679-B1FD-9E561A3997D9}"/>
              </a:ext>
            </a:extLst>
          </p:cNvPr>
          <p:cNvSpPr>
            <a:spLocks noGrp="1"/>
          </p:cNvSpPr>
          <p:nvPr/>
        </p:nvSpPr>
        <p:spPr>
          <a:xfrm>
            <a:off x="1066800" y="4667250"/>
            <a:ext cx="1005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7214DEE-1095-45A6-BF8E-B13CCE97D8CD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66534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BA0CD26-77E3-464E-993C-A5BD4C5109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A55176-97B0-49D7-8733-3BD7BA4067E3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A2810C-B7F0-42B2-A65D-EE2D3C382AA4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9A3808-DFED-4859-A6CC-6F576E9970F6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把 AI Gateway 作为企业 ChatGPT 的治理与访问入口，理解它能展示什么，以及不能替代什么。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574521-A9A1-4030-85A4-E0E8EEA5FE74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 8 分钟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F15807-19B9-40AC-9147-0E8F43CFD247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305631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13ABDE-22F1-48C2-9E62-8463F0DD0A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8D3985-EA7D-4327-8417-18FDD24532D1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DAB041-7287-4AF9-A153-78D58F031B3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战略：从方向到落地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2F38A8-87DD-49E6-9ECB-FE4D42DB8B4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这份一页纸用于建立业务背景：AI 价值不仅来自工具本身，也来自治理、技能、数据和业务场景的共同作用。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6AFBBA-3B14-41FC-97C4-E7DD8B80EE2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18244B-F25C-45E5-888F-5A507DC97E8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24667" y="1714500"/>
            <a:ext cx="6942667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3D76AF-589F-4648-8B04-42F48F55BF4D}"/>
              </a:ext>
            </a:extLst>
          </p:cNvPr>
          <p:cNvSpPr>
            <a:spLocks noGrp="1"/>
          </p:cNvSpPr>
          <p:nvPr/>
        </p:nvSpPr>
        <p:spPr>
          <a:xfrm>
            <a:off x="1123950" y="1695450"/>
            <a:ext cx="9944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4C665F-5CAE-403D-A869-04508AD5B444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3520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5AD8A2F-DE09-4CDD-9981-8301C7012D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C84BAF-3AEC-4C2A-B79A-B2185434D244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8F91DD-A402-48B4-9BDE-F0089B1A45F0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 展示的是什么？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E0CB1C-3F97-4FBB-A278-2EB212C35DC8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它更接近企业 ChatGPT 的统一访问、治理和支持入口，而不是一个“所有 AI 工具都能在这里找到”的应用商店。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B07AB-CC2A-4A43-B731-AA39982F692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CA10A-0F61-4209-B5BA-733F2933FF06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DA638E-A2DE-4659-82F0-C440B558A945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979DEE-40C8-4228-9DC0-A455AC7D3293}"/>
              </a:ext>
            </a:extLst>
          </p:cNvPr>
          <p:cNvSpPr>
            <a:spLocks noGrp="1"/>
          </p:cNvSpPr>
          <p:nvPr/>
        </p:nvSpPr>
        <p:spPr>
          <a:xfrm>
            <a:off x="1047750" y="216217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B1B050-A0E4-4334-89E0-11EE6F812239}"/>
              </a:ext>
            </a:extLst>
          </p:cNvPr>
          <p:cNvSpPr>
            <a:spLocks noGrp="1"/>
          </p:cNvSpPr>
          <p:nvPr/>
        </p:nvSpPr>
        <p:spPr>
          <a:xfrm>
            <a:off x="10477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CFC2C5-5B3B-4E4D-AEE9-A67308B18149}"/>
              </a:ext>
            </a:extLst>
          </p:cNvPr>
          <p:cNvSpPr>
            <a:spLocks noGrp="1"/>
          </p:cNvSpPr>
          <p:nvPr/>
        </p:nvSpPr>
        <p:spPr>
          <a:xfrm>
            <a:off x="16002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45A907-D197-4A1F-B44F-42ABBC6E6CFF}"/>
              </a:ext>
            </a:extLst>
          </p:cNvPr>
          <p:cNvSpPr>
            <a:spLocks noGrp="1"/>
          </p:cNvSpPr>
          <p:nvPr/>
        </p:nvSpPr>
        <p:spPr>
          <a:xfrm>
            <a:off x="10477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说明企业版 ChatGPT 的访问方式、申请路径和 onboarding 支持，帮助员工从正确入口开始使用。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A00B02-915D-44BB-9A0D-9DF681826B7E}"/>
              </a:ext>
            </a:extLst>
          </p:cNvPr>
          <p:cNvSpPr>
            <a:spLocks noGrp="1"/>
          </p:cNvSpPr>
          <p:nvPr/>
        </p:nvSpPr>
        <p:spPr>
          <a:xfrm>
            <a:off x="44958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893888C-0984-4B59-A579-E0BD3F633242}"/>
              </a:ext>
            </a:extLst>
          </p:cNvPr>
          <p:cNvSpPr>
            <a:spLocks noGrp="1"/>
          </p:cNvSpPr>
          <p:nvPr/>
        </p:nvSpPr>
        <p:spPr>
          <a:xfrm>
            <a:off x="4705350" y="2162175"/>
            <a:ext cx="400050" cy="400050"/>
          </a:xfrm>
          <a:prstGeom prst="ellipse">
            <a:avLst/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427EB5-2DA1-48C6-AF5A-1A5DC35A6FCF}"/>
              </a:ext>
            </a:extLst>
          </p:cNvPr>
          <p:cNvSpPr>
            <a:spLocks noGrp="1"/>
          </p:cNvSpPr>
          <p:nvPr/>
        </p:nvSpPr>
        <p:spPr>
          <a:xfrm>
            <a:off x="47053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6FA3AD-0739-49AE-B152-B1ED731F372C}"/>
              </a:ext>
            </a:extLst>
          </p:cNvPr>
          <p:cNvSpPr>
            <a:spLocks noGrp="1"/>
          </p:cNvSpPr>
          <p:nvPr/>
        </p:nvSpPr>
        <p:spPr>
          <a:xfrm>
            <a:off x="52578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治理与责任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9AAE17-5632-4411-B6BA-161BAC710FCB}"/>
              </a:ext>
            </a:extLst>
          </p:cNvPr>
          <p:cNvSpPr>
            <a:spLocks noGrp="1"/>
          </p:cNvSpPr>
          <p:nvPr/>
        </p:nvSpPr>
        <p:spPr>
          <a:xfrm>
            <a:off x="47053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呈现企业使用预期、数据处理边界、Responsible AI 提醒，以及人工复核的责任。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AD8AC17-3D83-4723-9B88-183B9A4AFE6C}"/>
              </a:ext>
            </a:extLst>
          </p:cNvPr>
          <p:cNvSpPr>
            <a:spLocks noGrp="1"/>
          </p:cNvSpPr>
          <p:nvPr/>
        </p:nvSpPr>
        <p:spPr>
          <a:xfrm>
            <a:off x="81534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B62EC29-032D-4527-A24C-4F5BE2B304A9}"/>
              </a:ext>
            </a:extLst>
          </p:cNvPr>
          <p:cNvSpPr>
            <a:spLocks noGrp="1"/>
          </p:cNvSpPr>
          <p:nvPr/>
        </p:nvSpPr>
        <p:spPr>
          <a:xfrm>
            <a:off x="8362950" y="2162175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F66B07-BF9C-4D05-B55A-CADC72706350}"/>
              </a:ext>
            </a:extLst>
          </p:cNvPr>
          <p:cNvSpPr>
            <a:spLocks noGrp="1"/>
          </p:cNvSpPr>
          <p:nvPr/>
        </p:nvSpPr>
        <p:spPr>
          <a:xfrm>
            <a:off x="83629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C0CFBC-499A-456C-A8BB-B9306A5A6C37}"/>
              </a:ext>
            </a:extLst>
          </p:cNvPr>
          <p:cNvSpPr>
            <a:spLocks noGrp="1"/>
          </p:cNvSpPr>
          <p:nvPr/>
        </p:nvSpPr>
        <p:spPr>
          <a:xfrm>
            <a:off x="89154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可见性与运营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0CC9BF-F392-4644-B8B7-CE4BB8A65A6A}"/>
              </a:ext>
            </a:extLst>
          </p:cNvPr>
          <p:cNvSpPr>
            <a:spLocks noGrp="1"/>
          </p:cNvSpPr>
          <p:nvPr/>
        </p:nvSpPr>
        <p:spPr>
          <a:xfrm>
            <a:off x="83629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面向平台运营提供使用、请求状态和治理信号的可见性；部分个人页面还可能显示用量信息。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EC0B14B-DF2C-47D9-8288-B85EF863602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606541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7E112C-FE27-4280-A282-927E3F9B17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8A0EE0-CF18-44CF-837E-334079909DFE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65FB84-D95B-470F-A551-B755FE8F0B5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入口与访问：从 AI Gateway 开始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4396F4-6F70-46A9-95A8-9421986BE7AA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页面说明 Enterprise ChatGPT for Philips 的访问方式，并通过 assistant 提供 onboarding、企业使用预期和访问申请支持。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27F756-C085-4954-BB16-528E9CBC1FE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A93E4A-4EDB-485E-ABCB-1DBB3221CD7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22071" y="1695450"/>
            <a:ext cx="7347857" cy="3857625"/>
          </a:xfrm>
          <a:prstGeom prst="roundRect">
            <a:avLst>
              <a:gd name="adj" fmla="val 296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8E1E72-78BB-47A5-BCA4-9598934C0D4A}"/>
              </a:ext>
            </a:extLst>
          </p:cNvPr>
          <p:cNvSpPr>
            <a:spLocks noGrp="1"/>
          </p:cNvSpPr>
          <p:nvPr/>
        </p:nvSpPr>
        <p:spPr>
          <a:xfrm>
            <a:off x="1028700" y="1676400"/>
            <a:ext cx="10134600" cy="3895725"/>
          </a:xfrm>
          <a:prstGeom prst="roundRect">
            <a:avLst>
              <a:gd name="adj" fmla="val 2934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A4259D-57F3-48A7-96BE-62A3DF19FE8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994864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3BAC4B-AE86-4B57-9198-71C2E46D30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D53397-0BCB-46CB-90AD-281F35FA536A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E6425A-54F0-49B5-8203-444E9F746DDD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常见用途与责任边界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F39131-9694-4CD2-9C4C-27FD29FB486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 给出的示例覆盖起草、总结、研究和流程自动化，同时强调企业使用规范、审批流程和人工判断。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227C63-3593-4FA6-8B4B-BE01A127D0F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5BF43B-EABA-4030-83C1-938C2B101C0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22071" y="1695450"/>
            <a:ext cx="7347857" cy="3857625"/>
          </a:xfrm>
          <a:prstGeom prst="roundRect">
            <a:avLst>
              <a:gd name="adj" fmla="val 296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4BFAFA-7EA8-4352-8138-792DD68D073C}"/>
              </a:ext>
            </a:extLst>
          </p:cNvPr>
          <p:cNvSpPr>
            <a:spLocks noGrp="1"/>
          </p:cNvSpPr>
          <p:nvPr/>
        </p:nvSpPr>
        <p:spPr>
          <a:xfrm>
            <a:off x="1028700" y="1676400"/>
            <a:ext cx="10134600" cy="3895725"/>
          </a:xfrm>
          <a:prstGeom prst="roundRect">
            <a:avLst>
              <a:gd name="adj" fmla="val 2934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DAEAA0-5035-4995-9579-B1AA15741328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204961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A812B0-0459-41C6-8328-3CB9BFB86F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FD168F-44A9-41F6-B0FC-B446A33F5620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9DD32D-F654-4348-87E7-E0DD48AA74A5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83FCEE-C032-489B-AD12-B241055A9D60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05A12E-9768-40D5-8AAF-0B80BC56C10D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 24 分钟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052F5A-8705-4BCD-BF73-4896F7491001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AI Skills Navigator  ↗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093E5C-BC54-4B6F-8663-090A85701281}"/>
              </a:ext>
            </a:extLst>
          </p:cNvPr>
          <p:cNvSpPr>
            <a:spLocks noGrp="1"/>
          </p:cNvSpPr>
          <p:nvPr/>
        </p:nvSpPr>
        <p:spPr>
          <a:xfrm>
            <a:off x="32004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MS-4004 学习路径  ↗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A71780-E618-4D28-B8C3-D0104D8805CD}"/>
              </a:ext>
            </a:extLst>
          </p:cNvPr>
          <p:cNvSpPr>
            <a:spLocks noGrp="1"/>
          </p:cNvSpPr>
          <p:nvPr/>
        </p:nvSpPr>
        <p:spPr>
          <a:xfrm>
            <a:off x="56007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873484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945E030-1731-4975-8765-BCA1746748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889873-145E-4483-97B0-220D14204F5F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A9117C-F676-4670-94B0-774C38B21697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Navigator：微软官方 AI 学习网站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5B26E-DE92-4997-BABE-4DD6388D62E6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958"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它是微软提供的 AI 技能学习导航站，适合按角色、产品和学习目标寻找内容。这里不仅有 Copilot 用例，也有更广泛的 AI 基础、技术和业务学习资源。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0384AB-841F-47A4-BD03-A1F128A4C49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F50D82-2002-4D4D-A134-A65A98B71478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B6D01D-BAAC-4DF2-9CA3-B4A5DE94483B}"/>
              </a:ext>
            </a:extLst>
          </p:cNvPr>
          <p:cNvSpPr>
            <a:spLocks noGrp="1"/>
          </p:cNvSpPr>
          <p:nvPr/>
        </p:nvSpPr>
        <p:spPr>
          <a:xfrm>
            <a:off x="1181100" y="1952625"/>
            <a:ext cx="9829800" cy="2714625"/>
          </a:xfrm>
          <a:prstGeom prst="roundRect">
            <a:avLst>
              <a:gd name="adj" fmla="val 4211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EF8E88-7254-466B-9EAE-85D8409D3C9B}"/>
              </a:ext>
            </a:extLst>
          </p:cNvPr>
          <p:cNvSpPr>
            <a:spLocks noGrp="1"/>
          </p:cNvSpPr>
          <p:nvPr/>
        </p:nvSpPr>
        <p:spPr>
          <a:xfrm>
            <a:off x="1638300" y="2400300"/>
            <a:ext cx="891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1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AI Skills Navigator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A54E7A-1E30-428B-A77D-C4448DBA8A59}"/>
              </a:ext>
            </a:extLst>
          </p:cNvPr>
          <p:cNvSpPr>
            <a:spLocks noGrp="1"/>
          </p:cNvSpPr>
          <p:nvPr/>
        </p:nvSpPr>
        <p:spPr>
          <a:xfrm>
            <a:off x="1809750" y="316230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Explore AI learning paths, role-based scenarios and Microsoft training resources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0AD99F-3000-4DB2-B8E4-4DD903B9EF31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775084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D7D67FA-EFD7-449F-9FBE-9571574D42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181447-8BB9-4947-AF30-89CDA78C3644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49D5A8-3BD6-4C59-815A-099BC68593ED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除了 MS-4004，还能学什么？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2CD455-10CA-4405-89B5-45827AB82BA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的价值在于持续探索：同一网站中可以按照角色和能力水平找到不同深度的学习内容，而不是只完成一门课程。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BCDC8B-3CD4-426A-9089-34D342DAC2A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6546CE-D14E-4F24-8C32-79923AF2071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89E87C-0DD3-4931-BEE4-051520A3E4D0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3190875" cy="257175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472824C-C4C9-4FF4-8D40-C5A5F00564F9}"/>
              </a:ext>
            </a:extLst>
          </p:cNvPr>
          <p:cNvSpPr>
            <a:spLocks noGrp="1"/>
          </p:cNvSpPr>
          <p:nvPr/>
        </p:nvSpPr>
        <p:spPr>
          <a:xfrm>
            <a:off x="1047750" y="216217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D5CB38-A2C6-4DA7-ACB9-5E654C4F71B8}"/>
              </a:ext>
            </a:extLst>
          </p:cNvPr>
          <p:cNvSpPr>
            <a:spLocks noGrp="1"/>
          </p:cNvSpPr>
          <p:nvPr/>
        </p:nvSpPr>
        <p:spPr>
          <a:xfrm>
            <a:off x="10477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D77FC2-B6C3-4362-99AB-85DB6B1D9C9F}"/>
              </a:ext>
            </a:extLst>
          </p:cNvPr>
          <p:cNvSpPr>
            <a:spLocks noGrp="1"/>
          </p:cNvSpPr>
          <p:nvPr/>
        </p:nvSpPr>
        <p:spPr>
          <a:xfrm>
            <a:off x="16002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基础与负责任使用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F438B1-009C-4049-BA4E-00EF2CE362E5}"/>
              </a:ext>
            </a:extLst>
          </p:cNvPr>
          <p:cNvSpPr>
            <a:spLocks noGrp="1"/>
          </p:cNvSpPr>
          <p:nvPr/>
        </p:nvSpPr>
        <p:spPr>
          <a:xfrm>
            <a:off x="1047750" y="2657475"/>
            <a:ext cx="2771775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理解生成式 AI 的基本能力、限制、风险与验证方法，建立安全和负责任的使用习惯。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0EB064-ECA3-41C4-9344-08930E83D57C}"/>
              </a:ext>
            </a:extLst>
          </p:cNvPr>
          <p:cNvSpPr>
            <a:spLocks noGrp="1"/>
          </p:cNvSpPr>
          <p:nvPr/>
        </p:nvSpPr>
        <p:spPr>
          <a:xfrm>
            <a:off x="4495800" y="1952625"/>
            <a:ext cx="3190875" cy="257175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10EA155-BCBB-4AC3-8034-599A877323D5}"/>
              </a:ext>
            </a:extLst>
          </p:cNvPr>
          <p:cNvSpPr>
            <a:spLocks noGrp="1"/>
          </p:cNvSpPr>
          <p:nvPr/>
        </p:nvSpPr>
        <p:spPr>
          <a:xfrm>
            <a:off x="4705350" y="2162175"/>
            <a:ext cx="400050" cy="400050"/>
          </a:xfrm>
          <a:prstGeom prst="ellipse">
            <a:avLst/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75CEE3-F208-429A-89FF-A4A418648E3A}"/>
              </a:ext>
            </a:extLst>
          </p:cNvPr>
          <p:cNvSpPr>
            <a:spLocks noGrp="1"/>
          </p:cNvSpPr>
          <p:nvPr/>
        </p:nvSpPr>
        <p:spPr>
          <a:xfrm>
            <a:off x="47053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2690B9-8D4C-43EF-A343-73D1290FF251}"/>
              </a:ext>
            </a:extLst>
          </p:cNvPr>
          <p:cNvSpPr>
            <a:spLocks noGrp="1"/>
          </p:cNvSpPr>
          <p:nvPr/>
        </p:nvSpPr>
        <p:spPr>
          <a:xfrm>
            <a:off x="52578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按角色与业务场景学习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19E96D-0287-4B75-989A-7F78B2B03E71}"/>
              </a:ext>
            </a:extLst>
          </p:cNvPr>
          <p:cNvSpPr>
            <a:spLocks noGrp="1"/>
          </p:cNvSpPr>
          <p:nvPr/>
        </p:nvSpPr>
        <p:spPr>
          <a:xfrm>
            <a:off x="4705350" y="2657475"/>
            <a:ext cx="2771775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围绕管理、销售、营销、财务、HR、运营等岗位，理解 Copilot 如何嵌入常见工作流程。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A89F111-ED47-4B79-8B4F-C6B92B53C5E3}"/>
              </a:ext>
            </a:extLst>
          </p:cNvPr>
          <p:cNvSpPr>
            <a:spLocks noGrp="1"/>
          </p:cNvSpPr>
          <p:nvPr/>
        </p:nvSpPr>
        <p:spPr>
          <a:xfrm>
            <a:off x="8153400" y="1952625"/>
            <a:ext cx="3190875" cy="257175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C93AB19-9EB7-4E6D-8B61-9E1122AD2918}"/>
              </a:ext>
            </a:extLst>
          </p:cNvPr>
          <p:cNvSpPr>
            <a:spLocks noGrp="1"/>
          </p:cNvSpPr>
          <p:nvPr/>
        </p:nvSpPr>
        <p:spPr>
          <a:xfrm>
            <a:off x="8362950" y="2162175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7D7494-EF57-4DD4-BA16-5AC9A700DAD3}"/>
              </a:ext>
            </a:extLst>
          </p:cNvPr>
          <p:cNvSpPr>
            <a:spLocks noGrp="1"/>
          </p:cNvSpPr>
          <p:nvPr/>
        </p:nvSpPr>
        <p:spPr>
          <a:xfrm>
            <a:off x="83629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FFE855-CF35-444E-9FBE-57BB03416CDB}"/>
              </a:ext>
            </a:extLst>
          </p:cNvPr>
          <p:cNvSpPr>
            <a:spLocks noGrp="1"/>
          </p:cNvSpPr>
          <p:nvPr/>
        </p:nvSpPr>
        <p:spPr>
          <a:xfrm>
            <a:off x="89154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产品与技术能力进阶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3AE944-B4DA-41A9-B7BC-D0EDAA2EECF9}"/>
              </a:ext>
            </a:extLst>
          </p:cNvPr>
          <p:cNvSpPr>
            <a:spLocks noGrp="1"/>
          </p:cNvSpPr>
          <p:nvPr/>
        </p:nvSpPr>
        <p:spPr>
          <a:xfrm>
            <a:off x="8362950" y="2657475"/>
            <a:ext cx="2771775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继续学习 Microsoft 365 Copilot、Azure AI、Power Platform 等产品或技术方向。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A3053DA-6829-4C29-8EB4-B1EEA1D700F1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探索更多学习内容  ↗</a:t>
            </a:r>
          </a:p>
        </p:txBody>
      </p:sp>
    </p:spTree>
    <p:extLst>
      <p:ext uri="{BB962C8B-B14F-4D97-AF65-F5344CB8AC3E}">
        <p14:creationId xmlns:p14="http://schemas.microsoft.com/office/powerpoint/2010/main" val="435181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2ED1A43-A6D3-49A1-8536-26337A58E5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7F17D9-675C-4C05-86F0-4107910B51C9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BB08BE-AA0E-4F92-B1C6-9A0B1FDC9AD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MS-4004：Microsoft 365 Copilot Use Cases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11D795-4FCC-413A-BC2B-33740A42E113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1018"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是 AI Skills Navigator 中的一条官方学习路径，按典型岗位介绍 Microsoft 365 Copilot 的使用场景。今天不逐模块复述，而是提炼一个所有岗位都能练习的通用案例。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9AFFBA-BEDA-415E-965E-8F45C0491A0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ABA33-A8C9-417A-95E3-ED8242D7A2D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341D03-2DE6-472B-8B6B-5F9FA460452D}"/>
              </a:ext>
            </a:extLst>
          </p:cNvPr>
          <p:cNvSpPr>
            <a:spLocks noGrp="1"/>
          </p:cNvSpPr>
          <p:nvPr/>
        </p:nvSpPr>
        <p:spPr>
          <a:xfrm>
            <a:off x="1219200" y="2000250"/>
            <a:ext cx="9753600" cy="2571750"/>
          </a:xfrm>
          <a:prstGeom prst="roundRect">
            <a:avLst>
              <a:gd name="adj" fmla="val 4444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6DA320-460F-4FA8-BAA3-66ACD33FD321}"/>
              </a:ext>
            </a:extLst>
          </p:cNvPr>
          <p:cNvSpPr>
            <a:spLocks noGrp="1"/>
          </p:cNvSpPr>
          <p:nvPr/>
        </p:nvSpPr>
        <p:spPr>
          <a:xfrm>
            <a:off x="1695450" y="240030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MS-4004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F2E59B-0D97-4360-A08A-68433B4D6D3B}"/>
              </a:ext>
            </a:extLst>
          </p:cNvPr>
          <p:cNvSpPr>
            <a:spLocks noGrp="1"/>
          </p:cNvSpPr>
          <p:nvPr/>
        </p:nvSpPr>
        <p:spPr>
          <a:xfrm>
            <a:off x="4171950" y="2400300"/>
            <a:ext cx="619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Empower your workforce with Microsoft 365 Copilot Use Cases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F77477-2759-486A-9140-1D97E2F1E3FA}"/>
              </a:ext>
            </a:extLst>
          </p:cNvPr>
          <p:cNvSpPr>
            <a:spLocks noGrp="1"/>
          </p:cNvSpPr>
          <p:nvPr/>
        </p:nvSpPr>
        <p:spPr>
          <a:xfrm>
            <a:off x="4171950" y="3333750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角色化案例 · 任务导向 · 可直接迁移到日常工作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43727B9-9DC7-4469-A6C7-7F2A50CAE7C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MS-4004 播放列表  ↗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51A06A-1AEE-4B82-AB19-6AED3CDE246E}"/>
              </a:ext>
            </a:extLst>
          </p:cNvPr>
          <p:cNvSpPr>
            <a:spLocks noGrp="1"/>
          </p:cNvSpPr>
          <p:nvPr/>
        </p:nvSpPr>
        <p:spPr>
          <a:xfrm>
            <a:off x="3524250" y="5867400"/>
            <a:ext cx="2381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306077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5A3DDE90-D538-452A-A204-F8DA3AF6D2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A52CBA-0DC3-4768-A090-D19803026E84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04B711-9A30-483B-8D4B-56027B4E1E39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3CD190-4C8A-4445-BD4C-5523B39BE34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课程通过不同岗位说明 Copilot 如何处理信息、沟通、分析与决策支持。学员无需局限于岗位名称，应识别其中可迁移的任务模式。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55ACDE-ED65-4E40-B154-E6E861A039A8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5BCD3-DF89-47AF-B0BD-731189E7DD0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AA170C-A090-4460-841D-F2EE95FC0796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CFC865-1EEC-412B-A7D8-7BC8FEBAC7AB}"/>
              </a:ext>
            </a:extLst>
          </p:cNvPr>
          <p:cNvSpPr>
            <a:spLocks noGrp="1"/>
          </p:cNvSpPr>
          <p:nvPr/>
        </p:nvSpPr>
        <p:spPr>
          <a:xfrm>
            <a:off x="9715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765105-4B2E-430A-9438-B244CC0EF40E}"/>
              </a:ext>
            </a:extLst>
          </p:cNvPr>
          <p:cNvSpPr>
            <a:spLocks noGrp="1"/>
          </p:cNvSpPr>
          <p:nvPr/>
        </p:nvSpPr>
        <p:spPr>
          <a:xfrm>
            <a:off x="13811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12AF4F-DADC-41FA-B8FC-43E2B3B2D0EA}"/>
              </a:ext>
            </a:extLst>
          </p:cNvPr>
          <p:cNvSpPr>
            <a:spLocks noGrp="1"/>
          </p:cNvSpPr>
          <p:nvPr/>
        </p:nvSpPr>
        <p:spPr>
          <a:xfrm>
            <a:off x="29908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D91A0C-7851-46A8-86ED-B9F0BA04A290}"/>
              </a:ext>
            </a:extLst>
          </p:cNvPr>
          <p:cNvSpPr>
            <a:spLocks noGrp="1"/>
          </p:cNvSpPr>
          <p:nvPr/>
        </p:nvSpPr>
        <p:spPr>
          <a:xfrm>
            <a:off x="31813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C801BA-DAA2-4CDB-8982-B8534B2B1AAE}"/>
              </a:ext>
            </a:extLst>
          </p:cNvPr>
          <p:cNvSpPr>
            <a:spLocks noGrp="1"/>
          </p:cNvSpPr>
          <p:nvPr/>
        </p:nvSpPr>
        <p:spPr>
          <a:xfrm>
            <a:off x="35909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56FE7E-1031-478D-835E-5EA268D1F1A1}"/>
              </a:ext>
            </a:extLst>
          </p:cNvPr>
          <p:cNvSpPr>
            <a:spLocks noGrp="1"/>
          </p:cNvSpPr>
          <p:nvPr/>
        </p:nvSpPr>
        <p:spPr>
          <a:xfrm>
            <a:off x="52006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FB60EF-51FF-480D-ABF5-CA231B230C50}"/>
              </a:ext>
            </a:extLst>
          </p:cNvPr>
          <p:cNvSpPr>
            <a:spLocks noGrp="1"/>
          </p:cNvSpPr>
          <p:nvPr/>
        </p:nvSpPr>
        <p:spPr>
          <a:xfrm>
            <a:off x="53911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47F412-D361-4A72-8F6B-EADB443044DD}"/>
              </a:ext>
            </a:extLst>
          </p:cNvPr>
          <p:cNvSpPr>
            <a:spLocks noGrp="1"/>
          </p:cNvSpPr>
          <p:nvPr/>
        </p:nvSpPr>
        <p:spPr>
          <a:xfrm>
            <a:off x="58007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A02ADC0-5DD5-4FFA-8162-DF94E54A217C}"/>
              </a:ext>
            </a:extLst>
          </p:cNvPr>
          <p:cNvSpPr>
            <a:spLocks noGrp="1"/>
          </p:cNvSpPr>
          <p:nvPr/>
        </p:nvSpPr>
        <p:spPr>
          <a:xfrm>
            <a:off x="74104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C39D22-3AB8-458C-87AE-7617C8A7F14F}"/>
              </a:ext>
            </a:extLst>
          </p:cNvPr>
          <p:cNvSpPr>
            <a:spLocks noGrp="1"/>
          </p:cNvSpPr>
          <p:nvPr/>
        </p:nvSpPr>
        <p:spPr>
          <a:xfrm>
            <a:off x="76009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C53236-1623-4861-8F8E-EE07B5AF57DA}"/>
              </a:ext>
            </a:extLst>
          </p:cNvPr>
          <p:cNvSpPr>
            <a:spLocks noGrp="1"/>
          </p:cNvSpPr>
          <p:nvPr/>
        </p:nvSpPr>
        <p:spPr>
          <a:xfrm>
            <a:off x="80105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299BEB7-5080-4DFF-A969-90ED65082D44}"/>
              </a:ext>
            </a:extLst>
          </p:cNvPr>
          <p:cNvSpPr>
            <a:spLocks noGrp="1"/>
          </p:cNvSpPr>
          <p:nvPr/>
        </p:nvSpPr>
        <p:spPr>
          <a:xfrm>
            <a:off x="96202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C4C6FC-B8D0-415C-B6D2-CD15CEF50B0D}"/>
              </a:ext>
            </a:extLst>
          </p:cNvPr>
          <p:cNvSpPr>
            <a:spLocks noGrp="1"/>
          </p:cNvSpPr>
          <p:nvPr/>
        </p:nvSpPr>
        <p:spPr>
          <a:xfrm>
            <a:off x="98107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7D46DA-52B8-4643-B7E3-3D3329ABAE7D}"/>
              </a:ext>
            </a:extLst>
          </p:cNvPr>
          <p:cNvSpPr>
            <a:spLocks noGrp="1"/>
          </p:cNvSpPr>
          <p:nvPr/>
        </p:nvSpPr>
        <p:spPr>
          <a:xfrm>
            <a:off x="102203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3C3DC6-C096-4747-8B1C-929929EBD0B6}"/>
              </a:ext>
            </a:extLst>
          </p:cNvPr>
          <p:cNvSpPr>
            <a:spLocks noGrp="1"/>
          </p:cNvSpPr>
          <p:nvPr/>
        </p:nvSpPr>
        <p:spPr>
          <a:xfrm>
            <a:off x="7810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BA1B24-B499-440C-8E16-CA9620AF5B74}"/>
              </a:ext>
            </a:extLst>
          </p:cNvPr>
          <p:cNvSpPr>
            <a:spLocks noGrp="1"/>
          </p:cNvSpPr>
          <p:nvPr/>
        </p:nvSpPr>
        <p:spPr>
          <a:xfrm>
            <a:off x="9715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4DA573-A950-4616-81DC-0646D395C8F4}"/>
              </a:ext>
            </a:extLst>
          </p:cNvPr>
          <p:cNvSpPr>
            <a:spLocks noGrp="1"/>
          </p:cNvSpPr>
          <p:nvPr/>
        </p:nvSpPr>
        <p:spPr>
          <a:xfrm>
            <a:off x="13811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64921DF-9CE2-4A8E-88BD-E7F4A8C78044}"/>
              </a:ext>
            </a:extLst>
          </p:cNvPr>
          <p:cNvSpPr>
            <a:spLocks noGrp="1"/>
          </p:cNvSpPr>
          <p:nvPr/>
        </p:nvSpPr>
        <p:spPr>
          <a:xfrm>
            <a:off x="29908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9DACE4-21D1-4452-B12B-A877C263E6FE}"/>
              </a:ext>
            </a:extLst>
          </p:cNvPr>
          <p:cNvSpPr>
            <a:spLocks noGrp="1"/>
          </p:cNvSpPr>
          <p:nvPr/>
        </p:nvSpPr>
        <p:spPr>
          <a:xfrm>
            <a:off x="31813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FA2B3D-095E-44BF-BA5C-3DEC76066F89}"/>
              </a:ext>
            </a:extLst>
          </p:cNvPr>
          <p:cNvSpPr>
            <a:spLocks noGrp="1"/>
          </p:cNvSpPr>
          <p:nvPr/>
        </p:nvSpPr>
        <p:spPr>
          <a:xfrm>
            <a:off x="35909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E8A80BF-54D5-4ECB-8949-2BAB110D5EF1}"/>
              </a:ext>
            </a:extLst>
          </p:cNvPr>
          <p:cNvSpPr>
            <a:spLocks noGrp="1"/>
          </p:cNvSpPr>
          <p:nvPr/>
        </p:nvSpPr>
        <p:spPr>
          <a:xfrm>
            <a:off x="52006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C0342B-F08F-4462-9099-71FA62D7E0A8}"/>
              </a:ext>
            </a:extLst>
          </p:cNvPr>
          <p:cNvSpPr>
            <a:spLocks noGrp="1"/>
          </p:cNvSpPr>
          <p:nvPr/>
        </p:nvSpPr>
        <p:spPr>
          <a:xfrm>
            <a:off x="53911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D11EFE-8117-4BFA-8FEE-D53EFACB7D68}"/>
              </a:ext>
            </a:extLst>
          </p:cNvPr>
          <p:cNvSpPr>
            <a:spLocks noGrp="1"/>
          </p:cNvSpPr>
          <p:nvPr/>
        </p:nvSpPr>
        <p:spPr>
          <a:xfrm>
            <a:off x="58007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6E5A774-ECDD-47F9-A289-E7A5FA4DF815}"/>
              </a:ext>
            </a:extLst>
          </p:cNvPr>
          <p:cNvSpPr>
            <a:spLocks noGrp="1"/>
          </p:cNvSpPr>
          <p:nvPr/>
        </p:nvSpPr>
        <p:spPr>
          <a:xfrm>
            <a:off x="74104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19E8B8-9D42-4043-AC1A-393A9FC3A2F6}"/>
              </a:ext>
            </a:extLst>
          </p:cNvPr>
          <p:cNvSpPr>
            <a:spLocks noGrp="1"/>
          </p:cNvSpPr>
          <p:nvPr/>
        </p:nvSpPr>
        <p:spPr>
          <a:xfrm>
            <a:off x="76009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0AACB67-DB16-4D59-A344-049BA79DC9BF}"/>
              </a:ext>
            </a:extLst>
          </p:cNvPr>
          <p:cNvSpPr>
            <a:spLocks noGrp="1"/>
          </p:cNvSpPr>
          <p:nvPr/>
        </p:nvSpPr>
        <p:spPr>
          <a:xfrm>
            <a:off x="80105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5D7E94C-91AC-4804-B7FD-15C132511FED}"/>
              </a:ext>
            </a:extLst>
          </p:cNvPr>
          <p:cNvSpPr>
            <a:spLocks noGrp="1"/>
          </p:cNvSpPr>
          <p:nvPr/>
        </p:nvSpPr>
        <p:spPr>
          <a:xfrm>
            <a:off x="96202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BF7C9D0-DF59-40E6-B802-1430C84BDECD}"/>
              </a:ext>
            </a:extLst>
          </p:cNvPr>
          <p:cNvSpPr>
            <a:spLocks noGrp="1"/>
          </p:cNvSpPr>
          <p:nvPr/>
        </p:nvSpPr>
        <p:spPr>
          <a:xfrm>
            <a:off x="98107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AB9965D-D54A-4B5C-BD36-12C3AA6E2DC0}"/>
              </a:ext>
            </a:extLst>
          </p:cNvPr>
          <p:cNvSpPr>
            <a:spLocks noGrp="1"/>
          </p:cNvSpPr>
          <p:nvPr/>
        </p:nvSpPr>
        <p:spPr>
          <a:xfrm>
            <a:off x="102203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8EAA35-DB1C-4B30-91E5-3612DE3830EA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667450F-5373-4C93-A4CD-528035539DF3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207277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75193AB-1D18-4DCD-B752-96E4F4E7E7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3342DD-7E7D-4382-9C6E-451C6BE9A945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71EC46-4DBB-4C84-A092-819ADE37230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3BA91F-8D7C-47DA-AF6F-55951A64FFF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的高频价值通常集中在“读、理、写、查”。课堂案例会把这四类动作串成一个完整工作流。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019072-9533-48D5-B804-1D330879792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F28B8B-BEBD-4942-AAB1-A3F8B91B8E5F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C95B12-A053-4198-BDA0-B46A4122A1FF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45A1B1A-DF25-496F-AD7A-7ACBBB2D8EFE}"/>
              </a:ext>
            </a:extLst>
          </p:cNvPr>
          <p:cNvSpPr>
            <a:spLocks noGrp="1"/>
          </p:cNvSpPr>
          <p:nvPr/>
        </p:nvSpPr>
        <p:spPr>
          <a:xfrm>
            <a:off x="108585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5C8471-F291-426B-9C4D-FDFD35F31A98}"/>
              </a:ext>
            </a:extLst>
          </p:cNvPr>
          <p:cNvSpPr>
            <a:spLocks noGrp="1"/>
          </p:cNvSpPr>
          <p:nvPr/>
        </p:nvSpPr>
        <p:spPr>
          <a:xfrm>
            <a:off x="108585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A231AD-6F6D-4C69-8B49-E8BD7D41332D}"/>
              </a:ext>
            </a:extLst>
          </p:cNvPr>
          <p:cNvSpPr>
            <a:spLocks noGrp="1"/>
          </p:cNvSpPr>
          <p:nvPr/>
        </p:nvSpPr>
        <p:spPr>
          <a:xfrm>
            <a:off x="163830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24ECA4-80DF-4E88-83E3-7C8C07E124F5}"/>
              </a:ext>
            </a:extLst>
          </p:cNvPr>
          <p:cNvSpPr>
            <a:spLocks noGrp="1"/>
          </p:cNvSpPr>
          <p:nvPr/>
        </p:nvSpPr>
        <p:spPr>
          <a:xfrm>
            <a:off x="108585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B769201-F068-4375-A440-107FC9F6AC5E}"/>
              </a:ext>
            </a:extLst>
          </p:cNvPr>
          <p:cNvSpPr>
            <a:spLocks noGrp="1"/>
          </p:cNvSpPr>
          <p:nvPr/>
        </p:nvSpPr>
        <p:spPr>
          <a:xfrm>
            <a:off x="363855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AE4C844-93D3-47DA-85C4-908C48A5B1E8}"/>
              </a:ext>
            </a:extLst>
          </p:cNvPr>
          <p:cNvSpPr>
            <a:spLocks noGrp="1"/>
          </p:cNvSpPr>
          <p:nvPr/>
        </p:nvSpPr>
        <p:spPr>
          <a:xfrm>
            <a:off x="384810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2A4631-A764-4627-A48A-8D7B1F0E331E}"/>
              </a:ext>
            </a:extLst>
          </p:cNvPr>
          <p:cNvSpPr>
            <a:spLocks noGrp="1"/>
          </p:cNvSpPr>
          <p:nvPr/>
        </p:nvSpPr>
        <p:spPr>
          <a:xfrm>
            <a:off x="384810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91E597-BC26-4D9F-A8D4-7901F915E89D}"/>
              </a:ext>
            </a:extLst>
          </p:cNvPr>
          <p:cNvSpPr>
            <a:spLocks noGrp="1"/>
          </p:cNvSpPr>
          <p:nvPr/>
        </p:nvSpPr>
        <p:spPr>
          <a:xfrm>
            <a:off x="440055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8B9FD4-16FF-4654-9065-CEDFB0BAC127}"/>
              </a:ext>
            </a:extLst>
          </p:cNvPr>
          <p:cNvSpPr>
            <a:spLocks noGrp="1"/>
          </p:cNvSpPr>
          <p:nvPr/>
        </p:nvSpPr>
        <p:spPr>
          <a:xfrm>
            <a:off x="384810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074945F-8E41-4DAA-A751-79F993D44AA7}"/>
              </a:ext>
            </a:extLst>
          </p:cNvPr>
          <p:cNvSpPr>
            <a:spLocks noGrp="1"/>
          </p:cNvSpPr>
          <p:nvPr/>
        </p:nvSpPr>
        <p:spPr>
          <a:xfrm>
            <a:off x="640080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794D4F-2122-447A-92DD-DA2901CA775F}"/>
              </a:ext>
            </a:extLst>
          </p:cNvPr>
          <p:cNvSpPr>
            <a:spLocks noGrp="1"/>
          </p:cNvSpPr>
          <p:nvPr/>
        </p:nvSpPr>
        <p:spPr>
          <a:xfrm>
            <a:off x="6610350" y="2209800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AC632-0CF1-4A6D-B6E1-0DCDEB97B7CD}"/>
              </a:ext>
            </a:extLst>
          </p:cNvPr>
          <p:cNvSpPr>
            <a:spLocks noGrp="1"/>
          </p:cNvSpPr>
          <p:nvPr/>
        </p:nvSpPr>
        <p:spPr>
          <a:xfrm>
            <a:off x="661035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009969-F2A3-4177-BD14-AE38EEF464D2}"/>
              </a:ext>
            </a:extLst>
          </p:cNvPr>
          <p:cNvSpPr>
            <a:spLocks noGrp="1"/>
          </p:cNvSpPr>
          <p:nvPr/>
        </p:nvSpPr>
        <p:spPr>
          <a:xfrm>
            <a:off x="716280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AEDCDC-FC61-49A6-B056-3DAAF389E71A}"/>
              </a:ext>
            </a:extLst>
          </p:cNvPr>
          <p:cNvSpPr>
            <a:spLocks noGrp="1"/>
          </p:cNvSpPr>
          <p:nvPr/>
        </p:nvSpPr>
        <p:spPr>
          <a:xfrm>
            <a:off x="661035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比较多个来源，标记冲突、缺失信息和需要人工确认的假设。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FA2E8ED-6DBD-4E6E-8412-C8601F735BBB}"/>
              </a:ext>
            </a:extLst>
          </p:cNvPr>
          <p:cNvSpPr>
            <a:spLocks noGrp="1"/>
          </p:cNvSpPr>
          <p:nvPr/>
        </p:nvSpPr>
        <p:spPr>
          <a:xfrm>
            <a:off x="916305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05F4A80-D8F4-4D78-AA08-441376A86489}"/>
              </a:ext>
            </a:extLst>
          </p:cNvPr>
          <p:cNvSpPr>
            <a:spLocks noGrp="1"/>
          </p:cNvSpPr>
          <p:nvPr/>
        </p:nvSpPr>
        <p:spPr>
          <a:xfrm>
            <a:off x="937260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4D6300-2ACF-4A38-AC42-DA3B8226A536}"/>
              </a:ext>
            </a:extLst>
          </p:cNvPr>
          <p:cNvSpPr>
            <a:spLocks noGrp="1"/>
          </p:cNvSpPr>
          <p:nvPr/>
        </p:nvSpPr>
        <p:spPr>
          <a:xfrm>
            <a:off x="937260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15AE12-5896-4CE6-9435-201AE20D3690}"/>
              </a:ext>
            </a:extLst>
          </p:cNvPr>
          <p:cNvSpPr>
            <a:spLocks noGrp="1"/>
          </p:cNvSpPr>
          <p:nvPr/>
        </p:nvSpPr>
        <p:spPr>
          <a:xfrm>
            <a:off x="992505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FB7F02-DE23-43FA-9603-77BC8674B23D}"/>
              </a:ext>
            </a:extLst>
          </p:cNvPr>
          <p:cNvSpPr>
            <a:spLocks noGrp="1"/>
          </p:cNvSpPr>
          <p:nvPr/>
        </p:nvSpPr>
        <p:spPr>
          <a:xfrm>
            <a:off x="937260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生成一页项目简报和后续邮件，让分析结果进入真实协作。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D0F2191-39D1-40BF-8FC7-E94E5ADE79D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29412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E304AB-D11B-4682-8D9E-A54581D590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656963-5374-4FD6-8318-2269A081569E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F3D557-0B99-49A8-ABD2-2E4A15E96FC8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6E5FD7-8BA2-4F22-9176-1FB7F5C85E28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236"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你刚加入“绿色办公周”项目，需要在短时间内读懂三份资料，并向负责人说明项目现状、风险和下一步。所有资料都是虚构培训数据，不包含真实业务信息。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0FC22A-937A-4D34-927F-726894EA268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ACC2AF-68F1-4E48-BB15-6B8E73E61503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B44DCA-1D68-4807-BE07-A65A45449526}"/>
              </a:ext>
            </a:extLst>
          </p:cNvPr>
          <p:cNvSpPr>
            <a:spLocks noGrp="1"/>
          </p:cNvSpPr>
          <p:nvPr/>
        </p:nvSpPr>
        <p:spPr>
          <a:xfrm>
            <a:off x="1047750" y="1952625"/>
            <a:ext cx="100965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65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输入： 项目简介、规划会议纪要、里程碑时间表。三份文件包含目标、预算、行动项和一个刻意设置的日期冲突。</a:t>
            </a:r>
          </a:p>
          <a:p>
            <a:endParaRPr sz="165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65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处理： 让 Copilot 提炼目标与成功指标，归纳已确认决策和待办事项，并比较来源之间的不一致。</a:t>
            </a:r>
          </a:p>
          <a:p>
            <a:endParaRPr sz="165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65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输出： 生成一页项目接手简报，以及一封用于确认冲突和推动行动的后续邮件草稿。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88ABC3-6BC6-4EE3-8005-DDC58CE29A1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868670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916FDDA-D714-4846-A181-65C04D019B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51A99E-77DD-4AA8-90D1-F7C08B67E3BE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663B05-19E4-40C6-A0F1-7710869DA2D5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F8D7EB-5083-4BDC-B32F-D730CF527A44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第一份资料提供项目目的、衡量指标、预算、关键日期和范围，是建立项目全貌的主要来源。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5B4997-4114-4D59-BB22-DBE72B9AC38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D9816F-A3B7-4E0E-927F-2655E8D3CA5B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312B42-11C3-4501-8D5A-ACAE3F184FBA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BE1BA6-99E3-4553-B0E8-F4E2C1AD232B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C5AF0A-479D-4C69-B16A-4B5BFDC3B714}"/>
              </a:ext>
            </a:extLst>
          </p:cNvPr>
          <p:cNvSpPr>
            <a:spLocks noGrp="1"/>
          </p:cNvSpPr>
          <p:nvPr/>
        </p:nvSpPr>
        <p:spPr>
          <a:xfrm>
            <a:off x="1428750" y="2647950"/>
            <a:ext cx="9239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9DD2DD-3A01-4F62-B1C3-1E89090D15D0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34965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8514EE3-98CB-476F-A62B-DA96E97245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EF6123-E29A-4345-9FEB-F61E8E5008F4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A0E1B1-8D2D-483E-A419-12EC201E3D17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96A0B1-30D4-448E-AA3E-F566DC40374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第二份资料区分了已确认决策、行动项和开放问题。它补充了负责人角色与截止日期，也显示哪些信息仍不能被当成事实。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ADB227-B089-490D-8A91-81684E45340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3378C8-0003-4F4E-9119-6ACC227BAFFA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9A2C69-6640-4AAC-97BD-9BBFB988A81D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A6A426-3CD4-4EB1-AD98-9DF385C4B1A7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B7F05A-FADF-498C-B5FB-AE1E2D919341}"/>
              </a:ext>
            </a:extLst>
          </p:cNvPr>
          <p:cNvSpPr>
            <a:spLocks noGrp="1"/>
          </p:cNvSpPr>
          <p:nvPr/>
        </p:nvSpPr>
        <p:spPr>
          <a:xfrm>
            <a:off x="1428750" y="2724150"/>
            <a:ext cx="9239250" cy="2047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餐饮供应商未确定，合同金额不可用，团队尚未决定是否增加可选闭幕活动。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D8DEEC-4B60-4D73-9441-637947F6EDA7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73069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F8851EC-DD03-449F-9F5C-FCE5701218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79C0D0-C40D-4034-91A8-10F4B5DCE96A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ADA83-4501-4891-A4EC-87CFABF62202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3：时间表中的刻意冲突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927C8-3537-4D98-9696-9CA711FE0168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里程碑时间表提供负责人、截止日期和状态，但其中“报名开放日期”与项目简介不一致。Copilot 应标记冲突，而不是自行选择一个日期。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AE1E76-5847-466E-83EA-9F6FBF583AB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D77931-BF1F-4E0E-93CD-443DDB75478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1C2EF5-D6A8-41ED-AF6E-DD24031272F9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429000"/>
          </a:xfrm>
          <a:prstGeom prst="roundRect">
            <a:avLst>
              <a:gd name="adj" fmla="val 333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ED021A-78E8-46B6-895D-BFD2075A3EC2}"/>
              </a:ext>
            </a:extLst>
          </p:cNvPr>
          <p:cNvSpPr>
            <a:spLocks noGrp="1"/>
          </p:cNvSpPr>
          <p:nvPr/>
        </p:nvSpPr>
        <p:spPr>
          <a:xfrm>
            <a:off x="1524000" y="21526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8DF7C5-C9CD-461A-AFC2-2E8AD2F98AC6}"/>
              </a:ext>
            </a:extLst>
          </p:cNvPr>
          <p:cNvSpPr>
            <a:spLocks noGrp="1"/>
          </p:cNvSpPr>
          <p:nvPr/>
        </p:nvSpPr>
        <p:spPr>
          <a:xfrm>
            <a:off x="7239000" y="21526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1E9593-0115-421A-9CAB-DBBE8584EB51}"/>
              </a:ext>
            </a:extLst>
          </p:cNvPr>
          <p:cNvSpPr>
            <a:spLocks noGrp="1"/>
          </p:cNvSpPr>
          <p:nvPr/>
        </p:nvSpPr>
        <p:spPr>
          <a:xfrm>
            <a:off x="9239250" y="21526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A4EE5E-AA34-4905-AD59-7F3B1490D12D}"/>
              </a:ext>
            </a:extLst>
          </p:cNvPr>
          <p:cNvSpPr>
            <a:spLocks noGrp="1"/>
          </p:cNvSpPr>
          <p:nvPr/>
        </p:nvSpPr>
        <p:spPr>
          <a:xfrm>
            <a:off x="1409700" y="25146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7B7D5A-760F-4644-A417-BC4D4A3CDF14}"/>
              </a:ext>
            </a:extLst>
          </p:cNvPr>
          <p:cNvSpPr>
            <a:spLocks noGrp="1"/>
          </p:cNvSpPr>
          <p:nvPr/>
        </p:nvSpPr>
        <p:spPr>
          <a:xfrm>
            <a:off x="1524000" y="25717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CEDC3E-8D68-4CE3-BA40-5D4790C87B20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636D35-D576-41D2-A40E-ACF2F238CDA3}"/>
              </a:ext>
            </a:extLst>
          </p:cNvPr>
          <p:cNvSpPr>
            <a:spLocks noGrp="1"/>
          </p:cNvSpPr>
          <p:nvPr/>
        </p:nvSpPr>
        <p:spPr>
          <a:xfrm>
            <a:off x="9239250" y="25717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5D1E77-EAD0-4218-ACDF-60A4AA8FBE53}"/>
              </a:ext>
            </a:extLst>
          </p:cNvPr>
          <p:cNvSpPr>
            <a:spLocks noGrp="1"/>
          </p:cNvSpPr>
          <p:nvPr/>
        </p:nvSpPr>
        <p:spPr>
          <a:xfrm>
            <a:off x="1409700" y="29718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EC7ED8-FEC2-46CB-B3C3-5E6F4005BE79}"/>
              </a:ext>
            </a:extLst>
          </p:cNvPr>
          <p:cNvSpPr>
            <a:spLocks noGrp="1"/>
          </p:cNvSpPr>
          <p:nvPr/>
        </p:nvSpPr>
        <p:spPr>
          <a:xfrm>
            <a:off x="1524000" y="30289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1A624A-95AA-455F-88E4-9602F6D0089C}"/>
              </a:ext>
            </a:extLst>
          </p:cNvPr>
          <p:cNvSpPr>
            <a:spLocks noGrp="1"/>
          </p:cNvSpPr>
          <p:nvPr/>
        </p:nvSpPr>
        <p:spPr>
          <a:xfrm>
            <a:off x="7239000" y="30289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16D16D-C4DF-4F92-BDC9-8A930510D328}"/>
              </a:ext>
            </a:extLst>
          </p:cNvPr>
          <p:cNvSpPr>
            <a:spLocks noGrp="1"/>
          </p:cNvSpPr>
          <p:nvPr/>
        </p:nvSpPr>
        <p:spPr>
          <a:xfrm>
            <a:off x="9239250" y="30289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18E584-9ADD-418F-893C-319E8BB73413}"/>
              </a:ext>
            </a:extLst>
          </p:cNvPr>
          <p:cNvSpPr>
            <a:spLocks noGrp="1"/>
          </p:cNvSpPr>
          <p:nvPr/>
        </p:nvSpPr>
        <p:spPr>
          <a:xfrm>
            <a:off x="1409700" y="34290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413BAA-ACEC-4B1D-AC58-7E50EE454251}"/>
              </a:ext>
            </a:extLst>
          </p:cNvPr>
          <p:cNvSpPr>
            <a:spLocks noGrp="1"/>
          </p:cNvSpPr>
          <p:nvPr/>
        </p:nvSpPr>
        <p:spPr>
          <a:xfrm>
            <a:off x="1524000" y="34861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6683BE-C175-4BB8-9D46-1F3255275CA0}"/>
              </a:ext>
            </a:extLst>
          </p:cNvPr>
          <p:cNvSpPr>
            <a:spLocks noGrp="1"/>
          </p:cNvSpPr>
          <p:nvPr/>
        </p:nvSpPr>
        <p:spPr>
          <a:xfrm>
            <a:off x="7239000" y="34861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0E6E26-0E6B-42AE-AED6-0B5768921AD3}"/>
              </a:ext>
            </a:extLst>
          </p:cNvPr>
          <p:cNvSpPr>
            <a:spLocks noGrp="1"/>
          </p:cNvSpPr>
          <p:nvPr/>
        </p:nvSpPr>
        <p:spPr>
          <a:xfrm>
            <a:off x="9239250" y="34861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0E81F3-F807-4BF7-B250-B8712B3C2BF4}"/>
              </a:ext>
            </a:extLst>
          </p:cNvPr>
          <p:cNvSpPr>
            <a:spLocks noGrp="1"/>
          </p:cNvSpPr>
          <p:nvPr/>
        </p:nvSpPr>
        <p:spPr>
          <a:xfrm>
            <a:off x="1409700" y="3886200"/>
            <a:ext cx="9182100" cy="381000"/>
          </a:xfrm>
          <a:prstGeom prst="rect">
            <a:avLst/>
          </a:prstGeom>
          <a:solidFill>
            <a:srgbClr val="FFF2E9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FE9C06-F503-41ED-964B-4F8A22F30AE2}"/>
              </a:ext>
            </a:extLst>
          </p:cNvPr>
          <p:cNvSpPr>
            <a:spLocks noGrp="1"/>
          </p:cNvSpPr>
          <p:nvPr/>
        </p:nvSpPr>
        <p:spPr>
          <a:xfrm>
            <a:off x="1524000" y="39433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0588CB-EF24-4AAC-94BD-D2E060E41DDA}"/>
              </a:ext>
            </a:extLst>
          </p:cNvPr>
          <p:cNvSpPr>
            <a:spLocks noGrp="1"/>
          </p:cNvSpPr>
          <p:nvPr/>
        </p:nvSpPr>
        <p:spPr>
          <a:xfrm>
            <a:off x="7239000" y="39433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58EE1B-4549-4030-A6CF-5206D489E560}"/>
              </a:ext>
            </a:extLst>
          </p:cNvPr>
          <p:cNvSpPr>
            <a:spLocks noGrp="1"/>
          </p:cNvSpPr>
          <p:nvPr/>
        </p:nvSpPr>
        <p:spPr>
          <a:xfrm>
            <a:off x="9239250" y="39433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9110E4-F150-42D3-A70C-05A55C4FF97C}"/>
              </a:ext>
            </a:extLst>
          </p:cNvPr>
          <p:cNvSpPr>
            <a:spLocks noGrp="1"/>
          </p:cNvSpPr>
          <p:nvPr/>
        </p:nvSpPr>
        <p:spPr>
          <a:xfrm>
            <a:off x="1409700" y="43434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EF93A7-2598-4ABF-902A-F756B0275717}"/>
              </a:ext>
            </a:extLst>
          </p:cNvPr>
          <p:cNvSpPr>
            <a:spLocks noGrp="1"/>
          </p:cNvSpPr>
          <p:nvPr/>
        </p:nvSpPr>
        <p:spPr>
          <a:xfrm>
            <a:off x="1524000" y="44005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D7FBFF-1ED0-4AED-BB15-BB139F811FA4}"/>
              </a:ext>
            </a:extLst>
          </p:cNvPr>
          <p:cNvSpPr>
            <a:spLocks noGrp="1"/>
          </p:cNvSpPr>
          <p:nvPr/>
        </p:nvSpPr>
        <p:spPr>
          <a:xfrm>
            <a:off x="7239000" y="44005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60E0A5-7FE3-4FC8-8E19-94902DE06D4E}"/>
              </a:ext>
            </a:extLst>
          </p:cNvPr>
          <p:cNvSpPr>
            <a:spLocks noGrp="1"/>
          </p:cNvSpPr>
          <p:nvPr/>
        </p:nvSpPr>
        <p:spPr>
          <a:xfrm>
            <a:off x="9239250" y="44005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EF20DB0-7471-4BF1-AE30-F849BAF1967F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冲突提示：项目简介为 28 Aug，时间表为 31 Aug。正确动作是标记并请求负责人确认。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120074F-89A8-41C4-AD60-F0A74861B9A3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855070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6724102-93A4-4B8E-B2BC-4B1A500D9D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6C3731-2786-47BF-B7FB-BD859B317523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325B0-CAEF-4BD4-9856-1F33BAAA9DA1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6CCCD6-A976-4C4E-AC4E-60342B8FDAE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高质量提示词不是越长越好，而是让 Copilot 清楚知道你为什么做、要做什么、结果长什么样，以及哪些判断不能由它擅自完成。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805D-D2F4-45B6-AC80-4B5B7E65EEF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D32B6-CB8B-4A25-A139-4C502E029540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146F0D-BA40-46D5-B0E7-125374A787CF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97F3E6-07D5-43D7-A667-3D7A53CBA8B6}"/>
              </a:ext>
            </a:extLst>
          </p:cNvPr>
          <p:cNvSpPr>
            <a:spLocks noGrp="1"/>
          </p:cNvSpPr>
          <p:nvPr/>
        </p:nvSpPr>
        <p:spPr>
          <a:xfrm>
            <a:off x="1219200" y="19431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1083FF-B781-40CB-95DF-37CE953854E1}"/>
              </a:ext>
            </a:extLst>
          </p:cNvPr>
          <p:cNvSpPr>
            <a:spLocks noGrp="1"/>
          </p:cNvSpPr>
          <p:nvPr/>
        </p:nvSpPr>
        <p:spPr>
          <a:xfrm>
            <a:off x="1219200" y="20574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9A78A3-9E47-4FC9-9785-D47C89734542}"/>
              </a:ext>
            </a:extLst>
          </p:cNvPr>
          <p:cNvSpPr>
            <a:spLocks noGrp="1"/>
          </p:cNvSpPr>
          <p:nvPr/>
        </p:nvSpPr>
        <p:spPr>
          <a:xfrm>
            <a:off x="2476500" y="19716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75CAFD-DD5F-49F0-BFD9-FA8174AB6E2F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D696F6-45C8-4692-BEAD-D4F95BC2531D}"/>
              </a:ext>
            </a:extLst>
          </p:cNvPr>
          <p:cNvSpPr>
            <a:spLocks noGrp="1"/>
          </p:cNvSpPr>
          <p:nvPr/>
        </p:nvSpPr>
        <p:spPr>
          <a:xfrm>
            <a:off x="1219200" y="29146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C5D6DF-C212-4ADD-935C-2472EF7B668E}"/>
              </a:ext>
            </a:extLst>
          </p:cNvPr>
          <p:cNvSpPr>
            <a:spLocks noGrp="1"/>
          </p:cNvSpPr>
          <p:nvPr/>
        </p:nvSpPr>
        <p:spPr>
          <a:xfrm>
            <a:off x="1219200" y="30289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304461-3AB0-4C36-8073-E0474D90646B}"/>
              </a:ext>
            </a:extLst>
          </p:cNvPr>
          <p:cNvSpPr>
            <a:spLocks noGrp="1"/>
          </p:cNvSpPr>
          <p:nvPr/>
        </p:nvSpPr>
        <p:spPr>
          <a:xfrm>
            <a:off x="2476500" y="29432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DB41A0-52AB-4ABC-9B29-B63AA87A2744}"/>
              </a:ext>
            </a:extLst>
          </p:cNvPr>
          <p:cNvSpPr>
            <a:spLocks noGrp="1"/>
          </p:cNvSpPr>
          <p:nvPr/>
        </p:nvSpPr>
        <p:spPr>
          <a:xfrm>
            <a:off x="1047750" y="37528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045401D-1FF3-4054-A828-9CCC96715005}"/>
              </a:ext>
            </a:extLst>
          </p:cNvPr>
          <p:cNvSpPr>
            <a:spLocks noGrp="1"/>
          </p:cNvSpPr>
          <p:nvPr/>
        </p:nvSpPr>
        <p:spPr>
          <a:xfrm>
            <a:off x="1219200" y="38862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9F76BD-7B3B-40DD-BB39-BEDE75293D78}"/>
              </a:ext>
            </a:extLst>
          </p:cNvPr>
          <p:cNvSpPr>
            <a:spLocks noGrp="1"/>
          </p:cNvSpPr>
          <p:nvPr/>
        </p:nvSpPr>
        <p:spPr>
          <a:xfrm>
            <a:off x="1219200" y="40005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09216A-0581-4F0D-B61A-0844575EB32F}"/>
              </a:ext>
            </a:extLst>
          </p:cNvPr>
          <p:cNvSpPr>
            <a:spLocks noGrp="1"/>
          </p:cNvSpPr>
          <p:nvPr/>
        </p:nvSpPr>
        <p:spPr>
          <a:xfrm>
            <a:off x="2476500" y="39147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9C4954C-8F82-4DDD-B088-BCECB3A35A7C}"/>
              </a:ext>
            </a:extLst>
          </p:cNvPr>
          <p:cNvSpPr>
            <a:spLocks noGrp="1"/>
          </p:cNvSpPr>
          <p:nvPr/>
        </p:nvSpPr>
        <p:spPr>
          <a:xfrm>
            <a:off x="1047750" y="47244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FECE696-CB1C-4F1F-B8A8-7D50B8CF4E81}"/>
              </a:ext>
            </a:extLst>
          </p:cNvPr>
          <p:cNvSpPr>
            <a:spLocks noGrp="1"/>
          </p:cNvSpPr>
          <p:nvPr/>
        </p:nvSpPr>
        <p:spPr>
          <a:xfrm>
            <a:off x="1219200" y="48577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8DB128-906B-4547-95EF-05A624D41AD2}"/>
              </a:ext>
            </a:extLst>
          </p:cNvPr>
          <p:cNvSpPr>
            <a:spLocks noGrp="1"/>
          </p:cNvSpPr>
          <p:nvPr/>
        </p:nvSpPr>
        <p:spPr>
          <a:xfrm>
            <a:off x="1219200" y="49720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B0519A-B70C-4ED2-B480-C5A8D00FF9AE}"/>
              </a:ext>
            </a:extLst>
          </p:cNvPr>
          <p:cNvSpPr>
            <a:spLocks noGrp="1"/>
          </p:cNvSpPr>
          <p:nvPr/>
        </p:nvSpPr>
        <p:spPr>
          <a:xfrm>
            <a:off x="2476500" y="48863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74CD510-AF0E-4C35-96BF-A43255D79D40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527372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49406B-E6EE-4AD5-9FE5-21F571281C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EB5F4E-B1BD-4E0B-A271-57C6239D689F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A306A-BF03-41D0-B739-B96257493F5D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Copilot：实操入口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29505-6D68-46BB-84D4-33E222010208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Microsoft 365 Copilot Chat 开始，选择工作账户环境，准备好三份培训资料，并在提交前检查是否包含不应上传的敏感信息。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A5FF51-FC98-403E-8B25-9A18CA63188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C84754-A764-4746-A86D-60BFEAF66EB3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22071" y="1695450"/>
            <a:ext cx="7347857" cy="3857625"/>
          </a:xfrm>
          <a:prstGeom prst="roundRect">
            <a:avLst>
              <a:gd name="adj" fmla="val 296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6AE2A56-39E1-457A-8DB8-298750926AB8}"/>
              </a:ext>
            </a:extLst>
          </p:cNvPr>
          <p:cNvSpPr>
            <a:spLocks noGrp="1"/>
          </p:cNvSpPr>
          <p:nvPr/>
        </p:nvSpPr>
        <p:spPr>
          <a:xfrm>
            <a:off x="1028700" y="1676400"/>
            <a:ext cx="10134600" cy="3895725"/>
          </a:xfrm>
          <a:prstGeom prst="roundRect">
            <a:avLst>
              <a:gd name="adj" fmla="val 2934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C94014-6496-48E4-B3E4-91E18A29C41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245816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F68644F-8B8F-4346-A45A-8DF1DB7E2F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26042A-EFEB-4F52-BF9D-AF07ADD24BF2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C0CC37-7257-4190-828D-19EAA3FC4918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现场演示：从三份资料到两项可用输出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E9933-DDE3-4A51-A232-C90D758664D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演示按固定顺序进行，便于学员观察每一步如何增加上下文、控制结构并保持可验证性。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4DE5BA-F8C8-45A4-8F08-9728A2570CC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02163D-154D-4013-8710-22353AEC952A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20F1499-39A4-41A6-AE3F-9E9663F2ABAC}"/>
              </a:ext>
            </a:extLst>
          </p:cNvPr>
          <p:cNvSpPr>
            <a:spLocks noGrp="1"/>
          </p:cNvSpPr>
          <p:nvPr/>
        </p:nvSpPr>
        <p:spPr>
          <a:xfrm>
            <a:off x="1066800" y="17621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2B3F55-E89B-4C69-B782-66083F5D7774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AF9723-AFAE-4F56-8089-77E09EF327D0}"/>
              </a:ext>
            </a:extLst>
          </p:cNvPr>
          <p:cNvSpPr>
            <a:spLocks noGrp="1"/>
          </p:cNvSpPr>
          <p:nvPr/>
        </p:nvSpPr>
        <p:spPr>
          <a:xfrm>
            <a:off x="1695450" y="17430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添加三份虚构培训资料，并明确它们是本次回答的唯一事实来源。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BA6418-A74B-4881-AD99-EE01CDEEEDDE}"/>
              </a:ext>
            </a:extLst>
          </p:cNvPr>
          <p:cNvSpPr>
            <a:spLocks noGrp="1"/>
          </p:cNvSpPr>
          <p:nvPr/>
        </p:nvSpPr>
        <p:spPr>
          <a:xfrm>
            <a:off x="1066800" y="250507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595F12-1E06-4985-B147-83A44E0AE115}"/>
              </a:ext>
            </a:extLst>
          </p:cNvPr>
          <p:cNvSpPr>
            <a:spLocks noGrp="1"/>
          </p:cNvSpPr>
          <p:nvPr/>
        </p:nvSpPr>
        <p:spPr>
          <a:xfrm>
            <a:off x="1066800" y="25908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01BBCA-A07E-4B61-A2CF-E156A8A203CC}"/>
              </a:ext>
            </a:extLst>
          </p:cNvPr>
          <p:cNvSpPr>
            <a:spLocks noGrp="1"/>
          </p:cNvSpPr>
          <p:nvPr/>
        </p:nvSpPr>
        <p:spPr>
          <a:xfrm>
            <a:off x="1695450" y="248602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输入四段式提示词，要求输出项目简报与跟进邮件。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61427AD-B517-4536-A791-3845DF4900E1}"/>
              </a:ext>
            </a:extLst>
          </p:cNvPr>
          <p:cNvSpPr>
            <a:spLocks noGrp="1"/>
          </p:cNvSpPr>
          <p:nvPr/>
        </p:nvSpPr>
        <p:spPr>
          <a:xfrm>
            <a:off x="1066800" y="32480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33AA57-9EA7-4059-80B2-4468E4ADF6B0}"/>
              </a:ext>
            </a:extLst>
          </p:cNvPr>
          <p:cNvSpPr>
            <a:spLocks noGrp="1"/>
          </p:cNvSpPr>
          <p:nvPr/>
        </p:nvSpPr>
        <p:spPr>
          <a:xfrm>
            <a:off x="1066800" y="33337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CCD1A-56F8-4B2A-A090-8A1ABC3AA53D}"/>
              </a:ext>
            </a:extLst>
          </p:cNvPr>
          <p:cNvSpPr>
            <a:spLocks noGrp="1"/>
          </p:cNvSpPr>
          <p:nvPr/>
        </p:nvSpPr>
        <p:spPr>
          <a:xfrm>
            <a:off x="1695450" y="32289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检查是否提取了目标、指标、决策、行动项、风险与开放问题。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CDB128C-4D97-415E-9AA6-3D100DF721CC}"/>
              </a:ext>
            </a:extLst>
          </p:cNvPr>
          <p:cNvSpPr>
            <a:spLocks noGrp="1"/>
          </p:cNvSpPr>
          <p:nvPr/>
        </p:nvSpPr>
        <p:spPr>
          <a:xfrm>
            <a:off x="1066800" y="3990975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5CC57F-DB69-442E-A2FA-5BDE8B781061}"/>
              </a:ext>
            </a:extLst>
          </p:cNvPr>
          <p:cNvSpPr>
            <a:spLocks noGrp="1"/>
          </p:cNvSpPr>
          <p:nvPr/>
        </p:nvSpPr>
        <p:spPr>
          <a:xfrm>
            <a:off x="1066800" y="40767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7F0B4C-FD6E-4C9E-B759-DAB85AB667CC}"/>
              </a:ext>
            </a:extLst>
          </p:cNvPr>
          <p:cNvSpPr>
            <a:spLocks noGrp="1"/>
          </p:cNvSpPr>
          <p:nvPr/>
        </p:nvSpPr>
        <p:spPr>
          <a:xfrm>
            <a:off x="1695450" y="397192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重点确认是否识别 28 Aug 与 31 Aug 的日期冲突，并保留两个来源。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B5A37F3-BCE6-437B-A959-FCD36E986226}"/>
              </a:ext>
            </a:extLst>
          </p:cNvPr>
          <p:cNvSpPr>
            <a:spLocks noGrp="1"/>
          </p:cNvSpPr>
          <p:nvPr/>
        </p:nvSpPr>
        <p:spPr>
          <a:xfrm>
            <a:off x="1066800" y="47339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B8D3B5-779E-4A49-8B32-FD8A62EBC0C8}"/>
              </a:ext>
            </a:extLst>
          </p:cNvPr>
          <p:cNvSpPr>
            <a:spLocks noGrp="1"/>
          </p:cNvSpPr>
          <p:nvPr/>
        </p:nvSpPr>
        <p:spPr>
          <a:xfrm>
            <a:off x="1066800" y="48196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DD27DE-3D52-4100-B03C-591F483AAC34}"/>
              </a:ext>
            </a:extLst>
          </p:cNvPr>
          <p:cNvSpPr>
            <a:spLocks noGrp="1"/>
          </p:cNvSpPr>
          <p:nvPr/>
        </p:nvSpPr>
        <p:spPr>
          <a:xfrm>
            <a:off x="1695450" y="47148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用追问改进格式：把行动项整理为负责人、截止日期和状态三列。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DABCFB3-9F92-4D65-A7AD-56315BB53AA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706754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2179E7-B878-4372-9CA8-92E8603588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454C98-D8FB-4A15-86E4-139E0B392234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D4BD07-5729-4340-A1A1-B9948A1EF88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轮到你：4 分钟短练习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43FABC-F6C1-4940-B943-628B3A897C1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请在自己的 Copilot 中完成一次小型迁移练习。可以继续使用绿色办公周资料，也可以选择一个不包含敏感信息的日常任务。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526160-948F-410D-BDEA-2B08F93CA69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B62D5E-1115-434F-A7ED-85ACD2FC3BE1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4F6984-50FA-4910-924D-C076776C3854}"/>
              </a:ext>
            </a:extLst>
          </p:cNvPr>
          <p:cNvSpPr>
            <a:spLocks noGrp="1"/>
          </p:cNvSpPr>
          <p:nvPr/>
        </p:nvSpPr>
        <p:spPr>
          <a:xfrm>
            <a:off x="1238250" y="1952625"/>
            <a:ext cx="9715500" cy="2238375"/>
          </a:xfrm>
          <a:prstGeom prst="roundRect">
            <a:avLst>
              <a:gd name="adj" fmla="val 5106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C24659-C844-49A0-BF26-A7E28004C6FB}"/>
              </a:ext>
            </a:extLst>
          </p:cNvPr>
          <p:cNvSpPr>
            <a:spLocks noGrp="1"/>
          </p:cNvSpPr>
          <p:nvPr/>
        </p:nvSpPr>
        <p:spPr>
          <a:xfrm>
            <a:off x="1619250" y="2266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DEDDE1-8044-4726-BC63-C1E5B8CED173}"/>
              </a:ext>
            </a:extLst>
          </p:cNvPr>
          <p:cNvSpPr>
            <a:spLocks noGrp="1"/>
          </p:cNvSpPr>
          <p:nvPr/>
        </p:nvSpPr>
        <p:spPr>
          <a:xfrm>
            <a:off x="1619250" y="2743200"/>
            <a:ext cx="8667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用背景、任务、输出、约束四段结构写一个提示词。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要求 Copilot 指出至少一个不确定项、冲突或需要人工核对的事实。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把结果改写成可直接用于沟通的一段文字、邮件或简报。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A45E73-466B-4D01-8EB5-09996965860A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倒计时 4 分钟｜完成后与同桌交换：你的提示词中，哪一条约束最重要？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C94DF04-E69B-4544-ADF9-DA69D8164FD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785285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C584091-9928-4D96-A79B-E910826AC0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C96DBF-57AF-4605-B625-8848619F8B9A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3FD6CB-8B61-4884-BB7A-1C11C5755617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业务案例与最佳实践：Copilot Builder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038BE1-2773-41F5-BE45-CBFE9B5A901D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40993E-21F9-45AA-A51E-902997C52254}"/>
              </a:ext>
            </a:extLst>
          </p:cNvPr>
          <p:cNvSpPr>
            <a:spLocks noGrp="1"/>
          </p:cNvSpPr>
          <p:nvPr/>
        </p:nvSpPr>
        <p:spPr>
          <a:xfrm>
            <a:off x="800100" y="49530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 40 分钟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3EFA01-00F2-4638-B68C-ED1FE1D94AD1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AI Tool Lab  ↗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3E36D7-5A5C-49BE-BA44-850A34A8DEBF}"/>
              </a:ext>
            </a:extLst>
          </p:cNvPr>
          <p:cNvSpPr>
            <a:spLocks noGrp="1"/>
          </p:cNvSpPr>
          <p:nvPr/>
        </p:nvSpPr>
        <p:spPr>
          <a:xfrm>
            <a:off x="32004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Agent Builder 路径  ↗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B7B917-173B-4BBD-884B-F8568873F87C}"/>
              </a:ext>
            </a:extLst>
          </p:cNvPr>
          <p:cNvSpPr>
            <a:spLocks noGrp="1"/>
          </p:cNvSpPr>
          <p:nvPr/>
        </p:nvSpPr>
        <p:spPr>
          <a:xfrm>
            <a:off x="56007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811342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E1E5BB-06FA-42AB-B690-5C791D9957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778107-CF5B-4AE7-86C0-D36D107525AC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80C340-26AF-40D5-A27C-A6E191F6CAC8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Lab：从步骤说明进入真实操作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155783-B600-4C43-ABED-3ADF47100D9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网站把不同业务任务设计成独立 Lab，每个 Lab 提供场景、材料和操作步骤。课堂 PPT 只保留关键步骤，完整说明和练习材料以网站为准。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628AC6-FAD8-48A5-90E4-26080FFB0ED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41915C-A375-46E0-9DEE-D933EC9EF39A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22981" y="1714500"/>
            <a:ext cx="7346038" cy="3857625"/>
          </a:xfrm>
          <a:prstGeom prst="roundRect">
            <a:avLst>
              <a:gd name="adj" fmla="val 2963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22826AD-82E8-4A57-A24D-6F9DBC3145DA}"/>
              </a:ext>
            </a:extLst>
          </p:cNvPr>
          <p:cNvSpPr>
            <a:spLocks noGrp="1"/>
          </p:cNvSpPr>
          <p:nvPr/>
        </p:nvSpPr>
        <p:spPr>
          <a:xfrm>
            <a:off x="1123950" y="1695450"/>
            <a:ext cx="9944100" cy="3895725"/>
          </a:xfrm>
          <a:prstGeom prst="roundRect">
            <a:avLst>
              <a:gd name="adj" fmla="val 2934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86B3B5-70AC-47D0-9566-6EC8F60E1ED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Tool Lab  ↗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072D83-3CF0-4DC9-8E39-6E4F138FC156}"/>
              </a:ext>
            </a:extLst>
          </p:cNvPr>
          <p:cNvSpPr>
            <a:spLocks noGrp="1"/>
          </p:cNvSpPr>
          <p:nvPr/>
        </p:nvSpPr>
        <p:spPr>
          <a:xfrm>
            <a:off x="3048000" y="586740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3529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9BF32B6-5CF0-4E95-A4C2-F3072346C1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A3BFB4-A145-4755-BA0A-36B1D66B6DDF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587C6C-6F31-4AEF-B232-793265A9E659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6CB6D7-EFF2-4D76-A987-EF1E1EFA7A7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分别代表个人事务协调、知识问答、会议跟进和数据分析。讲师会演示第 3 个，学员实践时可任选一个，或按小组分配不同 Lab。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3A666B-D483-4453-95B2-106E010F3898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5B34F3-5E40-4B92-A765-C4C6EADB9C8A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CB514F-E8D4-4C8E-B1E7-F3350067337E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FF2BD26-9A3E-43D5-8308-57F7C5FF2270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9BFB9-F8E5-49CD-85B7-1507DFFC01A5}"/>
              </a:ext>
            </a:extLst>
          </p:cNvPr>
          <p:cNvSpPr>
            <a:spLocks noGrp="1"/>
          </p:cNvSpPr>
          <p:nvPr/>
        </p:nvSpPr>
        <p:spPr>
          <a:xfrm>
            <a:off x="1028700" y="21240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F13A21-5CBB-425A-8BA8-97952E180793}"/>
              </a:ext>
            </a:extLst>
          </p:cNvPr>
          <p:cNvSpPr>
            <a:spLocks noGrp="1"/>
          </p:cNvSpPr>
          <p:nvPr/>
        </p:nvSpPr>
        <p:spPr>
          <a:xfrm>
            <a:off x="1657350" y="20002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433A2D-7DAE-4019-A3C7-4A9AA3F40E56}"/>
              </a:ext>
            </a:extLst>
          </p:cNvPr>
          <p:cNvSpPr>
            <a:spLocks noGrp="1"/>
          </p:cNvSpPr>
          <p:nvPr/>
        </p:nvSpPr>
        <p:spPr>
          <a:xfrm>
            <a:off x="1657350" y="24288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整合任务、优先级和沟通建议，练习把角色和工作方式写进 Instructions。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7B3657-A9AD-4C88-886E-C80028C3328D}"/>
              </a:ext>
            </a:extLst>
          </p:cNvPr>
          <p:cNvSpPr>
            <a:spLocks noGrp="1"/>
          </p:cNvSpPr>
          <p:nvPr/>
        </p:nvSpPr>
        <p:spPr>
          <a:xfrm>
            <a:off x="6229350" y="17907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B4D371-14EB-4BA0-8F47-89EDA143541D}"/>
              </a:ext>
            </a:extLst>
          </p:cNvPr>
          <p:cNvSpPr>
            <a:spLocks noGrp="1"/>
          </p:cNvSpPr>
          <p:nvPr/>
        </p:nvSpPr>
        <p:spPr>
          <a:xfrm>
            <a:off x="6438900" y="20193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145CE7-A354-4FA8-BCC2-5D176E313502}"/>
              </a:ext>
            </a:extLst>
          </p:cNvPr>
          <p:cNvSpPr>
            <a:spLocks noGrp="1"/>
          </p:cNvSpPr>
          <p:nvPr/>
        </p:nvSpPr>
        <p:spPr>
          <a:xfrm>
            <a:off x="6438900" y="21240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7EA2EF-87A3-40FD-BFF7-7A9129C4FD00}"/>
              </a:ext>
            </a:extLst>
          </p:cNvPr>
          <p:cNvSpPr>
            <a:spLocks noGrp="1"/>
          </p:cNvSpPr>
          <p:nvPr/>
        </p:nvSpPr>
        <p:spPr>
          <a:xfrm>
            <a:off x="7067550" y="20002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212F83-59CE-4755-988D-B64AA4F7DDBE}"/>
              </a:ext>
            </a:extLst>
          </p:cNvPr>
          <p:cNvSpPr>
            <a:spLocks noGrp="1"/>
          </p:cNvSpPr>
          <p:nvPr/>
        </p:nvSpPr>
        <p:spPr>
          <a:xfrm>
            <a:off x="7067550" y="24288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基于产品资料回答问题，重点练习知识来源、引用边界和无法回答时的处理。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35A942-4778-4C77-80FD-86FCCC3C9088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86303FF-5AC0-46E4-9118-2033B6B43FFE}"/>
              </a:ext>
            </a:extLst>
          </p:cNvPr>
          <p:cNvSpPr>
            <a:spLocks noGrp="1"/>
          </p:cNvSpPr>
          <p:nvPr/>
        </p:nvSpPr>
        <p:spPr>
          <a:xfrm>
            <a:off x="1028700" y="3810000"/>
            <a:ext cx="438150" cy="4381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93DAB-FED8-4113-84B7-64A83DE142F6}"/>
              </a:ext>
            </a:extLst>
          </p:cNvPr>
          <p:cNvSpPr>
            <a:spLocks noGrp="1"/>
          </p:cNvSpPr>
          <p:nvPr/>
        </p:nvSpPr>
        <p:spPr>
          <a:xfrm>
            <a:off x="1028700" y="39147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BBE77E-F45E-4DEA-AEFC-91182A9A98F4}"/>
              </a:ext>
            </a:extLst>
          </p:cNvPr>
          <p:cNvSpPr>
            <a:spLocks noGrp="1"/>
          </p:cNvSpPr>
          <p:nvPr/>
        </p:nvSpPr>
        <p:spPr>
          <a:xfrm>
            <a:off x="1657350" y="37909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 Assistant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183A73-4AA8-4726-9E5E-D118C04FD798}"/>
              </a:ext>
            </a:extLst>
          </p:cNvPr>
          <p:cNvSpPr>
            <a:spLocks noGrp="1"/>
          </p:cNvSpPr>
          <p:nvPr/>
        </p:nvSpPr>
        <p:spPr>
          <a:xfrm>
            <a:off x="1657350" y="42195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FDCBF3C-98E6-4648-B76B-805180E5E2A6}"/>
              </a:ext>
            </a:extLst>
          </p:cNvPr>
          <p:cNvSpPr>
            <a:spLocks noGrp="1"/>
          </p:cNvSpPr>
          <p:nvPr/>
        </p:nvSpPr>
        <p:spPr>
          <a:xfrm>
            <a:off x="6229350" y="35814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8CE11F2-930D-4689-818E-5CE79DDD6E7F}"/>
              </a:ext>
            </a:extLst>
          </p:cNvPr>
          <p:cNvSpPr>
            <a:spLocks noGrp="1"/>
          </p:cNvSpPr>
          <p:nvPr/>
        </p:nvSpPr>
        <p:spPr>
          <a:xfrm>
            <a:off x="6438900" y="38100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E25B2B-675C-4A6F-A4D0-3F34A9FE2A4F}"/>
              </a:ext>
            </a:extLst>
          </p:cNvPr>
          <p:cNvSpPr>
            <a:spLocks noGrp="1"/>
          </p:cNvSpPr>
          <p:nvPr/>
        </p:nvSpPr>
        <p:spPr>
          <a:xfrm>
            <a:off x="6438900" y="39147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011FED-28F9-4588-ABF5-4E800E93CD29}"/>
              </a:ext>
            </a:extLst>
          </p:cNvPr>
          <p:cNvSpPr>
            <a:spLocks noGrp="1"/>
          </p:cNvSpPr>
          <p:nvPr/>
        </p:nvSpPr>
        <p:spPr>
          <a:xfrm>
            <a:off x="7067550" y="37909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09FACB-64C9-401F-A001-230AC09B329D}"/>
              </a:ext>
            </a:extLst>
          </p:cNvPr>
          <p:cNvSpPr>
            <a:spLocks noGrp="1"/>
          </p:cNvSpPr>
          <p:nvPr/>
        </p:nvSpPr>
        <p:spPr>
          <a:xfrm>
            <a:off x="7067550" y="42195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围绕漏斗数据进行分析与表达，练习分析要求、输出结构和业务解释。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95CE9A3-6B7A-491E-A001-9957B9A7E5C8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Lab 1  ↗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DCC76D0-032D-4EBB-9F39-E8297BA806DD}"/>
              </a:ext>
            </a:extLst>
          </p:cNvPr>
          <p:cNvSpPr>
            <a:spLocks noGrp="1"/>
          </p:cNvSpPr>
          <p:nvPr/>
        </p:nvSpPr>
        <p:spPr>
          <a:xfrm>
            <a:off x="1952625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Lab 2  ↗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F3A0651-8541-4119-A771-91E274BA4B66}"/>
              </a:ext>
            </a:extLst>
          </p:cNvPr>
          <p:cNvSpPr>
            <a:spLocks noGrp="1"/>
          </p:cNvSpPr>
          <p:nvPr/>
        </p:nvSpPr>
        <p:spPr>
          <a:xfrm>
            <a:off x="3219450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Lab 3  ↗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5E5479F-25F1-4D1D-967C-AE718F0EE443}"/>
              </a:ext>
            </a:extLst>
          </p:cNvPr>
          <p:cNvSpPr>
            <a:spLocks noGrp="1"/>
          </p:cNvSpPr>
          <p:nvPr/>
        </p:nvSpPr>
        <p:spPr>
          <a:xfrm>
            <a:off x="4486275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6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049765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ADAD95-0B1A-466F-A4D9-FB1A7E6924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1A8D61-9583-4E40-A13B-20D1B9B03704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951542-55B0-4E8F-AC2A-7D2B7B9F2DA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ACA7ED-7CA2-4C72-8A97-D4517B0C963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31"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 Agent 面向高频协调任务：根据目标和上下文整理优先级、提出沟通建议，并保持一致的角色与输出风格。重点是把工作方式写清楚，而不是追求复杂功能。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E3E609-36FA-4CD1-BD44-E0F9A5CCF6E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294617-EDAC-415D-8AEF-6D6863732130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9469" y="1809750"/>
            <a:ext cx="6353061" cy="3476625"/>
          </a:xfrm>
          <a:prstGeom prst="roundRect">
            <a:avLst>
              <a:gd name="adj" fmla="val 3288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45224D-29E6-4E55-85FE-A0148C239991}"/>
              </a:ext>
            </a:extLst>
          </p:cNvPr>
          <p:cNvSpPr>
            <a:spLocks noGrp="1"/>
          </p:cNvSpPr>
          <p:nvPr/>
        </p:nvSpPr>
        <p:spPr>
          <a:xfrm>
            <a:off x="1504950" y="1790700"/>
            <a:ext cx="9182100" cy="3514725"/>
          </a:xfrm>
          <a:prstGeom prst="roundRect">
            <a:avLst>
              <a:gd name="adj" fmla="val 3252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AF168A2-741B-48AB-83A5-AF53833A04A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806316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570358-D450-4B0E-9628-9189FBD6C9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3F8150-4CBA-4E24-B7BD-0F0E9E9726FA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19D04-9A9A-411E-ACAE-A317B9904B75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845DD3-B042-41E9-A003-BA453D655D28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930"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 Agent 以产品资料为知识来源回答问题。重点练习如何限定回答范围、要求基于资料作答，并在资料不足时明确说明无法确认，而不是补造答案。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31C187-EFCD-4355-B2A6-D5CF5B2408B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44CFAB-768A-4F64-9DA9-31CD7D6A7EE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0828" y="1809750"/>
            <a:ext cx="5730344" cy="3476625"/>
          </a:xfrm>
          <a:prstGeom prst="roundRect">
            <a:avLst>
              <a:gd name="adj" fmla="val 3288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956B66-0B02-4DC0-AB8A-0563BBC0160E}"/>
              </a:ext>
            </a:extLst>
          </p:cNvPr>
          <p:cNvSpPr>
            <a:spLocks noGrp="1"/>
          </p:cNvSpPr>
          <p:nvPr/>
        </p:nvSpPr>
        <p:spPr>
          <a:xfrm>
            <a:off x="1504950" y="1790700"/>
            <a:ext cx="9182100" cy="3514725"/>
          </a:xfrm>
          <a:prstGeom prst="roundRect">
            <a:avLst>
              <a:gd name="adj" fmla="val 3252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49E056-77F1-4CEC-9144-C49FA3DFBAAA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067122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EC51B57-B25C-4355-91DC-9F0E4AC47C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84B00E-3A49-4E7C-8CE7-939BF400D100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462CBC-B72C-44B7-9919-508BEF28CB1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D85E7D-AF38-46C6-ACE8-B3D09EBCD0B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708"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讲师示范案例：把会议输入稳定地转换为摘要、决策、行动项和跟进邮件。它能清楚展示 Agent 如何把重复步骤、固定格式和参考模板组合起来。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4A7EE1-A6D4-4BD3-88D8-EDE2C355604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9106D1-2AF1-4C22-A288-D8B2A8821EDF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38918" y="1809750"/>
            <a:ext cx="6314165" cy="3476625"/>
          </a:xfrm>
          <a:prstGeom prst="roundRect">
            <a:avLst>
              <a:gd name="adj" fmla="val 3288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16CD7B-83E5-4DE1-A366-71B9B1A025C0}"/>
              </a:ext>
            </a:extLst>
          </p:cNvPr>
          <p:cNvSpPr>
            <a:spLocks noGrp="1"/>
          </p:cNvSpPr>
          <p:nvPr/>
        </p:nvSpPr>
        <p:spPr>
          <a:xfrm>
            <a:off x="1504950" y="1790700"/>
            <a:ext cx="9182100" cy="3514725"/>
          </a:xfrm>
          <a:prstGeom prst="roundRect">
            <a:avLst>
              <a:gd name="adj" fmla="val 3252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2B9D0B-4845-4731-B467-538BA13625E5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301808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2786A5-F11A-463E-8D76-AB0E4FCFA1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2F1D2C-D97E-4E7F-8021-ECA3412D5A97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D18AED-A98F-447B-8431-56FAB4B8A66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04｜漏斗数据分析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36165-9BCB-4119-AADE-B418AAA57BC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31"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 Agent 围绕结构化漏斗数据进行分析，输出趋势、转化变化、风险和建议。它适合练习数据分析边界：说明口径、区分观察与推断，并选择清晰的表达结构。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8DBCDE-6AB1-4746-BE30-6BF22F260E9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AFEA11-4388-43BE-927C-51C892C622C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92122" y="1809750"/>
            <a:ext cx="5807757" cy="3476625"/>
          </a:xfrm>
          <a:prstGeom prst="roundRect">
            <a:avLst>
              <a:gd name="adj" fmla="val 3288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4E6D77-BEC8-45DD-929F-10F72C78C64C}"/>
              </a:ext>
            </a:extLst>
          </p:cNvPr>
          <p:cNvSpPr>
            <a:spLocks noGrp="1"/>
          </p:cNvSpPr>
          <p:nvPr/>
        </p:nvSpPr>
        <p:spPr>
          <a:xfrm>
            <a:off x="1504950" y="1790700"/>
            <a:ext cx="9182100" cy="3514725"/>
          </a:xfrm>
          <a:prstGeom prst="roundRect">
            <a:avLst>
              <a:gd name="adj" fmla="val 3252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BC6A64-8493-4F7F-9097-E9AF9C65C3FA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2023485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62504B48-0586-44B6-A4DE-FCF2295B13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9CC5C6-F6B4-43EC-A3FD-ACAB73206756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D962B0-AE56-4B77-A4E2-CC16F7547F3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E5D69-562D-416C-949D-ED2D79B9F993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不同 Lab 的业务内容不同，但构建逻辑可以复用。先定义任务和边界，再配置知识与交互，最后通过预览测试发现问题。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AA37AD-5095-40AD-9136-A1C58CD37D7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BCB964-0276-444B-9C6D-E4A387B4E13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8915F8-AE98-4CB2-9CC4-3830FE333FBE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A834A57-3054-48E4-88C3-607E3BAB7A97}"/>
              </a:ext>
            </a:extLst>
          </p:cNvPr>
          <p:cNvSpPr>
            <a:spLocks noGrp="1"/>
          </p:cNvSpPr>
          <p:nvPr/>
        </p:nvSpPr>
        <p:spPr>
          <a:xfrm>
            <a:off x="11620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6D29EF-FFBC-4297-BA6E-3F7DB38B8CE6}"/>
              </a:ext>
            </a:extLst>
          </p:cNvPr>
          <p:cNvSpPr>
            <a:spLocks noGrp="1"/>
          </p:cNvSpPr>
          <p:nvPr/>
        </p:nvSpPr>
        <p:spPr>
          <a:xfrm>
            <a:off x="11620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9264B5-8E2D-4EC7-A33E-75BF3A143159}"/>
              </a:ext>
            </a:extLst>
          </p:cNvPr>
          <p:cNvSpPr>
            <a:spLocks noGrp="1"/>
          </p:cNvSpPr>
          <p:nvPr/>
        </p:nvSpPr>
        <p:spPr>
          <a:xfrm>
            <a:off x="7620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80801263-5D19-4A44-9BE3-250DB5788F50}"/>
              </a:ext>
            </a:extLst>
          </p:cNvPr>
          <p:cNvSpPr>
            <a:spLocks noGrp="1"/>
          </p:cNvSpPr>
          <p:nvPr/>
        </p:nvSpPr>
        <p:spPr>
          <a:xfrm>
            <a:off x="22669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682073-9A62-4CDA-ACDC-9DF28ABFEB96}"/>
              </a:ext>
            </a:extLst>
          </p:cNvPr>
          <p:cNvSpPr>
            <a:spLocks noGrp="1"/>
          </p:cNvSpPr>
          <p:nvPr/>
        </p:nvSpPr>
        <p:spPr>
          <a:xfrm>
            <a:off x="25146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B6E664-53CB-495A-AC21-59DCAC6B7A1D}"/>
              </a:ext>
            </a:extLst>
          </p:cNvPr>
          <p:cNvSpPr>
            <a:spLocks noGrp="1"/>
          </p:cNvSpPr>
          <p:nvPr/>
        </p:nvSpPr>
        <p:spPr>
          <a:xfrm>
            <a:off x="30861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1B34A5-1C74-44E3-8C30-C8FCDCE307AB}"/>
              </a:ext>
            </a:extLst>
          </p:cNvPr>
          <p:cNvSpPr>
            <a:spLocks noGrp="1"/>
          </p:cNvSpPr>
          <p:nvPr/>
        </p:nvSpPr>
        <p:spPr>
          <a:xfrm>
            <a:off x="30861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AB8D3E-A644-4AFC-B901-7296BFB6DE06}"/>
              </a:ext>
            </a:extLst>
          </p:cNvPr>
          <p:cNvSpPr>
            <a:spLocks noGrp="1"/>
          </p:cNvSpPr>
          <p:nvPr/>
        </p:nvSpPr>
        <p:spPr>
          <a:xfrm>
            <a:off x="26860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6AD26E32-56A9-4366-A33B-8C989566017C}"/>
              </a:ext>
            </a:extLst>
          </p:cNvPr>
          <p:cNvSpPr>
            <a:spLocks noGrp="1"/>
          </p:cNvSpPr>
          <p:nvPr/>
        </p:nvSpPr>
        <p:spPr>
          <a:xfrm>
            <a:off x="419100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2CFE53-028A-41FD-B385-8AFDFF63380F}"/>
              </a:ext>
            </a:extLst>
          </p:cNvPr>
          <p:cNvSpPr>
            <a:spLocks noGrp="1"/>
          </p:cNvSpPr>
          <p:nvPr/>
        </p:nvSpPr>
        <p:spPr>
          <a:xfrm>
            <a:off x="44386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5653F07-7477-4230-BBA3-E4A25C6E7EAA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6D535C-181D-474D-9F00-F9F6C8DA6F32}"/>
              </a:ext>
            </a:extLst>
          </p:cNvPr>
          <p:cNvSpPr>
            <a:spLocks noGrp="1"/>
          </p:cNvSpPr>
          <p:nvPr/>
        </p:nvSpPr>
        <p:spPr>
          <a:xfrm>
            <a:off x="50101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084F77-9C02-4A29-8C2E-0134C1D4C39F}"/>
              </a:ext>
            </a:extLst>
          </p:cNvPr>
          <p:cNvSpPr>
            <a:spLocks noGrp="1"/>
          </p:cNvSpPr>
          <p:nvPr/>
        </p:nvSpPr>
        <p:spPr>
          <a:xfrm>
            <a:off x="46101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填写身份、描述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与行为规则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62BEB7CD-64D1-46CB-914F-A4A95A2BC3DA}"/>
              </a:ext>
            </a:extLst>
          </p:cNvPr>
          <p:cNvSpPr>
            <a:spLocks noGrp="1"/>
          </p:cNvSpPr>
          <p:nvPr/>
        </p:nvSpPr>
        <p:spPr>
          <a:xfrm>
            <a:off x="61150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61A55B-01A1-44DB-B704-2ECABA74D635}"/>
              </a:ext>
            </a:extLst>
          </p:cNvPr>
          <p:cNvSpPr>
            <a:spLocks noGrp="1"/>
          </p:cNvSpPr>
          <p:nvPr/>
        </p:nvSpPr>
        <p:spPr>
          <a:xfrm>
            <a:off x="63627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B8C7EA8-814C-45EA-B39E-BFD28F36607C}"/>
              </a:ext>
            </a:extLst>
          </p:cNvPr>
          <p:cNvSpPr>
            <a:spLocks noGrp="1"/>
          </p:cNvSpPr>
          <p:nvPr/>
        </p:nvSpPr>
        <p:spPr>
          <a:xfrm>
            <a:off x="69342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957FD4-8AD4-4E8E-89B1-B284CCB28032}"/>
              </a:ext>
            </a:extLst>
          </p:cNvPr>
          <p:cNvSpPr>
            <a:spLocks noGrp="1"/>
          </p:cNvSpPr>
          <p:nvPr/>
        </p:nvSpPr>
        <p:spPr>
          <a:xfrm>
            <a:off x="69342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57DC27-6B28-4640-9F3B-39919B33839B}"/>
              </a:ext>
            </a:extLst>
          </p:cNvPr>
          <p:cNvSpPr>
            <a:spLocks noGrp="1"/>
          </p:cNvSpPr>
          <p:nvPr/>
        </p:nvSpPr>
        <p:spPr>
          <a:xfrm>
            <a:off x="65341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添加知识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6AD3FD7A-E208-4E6D-AE32-104B6825DE01}"/>
              </a:ext>
            </a:extLst>
          </p:cNvPr>
          <p:cNvSpPr>
            <a:spLocks noGrp="1"/>
          </p:cNvSpPr>
          <p:nvPr/>
        </p:nvSpPr>
        <p:spPr>
          <a:xfrm>
            <a:off x="803910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87BFF06-0BF8-4ADC-9F87-3056C5E3D1FF}"/>
              </a:ext>
            </a:extLst>
          </p:cNvPr>
          <p:cNvSpPr>
            <a:spLocks noGrp="1"/>
          </p:cNvSpPr>
          <p:nvPr/>
        </p:nvSpPr>
        <p:spPr>
          <a:xfrm>
            <a:off x="82867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1B3FBEB-FA1F-4414-B1EE-1568361BCA71}"/>
              </a:ext>
            </a:extLst>
          </p:cNvPr>
          <p:cNvSpPr>
            <a:spLocks noGrp="1"/>
          </p:cNvSpPr>
          <p:nvPr/>
        </p:nvSpPr>
        <p:spPr>
          <a:xfrm>
            <a:off x="88582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72B3CD-A310-4C79-B009-D49F7173FB31}"/>
              </a:ext>
            </a:extLst>
          </p:cNvPr>
          <p:cNvSpPr>
            <a:spLocks noGrp="1"/>
          </p:cNvSpPr>
          <p:nvPr/>
        </p:nvSpPr>
        <p:spPr>
          <a:xfrm>
            <a:off x="88582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48D74A-9942-4201-80F7-215B030112B9}"/>
              </a:ext>
            </a:extLst>
          </p:cNvPr>
          <p:cNvSpPr>
            <a:spLocks noGrp="1"/>
          </p:cNvSpPr>
          <p:nvPr/>
        </p:nvSpPr>
        <p:spPr>
          <a:xfrm>
            <a:off x="84582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D56DB9FE-229C-412A-A46D-0E9681E850D5}"/>
              </a:ext>
            </a:extLst>
          </p:cNvPr>
          <p:cNvSpPr>
            <a:spLocks noGrp="1"/>
          </p:cNvSpPr>
          <p:nvPr/>
        </p:nvSpPr>
        <p:spPr>
          <a:xfrm>
            <a:off x="99631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BDBA95E-142B-4C12-A75A-12724E9CADA7}"/>
              </a:ext>
            </a:extLst>
          </p:cNvPr>
          <p:cNvSpPr>
            <a:spLocks noGrp="1"/>
          </p:cNvSpPr>
          <p:nvPr/>
        </p:nvSpPr>
        <p:spPr>
          <a:xfrm>
            <a:off x="102108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9CB5CCD-99C7-4E31-954D-4F4044CD62BE}"/>
              </a:ext>
            </a:extLst>
          </p:cNvPr>
          <p:cNvSpPr>
            <a:spLocks noGrp="1"/>
          </p:cNvSpPr>
          <p:nvPr/>
        </p:nvSpPr>
        <p:spPr>
          <a:xfrm>
            <a:off x="107823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D80B48-0102-4E09-A30F-8AB06FE0CBB1}"/>
              </a:ext>
            </a:extLst>
          </p:cNvPr>
          <p:cNvSpPr>
            <a:spLocks noGrp="1"/>
          </p:cNvSpPr>
          <p:nvPr/>
        </p:nvSpPr>
        <p:spPr>
          <a:xfrm>
            <a:off x="107823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FEF12FD-720A-40B4-A4AD-EEFFA5DD32FF}"/>
              </a:ext>
            </a:extLst>
          </p:cNvPr>
          <p:cNvSpPr>
            <a:spLocks noGrp="1"/>
          </p:cNvSpPr>
          <p:nvPr/>
        </p:nvSpPr>
        <p:spPr>
          <a:xfrm>
            <a:off x="103822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预览测试</a:t>
            </a:r>
          </a:p>
          <a:p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并创建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F67FAC-E3A1-45C6-8286-B3FF7D55C77D}"/>
              </a:ext>
            </a:extLst>
          </p:cNvPr>
          <p:cNvSpPr>
            <a:spLocks noGrp="1"/>
          </p:cNvSpPr>
          <p:nvPr/>
        </p:nvSpPr>
        <p:spPr>
          <a:xfrm>
            <a:off x="1238250" y="4619625"/>
            <a:ext cx="971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检查标准：Agent 是否知道“为谁服务、解决什么任务、依据什么资料、不能做什么、结果应如何呈现”。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A712716-30C4-47EA-9BB1-3BB0E1542830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122476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92D661B-13BE-4B70-AED3-DB75E7C622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AA9667-5528-427E-9A74-F2091F411FA5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D41E3B-5D68-4697-85A4-921F191DC25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094A33-DB90-4AD8-B4AD-8CDD8D0995E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Microsoft 365 Copilot 左侧导航进入 Agents，选择新建。先确认自己处于正确的企业工作环境。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C257B-5C0F-4CDE-99C2-19B35B4D5E9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F6A91E-E2E3-4089-A1FD-D66B5FF1248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766103"/>
            <a:ext cx="7239000" cy="3802044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3A3F2A-C61A-4EA1-B2D1-8B965E29573A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82345B-F0E8-4736-A3E2-1760F081B5E8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627C1B-BE6E-42AB-8ECC-4F891A176D2E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A59A67-561F-4824-881E-61B94300DAAA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如果界面名称略有差异，优先寻找 Agents、New agent 或 Create agent。不要在这一步急着填写内容，先确认入口和账号环境。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419F871-881A-4792-B0C1-0893FFCF1F59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42274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78D96D5-47D9-4996-A53B-EEBA14D2CA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FE1FBF-D319-48ED-B57B-133CC30FF091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A17385-1DF2-4BA4-B780-7AE38EA1C6A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849F8D-148A-4C7B-95DC-191485F014F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可通过对话引导或直接配置来创建 Agent。课堂建议使用可见字段配置，便于理解每项内容如何影响行为。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1ED091-0914-408E-95A9-555599534EB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095331-BE3D-4793-BCE2-AB66971A307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925399"/>
            <a:ext cx="7239000" cy="3483451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8CFEB0E-139A-48BF-B9AE-E8810E983295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CEA23D-3802-4BEB-9F75-9848FDC79575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49B138-86B7-473B-89D8-49C7C334A40A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AE4AF2-F61D-45E0-BE07-DD20BD7B3F9A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对话式构建适合快速起草；配置式构建更适合教学和精确控制。无论选择哪一种，最终都要检查生成的名称、描述、Instructions 和知识来源。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6A8A87-3D74-433F-BC30-4FA9C8B61200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8711071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92139B0-C754-4ADD-B5FC-1C8D41D455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839F06-CB1E-4F4E-A142-6C606FC0F08C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4220D-10FC-42C5-99F8-27807969C8F5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3｜填写名称、描述与行为规则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00F32F-D602-478C-AEE9-0DC59F7F2136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以“会议跟进助手”为例，名称帮助用户识别用途，描述说明价值，Instructions 则定义任务、边界和输出标准。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AB1769-FBFE-4202-AEE7-6FC3866530E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AA6D96-DB02-4DD0-B2CE-7B2053D175B5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067732"/>
            <a:ext cx="7239000" cy="3198786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25D28E-1FF9-491B-BA32-121D1A9FCDA7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E59959C-49F3-4A5D-9F5E-27AB557B0F64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A53BA-D0A6-44FF-BB5D-C4FDCD5B1206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DFCCED-F253-4C45-85D0-56D1929D077C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Instructions 建议包含：角色、输入、处理步骤、输出格式、事实边界和异常处理。避免只写“帮我总结会议”，那样很难得到稳定结果。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B348C0-0E3C-4CA3-BB1C-2D9A0E6A94B5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15498533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8FF1453-FB88-4206-AE9D-931B2AF81E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AFC712-B309-43B4-8518-437C8567F556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B6A5CF-B2C2-4A8C-8BF6-08C6D3A3369A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4｜添加知识来源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4F7831-D003-4B25-A321-9283F5C1926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知识来源为 Agent 提供可复用的参考材料，例如会议模板、产品手册或业务规则。添加后要验证它是否真正被使用。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0B235F-1FF4-482F-9090-24FD661E248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514974-EE5D-41CC-AED2-0F08C1A2EF5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741443"/>
            <a:ext cx="7239000" cy="3851365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8E722A-8ABD-4832-969A-4FD60687B2C0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AE71AC-D8BE-4753-94EE-96CFF03BF80E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790BAB-B9DD-4664-8763-80991E810DD4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7D64F4-6E78-4218-B31F-8922FBA208BC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选择最少但足够的资料，减少过期或相互矛盾的内容。明确要求 Agent 基于资料回答；资料未覆盖时，应说明缺口并请求人工确认。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3F8694-8AD6-4549-8816-1B3D24831E74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4452560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53AAE61-A098-4AC8-BF18-821787224C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15625A-3556-4507-98A5-1217FAD78244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1C33A6-D149-4769-BD19-0F30DC89A47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2A3613-4ED7-4FD6-828A-5191279DB8C6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演示如何在可用知识来源中搜索并选择会议模板。这个模板将帮助 Agent 形成一致的摘要、行动项和邮件结构。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D00BAF-20CA-48E9-B393-0D91B5E427E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C8EBBA-24AB-4F5B-80D6-4C820656E4F1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21619" y="1714500"/>
            <a:ext cx="5872163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ED3014-98C8-42A7-8E43-7FEF663090ED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3ACF17-19E8-4ACB-81A3-9019716348E6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4F0EE3-34F4-4110-A1B1-12828E2A6F88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986FCB-B82C-4690-95E9-A14EE140E624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搜索时使用清晰关键词，并核对文件名称、来源位置和适用范围。找到文件并不等于完成，需要在预览中用真实问题测试是否引用正确。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FF0927D-AF71-446F-AB7C-F809FB069293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6405114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D9E3E56-F9F5-49DD-A5EC-231E43834D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720DE0-037B-48E2-9C83-DF4A7D5B7004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A4D116-127E-4799-874E-C4180213671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 Suggested Prompts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6270AC-E75E-4B02-B0B3-761F8E2AA99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Suggested Prompts 是给使用者的快捷入口，展示 Agent 最适合处理的任务，也能降低第一次使用时的提问门槛。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1EA4D9-D715-4202-89FF-0D43983E03F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6C7041-C876-4922-A912-EE91DCC1F956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2436099"/>
            <a:ext cx="7239000" cy="2462052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419C2B-54E9-4986-BAF7-DCFF8C847014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B313D3-03C8-4DA6-BE89-71A42C1774E8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04D4C5-D83A-4706-BD79-8F23261DEE3A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BC2643-F61B-492F-A4A4-9A0D11588DBF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写成可直接点击的真实任务，例如“根据会议记录生成行动项”或“起草跟进邮件”。避免使用过于宽泛的“帮我处理一下”之类表达。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038A96-7FE7-44E1-BCC5-3FEA67CEE522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5637893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7253827-CF82-4369-BDD3-D23AF5A878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499A4C-4990-43FC-95AF-0C87D09618A8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39F1A8-7AA4-4FF0-9C4D-A4C7FDFA3C4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6｜预览、测试并创建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0F766B-2842-44D2-BB1C-BFAE82334A3A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创建前先在预览区测试典型输入、边界问题和资料缺失情况。只有当结果稳定且符合预期时，再完成创建。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7890B8-4217-42FF-AE3F-116260F5CEA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18756D-B433-434C-BAEB-C2D640BFFC8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752312"/>
            <a:ext cx="7239000" cy="3829626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CDB12B-5D87-49AA-B48E-0F3A9C5C44A7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316FF89-54DA-4275-9492-A606CF291998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20B6D9-6681-4729-A064-4818A9B1EDBD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470CC7-BE90-48DF-B8F6-B32F4DFB6893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至少检查三类问题：正常任务能否完成；信息缺失时是否承认不知道；包含冲突或敏感内容时是否遵循规则。记录问题并返回配置修改。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406FFB-C729-4C1C-8998-1BB8BE76AF09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2615138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03F62F3-6AB7-499E-ADAC-0518444EFE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9E2A41-5B73-467E-85E8-DED62D95ED86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062256-CB1F-4AA7-86BF-FCD7A32F6C4A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B4D02A-833D-4EC0-8BFE-90CB9DEA02B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这是第 3 个 Lab 的演示结果页，用于确认 Agent 能否把输入转为可行动的会议摘要、行动项和后续沟通。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8ACEC0-051D-4B96-A68E-7B9D3302AF5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6B6300-AC2F-408A-B56E-AC2E963716E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1388" y="1714500"/>
            <a:ext cx="7092623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EA1496-4FEB-46DF-B55D-725D3CB39AB4}"/>
              </a:ext>
            </a:extLst>
          </p:cNvPr>
          <p:cNvSpPr>
            <a:spLocks noGrp="1"/>
          </p:cNvSpPr>
          <p:nvPr/>
        </p:nvSpPr>
        <p:spPr>
          <a:xfrm>
            <a:off x="819150" y="1695450"/>
            <a:ext cx="727710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2C4AEB-A5D7-488F-8F67-6E9AE3B137BB}"/>
              </a:ext>
            </a:extLst>
          </p:cNvPr>
          <p:cNvSpPr>
            <a:spLocks noGrp="1"/>
          </p:cNvSpPr>
          <p:nvPr/>
        </p:nvSpPr>
        <p:spPr>
          <a:xfrm>
            <a:off x="8382000" y="1809750"/>
            <a:ext cx="2971800" cy="3238500"/>
          </a:xfrm>
          <a:prstGeom prst="roundRect">
            <a:avLst>
              <a:gd name="adj" fmla="val 384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C19EE8-AFC0-4404-AA22-68928EB6D295}"/>
              </a:ext>
            </a:extLst>
          </p:cNvPr>
          <p:cNvSpPr>
            <a:spLocks noGrp="1"/>
          </p:cNvSpPr>
          <p:nvPr/>
        </p:nvSpPr>
        <p:spPr>
          <a:xfrm>
            <a:off x="8686800" y="2133600"/>
            <a:ext cx="2362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25FBAC-E8A5-427D-8992-C4EEDB892B76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3622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演示时聚焦输出结构和可用性：决策是否与行动项分开、负责人和截止日期是否清楚、未确认事项是否保留、邮件是否可直接编辑发送。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802622-C282-407E-9C76-4CF08FDE5E70}"/>
              </a:ext>
            </a:extLst>
          </p:cNvPr>
          <p:cNvSpPr>
            <a:spLocks noGrp="1"/>
          </p:cNvSpPr>
          <p:nvPr/>
        </p:nvSpPr>
        <p:spPr>
          <a:xfrm>
            <a:off x="8382000" y="5257800"/>
            <a:ext cx="29718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20971671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748BFC-FBE5-43E5-AF57-A22DA78E13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92F37E-F908-423F-B990-60BCC4799EF7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Copilot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B38867-621C-4542-A2BB-1882D7EC8D85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轮到你：18 分钟完成一个 Agent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95EE38-EA93-424A-9CFA-0E6CBC1259D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请选择前四个 Lab 中的一个进行实践，或按照讲师分组完成不同 Lab。目标不是追求复杂功能，而是完成可测试的最小 Agent。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A89CB9-37AA-4F10-A8B7-A466E193015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458857-00E3-4838-8650-E7CF3DE6B5B1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C8A536-B50C-4C0A-9D78-928199A89533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10287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完成标准： Agent 有清楚的名称和用途，Instructions 至少包含任务、步骤、输出和边界；需要时添加知识来源；设置 2–3 个 Suggested Prompts。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测试标准： 至少运行一个正常场景和一个边界场景，检查结果是否基于资料、是否承认信息缺失、是否给出清晰可执行的输出。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实践范围： Lab 01 Chief of Staff、Lab 02 Product Manual FAQ、Lab 03 Meeting Follow-up Assistant、Lab 04 Funnel Data Analyst。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3A70C-9B1C-4E1A-9CBA-C26AEBF653E9}"/>
              </a:ext>
            </a:extLst>
          </p:cNvPr>
          <p:cNvSpPr>
            <a:spLocks noGrp="1"/>
          </p:cNvSpPr>
          <p:nvPr/>
        </p:nvSpPr>
        <p:spPr>
          <a:xfrm>
            <a:off x="1238250" y="4514850"/>
            <a:ext cx="971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倒计时 18 分钟｜PPT 保持在本页，讲师巡场支持。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32873E-DB24-45AA-B0B3-79E7EA64C96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3"/>
              </a:rPr>
              <a:t>Lab 01  ↗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B44F48-28A2-4327-976F-62CA754C39D0}"/>
              </a:ext>
            </a:extLst>
          </p:cNvPr>
          <p:cNvSpPr>
            <a:spLocks noGrp="1"/>
          </p:cNvSpPr>
          <p:nvPr/>
        </p:nvSpPr>
        <p:spPr>
          <a:xfrm>
            <a:off x="203835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Lab 02  ↗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6FD642-0F07-412E-8D92-87EAF85F9F28}"/>
              </a:ext>
            </a:extLst>
          </p:cNvPr>
          <p:cNvSpPr>
            <a:spLocks noGrp="1"/>
          </p:cNvSpPr>
          <p:nvPr/>
        </p:nvSpPr>
        <p:spPr>
          <a:xfrm>
            <a:off x="339090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Lab 03  ↗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444B53-5623-488C-8C48-8B2FB23A6EE9}"/>
              </a:ext>
            </a:extLst>
          </p:cNvPr>
          <p:cNvSpPr>
            <a:spLocks noGrp="1"/>
          </p:cNvSpPr>
          <p:nvPr/>
        </p:nvSpPr>
        <p:spPr>
          <a:xfrm>
            <a:off x="474345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6"/>
              </a:rPr>
              <a:t>Lab 04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969135-2D3D-4EE8-BE10-25BE2149A501}"/>
              </a:ext>
            </a:extLst>
          </p:cNvPr>
          <p:cNvSpPr>
            <a:spLocks noGrp="1"/>
          </p:cNvSpPr>
          <p:nvPr/>
        </p:nvSpPr>
        <p:spPr>
          <a:xfrm>
            <a:off x="6096000" y="5867400"/>
            <a:ext cx="17145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7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880708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C2B5520-6652-4124-B7B1-A8C91F61C2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BBB59C-841C-4CA8-9D40-26E4B8067C37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504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Philips GCR AI Ambassador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91C47-5AD8-4633-A677-BF2A616D7DB8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找到身边的 AI Ambassador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75A32C-1E02-43F3-9AE0-F91D168D4AD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Ambassador 可以帮助同事交流学习资源、分享实践经验，并把有价值的业务问题带回到更广泛的 AI 学习与应用社区。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1234BB-04A5-4BEB-A90C-64B38D7D84F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DFD985-3CDA-475C-97D8-00FDF537D8E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24478" y="1714500"/>
            <a:ext cx="6943045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57129B-413F-4AE3-A019-CA27C51AF111}"/>
              </a:ext>
            </a:extLst>
          </p:cNvPr>
          <p:cNvSpPr>
            <a:spLocks noGrp="1"/>
          </p:cNvSpPr>
          <p:nvPr/>
        </p:nvSpPr>
        <p:spPr>
          <a:xfrm>
            <a:off x="1028700" y="1695450"/>
            <a:ext cx="1013460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6C1AD9-0409-45F2-B767-954983575B0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4"/>
              </a:rPr>
              <a:t>回到 AI Gateway  ↗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397A51-F977-42C5-A6DA-3670859EDF14}"/>
              </a:ext>
            </a:extLst>
          </p:cNvPr>
          <p:cNvSpPr>
            <a:spLocks noGrp="1"/>
          </p:cNvSpPr>
          <p:nvPr/>
        </p:nvSpPr>
        <p:spPr>
          <a:xfrm>
            <a:off x="3048000" y="586740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hlinkClick r:id="rId5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090025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3145</Words>
  <Application>Microsoft Office PowerPoint</Application>
  <DocSecurity>0</DocSecurity>
  <PresentationFormat>Widescreen</PresentationFormat>
  <Paragraphs>600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Microsoft YaHei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CHEN, Wang Ting</cp:lastModifiedBy>
  <cp:revision>2</cp:revision>
  <dcterms:created xsi:type="dcterms:W3CDTF">2026-08-20T07:01:42Z</dcterms:created>
  <dcterms:modified xsi:type="dcterms:W3CDTF">2026-08-20T07:46:47Z</dcterms:modified>
</cp:coreProperties>
</file>