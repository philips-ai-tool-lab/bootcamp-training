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23b61cc6dd490a" /><Relationship Type="http://schemas.openxmlformats.org/officeDocument/2006/relationships/extended-properties" Target="/docProps/app.xml" Id="Rc4b5d6f6d65d40ef" /><Relationship Type="http://schemas.openxmlformats.org/officeDocument/2006/relationships/officeDocument" Target="/ppt/presentation.xml" Id="R66270c157cce4f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404697f4214b2a"/>
  </p:sldMasterIdLst>
  <p:notesMasterIdLst>
    <p:notesMasterId xmlns:r="http://schemas.openxmlformats.org/officeDocument/2006/relationships" r:id="Rb937cf4cea73452b"/>
  </p:notesMasterIdLst>
  <p:sldIdLst>
    <p:sldId xmlns:r="http://schemas.openxmlformats.org/officeDocument/2006/relationships" id="256" r:id="R9516f6f4fcf04016"/>
    <p:sldId xmlns:r="http://schemas.openxmlformats.org/officeDocument/2006/relationships" id="257" r:id="R372dfa4d52da4809"/>
    <p:sldId xmlns:r="http://schemas.openxmlformats.org/officeDocument/2006/relationships" id="258" r:id="Ra0acc14c228d48b9"/>
    <p:sldId xmlns:r="http://schemas.openxmlformats.org/officeDocument/2006/relationships" id="259" r:id="R50c5bfeddcd148e7"/>
    <p:sldId xmlns:r="http://schemas.openxmlformats.org/officeDocument/2006/relationships" id="260" r:id="Rf959e2a981a24ba2"/>
    <p:sldId xmlns:r="http://schemas.openxmlformats.org/officeDocument/2006/relationships" id="261" r:id="Rc9d1b6a64ccb4d13"/>
    <p:sldId xmlns:r="http://schemas.openxmlformats.org/officeDocument/2006/relationships" id="262" r:id="R4f60c50dcfdb4a43"/>
    <p:sldId xmlns:r="http://schemas.openxmlformats.org/officeDocument/2006/relationships" id="263" r:id="Rc7f50825d55f48b7"/>
    <p:sldId xmlns:r="http://schemas.openxmlformats.org/officeDocument/2006/relationships" id="264" r:id="R500987e3d3b34208"/>
    <p:sldId xmlns:r="http://schemas.openxmlformats.org/officeDocument/2006/relationships" id="265" r:id="Rdb2e255248694f6e"/>
    <p:sldId xmlns:r="http://schemas.openxmlformats.org/officeDocument/2006/relationships" id="266" r:id="R88da9e542bad4ae4"/>
    <p:sldId xmlns:r="http://schemas.openxmlformats.org/officeDocument/2006/relationships" id="267" r:id="R5921506bba7c4b96"/>
    <p:sldId xmlns:r="http://schemas.openxmlformats.org/officeDocument/2006/relationships" id="268" r:id="R20cc898ccd99464c"/>
    <p:sldId xmlns:r="http://schemas.openxmlformats.org/officeDocument/2006/relationships" id="269" r:id="R1278b826b10d4a4b"/>
    <p:sldId xmlns:r="http://schemas.openxmlformats.org/officeDocument/2006/relationships" id="270" r:id="R87d3b47b12544b22"/>
    <p:sldId xmlns:r="http://schemas.openxmlformats.org/officeDocument/2006/relationships" id="271" r:id="R7f56e07795ca4859"/>
    <p:sldId xmlns:r="http://schemas.openxmlformats.org/officeDocument/2006/relationships" id="272" r:id="Rc97d444ec7b54566"/>
    <p:sldId xmlns:r="http://schemas.openxmlformats.org/officeDocument/2006/relationships" id="273" r:id="Rd1afacca8ba94f87"/>
    <p:sldId xmlns:r="http://schemas.openxmlformats.org/officeDocument/2006/relationships" id="274" r:id="R07e8a267db81487e"/>
    <p:sldId xmlns:r="http://schemas.openxmlformats.org/officeDocument/2006/relationships" id="275" r:id="R845e5d54b2ef400a"/>
    <p:sldId xmlns:r="http://schemas.openxmlformats.org/officeDocument/2006/relationships" id="276" r:id="R2c04d49ef20f4431"/>
    <p:sldId xmlns:r="http://schemas.openxmlformats.org/officeDocument/2006/relationships" id="277" r:id="Ra61432b2f04a43c4"/>
    <p:sldId xmlns:r="http://schemas.openxmlformats.org/officeDocument/2006/relationships" id="278" r:id="Ra7baff5267de426e"/>
    <p:sldId xmlns:r="http://schemas.openxmlformats.org/officeDocument/2006/relationships" id="279" r:id="R691ae2861d6f4bae"/>
    <p:sldId xmlns:r="http://schemas.openxmlformats.org/officeDocument/2006/relationships" id="280" r:id="R203648f00a474d53"/>
    <p:sldId xmlns:r="http://schemas.openxmlformats.org/officeDocument/2006/relationships" id="281" r:id="R3e1887fa906f4a66"/>
    <p:sldId xmlns:r="http://schemas.openxmlformats.org/officeDocument/2006/relationships" id="282" r:id="R4766ed643a044bc4"/>
    <p:sldId xmlns:r="http://schemas.openxmlformats.org/officeDocument/2006/relationships" id="283" r:id="Ra84e6ef9f1114ca6"/>
    <p:sldId xmlns:r="http://schemas.openxmlformats.org/officeDocument/2006/relationships" id="284" r:id="Rf7aea5dc81754d26"/>
    <p:sldId xmlns:r="http://schemas.openxmlformats.org/officeDocument/2006/relationships" id="285" r:id="Raf0980b7a9c741b5"/>
    <p:sldId xmlns:r="http://schemas.openxmlformats.org/officeDocument/2006/relationships" id="286" r:id="R2c748bcbf6a843cb"/>
    <p:sldId xmlns:r="http://schemas.openxmlformats.org/officeDocument/2006/relationships" id="287" r:id="R82c78aa036a941fc"/>
    <p:sldId xmlns:r="http://schemas.openxmlformats.org/officeDocument/2006/relationships" id="288" r:id="Rdc7f963861024c5a"/>
    <p:sldId xmlns:r="http://schemas.openxmlformats.org/officeDocument/2006/relationships" id="289" r:id="R3f5b97038e9a4c69"/>
    <p:sldId xmlns:r="http://schemas.openxmlformats.org/officeDocument/2006/relationships" id="290" r:id="R5e000c7e262f4c0e"/>
    <p:sldId xmlns:r="http://schemas.openxmlformats.org/officeDocument/2006/relationships" id="291" r:id="R97d8e2019de74ae0"/>
    <p:sldId xmlns:r="http://schemas.openxmlformats.org/officeDocument/2006/relationships" id="292" r:id="R88acd08c1a934486"/>
    <p:sldId xmlns:r="http://schemas.openxmlformats.org/officeDocument/2006/relationships" id="293" r:id="R9003f16156c64601"/>
    <p:sldId xmlns:r="http://schemas.openxmlformats.org/officeDocument/2006/relationships" id="294" r:id="R85bdfaa3321746fb"/>
    <p:sldId xmlns:r="http://schemas.openxmlformats.org/officeDocument/2006/relationships" id="295" r:id="Ra9a9d986c3744a55"/>
    <p:sldId xmlns:r="http://schemas.openxmlformats.org/officeDocument/2006/relationships" id="296" r:id="R1c8c47937b614fac"/>
    <p:sldId xmlns:r="http://schemas.openxmlformats.org/officeDocument/2006/relationships" id="297" r:id="R791f807ce2ce4aa1"/>
    <p:sldId xmlns:r="http://schemas.openxmlformats.org/officeDocument/2006/relationships" id="298" r:id="R1974aa3d8eb84e3b"/>
    <p:sldId xmlns:r="http://schemas.openxmlformats.org/officeDocument/2006/relationships" id="299" r:id="R507bf404a7d0487b"/>
    <p:sldId xmlns:r="http://schemas.openxmlformats.org/officeDocument/2006/relationships" id="300" r:id="Rffd4fa04d94147db"/>
    <p:sldId xmlns:r="http://schemas.openxmlformats.org/officeDocument/2006/relationships" id="301" r:id="R83a795c5f1074a4a"/>
    <p:sldId xmlns:r="http://schemas.openxmlformats.org/officeDocument/2006/relationships" id="302" r:id="R7dcfe8402f46448b"/>
    <p:sldId xmlns:r="http://schemas.openxmlformats.org/officeDocument/2006/relationships" id="303" r:id="Rb7c85ce09c794c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0c8e274bf6419f" /><Relationship Type="http://schemas.openxmlformats.org/officeDocument/2006/relationships/slideMaster" Target="/ppt/slideMasters/slideMaster1.xml" Id="R32404697f4214b2a" /><Relationship Type="http://schemas.openxmlformats.org/officeDocument/2006/relationships/notesMaster" Target="/ppt/notesMasters/notesMaster1.xml" Id="Rb937cf4cea73452b" /><Relationship Type="http://schemas.openxmlformats.org/officeDocument/2006/relationships/presProps" Target="/ppt/presProps.xml" Id="R3fb8550786de407d" /><Relationship Type="http://schemas.openxmlformats.org/officeDocument/2006/relationships/tableStyles" Target="/ppt/tableStyles.xml" Id="R62b70a6be6f84207" /><Relationship Type="http://schemas.openxmlformats.org/officeDocument/2006/relationships/slide" Target="/ppt/slides/slide1.xml" Id="R9516f6f4fcf04016" /><Relationship Type="http://schemas.openxmlformats.org/officeDocument/2006/relationships/slide" Target="/ppt/slides/slide2.xml" Id="R372dfa4d52da4809" /><Relationship Type="http://schemas.openxmlformats.org/officeDocument/2006/relationships/slide" Target="/ppt/slides/slide3.xml" Id="Ra0acc14c228d48b9" /><Relationship Type="http://schemas.openxmlformats.org/officeDocument/2006/relationships/slide" Target="/ppt/slides/slide4.xml" Id="R50c5bfeddcd148e7" /><Relationship Type="http://schemas.openxmlformats.org/officeDocument/2006/relationships/slide" Target="/ppt/slides/slide5.xml" Id="Rf959e2a981a24ba2" /><Relationship Type="http://schemas.openxmlformats.org/officeDocument/2006/relationships/slide" Target="/ppt/slides/slide6.xml" Id="Rc9d1b6a64ccb4d13" /><Relationship Type="http://schemas.openxmlformats.org/officeDocument/2006/relationships/slide" Target="/ppt/slides/slide7.xml" Id="R4f60c50dcfdb4a43" /><Relationship Type="http://schemas.openxmlformats.org/officeDocument/2006/relationships/slide" Target="/ppt/slides/slide8.xml" Id="Rc7f50825d55f48b7" /><Relationship Type="http://schemas.openxmlformats.org/officeDocument/2006/relationships/slide" Target="/ppt/slides/slide9.xml" Id="R500987e3d3b34208" /><Relationship Type="http://schemas.openxmlformats.org/officeDocument/2006/relationships/slide" Target="/ppt/slides/slide10.xml" Id="Rdb2e255248694f6e" /><Relationship Type="http://schemas.openxmlformats.org/officeDocument/2006/relationships/slide" Target="/ppt/slides/slide11.xml" Id="R88da9e542bad4ae4" /><Relationship Type="http://schemas.openxmlformats.org/officeDocument/2006/relationships/slide" Target="/ppt/slides/slide12.xml" Id="R5921506bba7c4b96" /><Relationship Type="http://schemas.openxmlformats.org/officeDocument/2006/relationships/slide" Target="/ppt/slides/slide13.xml" Id="R20cc898ccd99464c" /><Relationship Type="http://schemas.openxmlformats.org/officeDocument/2006/relationships/slide" Target="/ppt/slides/slide14.xml" Id="R1278b826b10d4a4b" /><Relationship Type="http://schemas.openxmlformats.org/officeDocument/2006/relationships/slide" Target="/ppt/slides/slide15.xml" Id="R87d3b47b12544b22" /><Relationship Type="http://schemas.openxmlformats.org/officeDocument/2006/relationships/slide" Target="/ppt/slides/slide16.xml" Id="R7f56e07795ca4859" /><Relationship Type="http://schemas.openxmlformats.org/officeDocument/2006/relationships/slide" Target="/ppt/slides/slide17.xml" Id="Rc97d444ec7b54566" /><Relationship Type="http://schemas.openxmlformats.org/officeDocument/2006/relationships/slide" Target="/ppt/slides/slide18.xml" Id="Rd1afacca8ba94f87" /><Relationship Type="http://schemas.openxmlformats.org/officeDocument/2006/relationships/slide" Target="/ppt/slides/slide19.xml" Id="R07e8a267db81487e" /><Relationship Type="http://schemas.openxmlformats.org/officeDocument/2006/relationships/slide" Target="/ppt/slides/slide20.xml" Id="R845e5d54b2ef400a" /><Relationship Type="http://schemas.openxmlformats.org/officeDocument/2006/relationships/slide" Target="/ppt/slides/slide21.xml" Id="R2c04d49ef20f4431" /><Relationship Type="http://schemas.openxmlformats.org/officeDocument/2006/relationships/slide" Target="/ppt/slides/slide22.xml" Id="Ra61432b2f04a43c4" /><Relationship Type="http://schemas.openxmlformats.org/officeDocument/2006/relationships/slide" Target="/ppt/slides/slide23.xml" Id="Ra7baff5267de426e" /><Relationship Type="http://schemas.openxmlformats.org/officeDocument/2006/relationships/slide" Target="/ppt/slides/slide24.xml" Id="R691ae2861d6f4bae" /><Relationship Type="http://schemas.openxmlformats.org/officeDocument/2006/relationships/slide" Target="/ppt/slides/slide25.xml" Id="R203648f00a474d53" /><Relationship Type="http://schemas.openxmlformats.org/officeDocument/2006/relationships/slide" Target="/ppt/slides/slide26.xml" Id="R3e1887fa906f4a66" /><Relationship Type="http://schemas.openxmlformats.org/officeDocument/2006/relationships/slide" Target="/ppt/slides/slide27.xml" Id="R4766ed643a044bc4" /><Relationship Type="http://schemas.openxmlformats.org/officeDocument/2006/relationships/slide" Target="/ppt/slides/slide28.xml" Id="Ra84e6ef9f1114ca6" /><Relationship Type="http://schemas.openxmlformats.org/officeDocument/2006/relationships/slide" Target="/ppt/slides/slide29.xml" Id="Rf7aea5dc81754d26" /><Relationship Type="http://schemas.openxmlformats.org/officeDocument/2006/relationships/slide" Target="/ppt/slides/slide30.xml" Id="Raf0980b7a9c741b5" /><Relationship Type="http://schemas.openxmlformats.org/officeDocument/2006/relationships/slide" Target="/ppt/slides/slide31.xml" Id="R2c748bcbf6a843cb" /><Relationship Type="http://schemas.openxmlformats.org/officeDocument/2006/relationships/slide" Target="/ppt/slides/slide32.xml" Id="R82c78aa036a941fc" /><Relationship Type="http://schemas.openxmlformats.org/officeDocument/2006/relationships/slide" Target="/ppt/slides/slide33.xml" Id="Rdc7f963861024c5a" /><Relationship Type="http://schemas.openxmlformats.org/officeDocument/2006/relationships/slide" Target="/ppt/slides/slide34.xml" Id="R3f5b97038e9a4c69" /><Relationship Type="http://schemas.openxmlformats.org/officeDocument/2006/relationships/slide" Target="/ppt/slides/slide35.xml" Id="R5e000c7e262f4c0e" /><Relationship Type="http://schemas.openxmlformats.org/officeDocument/2006/relationships/slide" Target="/ppt/slides/slide36.xml" Id="R97d8e2019de74ae0" /><Relationship Type="http://schemas.openxmlformats.org/officeDocument/2006/relationships/slide" Target="/ppt/slides/slide37.xml" Id="R88acd08c1a934486" /><Relationship Type="http://schemas.openxmlformats.org/officeDocument/2006/relationships/slide" Target="/ppt/slides/slide38.xml" Id="R9003f16156c64601" /><Relationship Type="http://schemas.openxmlformats.org/officeDocument/2006/relationships/slide" Target="/ppt/slides/slide39.xml" Id="R85bdfaa3321746fb" /><Relationship Type="http://schemas.openxmlformats.org/officeDocument/2006/relationships/slide" Target="/ppt/slides/slide40.xml" Id="Ra9a9d986c3744a55" /><Relationship Type="http://schemas.openxmlformats.org/officeDocument/2006/relationships/slide" Target="/ppt/slides/slide41.xml" Id="R1c8c47937b614fac" /><Relationship Type="http://schemas.openxmlformats.org/officeDocument/2006/relationships/slide" Target="/ppt/slides/slide42.xml" Id="R791f807ce2ce4aa1" /><Relationship Type="http://schemas.openxmlformats.org/officeDocument/2006/relationships/slide" Target="/ppt/slides/slide43.xml" Id="R1974aa3d8eb84e3b" /><Relationship Type="http://schemas.openxmlformats.org/officeDocument/2006/relationships/slide" Target="/ppt/slides/slide44.xml" Id="R507bf404a7d0487b" /><Relationship Type="http://schemas.openxmlformats.org/officeDocument/2006/relationships/slide" Target="/ppt/slides/slide45.xml" Id="Rffd4fa04d94147db" /><Relationship Type="http://schemas.openxmlformats.org/officeDocument/2006/relationships/slide" Target="/ppt/slides/slide46.xml" Id="R83a795c5f1074a4a" /><Relationship Type="http://schemas.openxmlformats.org/officeDocument/2006/relationships/slide" Target="/ppt/slides/slide47.xml" Id="R7dcfe8402f46448b" /><Relationship Type="http://schemas.openxmlformats.org/officeDocument/2006/relationships/slide" Target="/ppt/slides/slide48.xml" Id="Rb7c85ce09c794c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896e03372e43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60a4700d684b8b" /><Relationship Type="http://schemas.openxmlformats.org/officeDocument/2006/relationships/notesMaster" Target="/ppt/notesMasters/notesMaster1.xml" Id="Rf5558466ad9248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5fff39b25e4ee0" /><Relationship Type="http://schemas.openxmlformats.org/officeDocument/2006/relationships/notesMaster" Target="/ppt/notesMasters/notesMaster1.xml" Id="R86fc3e4d207f4f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199043d0da4a3f" /><Relationship Type="http://schemas.openxmlformats.org/officeDocument/2006/relationships/notesMaster" Target="/ppt/notesMasters/notesMaster1.xml" Id="R96d965b1d46c4d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629ded8dcb4ecb" /><Relationship Type="http://schemas.openxmlformats.org/officeDocument/2006/relationships/notesMaster" Target="/ppt/notesMasters/notesMaster1.xml" Id="R85cbdf9e13314a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0ea80104734f32" /><Relationship Type="http://schemas.openxmlformats.org/officeDocument/2006/relationships/notesMaster" Target="/ppt/notesMasters/notesMaster1.xml" Id="R2422bdb3e26141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3b283b98c34669" /><Relationship Type="http://schemas.openxmlformats.org/officeDocument/2006/relationships/notesMaster" Target="/ppt/notesMasters/notesMaster1.xml" Id="Rf9acadb7f39346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dc588822b54ae7" /><Relationship Type="http://schemas.openxmlformats.org/officeDocument/2006/relationships/notesMaster" Target="/ppt/notesMasters/notesMaster1.xml" Id="R5ecd5e24c32441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68ac4013bb4b2f" /><Relationship Type="http://schemas.openxmlformats.org/officeDocument/2006/relationships/notesMaster" Target="/ppt/notesMasters/notesMaster1.xml" Id="Raf1ffe8c7e9d4f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293bd3d42a47e7" /><Relationship Type="http://schemas.openxmlformats.org/officeDocument/2006/relationships/notesMaster" Target="/ppt/notesMasters/notesMaster1.xml" Id="Rf465109ffd1444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c351e8e4a140b0" /><Relationship Type="http://schemas.openxmlformats.org/officeDocument/2006/relationships/notesMaster" Target="/ppt/notesMasters/notesMaster1.xml" Id="R89cf77d3162b49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dbda96a379410a" /><Relationship Type="http://schemas.openxmlformats.org/officeDocument/2006/relationships/notesMaster" Target="/ppt/notesMasters/notesMaster1.xml" Id="Rf57525d758364a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fed73dbace42bd" /><Relationship Type="http://schemas.openxmlformats.org/officeDocument/2006/relationships/notesMaster" Target="/ppt/notesMasters/notesMaster1.xml" Id="R788f02a631be4b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b69190c5494a48" /><Relationship Type="http://schemas.openxmlformats.org/officeDocument/2006/relationships/notesMaster" Target="/ppt/notesMasters/notesMaster1.xml" Id="R78ab72ad74bb46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edb753038d4cc0" /><Relationship Type="http://schemas.openxmlformats.org/officeDocument/2006/relationships/notesMaster" Target="/ppt/notesMasters/notesMaster1.xml" Id="Ra94e0ba1c83049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947ae6a9614eb0" /><Relationship Type="http://schemas.openxmlformats.org/officeDocument/2006/relationships/notesMaster" Target="/ppt/notesMasters/notesMaster1.xml" Id="R3f83a89e17024e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d128ba5dc8f4bf2" /><Relationship Type="http://schemas.openxmlformats.org/officeDocument/2006/relationships/notesMaster" Target="/ppt/notesMasters/notesMaster1.xml" Id="R92b98fed82cd475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134037fa5234b48" /><Relationship Type="http://schemas.openxmlformats.org/officeDocument/2006/relationships/notesMaster" Target="/ppt/notesMasters/notesMaster1.xml" Id="R25767118bbe940d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405cac893d4a19" /><Relationship Type="http://schemas.openxmlformats.org/officeDocument/2006/relationships/notesMaster" Target="/ppt/notesMasters/notesMaster1.xml" Id="Rfa1681ec5803457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63c2f0a21474f9d" /><Relationship Type="http://schemas.openxmlformats.org/officeDocument/2006/relationships/notesMaster" Target="/ppt/notesMasters/notesMaster1.xml" Id="R9a79096cedfe4ff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b599995a6b8451b" /><Relationship Type="http://schemas.openxmlformats.org/officeDocument/2006/relationships/notesMaster" Target="/ppt/notesMasters/notesMaster1.xml" Id="Ra9355cfdedad485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56a4eb622f74bdf" /><Relationship Type="http://schemas.openxmlformats.org/officeDocument/2006/relationships/notesMaster" Target="/ppt/notesMasters/notesMaster1.xml" Id="R11cd83e6dd9e4b1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f9651e8df084b3e" /><Relationship Type="http://schemas.openxmlformats.org/officeDocument/2006/relationships/notesMaster" Target="/ppt/notesMasters/notesMaster1.xml" Id="Re8bacbb565604e9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485444a76ac403a" /><Relationship Type="http://schemas.openxmlformats.org/officeDocument/2006/relationships/notesMaster" Target="/ppt/notesMasters/notesMaster1.xml" Id="R19f6edd083c64b8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e3c7b3a48cd46cc" /><Relationship Type="http://schemas.openxmlformats.org/officeDocument/2006/relationships/notesMaster" Target="/ppt/notesMasters/notesMaster1.xml" Id="Reefc4eaa31844a7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82aba9c17644e2f" /><Relationship Type="http://schemas.openxmlformats.org/officeDocument/2006/relationships/notesMaster" Target="/ppt/notesMasters/notesMaster1.xml" Id="R789a0117ae8b457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332e3e6b6964582" /><Relationship Type="http://schemas.openxmlformats.org/officeDocument/2006/relationships/notesMaster" Target="/ppt/notesMasters/notesMaster1.xml" Id="Re926c7365d5042f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2af190d0c15433a" /><Relationship Type="http://schemas.openxmlformats.org/officeDocument/2006/relationships/notesMaster" Target="/ppt/notesMasters/notesMaster1.xml" Id="Rc2c3c3156401468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b5377e2c6fc4060" /><Relationship Type="http://schemas.openxmlformats.org/officeDocument/2006/relationships/notesMaster" Target="/ppt/notesMasters/notesMaster1.xml" Id="R8ea5a5766cab497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95b8533a52e4786" /><Relationship Type="http://schemas.openxmlformats.org/officeDocument/2006/relationships/notesMaster" Target="/ppt/notesMasters/notesMaster1.xml" Id="Re82b40468bd1442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7c7f686940c436b" /><Relationship Type="http://schemas.openxmlformats.org/officeDocument/2006/relationships/notesMaster" Target="/ppt/notesMasters/notesMaster1.xml" Id="Rc5ae771759d246d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516f92415b0470e" /><Relationship Type="http://schemas.openxmlformats.org/officeDocument/2006/relationships/notesMaster" Target="/ppt/notesMasters/notesMaster1.xml" Id="Rcac2d5f81b254e0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151b3ae121f435e" /><Relationship Type="http://schemas.openxmlformats.org/officeDocument/2006/relationships/notesMaster" Target="/ppt/notesMasters/notesMaster1.xml" Id="R009ac6e948724e0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f354f7d3e1546cb" /><Relationship Type="http://schemas.openxmlformats.org/officeDocument/2006/relationships/notesMaster" Target="/ppt/notesMasters/notesMaster1.xml" Id="Ra1e1fa184dc1431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41d5f6f05634511" /><Relationship Type="http://schemas.openxmlformats.org/officeDocument/2006/relationships/notesMaster" Target="/ppt/notesMasters/notesMaster1.xml" Id="Re11491670103433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a83008ebe8c40e5" /><Relationship Type="http://schemas.openxmlformats.org/officeDocument/2006/relationships/notesMaster" Target="/ppt/notesMasters/notesMaster1.xml" Id="R5b9441d3a5994a4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dcdf8a99a994682" /><Relationship Type="http://schemas.openxmlformats.org/officeDocument/2006/relationships/notesMaster" Target="/ppt/notesMasters/notesMaster1.xml" Id="Re3989d4b7f1a4b9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b5c0aab4a3f417c" /><Relationship Type="http://schemas.openxmlformats.org/officeDocument/2006/relationships/notesMaster" Target="/ppt/notesMasters/notesMaster1.xml" Id="R318e5ce3d1b2426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fc3223acd28435d" /><Relationship Type="http://schemas.openxmlformats.org/officeDocument/2006/relationships/notesMaster" Target="/ppt/notesMasters/notesMaster1.xml" Id="Re1e1a1eba9b5492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04afc0ebac049e2" /><Relationship Type="http://schemas.openxmlformats.org/officeDocument/2006/relationships/notesMaster" Target="/ppt/notesMasters/notesMaster1.xml" Id="R76cfadb9de4a4da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4d88233547e4731" /><Relationship Type="http://schemas.openxmlformats.org/officeDocument/2006/relationships/notesMaster" Target="/ppt/notesMasters/notesMaster1.xml" Id="Ra5894666f61b467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9dc017ad7aa4ad8" /><Relationship Type="http://schemas.openxmlformats.org/officeDocument/2006/relationships/notesMaster" Target="/ppt/notesMasters/notesMaster1.xml" Id="Rf962a1c7c04c4dd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490046bd4de4247" /><Relationship Type="http://schemas.openxmlformats.org/officeDocument/2006/relationships/notesMaster" Target="/ppt/notesMasters/notesMaster1.xml" Id="Re34c77d5e526405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e61cfb6459b4749" /><Relationship Type="http://schemas.openxmlformats.org/officeDocument/2006/relationships/notesMaster" Target="/ppt/notesMasters/notesMaster1.xml" Id="R12217c7cfb464ca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a5f44d1a9d94543" /><Relationship Type="http://schemas.openxmlformats.org/officeDocument/2006/relationships/notesMaster" Target="/ppt/notesMasters/notesMaster1.xml" Id="R04ad6c5122934bb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c0e7d1925644e41" /><Relationship Type="http://schemas.openxmlformats.org/officeDocument/2006/relationships/notesMaster" Target="/ppt/notesMasters/notesMaster1.xml" Id="Rb14f97c3d85e427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523be625d9a4937" /><Relationship Type="http://schemas.openxmlformats.org/officeDocument/2006/relationships/notesMaster" Target="/ppt/notesMasters/notesMaster1.xml" Id="Racfb216b0001435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3c000ca44bc45f6" /><Relationship Type="http://schemas.openxmlformats.org/officeDocument/2006/relationships/notesMaster" Target="/ppt/notesMasters/notesMaster1.xml" Id="R7401cb4e47764fa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14997f7dd7c4afc" /><Relationship Type="http://schemas.openxmlformats.org/officeDocument/2006/relationships/notesMaster" Target="/ppt/notesMasters/notesMaster1.xml" Id="Rbe9d544eed5946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1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ChatGPT_User One Pager.pptx — slide 1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ChatGPT_User One Pager.pptx — slide 1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https://philips.service-now.com/itportal?id=sc_cat_item&amp;table=sc_cat_item&amp;sys_id=1ca637e9c3213950b95c74c4e401318d&amp;searchTerm=china%20internet%20premium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ChatGPT_User One Pager.pptx — slide 3</a:t>
            </a:r>
          </a:p>
          <a:p xmlns:a="http://schemas.openxmlformats.org/drawingml/2006/main">
            <a:r>
              <a:t>- https://philips.service-now.com/softwareportal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3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GCR AI Ambassador image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  <a:p xmlns:a="http://schemas.openxmlformats.org/drawingml/2006/main"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Project Brief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Meeting Notes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Timeline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M365 Copilot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meeting follow-up output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000c56f02742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f5accfa0324131" /><Relationship Type="http://schemas.openxmlformats.org/officeDocument/2006/relationships/slideLayout" Target="/ppt/slideLayouts/slideLayout1.xml" Id="R40ab8fedce4344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ab8fedce4344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8fe1c935a49ea" /><Relationship Type="http://schemas.openxmlformats.org/officeDocument/2006/relationships/hyperlink" Target="https://aiskillsnavigator.microsoft.com/" TargetMode="External" Id="Ra6f758790e304065" /><Relationship Type="http://schemas.openxmlformats.org/officeDocument/2006/relationships/notesSlide" Target="/ppt/notesSlides/notesSlide1.xml" Id="R97782a5cb3df40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f2df75702412a" /><Relationship Type="http://schemas.openxmlformats.org/officeDocument/2006/relationships/hyperlink" Target="https://www.aigateway.ai.inside.philips.com/" TargetMode="External" Id="Rfd6aa9ca39f744ec" /><Relationship Type="http://schemas.openxmlformats.org/officeDocument/2006/relationships/notesSlide" Target="/ppt/notesSlides/notesSlide2.xml" Id="R556d1ee04e7044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c38a4b346436e" /><Relationship Type="http://schemas.openxmlformats.org/officeDocument/2006/relationships/hyperlink" Target="https://aiskillsnavigator.microsoft.com/" TargetMode="External" Id="R9d97529bbf474135" /><Relationship Type="http://schemas.openxmlformats.org/officeDocument/2006/relationships/notesSlide" Target="/ppt/notesSlides/notesSlide3.xml" Id="R754a05ec9ce14e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f2e73e3204cea" /><Relationship Type="http://schemas.openxmlformats.org/officeDocument/2006/relationships/hyperlink" Target="https://www.aigateway.ai.inside.philips.com/" TargetMode="External" Id="Rf4b96dc839df465d" /><Relationship Type="http://schemas.openxmlformats.org/officeDocument/2006/relationships/notesSlide" Target="/ppt/notesSlides/notesSlide4.xml" Id="Rc1bb2d00d01b47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c0c9ad7324e4c" /><Relationship Type="http://schemas.openxmlformats.org/officeDocument/2006/relationships/image" Target="/ppt/media/image.png" Id="R58a4f6703f9b44ed" /><Relationship Type="http://schemas.openxmlformats.org/officeDocument/2006/relationships/hyperlink" Target="https://www.aigateway.ai.inside.philips.com/" TargetMode="External" Id="R30f8c8ee7f184606" /><Relationship Type="http://schemas.openxmlformats.org/officeDocument/2006/relationships/notesSlide" Target="/ppt/notesSlides/notesSlide5.xml" Id="R62a60922bc6142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08db8a3ef4a4d" /><Relationship Type="http://schemas.openxmlformats.org/officeDocument/2006/relationships/image" Target="/ppt/media/image2.png" Id="Rf864ae53b44545e8" /><Relationship Type="http://schemas.openxmlformats.org/officeDocument/2006/relationships/hyperlink" Target="https://www.aigateway.ai.inside.philips.com/" TargetMode="External" Id="R66cb710e7f824fb2" /><Relationship Type="http://schemas.openxmlformats.org/officeDocument/2006/relationships/notesSlide" Target="/ppt/notesSlides/notesSlide6.xml" Id="R288cffb6631d45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c307145874445" /><Relationship Type="http://schemas.openxmlformats.org/officeDocument/2006/relationships/image" Target="/ppt/media/image3.png" Id="R2231eb8e847c4502" /><Relationship Type="http://schemas.openxmlformats.org/officeDocument/2006/relationships/hyperlink" Target="https://www.aigateway.ai.inside.philips.com/" TargetMode="External" Id="Rc0b9293f9ee24278" /><Relationship Type="http://schemas.openxmlformats.org/officeDocument/2006/relationships/notesSlide" Target="/ppt/notesSlides/notesSlide7.xml" Id="R0d806e895cb34f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0311befb143ab" /><Relationship Type="http://schemas.openxmlformats.org/officeDocument/2006/relationships/hyperlink" Target="https://www.aigateway.ai.inside.philips.com/" TargetMode="External" Id="R9cf50348f06546e8" /><Relationship Type="http://schemas.openxmlformats.org/officeDocument/2006/relationships/notesSlide" Target="/ppt/notesSlides/notesSlide8.xml" Id="R8642f0b2e5164f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5b84e91c7401b" /><Relationship Type="http://schemas.openxmlformats.org/officeDocument/2006/relationships/hyperlink" Target="https://www.aigateway.ai.inside.philips.com/" TargetMode="External" Id="R472e91c0347644d9" /><Relationship Type="http://schemas.openxmlformats.org/officeDocument/2006/relationships/notesSlide" Target="/ppt/notesSlides/notesSlide9.xml" Id="R6b60632064db43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8d5fee14f467b" /><Relationship Type="http://schemas.openxmlformats.org/officeDocument/2006/relationships/image" Target="/ppt/media/image4.png" Id="Rd6053fcca6954657" /><Relationship Type="http://schemas.openxmlformats.org/officeDocument/2006/relationships/hyperlink" Target="https://www.aigateway.ai.inside.philips.com/" TargetMode="External" Id="R515a399ab6b2472a" /><Relationship Type="http://schemas.openxmlformats.org/officeDocument/2006/relationships/notesSlide" Target="/ppt/notesSlides/notesSlide10.xml" Id="Rea68600125754c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76333ce264e5a" /><Relationship Type="http://schemas.openxmlformats.org/officeDocument/2006/relationships/image" Target="/ppt/media/image5.png" Id="R17e74c27270e433e" /><Relationship Type="http://schemas.openxmlformats.org/officeDocument/2006/relationships/hyperlink" Target="https://www.aigateway.ai.inside.philips.com/" TargetMode="External" Id="Rc895d2293ab34e54" /><Relationship Type="http://schemas.openxmlformats.org/officeDocument/2006/relationships/hyperlink" Target="https://philips.service-now.com/itportal?id=kb_article&amp;sysparm_article=KB1528249&amp;sys_id=24240f5bfb794b54ae1afb576eefdc0f&amp;spa=1" TargetMode="External" Id="R9bbbddf08cf64f33" /><Relationship Type="http://schemas.openxmlformats.org/officeDocument/2006/relationships/notesSlide" Target="/ppt/notesSlides/notesSlide11.xml" Id="Rdabc1745807c47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1f4e5ef994e6b" /><Relationship Type="http://schemas.openxmlformats.org/officeDocument/2006/relationships/image" Target="/ppt/media/image6.png" Id="Rb40117dcd1eb4285" /><Relationship Type="http://schemas.openxmlformats.org/officeDocument/2006/relationships/hyperlink" Target="https://www.aigateway.ai.inside.philips.com/" TargetMode="External" Id="Rf0e66683eeb743fd" /><Relationship Type="http://schemas.openxmlformats.org/officeDocument/2006/relationships/hyperlink" Target="https://philips.service-now.com/itportal?id=sc_cat_item&amp;table=sc_cat_item&amp;sys_id=1ca637e9c3213950b95c74c4e401318d&amp;searchTerm=china%20internet%20premium" TargetMode="External" Id="Rf1f7055291cf4434" /><Relationship Type="http://schemas.openxmlformats.org/officeDocument/2006/relationships/notesSlide" Target="/ppt/notesSlides/notesSlide12.xml" Id="R87f59654215945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1bfd973a94e58" /><Relationship Type="http://schemas.openxmlformats.org/officeDocument/2006/relationships/image" Target="/ppt/media/image7.png" Id="Ra1386068248b4d2b" /><Relationship Type="http://schemas.openxmlformats.org/officeDocument/2006/relationships/hyperlink" Target="https://philips.service-now.com/softwareportal" TargetMode="External" Id="R0d090e8e4d7f4985" /><Relationship Type="http://schemas.openxmlformats.org/officeDocument/2006/relationships/hyperlink" Target="https://philips.service-now.com/itportal?id=kb_article&amp;sysparm_article=KB1528249&amp;sys_id=24240f5bfb794b54ae1afb576eefdc0f&amp;spa=1" TargetMode="External" Id="R290c2d76f7784580" /><Relationship Type="http://schemas.openxmlformats.org/officeDocument/2006/relationships/notesSlide" Target="/ppt/notesSlides/notesSlide13.xml" Id="Ra3ecc25d42954c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91b29c5634ad5" /><Relationship Type="http://schemas.openxmlformats.org/officeDocument/2006/relationships/image" Target="/ppt/media/image8.png" Id="Rf72e0b966f124027" /><Relationship Type="http://schemas.openxmlformats.org/officeDocument/2006/relationships/hyperlink" Target="https://www.aigateway.ai.inside.philips.com/" TargetMode="External" Id="Rb4eed9b23bc54a6c" /><Relationship Type="http://schemas.openxmlformats.org/officeDocument/2006/relationships/notesSlide" Target="/ppt/notesSlides/notesSlide14.xml" Id="R4c0743eec3df44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73d5acd91418f" /><Relationship Type="http://schemas.openxmlformats.org/officeDocument/2006/relationships/hyperlink" Target="https://www.aigateway.ai.inside.philips.com/" TargetMode="External" Id="Raa707763bde84165" /><Relationship Type="http://schemas.openxmlformats.org/officeDocument/2006/relationships/hyperlink" Target="https://philips-ai-tool-lab.github.io/ai-tool-lab-preview/" TargetMode="External" Id="Rdbce5138a0984c1e" /><Relationship Type="http://schemas.openxmlformats.org/officeDocument/2006/relationships/notesSlide" Target="/ppt/notesSlides/notesSlide15.xml" Id="Rcaac4558486c45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80b1e848f40fe" /><Relationship Type="http://schemas.openxmlformats.org/officeDocument/2006/relationships/hyperlink" Target="https://www.aigateway.ai.inside.philips.com/" TargetMode="External" Id="R39d3418411894a0f" /><Relationship Type="http://schemas.openxmlformats.org/officeDocument/2006/relationships/hyperlink" Target="https://philips-ai-tool-lab.github.io/ai-tool-lab-preview/" TargetMode="External" Id="R9ad610ce1e5a43a4" /><Relationship Type="http://schemas.openxmlformats.org/officeDocument/2006/relationships/notesSlide" Target="/ppt/notesSlides/notesSlide16.xml" Id="Rbf85cbc785a04a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05fca73db41d8" /><Relationship Type="http://schemas.openxmlformats.org/officeDocument/2006/relationships/image" Target="/ppt/media/image9.png" Id="R321785c7ee6c4bcc" /><Relationship Type="http://schemas.openxmlformats.org/officeDocument/2006/relationships/hyperlink" Target="https://aiskillsnavigator.microsoft.com/" TargetMode="External" Id="Rf7fa805ca4844c43" /><Relationship Type="http://schemas.openxmlformats.org/officeDocument/2006/relationships/hyperlink" Target="https://m365.cloud.microsoft/chat" TargetMode="External" Id="Ref822e10bef14ef6" /><Relationship Type="http://schemas.openxmlformats.org/officeDocument/2006/relationships/notesSlide" Target="/ppt/notesSlides/notesSlide17.xml" Id="Rab7465dfea444c3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71538434c4dd7" /><Relationship Type="http://schemas.openxmlformats.org/officeDocument/2006/relationships/hyperlink" Target="https://aiskillsnavigator.microsoft.com/" TargetMode="External" Id="R8dc880d1f6bf47ca" /><Relationship Type="http://schemas.openxmlformats.org/officeDocument/2006/relationships/hyperlink" Target="https://aiskillsnavigator.microsoft.com/playlists/291ff1ba-c754-44f1-9814-ef8917f8c989" TargetMode="External" Id="Rdb933f24b8e04487" /><Relationship Type="http://schemas.openxmlformats.org/officeDocument/2006/relationships/hyperlink" Target="https://m365.cloud.microsoft/chat" TargetMode="External" Id="R1e58c703c0e3431b" /><Relationship Type="http://schemas.openxmlformats.org/officeDocument/2006/relationships/notesSlide" Target="/ppt/notesSlides/notesSlide18.xml" Id="R2bc331017b0d4da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f46890d234017" /><Relationship Type="http://schemas.openxmlformats.org/officeDocument/2006/relationships/image" Target="/ppt/media/image10.png" Id="R9cc1f0aafe804865" /><Relationship Type="http://schemas.openxmlformats.org/officeDocument/2006/relationships/hyperlink" Target="https://aiskillsnavigator.microsoft.com/" TargetMode="External" Id="Rffdfde7ae3a14af3" /><Relationship Type="http://schemas.openxmlformats.org/officeDocument/2006/relationships/notesSlide" Target="/ppt/notesSlides/notesSlide19.xml" Id="Ref085b447ba0486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2ee8a2b2b400e" /><Relationship Type="http://schemas.openxmlformats.org/officeDocument/2006/relationships/image" Target="/ppt/media/image11.png" Id="R4416591bee79437c" /><Relationship Type="http://schemas.openxmlformats.org/officeDocument/2006/relationships/hyperlink" Target="https://aiskillsnavigator.microsoft.com/playlists/291ff1ba-c754-44f1-9814-ef8917f8c989" TargetMode="External" Id="R2f6b1482fb1d43a0" /><Relationship Type="http://schemas.openxmlformats.org/officeDocument/2006/relationships/notesSlide" Target="/ppt/notesSlides/notesSlide20.xml" Id="Re5314e90e1e0401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b610ae6854424" /><Relationship Type="http://schemas.openxmlformats.org/officeDocument/2006/relationships/image" Target="/ppt/media/image12.png" Id="Rbf8c50064e39423b" /><Relationship Type="http://schemas.openxmlformats.org/officeDocument/2006/relationships/hyperlink" Target="https://aiskillsnavigator.microsoft.com/playlists/291ff1ba-c754-44f1-9814-ef8917f8c989" TargetMode="External" Id="R2e2a7ff9f95b45e9" /><Relationship Type="http://schemas.openxmlformats.org/officeDocument/2006/relationships/hyperlink" Target="https://learn.microsoft.com/zh-cn/training/courses/ms-4004" TargetMode="External" Id="R641913f16c5645e0" /><Relationship Type="http://schemas.openxmlformats.org/officeDocument/2006/relationships/notesSlide" Target="/ppt/notesSlides/notesSlide21.xml" Id="R173d35db28e8402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3b04d1f8847ce" /><Relationship Type="http://schemas.openxmlformats.org/officeDocument/2006/relationships/hyperlink" Target="https://aiskillsnavigator.microsoft.com/playlists/291ff1ba-c754-44f1-9814-ef8917f8c989" TargetMode="External" Id="Rab253e6036e04ab6" /><Relationship Type="http://schemas.openxmlformats.org/officeDocument/2006/relationships/notesSlide" Target="/ppt/notesSlides/notesSlide22.xml" Id="R1cb996fcd18146a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cfdbbb9fb4412" /><Relationship Type="http://schemas.openxmlformats.org/officeDocument/2006/relationships/hyperlink" Target="https://m365.cloud.microsoft/chat" TargetMode="External" Id="R17a0dd8723654716" /><Relationship Type="http://schemas.openxmlformats.org/officeDocument/2006/relationships/notesSlide" Target="/ppt/notesSlides/notesSlide23.xml" Id="R3cd0816eb9c0405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4ce87ed9d4654" /><Relationship Type="http://schemas.openxmlformats.org/officeDocument/2006/relationships/hyperlink" Target="https://m365.cloud.microsoft/chat" TargetMode="External" Id="R7539e96b007e4376" /><Relationship Type="http://schemas.openxmlformats.org/officeDocument/2006/relationships/notesSlide" Target="/ppt/notesSlides/notesSlide24.xml" Id="Ra4610b0e4ae246d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8d6e7da50460d" /><Relationship Type="http://schemas.openxmlformats.org/officeDocument/2006/relationships/hyperlink" Target="https://m365.cloud.microsoft/chat" TargetMode="External" Id="R25b7dfc42eaa4916" /><Relationship Type="http://schemas.openxmlformats.org/officeDocument/2006/relationships/notesSlide" Target="/ppt/notesSlides/notesSlide25.xml" Id="R13565e2cf9b6497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41deaf00c4521" /><Relationship Type="http://schemas.openxmlformats.org/officeDocument/2006/relationships/hyperlink" Target="https://m365.cloud.microsoft/chat" TargetMode="External" Id="R662f6cb88dcd4938" /><Relationship Type="http://schemas.openxmlformats.org/officeDocument/2006/relationships/notesSlide" Target="/ppt/notesSlides/notesSlide26.xml" Id="R36b65f67552548e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9f46905e14d13" /><Relationship Type="http://schemas.openxmlformats.org/officeDocument/2006/relationships/hyperlink" Target="https://m365.cloud.microsoft/chat" TargetMode="External" Id="Redc0782c12c945d8" /><Relationship Type="http://schemas.openxmlformats.org/officeDocument/2006/relationships/notesSlide" Target="/ppt/notesSlides/notesSlide27.xml" Id="Ra37830ad64874b8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6f1e19e6c4c1e" /><Relationship Type="http://schemas.openxmlformats.org/officeDocument/2006/relationships/hyperlink" Target="https://m365.cloud.microsoft/chat" TargetMode="External" Id="R71aca8fb08944fa4" /><Relationship Type="http://schemas.openxmlformats.org/officeDocument/2006/relationships/notesSlide" Target="/ppt/notesSlides/notesSlide28.xml" Id="R7c65d77461f7477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9ead568384a21" /><Relationship Type="http://schemas.openxmlformats.org/officeDocument/2006/relationships/image" Target="/ppt/media/image13.png" Id="R26d3e44f2a7f4b8e" /><Relationship Type="http://schemas.openxmlformats.org/officeDocument/2006/relationships/hyperlink" Target="https://m365.cloud.microsoft/chat" TargetMode="External" Id="R24b436095b214730" /><Relationship Type="http://schemas.openxmlformats.org/officeDocument/2006/relationships/notesSlide" Target="/ppt/notesSlides/notesSlide29.xml" Id="R41e131d75edf4f4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0e9f460f54920" /><Relationship Type="http://schemas.openxmlformats.org/officeDocument/2006/relationships/hyperlink" Target="https://m365.cloud.microsoft/chat" TargetMode="External" Id="Rabcdb479ef4145e7" /><Relationship Type="http://schemas.openxmlformats.org/officeDocument/2006/relationships/notesSlide" Target="/ppt/notesSlides/notesSlide30.xml" Id="Rac65044eac4f45f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c717074bc420f" /><Relationship Type="http://schemas.openxmlformats.org/officeDocument/2006/relationships/hyperlink" Target="https://m365.cloud.microsoft/chat" TargetMode="External" Id="Ref769f890a8e4659" /><Relationship Type="http://schemas.openxmlformats.org/officeDocument/2006/relationships/notesSlide" Target="/ppt/notesSlides/notesSlide31.xml" Id="R6c7a3c85972a49d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cd3fd5bc94039" /><Relationship Type="http://schemas.openxmlformats.org/officeDocument/2006/relationships/hyperlink" Target="https://philips-ai-tool-lab.github.io/ai-tool-lab-preview/" TargetMode="External" Id="R1972b6b1c38547a9" /><Relationship Type="http://schemas.openxmlformats.org/officeDocument/2006/relationships/hyperlink" Target="https://philips-ai-tool-lab.github.io/ai-tool-lab-preview/#agent-builder-path" TargetMode="External" Id="R3c7bff4f6b784fa6" /><Relationship Type="http://schemas.openxmlformats.org/officeDocument/2006/relationships/hyperlink" Target="https://m365.cloud.microsoft/chat" TargetMode="External" Id="R2f69ef9141844aeb" /><Relationship Type="http://schemas.openxmlformats.org/officeDocument/2006/relationships/notesSlide" Target="/ppt/notesSlides/notesSlide32.xml" Id="R75e04f597f25474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5f7df47734fba" /><Relationship Type="http://schemas.openxmlformats.org/officeDocument/2006/relationships/image" Target="/ppt/media/image14.png" Id="R6f14e26bd55348c6" /><Relationship Type="http://schemas.openxmlformats.org/officeDocument/2006/relationships/hyperlink" Target="https://philips-ai-tool-lab.github.io/ai-tool-lab-preview/" TargetMode="External" Id="Rdcc1e6307d5547ed" /><Relationship Type="http://schemas.openxmlformats.org/officeDocument/2006/relationships/hyperlink" Target="https://philips-ai-tool-lab.github.io/ai-tool-lab-preview/#agent-builder-path" TargetMode="External" Id="R22c548bb1305401c" /><Relationship Type="http://schemas.openxmlformats.org/officeDocument/2006/relationships/notesSlide" Target="/ppt/notesSlides/notesSlide33.xml" Id="R339c1a2499dd4ba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92edb9b7b4d40" /><Relationship Type="http://schemas.openxmlformats.org/officeDocument/2006/relationships/hyperlink" Target="https://philips-ai-tool-lab.github.io/ai-tool-lab-preview/labs/chief-of-staff/" TargetMode="External" Id="R2c2039bf65a7487e" /><Relationship Type="http://schemas.openxmlformats.org/officeDocument/2006/relationships/hyperlink" Target="https://philips-ai-tool-lab.github.io/ai-tool-lab-preview/labs/product-manual-faq/" TargetMode="External" Id="R0ac68eac5ed4445f" /><Relationship Type="http://schemas.openxmlformats.org/officeDocument/2006/relationships/hyperlink" Target="https://philips-ai-tool-lab.github.io/ai-tool-lab-preview/labs/meeting-follow-up/" TargetMode="External" Id="Rcc4d951586994528" /><Relationship Type="http://schemas.openxmlformats.org/officeDocument/2006/relationships/hyperlink" Target="https://philips-ai-tool-lab.github.io/ai-tool-lab-preview/labs/funnel-data-analyst/" TargetMode="External" Id="R63f42faeb0d7417d" /><Relationship Type="http://schemas.openxmlformats.org/officeDocument/2006/relationships/notesSlide" Target="/ppt/notesSlides/notesSlide34.xml" Id="Ra20ba6ae81934a0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48826071e443c" /><Relationship Type="http://schemas.openxmlformats.org/officeDocument/2006/relationships/image" Target="/ppt/media/image15.png" Id="Rf05f0ec6ff8542c0" /><Relationship Type="http://schemas.openxmlformats.org/officeDocument/2006/relationships/hyperlink" Target="https://philips-ai-tool-lab.github.io/ai-tool-lab-preview/labs/chief-of-staff/" TargetMode="External" Id="Rf039c3f534864a0e" /><Relationship Type="http://schemas.openxmlformats.org/officeDocument/2006/relationships/notesSlide" Target="/ppt/notesSlides/notesSlide35.xml" Id="R4cc530261bc9492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202988d66451b" /><Relationship Type="http://schemas.openxmlformats.org/officeDocument/2006/relationships/image" Target="/ppt/media/image16.png" Id="R69aa6dcb73784d0d" /><Relationship Type="http://schemas.openxmlformats.org/officeDocument/2006/relationships/hyperlink" Target="https://philips-ai-tool-lab.github.io/ai-tool-lab-preview/labs/product-manual-faq/" TargetMode="External" Id="Ra1bca1bfa2b04c1e" /><Relationship Type="http://schemas.openxmlformats.org/officeDocument/2006/relationships/notesSlide" Target="/ppt/notesSlides/notesSlide36.xml" Id="R841c6a446bf6476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d6e3760124e2d" /><Relationship Type="http://schemas.openxmlformats.org/officeDocument/2006/relationships/image" Target="/ppt/media/image17.png" Id="Rb80fe889ca324034" /><Relationship Type="http://schemas.openxmlformats.org/officeDocument/2006/relationships/hyperlink" Target="https://philips-ai-tool-lab.github.io/ai-tool-lab-preview/labs/meeting-follow-up/" TargetMode="External" Id="R7e6c3d768cbd4472" /><Relationship Type="http://schemas.openxmlformats.org/officeDocument/2006/relationships/notesSlide" Target="/ppt/notesSlides/notesSlide37.xml" Id="R90b60c2bb6404ca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aeccfb0d540d2" /><Relationship Type="http://schemas.openxmlformats.org/officeDocument/2006/relationships/image" Target="/ppt/media/image18.png" Id="R4271a61782e64d96" /><Relationship Type="http://schemas.openxmlformats.org/officeDocument/2006/relationships/hyperlink" Target="https://philips-ai-tool-lab.github.io/ai-tool-lab-preview/labs/funnel-data-analyst/" TargetMode="External" Id="R56504fc5acb445a4" /><Relationship Type="http://schemas.openxmlformats.org/officeDocument/2006/relationships/notesSlide" Target="/ppt/notesSlides/notesSlide38.xml" Id="Rfb630028382c490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91758595c47ba" /><Relationship Type="http://schemas.openxmlformats.org/officeDocument/2006/relationships/hyperlink" Target="https://philips-ai-tool-lab.github.io/ai-tool-lab-preview/#agent-builder-path" TargetMode="External" Id="R9894269b026f4460" /><Relationship Type="http://schemas.openxmlformats.org/officeDocument/2006/relationships/notesSlide" Target="/ppt/notesSlides/notesSlide39.xml" Id="Re8c2db8298994e3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d5c993e7f4c79" /><Relationship Type="http://schemas.openxmlformats.org/officeDocument/2006/relationships/image" Target="/ppt/media/image19.png" Id="R351c7ba4d82b4eae" /><Relationship Type="http://schemas.openxmlformats.org/officeDocument/2006/relationships/hyperlink" Target="https://m365.cloud.microsoft/chat" TargetMode="External" Id="R3ce47c8834644122" /><Relationship Type="http://schemas.openxmlformats.org/officeDocument/2006/relationships/notesSlide" Target="/ppt/notesSlides/notesSlide40.xml" Id="Rd9886e2703464c5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981a020984542" /><Relationship Type="http://schemas.openxmlformats.org/officeDocument/2006/relationships/image" Target="/ppt/media/image20.png" Id="R20a07492ca1f49ac" /><Relationship Type="http://schemas.openxmlformats.org/officeDocument/2006/relationships/hyperlink" Target="https://philips-ai-tool-lab.github.io/ai-tool-lab-preview/#agent-builder-path" TargetMode="External" Id="Rd209307681334a21" /><Relationship Type="http://schemas.openxmlformats.org/officeDocument/2006/relationships/notesSlide" Target="/ppt/notesSlides/notesSlide41.xml" Id="Re184b581d75f480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fe2583fb94fde" /><Relationship Type="http://schemas.openxmlformats.org/officeDocument/2006/relationships/image" Target="/ppt/media/image21.png" Id="R3d514f720d6c4cf2" /><Relationship Type="http://schemas.openxmlformats.org/officeDocument/2006/relationships/hyperlink" Target="https://philips-ai-tool-lab.github.io/ai-tool-lab-preview/labs/meeting-follow-up/" TargetMode="External" Id="Rdee725398b4d4cdd" /><Relationship Type="http://schemas.openxmlformats.org/officeDocument/2006/relationships/notesSlide" Target="/ppt/notesSlides/notesSlide42.xml" Id="Rec3ad47a1d7a44f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1688ddbab4e42" /><Relationship Type="http://schemas.openxmlformats.org/officeDocument/2006/relationships/image" Target="/ppt/media/image22.png" Id="Rda931f7a746d4fc3" /><Relationship Type="http://schemas.openxmlformats.org/officeDocument/2006/relationships/hyperlink" Target="https://philips-ai-tool-lab.github.io/ai-tool-lab-preview/#agent-builder-path" TargetMode="External" Id="R4113f523597248f2" /><Relationship Type="http://schemas.openxmlformats.org/officeDocument/2006/relationships/notesSlide" Target="/ppt/notesSlides/notesSlide43.xml" Id="Rec308b0463044c5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0877604084cfe" /><Relationship Type="http://schemas.openxmlformats.org/officeDocument/2006/relationships/image" Target="/ppt/media/image23.png" Id="R630b744f97414252" /><Relationship Type="http://schemas.openxmlformats.org/officeDocument/2006/relationships/hyperlink" Target="https://philips-ai-tool-lab.github.io/ai-tool-lab-preview/labs/meeting-follow-up/" TargetMode="External" Id="R432db52ef5274d8a" /><Relationship Type="http://schemas.openxmlformats.org/officeDocument/2006/relationships/notesSlide" Target="/ppt/notesSlides/notesSlide44.xml" Id="R3416df34137c491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9e0835e90469c" /><Relationship Type="http://schemas.openxmlformats.org/officeDocument/2006/relationships/image" Target="/ppt/media/image24.png" Id="R751d0e4f4f664d1f" /><Relationship Type="http://schemas.openxmlformats.org/officeDocument/2006/relationships/hyperlink" Target="https://philips-ai-tool-lab.github.io/ai-tool-lab-preview/#agent-builder-path" TargetMode="External" Id="Rbcd7ad39570a4aa6" /><Relationship Type="http://schemas.openxmlformats.org/officeDocument/2006/relationships/notesSlide" Target="/ppt/notesSlides/notesSlide45.xml" Id="R0d610028acda405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5289e4433431c" /><Relationship Type="http://schemas.openxmlformats.org/officeDocument/2006/relationships/image" Target="/ppt/media/image25.png" Id="R757404eab8774d28" /><Relationship Type="http://schemas.openxmlformats.org/officeDocument/2006/relationships/hyperlink" Target="https://m365.cloud.microsoft/chat" TargetMode="External" Id="R1face45624bf495c" /><Relationship Type="http://schemas.openxmlformats.org/officeDocument/2006/relationships/notesSlide" Target="/ppt/notesSlides/notesSlide46.xml" Id="R6d13e949638c44c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94215ec1d40fa" /><Relationship Type="http://schemas.openxmlformats.org/officeDocument/2006/relationships/image" Target="/ppt/media/image26.png" Id="R0b3d5bd702494930" /><Relationship Type="http://schemas.openxmlformats.org/officeDocument/2006/relationships/hyperlink" Target="https://philips-ai-tool-lab.github.io/ai-tool-lab-preview/labs/meeting-follow-up/" TargetMode="External" Id="R62116dfdf6fc469e" /><Relationship Type="http://schemas.openxmlformats.org/officeDocument/2006/relationships/notesSlide" Target="/ppt/notesSlides/notesSlide47.xml" Id="R7313938750774de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9f40bb4324edd" /><Relationship Type="http://schemas.openxmlformats.org/officeDocument/2006/relationships/hyperlink" Target="https://philips-ai-tool-lab.github.io/ai-tool-lab-preview/labs/chief-of-staff/" TargetMode="External" Id="R29ca237ad2a4425d" /><Relationship Type="http://schemas.openxmlformats.org/officeDocument/2006/relationships/hyperlink" Target="https://philips-ai-tool-lab.github.io/ai-tool-lab-preview/labs/product-manual-faq/" TargetMode="External" Id="Rfdf1aa7006ac455c" /><Relationship Type="http://schemas.openxmlformats.org/officeDocument/2006/relationships/hyperlink" Target="https://philips-ai-tool-lab.github.io/ai-tool-lab-preview/labs/meeting-follow-up/" TargetMode="External" Id="R8b9eb92e931b4f47" /><Relationship Type="http://schemas.openxmlformats.org/officeDocument/2006/relationships/hyperlink" Target="https://philips-ai-tool-lab.github.io/ai-tool-lab-preview/labs/funnel-data-analyst/" TargetMode="External" Id="R8f6241a2d90847c6" /><Relationship Type="http://schemas.openxmlformats.org/officeDocument/2006/relationships/hyperlink" Target="https://m365.cloud.microsoft/chat" TargetMode="External" Id="Rf60302fa30694cda" /><Relationship Type="http://schemas.openxmlformats.org/officeDocument/2006/relationships/notesSlide" Target="/ppt/notesSlides/notesSlide48.xml" Id="Rbc0b1d1cb34948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F0675-FBBE-430A-968B-FC03AD5C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1656B-EEBC-4624-B613-3036A80C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6E0A4-E252-4A28-9E2C-24E770C7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64F1B-77F5-4414-98BA-CAA26D9F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GCR AI Ambassador · Copilot 实操 · Copilot Builder 动手实验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C989A-DC8D-4F3E-8F90-04C2FED4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99919-B129-4A4E-B3B0-2BF51621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6f758790e304065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14221017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D01A5-07D8-4F9D-9025-76B671AC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DA74D-0891-4E33-BBF5-89896609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5D16D-1861-46B9-ABE5-0B4F778E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31357-A798-4BAE-8366-AE853401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以人引领、AI 赋能，意味着把 AI 放进真正创造价值的业务场景，同时持续建设工具、能力和负责任使用的共同基础。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E2D23-9F83-4669-8D5C-BEBEF8AE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41367-20F6-4526-99D7-5C42F74F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D1DA8-E9AA-488D-AC49-E16D2FAA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73EA0-F76F-4047-B229-41ABE223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F675F-C9E0-4EC4-9324-0809B136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481F8-1723-46F2-B99E-D519FC8A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F121E-DA58-4D24-8CF7-BE15A0C6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CD39F-EA3E-4AE2-9CCB-E1E167D8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32336-4887-49CA-BFB6-84F052A2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C5D59-25CC-4F9F-BF02-C6C527C4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5D9A27-38BB-4F32-B3A3-04757302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59DD98-147E-4A4C-A9AE-09C1F1F6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F8FFB-E85D-4153-8F00-548ADE4E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7475E-3CCD-4969-946B-54D91389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持续投入工具与能力建设，帮助员工成长，并提升组织面向未来的竞争力。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18B82-7028-4D06-A823-D6905FC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CB9B5-4517-4B10-B3C0-CBA1AA87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44425-A395-4C2A-9D7D-ED5EAF0E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d6aa9ca39f744ec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7580195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6D9ABC-0F60-47AB-92D4-18EDAB4C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C805F-EDEE-463F-A2D9-C0B38E83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601B4-B930-4438-9A07-E30CF2AA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65525-07DC-47D4-A436-B881D1E4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1A97E-713F-4AD2-88CD-DB8A9E3A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98CFD-A3A9-4C36-A181-70ACC207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EBA2E-1659-4DD2-B234-66157C6D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2B4BC-FA5D-48EF-A265-0142D385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9F89D-4446-4E3F-A10D-11CD6963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32BA3-BB66-41D0-AC25-A4D8012C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6D021-109E-440E-95C7-2101402C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C6667-EB1D-4DDA-84CA-EDAFB621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10AC2-C9A7-4347-93BE-A71E50A2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9150C-A2A4-455E-A01E-DE65A076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21493-E7B1-4980-953B-9B66E7EF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9F546-26DA-4A4B-BCB1-E65975F1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E8702-9794-45F6-B466-4EADDE23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62E5E-C143-44C0-8ECC-86D77616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92394A-F3BA-4D46-8E1C-15711FBB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05A436-03FA-49D0-8B71-E9ACFB84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AAD545-3E9D-4F1C-9E59-C7B73E5C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506F0-901B-47B8-8652-1141AC0C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C31480-CBE6-4DB8-9F9E-4BCB2F13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63A9AE-1849-4612-8762-F26EB5FA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CF4651-0165-41BE-896B-F153CA20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AA03E1-D021-47F6-A968-62DD65EE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8831DB-7BE9-4390-801E-12DD8DE9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4DFFF7-EAC9-4A37-9F77-9A5D340D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9DC60B-3F10-4BEB-A975-9165A2F8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d97529bbf474135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6786867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82994-93FA-4729-BD82-78A910A4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E5F0E-A75F-4A0F-AA09-3D8376B5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E82B9-3F47-4AA3-BAAC-32C09AC3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30269-C304-4587-A224-F391DCF5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把 AI Gateway 作为企业 ChatGPT 的治理与访问入口，理解它能展示什么，以及不能替代什么。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BEE57-9A90-4C5A-90E8-CAED57DF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4b96dc839df465d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0365259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3050E-6EB1-47A2-8A9E-59C123A1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1D47C-F968-4940-8B27-C86D45D0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52401-48F7-4D4C-B08F-D8607649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战略：重点项目、当前进展与下一阶段计划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6C74E-F4AC-47C3-94DE-E7F7B0FF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Group Sustainability 将 AI 工作划分为五条重点方向，每条方向都标明负责人、当前进展和下一阶段计划。绿色 Now 代表正在运行或部署的工作，橙色 Next 代表后续扩展项目。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52765-BF99-4A3F-9745-D4F3BC4D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6A8F1-9967-4234-B97F-BEF5C8CB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4f6703f9b44ed"/>
          <a:stretch xmlns:a="http://schemas.openxmlformats.org/drawingml/2006/main"/>
        </p:blipFill>
        <p:spPr>
          <a:xfrm xmlns:a="http://schemas.openxmlformats.org/drawingml/2006/main">
            <a:off x="1114425" y="18097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8B2CC-11F1-43AB-B0F4-C83651F1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B1ECF-8DC3-40EB-9B73-AA7B1E8D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22018-4DB8-4E53-B8C1-E4B0C334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5A8D7-2DCB-476A-B8A5-62BDD4D0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五条重点方向：AI Capability &amp; Adoption、Supplier Sustainability、Regulatory &amp; Compliance、Business &amp; Markets、Reporting &amp; Analysis。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Now 与 Next：Now 记录已经投入使用或正在部署的项目；Next 列出准备扩展、标准化或接入正式流程的后续工作。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项目管理：每一列底部列出 Sponsor、LT 和 Owner，便于确认业务支持、领导责任和日常推进责任。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D9C49-2501-45AF-BF00-EC129E15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0f8c8ee7f184606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102569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05C5B-5D6B-4237-997A-C6EEAB95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70DFF-4FFF-4960-9737-F4DBBD66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6357A-D8E4-4957-8A8E-0F5B662B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三条基础工作流：能力建设、供应商风险与法规处理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21F54-44D8-4659-BF1E-83BE50DC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Capability &amp; Adoption 负责员工能力建设，Supplier Sustainability 处理供应商风险数据，Regulatory &amp; Compliance 支持法规筛查、解读及后续流程衔接。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A837D-A2A3-40A3-83F7-44122FBA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45984-14DC-401C-B6A1-89BB4570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4ae53b44545e8"/>
          <a:stretch xmlns:a="http://schemas.openxmlformats.org/drawingml/2006/main"/>
        </p:blipFill>
        <p:spPr>
          <a:xfrm xmlns:a="http://schemas.openxmlformats.org/drawingml/2006/main">
            <a:off x="1114425" y="18097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6E842-3B56-460D-99C9-09E315D9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D3286-52E4-43F9-B49E-B45988E2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CE416-43F7-4826-96BE-8A5CCF0A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C3E78-90B2-4675-91FF-37DC74C9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1｜AI Capability &amp; Adoption：当前正在开发面向 GSO 岗位的角色化学习路径，并通过实践社区分享用例和采用经验；下一步建立 AI 价值漏斗与 champion network，把高价值用例识别、排序并推动规模化。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2｜Supplier Sustainability：当前 AI 已用于强化供应商可持续风险洞察与成熟度评估，并借助自动化公共信息筛查推进供应商风险画像；下一步处理非结构化供应商数据，进一步支持改进措施。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3｜Regulatory &amp; Compliance：当前 AI 每年辅助分流 2,000 多项可持续发展法规，并扩展到更快、更一致的 B/R/F 指导解读；下一步把监测能力连接到 QMS 要求和审计流程。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15FA4-F86F-4BC1-A411-FFFFAB0C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6cb710e7f824fb2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9586677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23473-56DE-4058-A35F-ED1DB4C2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A4EFA-FFD5-4E11-906A-FCBAE57C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65215-DECE-47F3-B781-B7BF1E00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商业支持、报告分析与 2026 年重点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7E123-FC58-4242-9ACA-D824CCF0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Business &amp; Markets 聚焦投标和市场支持；Reporting &amp; Analysis 覆盖双重重要性评估、数据采集及披露流程。2026 年将继续扩大已验证项目，并统一共同能力。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435D5-64D4-4722-9A27-026B3003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2740A-04A5-44CB-B24B-B032EA9D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1eb8e847c4502"/>
          <a:stretch xmlns:a="http://schemas.openxmlformats.org/drawingml/2006/main"/>
        </p:blipFill>
        <p:spPr>
          <a:xfrm xmlns:a="http://schemas.openxmlformats.org/drawingml/2006/main">
            <a:off x="1114425" y="18097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F8B11-892B-4EA2-A5AD-B395E91D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AA444-C1B8-46DF-B947-207F5FB5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7C957-D2FD-44DC-93A1-1D54A713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CCDCA-9E44-49A0-812E-53044FD8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4｜Business &amp; Markets：Tender Assistant 正在部署，用于支持 150 多个销售后台团队；同时通过简化工作流减少人工协调、释放专家产能。下一步将在更多区域和优先投标场景中扩大 AI 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5｜Reporting &amp; Analysis：AI 当前支持 Double Materiality Assessment，并通过 GLYNT.ai 扩大制造基地的发票数据采集；下一步计划支持 CDP 等披露工作流和部分 DJSI 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focus：规模化已经验证的用例、标准化共同能力，并优先选择能够衡量影响的项目。每列底部的 Sponsor、LT 和 Owner 确保项目有人负责、有人推动。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1D600-C44F-4AF4-B49B-4794AEE1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0b9293f9ee24278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114953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E4DF17-88CA-407B-916A-6D0B3EEF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1896F-8CF0-40B1-853A-5B273DC5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024AA-2F42-4791-B6D1-77A56A4D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Game Plan：五大支柱与基础支撑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2FFBB-816C-47FE-B414-111A32AB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Greater China 的 AI 布局从组织能力、商业洞察、运营服务、职能运营和生态创新五个方向推进，并由技术、数据、治理和 Responsible AI 共同支撑。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F5A81-2405-47A9-890E-F0FE58E8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1934B-56B0-4BC7-97ED-77FCECDE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570E5-BF96-4B98-9211-2ADF0AC6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53006-6BC2-476E-952A-7A55B77D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20EEF-4500-41F0-A7FA-0A324A93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提升组织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14E7F-4434-45EC-8805-590EFF94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AI fluency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C5133-919C-4247-9269-D4C77261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社群与网络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文化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9541C-B16F-4EA7-8774-6B074E92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78347-F024-4C5D-9507-783C3468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058FC-10EC-4380-A9B8-C91D9A54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B03DB-27F1-49F8-905D-8247BFCD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Win with AI &amp;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1ADDE0-FD84-4BD3-B7D6-C7B89B80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商机与漏斗洞察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赢丢单复盘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智能投标与定价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3C62E-58E8-45C4-BB4B-1E95E6BC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9D8CA-73A7-4927-84FC-0E7884A6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6584D2-23AB-49E5-86E3-F084EF1A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运营与服务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卓越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C1B91-DE00-402F-86F9-00EFCB2F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Operational excellence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06C32E-531A-43DC-9C59-F7C7A324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无接触订单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服务运营平台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智慧工厂与供应链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0C2CAA-4145-4345-9AE9-F5433D0A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D88A41-28FB-4C75-A303-FC1EFFB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02FA18-552C-42C4-A481-6A7B4A83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职能运营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卓越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B31134-661A-4AFD-87F3-9678A698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Functional excellence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6756FC-30B9-4811-8F6B-FF785D93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市场、财务与 HR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法规、质量与法务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战略与竞品情报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6B8C03-A03A-4DD6-8C24-B55480EF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FB36BA-9142-4394-A466-AF7D8AF4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75265F-6009-4E86-AF2B-53EE00A9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与生态圈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E2D8B7-F9CC-4701-9DCB-3E8B32BD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E2E innovation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F80400-5EC6-493C-8E81-121B89EA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端到端创新加速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本地第三方 AI 伙伴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生态协同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E778F9-119B-43FF-9AE0-2FE04AD6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BD4730-5222-467C-81D8-C75AA317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375F30-E63B-4759-A731-92E204C4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F4045C-B637-405E-BB3C-77ED074A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33317B-633A-40AD-8476-506EC3AC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B0999E-D638-4019-A943-0B4CA0D2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ACE5E4-730A-4D13-AE53-B457E8E2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1DA16A-07C2-4BB2-94C0-CC9DCF06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506D4C-B5C7-4F52-A82B-321694EF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D1E552-60F3-48F9-BA0A-B9B73153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cf50348f06546e8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356939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023193-3602-4EEC-9109-9084D9A4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86E33-ECA3-4F3F-A339-EBB35837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92A51-AEF9-419D-9D5B-C2A8C6E1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Gateway：企业 ChatGPT 的访问与支持入口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B85AB-B024-4022-A2EF-A1B0A6FF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 集中展示企业 ChatGPT 的访问状态、申请支持、使用规范和运营信息。Microsoft 官方课程在 AI Skills Navigator 中学习，Copilot 的实际操作则进入 Microsoft 365 Copilot。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D3715-F574-4169-971B-683F8D4B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AEC0E-4F89-4AF4-95FB-F2DB3697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33C6E-01C2-496D-A938-8E53A933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4514E-CE8D-4DC1-9BF4-3EBD409A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65ED6-4910-44A2-817A-AA378BA2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246F9-6AB3-4CA6-969B-0778F9E6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访问与开通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99211-07A4-4FE3-A1FC-FBF238E0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说明企业版 ChatGPT 的访问方式、申请路径和 onboarding 支持，帮助员工从正确入口开始使用。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5BA7B-7782-406A-865B-597447BA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A2CCE-B45C-4778-9701-CE3C1003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E12AE-6DC6-42AE-AF7D-6CBB9DDF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59243-1B10-4D1B-AF41-58A3F174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治理与责任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BDBD9-E872-48D2-B951-6881B96A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呈现企业使用预期、数据处理边界、Responsible AI 提醒，以及人工复核的责任。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3353F-A62A-4768-A67B-322ACEE3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EA893-5FE2-428D-A556-04324401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52EC9-E22A-4CC0-AF9A-AD6A2270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B43F3-323F-4197-8AA7-188CBDA7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可见性与运营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0EDFC8-8319-4DFB-9D86-E0840EA7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面向平台运营提供使用、请求状态和治理信号的可见性；部分个人页面还可能显示用量信息。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039EFA-9B67-4D48-BC1D-CBC8589C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 AI Gateway 先找到三件事：我的访问状态、申请或咨询入口、企业使用规范。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BEDFE6-FBA6-4DFD-B469-1C9E7B87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72e91c0347644d9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6075682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A9626-FD79-4A47-B5D6-ACC7E09C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8532C-C8EF-41FD-A6AD-AF17961B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D8D24-84BF-417E-90C0-00FCCA80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入口与访问：AI Gateway 同时管理开通、治理与运营可见性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CF406-E04B-4FE2-9E95-F52E5668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首页上方说明 Enterprise ChatGPT for Philips 的定位；右侧状态卡显示当前标准用户配置可使用引导助手。下方三张卡分别对应成本与配额、使用可见性和标准化 onboarding，说明这是受企业运营模型管理的入口。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D7C89-B36C-4E0C-BC65-A3D785C5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79D81-C592-4905-AD44-C256B4BC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53fcca6954657"/>
          <a:stretch xmlns:a="http://schemas.openxmlformats.org/drawingml/2006/main"/>
        </p:blipFill>
        <p:spPr>
          <a:xfrm xmlns:a="http://schemas.openxmlformats.org/drawingml/2006/main">
            <a:off x="896711" y="1809750"/>
            <a:ext cx="653142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6458C-0B65-4BFB-850B-46BC15D6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9A2AB-0036-4F30-BDC0-AC634B88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C3297-42E8-4F51-A655-B236639A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226A8-FAD5-4200-B4BB-272575D7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访问入口：主卡提供 Request access through the assistant，并明确 assistant 可回答 onboarding、企业使用预期、Responsible AI 和申请步骤。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访问状态：右侧卡片显示当前可使用 AI Gateway 的引导助手；ChatGPT 的具体权限和开通进度仍以页面中的账户状态为准。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运营机制：下方三项说明用量与成本配额相连、请求与治理信号可观察、申请按 Philips group 和审批路径标准化。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8F359-1C7D-4484-B30C-97F61371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15a399ab6b2472a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8909178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FC704-A966-422B-80E9-11EC336A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66B73-E2EB-4BA7-8852-3D9BCA86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92960-FCE8-4DDE-9754-455FE624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Enterprise ChatGPT：申请前先获得 GCMT 批准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53D36-6B13-49E0-898C-C119A811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Enterprise ChatGPT 面向明确的部门、企业或产品研发场景。申请账号和中国网络服务之前，需要先取得本部门对应 GCMT 的批准。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E367C-3E7D-4B7E-AE72-6508AAC9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56940-D769-4615-84CE-B35165EC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74c27270e433e"/>
          <a:stretch xmlns:a="http://schemas.openxmlformats.org/drawingml/2006/main"/>
        </p:blipFill>
        <p:spPr>
          <a:xfrm xmlns:a="http://schemas.openxmlformats.org/drawingml/2006/main">
            <a:off x="687917" y="1762125"/>
            <a:ext cx="7044267" cy="3962400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E1E75-4FC8-43F7-B901-4448BEF3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70866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0A840-9096-46ED-9878-52F0898A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62125"/>
            <a:ext cx="3581400" cy="39624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B9688-A978-4A61-8A7F-AFAF8842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7167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申请条件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E443C-2089-452F-973C-BF9C96C2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90775"/>
            <a:ext cx="31242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适用场景：部门或企业级应用、系统与智能体的技术架构设计和实际开发，以及 Philips 产品的科研、设计和开发。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部门统筹：各部门结合预算和业务需求确定申请范围，原材料建议申请人数不超过部门总人数的 3%。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批准方式：个人可在预算允许的情况下取得 GCMT 邮件批准，也可由部门统一确认人员名单；名单后续可按月复核调整。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FEDA6-BA1B-4AD7-8F74-AFDE69FE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895d2293ab34e54"/>
              </a:rPr>
              <a:t>打开 AI Gateway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8AF58-87E3-4580-B00C-F8B52491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bbbddf08cf64f33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7725813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9E37F-6A1F-43B1-9E16-713D87EE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D52A4-3EC4-48EE-B0EE-9E19C2F2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A803D-07EF-4ADE-A624-8B8D3CC3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账号开通与中国网络服务分别申请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D35D9-1375-4DDD-960C-D94D2FB6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取得 GCMT 批准后，同时完成 Enterprise ChatGPT 账号申请和 China Internet Acceleration Service 申请；两条路径各有一封审批完成邮件。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681D8-581C-41FE-BA11-DE074E87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31086-36B3-40D0-BE64-00317A86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117dcd1eb4285"/>
          <a:stretch xmlns:a="http://schemas.openxmlformats.org/drawingml/2006/main"/>
        </p:blipFill>
        <p:spPr>
          <a:xfrm xmlns:a="http://schemas.openxmlformats.org/drawingml/2006/main">
            <a:off x="687917" y="1762125"/>
            <a:ext cx="7044267" cy="3962400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C98F9-4BB2-440E-9075-3AE71E5B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70866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DD3C4-4296-4023-A640-9EBE56BA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62125"/>
            <a:ext cx="3581400" cy="39624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3F093-9A35-44B7-8198-6170697B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7167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两条申请路径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48DAE-A0AC-48D3-B061-E9E6DD8D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90775"/>
            <a:ext cx="31242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账号开通：进入 AI Gateway，在 AI Assistant 对话框输入“Access”，提交 Enterprise ChatGPT 账号申请；开通后会收到 OpenAI 邮件。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网络服务：在 ServiceNow 申请 China Internet Acceleration Service for Premium Users，并上传个人承诺书和 GCMT 批准材料。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完成标志：网络服务审批完成后会收到 SNOW 关单邮件。确认 OpenAI 开通邮件和 SNOW 关单邮件均已收到，再安装登录工具。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4C323-E1DD-44E7-938A-46642893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0e66683eeb743fd"/>
              </a:rPr>
              <a:t>申请 Enterprise ChatGPT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DCD2D-DD21-4EE8-83FA-2F45DB13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1f7055291cf4434"/>
              </a:rPr>
              <a:t>申请中国网络服务  ↗</a:t>
            </a:r>
          </a:p>
        </p:txBody>
      </p:sp>
    </p:spTree>
    <p:extLst>
      <p:ext uri="{BB962C8B-B14F-4D97-AF65-F5344CB8AC3E}">
        <p14:creationId xmlns:p14="http://schemas.microsoft.com/office/powerpoint/2010/main" val="10402472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6B340-A73C-4AE6-916E-357C01F4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5B718-3978-4B14-BEA9-41BCEDBF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82F2C-DFC7-4ACC-8E07-069A6FB3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审批完成后：通过 Proxy Doctor 登录 Enterprise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DF72E-07FB-4757-9DF8-62941C7C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确认两项审批完成后，从 Software Portal 安装 ChatGPT Proxy Doctor，通过工具打开 ChatGPT，并使用 Philips Single Sign-On 进入企业工作区。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38D68-9775-47FE-BF3E-154E8741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5E1C7-4B9F-4C92-B44B-34D4A965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86068248b4d2b"/>
          <a:stretch xmlns:a="http://schemas.openxmlformats.org/drawingml/2006/main"/>
        </p:blipFill>
        <p:spPr>
          <a:xfrm xmlns:a="http://schemas.openxmlformats.org/drawingml/2006/main">
            <a:off x="687917" y="1762125"/>
            <a:ext cx="7044267" cy="3962400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23C2F-DBCC-403C-A6AD-3B2CB281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70866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9E9E7-96FA-4857-AE6F-7D375951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62125"/>
            <a:ext cx="3581400" cy="39624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917A7-14DF-496B-8D89-2C9DD703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7167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登录与使用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1E030-37B2-4683-888F-32EAC23A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90775"/>
            <a:ext cx="31242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安装与登录：进入 Software Portal 下载 ChatGPT Proxy Doctor；从该工具打开网页版或桌面应用，并使用 Philips 账号完成认证。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使用要求：使用 Philips 批准的企业账号和网络路径；不输入机密、患者或敏感个人数据；生成内容先作为草稿，由员工复核事实、设置、合规和决策。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出现问题：确认两封审批邮件，重启并等待策略同步；记录错误信息、时间、网络和设备，再通过 ServiceNow 或本地 IT 获得支持。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5D8EA-BA21-46D6-A957-F942A116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d090e8e4d7f4985"/>
              </a:rPr>
              <a:t>打开 Software Portal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25C85-1DAA-49F4-B3C5-01CBAB70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90c2d76f7784580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5146837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88309-DFCC-4052-8254-1B4E2D91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D08F5-2218-45BB-A36B-1539D36C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56332-CAA8-4E62-AF17-F0901C53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常见用途与使用条件放在同一页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D0616-A793-48A2-9617-B7E5DF3C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左侧是起草、总结、研究和流程自动化等常见用途；右侧是企业使用、Responsible AI、审批和开通流程。开始使用前，可以把这两部分一起看完。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85B78-5CA4-4696-A8E3-8C806D66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9FF3C-A121-4FE1-A40F-F505A147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e0b966f124027"/>
          <a:stretch xmlns:a="http://schemas.openxmlformats.org/drawingml/2006/main"/>
        </p:blipFill>
        <p:spPr>
          <a:xfrm xmlns:a="http://schemas.openxmlformats.org/drawingml/2006/main">
            <a:off x="896711" y="1809750"/>
            <a:ext cx="653142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41DDF-8F44-4308-AEB8-CD6B9C20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DEB71-2A64-42FA-8371-4D470E06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E2363-72A7-4421-B160-B9141035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C9BE8A-2635-47CD-A232-C5E63E12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7573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可以做什么：起草文档与沟通、总结报告与会议、研究与知识发现、生产力与流程自动化。四类用途都需要清楚输入、输出和人工责任。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怎样负责任地做：仅在批准的 Philips 工作情境中使用，遵守企业数据处理与可见性要求；审阅生成结果，不在未批准环境中放入敏感信息。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怎样获得权限：访问需要经过 Philips 审批与 provisioning；准备申请时从 AI Gateway 开始，并按所在 group 的引导路径完成。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D8EA4-AC5C-49D9-AB29-5F61641B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4eed9b23bc54a6c"/>
              </a:rPr>
              <a:t>查看企业使用说明  ↗</a:t>
            </a:r>
          </a:p>
        </p:txBody>
      </p:sp>
    </p:spTree>
    <p:extLst>
      <p:ext uri="{BB962C8B-B14F-4D97-AF65-F5344CB8AC3E}">
        <p14:creationId xmlns:p14="http://schemas.microsoft.com/office/powerpoint/2010/main" val="9262039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6674E-F797-4180-9F22-C7CE3476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00134-F727-48B0-A2C5-87020BC9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4F926-4E22-4CBB-8F5F-45724151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GCR AI Ambassador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25468-9F6C-4610-B1A4-184F841F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 GCR AI Network 中不同角色的分工，再通过大使名单找到各职能、业务单元和市场中的本地连接人。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7D47C-8414-4AA8-AEFC-6C1000E7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a707763bde84165"/>
              </a:rPr>
              <a:t>进入 AI Gateway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E5F35-B103-4F94-B421-1D35A246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bce5138a0984c1e"/>
              </a:rPr>
              <a:t>查看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0765623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AD588F-0A3B-4105-B756-0093A585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04F05-6694-41FA-87E3-283D8420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Philips GCR AI Ambassador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03A17-C462-4771-93FC-F565B8C0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Network：四类角色共同推动 AI 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1F6DF-3326-45C8-A197-DD664936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Champion 制定方向，Ambassador 组织推广，Catalysts 从业务流程中寻找应用机会，Guru 提供技术连接与落地支持。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428C4-265B-42D0-9801-F729CFBF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2BB79-23D5-46A7-B4B1-D8B61966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68E26-4136-4E4F-921B-74F204E9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1BB2E-1F4D-4613-A758-DADEF848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35883-F278-4ED0-BE66-B1C00135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B3953-415D-4D7E-8153-F48BD8FB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61B28-2219-4A26-B29A-AA49E237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2E711-2744-497C-B81F-1FECFACA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C1118-FF2D-4C90-8894-86802164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F477E-8F22-4886-A6E7-DD7B7289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C3262-404B-4E23-B2D7-AD64157F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4AE34-3398-411B-956D-B430D447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5B6E2-CBF9-425C-A1C0-05D14DD3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13E31-9A4C-4E14-95F1-C5CF6A73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激活组织、推动参与和变化管理，帮助 AI 认知与应用扩大到更多团队。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476427-24DE-4F4B-913B-BB27625B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20BA7-0706-44B3-9DB9-56406917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0C4718-E170-4324-82A9-4AB2D085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BBDFE1-6FE8-44A4-92D0-CF4A9F72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3B30D-159D-4FB6-AB20-82A64E4C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2A6C73-D826-4DED-A362-84B70FEF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5F0468-81BD-477F-949C-9E6DB743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72F986-95DC-47B9-BAD5-7B108472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E21510-A032-4319-8308-CCD6703D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96BAFB-A062-410D-9F3F-D6AD655A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FA367-CDD3-4353-99B4-8B1A13BB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90322-C48A-4E45-B3C4-3A14C184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连接业务需求与 AI 能力，提供技术支持，并参与落地、运行和持续优化。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6F077F-6DEE-4B7E-A644-5DBB8167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9d3418411894a0f"/>
              </a:rPr>
              <a:t>回到 AI Gateway  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F74674-02A0-407F-A5BC-A57A3CF4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ad610ce1e5a43a4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21437223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A7851-6A2E-4B96-9017-C3A82A58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35366-873D-4509-8C73-05362061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Philips GCR AI Ambassador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17448-8BCA-4D81-8EB5-270EFF16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Ambassador：覆盖职能与市场的本地连接网络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7AAC9-9EF9-470E-8025-199BC0D8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GCR AI Ambassador Representative Chair 为 Alison Gu，网络规模为 24 FTE。名单按 Function / BU、GCMT / Function Lead 和 AI Ambassador 对应到各职能、业务单元与市场。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5DED8-FEC5-4453-8022-44BF2BF0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7BD75-9723-4F57-8930-F5FD2530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785c7ee6c4bcc"/>
          <a:stretch xmlns:a="http://schemas.openxmlformats.org/drawingml/2006/main"/>
        </p:blipFill>
        <p:spPr>
          <a:xfrm xmlns:a="http://schemas.openxmlformats.org/drawingml/2006/main">
            <a:off x="1046956" y="1809750"/>
            <a:ext cx="6230938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6A8A9-58B4-4AB7-BD03-3CBD58E2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371850"/>
          </a:xfrm>
          <a:prstGeom xmlns:a="http://schemas.openxmlformats.org/drawingml/2006/main" prst="roundRect">
            <a:avLst>
              <a:gd name="adj" fmla="val 339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453AA-780F-4A02-8872-EF6A83AC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2B2D4-4609-4F3A-8151-46D547FD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03CD9-D234-46A2-BC09-9CD325E8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5621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覆盖范围：名单跨 ISC &amp; SSD、市场、财务、法务、HR、战略、质量、法规、临床、创新、IT，以及 ULS、各区域市场、EI、HPM、SRC、PH、HK、TW、Medical Officer、Government Affairs 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角色分工：Function Lead 代表业务和管理责任；AI Ambassador 负责连接学习资源、分享实践方法、帮助梳理 AI 机会，并把共性问题带回社区。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怎样使用网络：遇到入口、学习路径、案例迁移或 Agent 设计问题时，先找到所属 Function / BU 对应的大使交流；业务决策、数据授权和最终交付仍由相应负责人承担。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6B425-0B21-427D-8204-09EEBAA3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7fa805ca4844c43"/>
              </a:rPr>
              <a:t>进入 Copilot 学习与实操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8D025-17E0-4105-8E3C-18AC2295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f822e10bef14ef6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7769122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823B7-2BDF-4B93-8DAD-44649261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AC7B5-AC71-4408-9246-2556CAD9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B7915-489B-4C97-97BA-D10E9002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822D4-8166-4B85-B9A7-25084AA2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44940-7B92-44B5-836F-8102BE11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dc880d1f6bf47ca"/>
              </a:rPr>
              <a:t>AI Skills Navigator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01B11-EB2D-48E0-B7E9-566A7260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b933f24b8e04487"/>
              </a:rPr>
              <a:t>MS-4004 学习路径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6CB58-3E6B-46BB-B03D-63E67C6D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e58c703c0e3431b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508083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78DAB-4226-4FB0-BE4A-BD34404D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2FF33-E26A-4E01-8493-20143284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0F7A0-CF8E-48F1-99F3-FB11823F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D2A16-BCF2-4827-824B-AF343932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是微软官方 AI 学习网站。For you 首页根据学习记录和个人资料推荐内容，左侧提供课程搜索、学习播放列表、证书和学习报告等入口。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49C87-F588-4B20-AFDA-9D5B67E8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8397F-C75F-40A5-8242-2F14D7C7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1f0aafe804865"/>
          <a:stretch xmlns:a="http://schemas.openxmlformats.org/drawingml/2006/main"/>
        </p:blipFill>
        <p:spPr>
          <a:xfrm xmlns:a="http://schemas.openxmlformats.org/drawingml/2006/main">
            <a:off x="935131" y="1809750"/>
            <a:ext cx="6454588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12C15-EA80-4581-99F8-DB89C62F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546D5-000B-43B6-9D14-5E6F7335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7B055-F2CE-4840-B65E-E3A2ACCD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2309A-7CA8-41D8-80CE-BDB78BCB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左侧导航：For you 查看个性化内容，Explore content 主动搜索主题，Skilling playlists 进入成套学习路径，Credentials 与 Reporting 分别查看证书和学习记录。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首页推荐：Recommended for you 根据资料展示课程卡片；Pick up where you left off 用于继续之前的内容，右上角的学习习惯提示帮助保持连续学习。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使用方法：首次进入可以先更新 profile，再按当前岗位或工作问题搜索。Bootcamp 结束后仍可从这里继续学习 Copilot、AI 基础和其他产品方向。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6C88C-C25C-4D7D-BAA3-EB6569DC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fdfde7ae3a14af3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8484870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90434-85C7-429D-BEA3-38C0406B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1AF62-D66D-402D-9185-6248344A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51A0C-939D-436D-8824-4E703D3B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playlists：把分散课程组织成可持续推进的学习路径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E99C8-3701-4772-90BC-8DB8580F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Courses。顶部汇总播放列表的内容数量和总体进度，下面按主题组织 AI-3025、Microsoft 365 Copilot Chat 基础模块以及 MS-4004 等课程，便于按顺序持续学习。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0B29B-8050-4CE3-9A7F-5BAEEB9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3B267-2111-454D-A4B0-4329A124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6591bee79437c"/>
          <a:stretch xmlns:a="http://schemas.openxmlformats.org/drawingml/2006/main"/>
        </p:blipFill>
        <p:spPr>
          <a:xfrm xmlns:a="http://schemas.openxmlformats.org/drawingml/2006/main">
            <a:off x="935131" y="1809750"/>
            <a:ext cx="6454588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07DA2-7375-4945-B2D9-A2E7826C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BA5F6-C86B-4D2A-A54C-23881C59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A5144-9275-4C6D-B6F1-B3691961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A6ADA0-41B6-41D2-B9FF-D2494C5B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75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播放列表信息：顶部显示 33 items、总体进度和 Continue learning。它把文本、视频、Learning path 与 Module 组合在同一条学习路线中。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学习顺序：可以先完成 Work Smarter with AI 和 Copilot Chat Basic，建立提示、文件分析与协作基础，再进入 Microsoft 365 Copilot Use Cases（MS-4004）。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位置：页面下方已经列出 MS-4004，并明确覆盖 Executives、Sales、Marketing、Finance、IT、HR、Operations、Communications、Customer Service 和 Legal。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A6EE5-38F1-4979-8F32-3A61C061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f6b1482fb1d43a0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7380664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E9814-6FD7-40A1-8955-B7ABD8D5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8A1E1-DF8B-4786-8C47-9D2D2764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11108-30DA-419D-A04F-0167EBC7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课程播放器与 MS-4004 导航：按单元学习并随时返回目录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FFABC-4ABE-4EBA-A590-754A1D4B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 Navigation 展示整个播放列表的层级。当前截图选中的是 Copilot Chat Basic 的 Introduction；MS-4004 已显示在左侧目录中，展开后可以进入各岗位 use case。右侧主区用于阅读内容、查看学习目标并完成单元。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4E08E-BDB8-48F6-A438-308C1F95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5745F-ED14-43BE-83AA-5E57D575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c50064e39423b"/>
          <a:stretch xmlns:a="http://schemas.openxmlformats.org/drawingml/2006/main"/>
        </p:blipFill>
        <p:spPr>
          <a:xfrm xmlns:a="http://schemas.openxmlformats.org/drawingml/2006/main">
            <a:off x="935131" y="1809750"/>
            <a:ext cx="6454588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DCE49-FB6D-448B-85F6-1B401D54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7E3AB-4330-454F-B2E9-7A421B8D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546C1-C7CD-4D17-915F-AC877634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34630-A68A-488D-8831-0A249974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左侧目录：可以展开课程和单元，当前模块包含 Introduction、Copilot Pages、Agents、练习和 Summary；下方的 MS-4004 是后续角色化用例入口。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主学习区：页面显示当前单元、正文、Important 提醒和学习目标；顶部还可 Summarize module 或 Turn module into podcast，便于按不同方式复习。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与课堂衔接：先理解 Copilot Chat 的基础能力，再进入 MS-4004 的岗位案例。接下来的课堂实操会提炼这些案例中共通的读、理、查、写方法。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EECAC-49F9-4427-9094-7F48B433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e2a7ff9f95b45e9"/>
              </a:rPr>
              <a:t>打开 MS-4004 播放列表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19727-C414-4FF6-A2CD-7BA1244D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41913f16c5645e0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3868534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538483-1DD3-49CE-9424-C8F63383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C9724-715C-446F-B7A0-2E887AB8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B1F24-C59B-4170-90D3-4CC418E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44E60-80EF-4A70-A03A-B7C9600F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D0500-82B8-42F6-9CEA-D7C8C26A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A77BA-60DB-40A8-9A75-72CE8D14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BC022-6741-4C7F-A9E8-9A45958F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A95AA-DDC4-468B-8838-12BCE121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23228-DE4E-436B-B8E7-D9045359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DEEBE-DA2E-49A2-896B-268D89E8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60B8C-F250-431D-8B85-0EFFF164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6E14A-1ECA-4386-BD5A-B5A5AA9B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B8F8A-462E-4298-84E7-7B70756B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C22AC-4B6E-4355-BB95-A70790B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2A0B1-7454-4E75-83EA-FEC878B4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B9DB6-873F-4E5D-94C9-596A3399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98000-AD43-4325-8A21-E75FC2BA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01C17-63CB-4B88-8A50-28D38BC7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377F3-AB05-4737-8046-FB2A32B0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63B06-9457-4D0B-8FD1-6B832358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4958BD-45AF-40C4-8B4B-6DE2BCF2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8A211-926A-4FFC-9C80-DBED4B0F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611E73-169E-44E1-8FB5-57FC0D74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1C0F32-2508-4102-A24E-E76D3167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252776-D927-4C62-9188-613ADFB2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A28804-8A15-4CBD-9E79-E5622D4F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9B7BEF-1CD7-4FAB-9630-16E4FDD0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07346C-52A2-4EFE-90F3-49857576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381C0F-D3CB-4FCB-8C8F-2FBDE78F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A219CE-B338-4F50-92AC-F459A2A9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58E585-2539-4FB4-9DE8-4ACE994D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8CB7D9-63DA-4B25-970B-D40BE802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22BCB1-844D-4C85-9B4C-16D1A596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76F670-4C3A-45C9-9E49-DFBE5691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2B6B22-1A40-4ECF-BC1B-06BC3DF1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3763C2-113D-4A48-BD97-13106390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7E3052-8610-4CC8-B26B-73CE34FB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BFD063-7448-4FDA-8C14-4917780F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b253e6036e04ab6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61283793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F8A59E-592B-4AA4-96AB-6EC3C954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F581A-33FA-4753-BBC7-17E9E0D6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26638-7886-41EC-B189-B9C59CC7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783B3-4861-4F01-9213-0528AC0E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6E072-B01C-4725-A0B5-482CD546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CC6AE-584B-4BA1-8193-17074F74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06D03-6E6E-4852-999D-FDB8F9F5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870B9-D480-4E87-9296-B4CF1774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68721-AD2C-470C-946D-2ED7FFAE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65161-8381-4672-97F9-01955B9E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E9D3B-E57B-4724-A23E-0CD81C59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AD34D-2049-42FD-BDEC-36EF8EDB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FFF14-81BE-4F4A-B5C3-629D1C7C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C00D8-EFF5-449B-B598-1E746C66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9E6E7-8522-4DFD-AAFB-9EE3E211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CADFD-B547-4263-AA99-87C84948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C1CE12-9852-42FC-BF29-C0EBBB94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46E8B-38F1-49AD-BD40-46DFD2D9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DAC66B-90C9-4469-91EB-CCE29EB3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8A6AD5-FF5D-447F-B03D-36928AB1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233D94-0E1E-4838-A42B-CFB87D39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比较多个来源，标记冲突、缺失信息和需要人工确认的假设。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50EFC8-B463-4B10-96B3-FB02F3DD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E83503-079A-407D-BBB7-DDF6CE34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4F4DE6-8152-4616-B840-0894A5A5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AFD0D0-4915-4DB5-A97F-5DE6BD12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849ACD-98B2-4E68-AAAE-DBEFDC3A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生成一页项目简报和后续邮件，让分析结果进入真实协作。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48EEC5-3E3D-4387-9E12-1BFEC219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7a0dd8723654716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0858816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47ECC-75D6-48D5-B1A7-958D2126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26A18-42E9-4EF3-AD5E-97E581BA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075FE-EDC3-4AF6-899D-72BE7EEE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46F83-44B2-4B1B-BECA-2C8F5C7C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4EFB1-76C8-4760-88E7-9F81F068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F96ED-2726-4FAB-91F7-1E1F80F6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0217D-9169-425C-A1C2-EEF2389E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21A4D-1CFE-446D-8292-A27DC439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D8091-2E3C-4861-94A8-23760E57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今天接手“绿色办公周”项目。请读懂三份资料，向负责人说明当前进展、主要风险和下一步安排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3AF11-A4AC-41AD-9521-025D51AB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92C36-8D70-4CA8-9171-027AAE63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F3071-AA54-4A94-B787-8FEE1563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规划会议纪要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里程碑时间表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56794-BF5A-4C65-A6CE-D1DFF0AA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FA2665-1EE2-4C0F-BA1D-5501CE54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F8EB5-A088-4184-BC25-8223A4CC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提炼目标与关键进展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整理负责人和截止日期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找出冲突与待确认事项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2F1A1-1CA0-4CFA-B538-1945C535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8C546C-0460-4173-93D1-CDF2A1D1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B1B2F5-E504-46D2-BCFC-B4CF0D7E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一封跟进邮件草稿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F3CEC-5B4B-4D75-B28A-43E5E71E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539e96b007e4376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8676742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43B4D-370F-4849-9807-CF1DD174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A4818-BDC2-41AA-9E05-6C449C4B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3D09A-BA6F-4892-B87D-933BDC4A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12DE1-D6C3-4D52-B8F2-1AEC3917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57595-402D-464B-B1FB-E89B991E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7ABC0-AD6F-4AD2-AD11-B5F957FD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14453-766E-4811-9358-BA696547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00F93-24FC-4E14-9A0D-6ABD38D9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05B06-AAEF-44BB-9AD7-B12684F6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BC053-9F20-4B3A-8F22-E4D85B62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5b7dfc42eaa4916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6840683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6E0BE-4840-4AEF-B493-71CB2E64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0F225-4A44-4397-8689-08476A18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E26C8-74E6-46BD-BCDA-EFDDFE1D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0E693-5C99-4163-9275-1EA5EFC5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C9C2E-BDFF-4F67-BABC-C940C77F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A8D29-4AF7-4742-BEE8-A597A2BA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64231-6E63-4F9F-8DE7-C15846CD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312AB-B7E7-43BF-B6AA-E3F12903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D6A10-D3DD-431B-82E0-24CF14BC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餐饮供应商未确定，合同金额不可用，团队尚未决定是否增加可选闭幕活动。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DB6FA-40E6-4F5D-A031-AE948B26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62f6cb88dcd4938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28813157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CE9634-1F3F-4BFD-A376-883E0F90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2CBD1-A00E-4315-A1A9-402A7B31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94378-76E6-4611-9BB1-004F4429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73800-D938-40CE-BE6B-2ECE34EC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9CB39-E7F2-445E-B224-17697BE9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13DDA-EBE1-4551-8562-FAD8CF74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DF01B-F21D-4A71-9240-589F2C86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31A87-174A-4E27-8EC6-5F62280F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04E84-B78B-47AD-8A63-516A9D9C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FCDC3-F2AA-4E47-A66E-CDA98634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042BA-5F94-4891-A81F-F11C3E0C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0CD55-0E74-4396-BF43-DAD7195B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16C54-23EF-4FD2-807D-020337B5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CC056-3A2A-426B-971E-DF117EA0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379A3-82B8-43AC-8A59-33863E13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95BC0-F6FF-4343-B251-B16CEE2F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51625-6E6F-406B-9EDB-F04473C1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43CD04-9D01-44FC-9E81-98591C12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A466C-1A2C-4A16-9C15-44EE2CB7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3E73E-1FF4-4E44-B2E1-B59FAC6F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98B959-F463-42EB-B261-4FD19D1B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52F61-E13D-4797-A544-5EEECC95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8125E4-BE08-4693-883E-5ED2C170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25058B-4101-43B1-8A6C-79E65C95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0EDB1B-C15F-488A-95C2-16858580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223A46-DF16-4F7B-B85E-564E0240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36C04D-30FB-4A8B-85C5-665E3CA9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4712BA-0147-4A9D-9E33-4E62AED0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98847B-36A1-4A48-A4C6-000F3175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6A9F60-B4D8-4B58-8F77-BB8C6A09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EE0E88-0318-4744-8AE1-C9035D0B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CD10B0-9127-481C-A844-87BE5835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dc0782c12c945d8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54135383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167541-1D74-4A5C-97D7-D42704CE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3C690-D856-44DB-93FF-1A823586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36057-AFDA-4175-97FA-B48C3540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9F9EE-1178-4CD9-9D66-DF10EEA8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提示词需要说明工作背景、具体任务、输出形式和判断边界。Copilot 据此理解任务目的、处理范围、交付格式以及需要人工确认的事项。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AF3A8-1C0E-4432-8FC9-DF4346FF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076CB-B1F7-422F-A185-D76D3082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5EF94-EF64-4A36-B27B-0A97EFF6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765C2-687D-46F6-9593-74CE0336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E97A2-8B54-4A25-9EB1-484B4F38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417DD-E158-4E0C-B9A7-EEB67261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FE23E-271C-4681-9370-AB1DDD0F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0C73E-804D-4A35-9B8F-120A8E74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6F28D-50D4-4586-8E79-6510CA06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00FB6-191B-4FED-A78D-7ECB4CFF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8379A-CF6D-4498-9E08-3FC058FE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F0458-E83F-4E11-BCFD-C8F3E2D1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E237F6-411F-43DC-8BCA-3C0028CD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8764B0-4B1D-410F-BA7D-B76B72F7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65292-15E9-4F33-A50B-37A6DABE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21519D-9275-4AD0-82DC-50413E54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2A4B31-C7EA-47DB-BC6D-436AA658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87638D-196E-4F6D-A471-D1537F9E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92C97-6C84-4351-BD94-C1D12CEA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1aca8fb08944fa4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20690341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9C781-AF3A-47C9-8B09-EBBE6E8B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0778B-74A6-417D-A7B3-DFA5133C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A9524-77F1-408B-8956-CB36BE89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Copilot：从这里加入资料并开始任务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5D105-AAAF-495D-804A-88D12447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左侧可以管理对话、资料与 Agent，中间是任务输入区，上方显示 Work IQ 和当前交互模式。打开页面后，先看一眼工作账户，再加入本次练习使用的三份资料。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B6CB3-954A-46AC-9061-1577BB40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14A99-13CE-426B-8E57-456001E6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3e44f2a7f4b8e"/>
          <a:stretch xmlns:a="http://schemas.openxmlformats.org/drawingml/2006/main"/>
        </p:blipFill>
        <p:spPr>
          <a:xfrm xmlns:a="http://schemas.openxmlformats.org/drawingml/2006/main">
            <a:off x="896711" y="1809750"/>
            <a:ext cx="653142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069C4-DCCD-4246-8D4B-C3270310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8FD1D-3B0F-48E6-BC54-86C9618F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EEE72-CCC7-4375-B6D9-FE9F60DD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BC2A1-FC38-414F-8E29-F099A000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左侧导航：New chat 开始新任务，Search 找历史内容，Library 与 Notebooks 管理资料；Agents 区域还提供 Researcher、Analyst、Excel、PowerPoint 和 New agent 等入口。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任务输入区：中央 Message Copilot 是主提示框，左侧加号用于加入文件或其他上下文；File Insights、Inbox Triage、People Search、Meeting Prep 是常见任务快捷入口。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提交前检查：确认左下角为企业工作账户和相应许可，并核对 Work IQ 环境；只添加本任务需要的资料，敏感信息按企业规则处理。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AB8F6-95AE-4D5F-898E-3CFBD794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4b436095b214730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1049106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1ABE40-BEB3-41AA-8649-CBA9C6DF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90246-AD6A-4437-BD09-7177691E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68723-4F49-4C53-B829-1CA07745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CEFDA-E0A6-4F84-9511-93086E24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4D057-A01A-4C0A-B1CA-A6CE7907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8ED88-C089-4627-991F-4D984C01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C6827-80F3-4CFD-8C63-E1A75BBC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F5FEE-4B38-40ED-BFFC-AEB2362B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1F818-AEFC-4669-ACBF-D774AB04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上传项目简介、会议纪要和里程碑时间表。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F60F1-B5BC-4273-BA7B-58E7622D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C4831-3F8B-4DD2-B3E6-F7A89AD8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8D68A-9931-497B-AF92-1B2C10B4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输入“背景 + 任务 + 输出 + 约束”四段式提示词。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88522-535C-4379-9D5F-5CA06976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13109-3DF2-48B6-8734-F339B4F3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4DE8F-4212-44DC-BDB6-C6EF7703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查看生成的项目接手简报和跟进邮件草稿。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CB200-B8B3-4536-9092-6D2CB508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0B5D9-3C6B-4B02-985D-6729680E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23284B-7CE8-452B-BFDA-9AF250AC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找到 28 Aug 与 31 Aug 两个报名日期，保留来源并标记待确认。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890A98-EAB1-4CA9-AE16-70A69AC0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2516A-66DF-422C-97E9-CE558A91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29163-FB81-47D2-99F6-4D7B2D8A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继续追问：把行动项整理成负责人、截止日期和状态三列。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EBE481-3283-45FE-984E-8E8A439B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bcdb479ef4145e7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7847600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46945-D575-4513-AF0A-96042A31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FCE35-E775-433A-9007-05CC58D9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0DF91-1283-4D17-BB9B-B1FDE961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7C156-D80C-4B3A-92B6-00B29278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可以继续使用绿色办公周资料，也可以换成一个适合练习的日常任务。在 Copilot 中写出背景、任务、输出和约束，并让结果清楚列出仍需确认的信息。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7A3E9-379A-436D-BF9A-4AB6F0A6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ED016-EEC0-4D1B-BF2E-B6B7DAF0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7C5A1-0181-44D9-B8CD-CA07CEFA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93D91-57AC-4E32-ABD8-B870361C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A5CE6-F875-4329-B720-D5AC8ABA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用背景、任务、输出、约束四段结构写一个提示词。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要求 Copilot 指出至少一个不确定项、冲突或需要人工核对的事实。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把结果改写成可直接用于沟通的一段文字、邮件或简报。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242B8-931C-45F8-BB5A-59E8F57C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完成后与同桌交换：你的提示词中，哪一条约束最重要？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0BC5B-04D4-4EE7-9BD0-50F7C238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f769f890a8e4659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44477947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9C9C0-34C8-485E-B517-B446DDCA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C51ED-E288-4D44-90C7-03062BBB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3460B-3C22-4F00-B69F-A95B13FE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业务案例与最佳实践：Copilot Builder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3FA69-BCDA-47DC-AE3E-5BEDE0B9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71F3B-02BA-4B50-859B-57F1DDFD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972b6b1c38547a9"/>
              </a:rPr>
              <a:t>AI Tool Lab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E193E-60E9-404A-852F-0E3F3678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c7bff4f6b784fa6"/>
              </a:rPr>
              <a:t>Agent Builder 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0E6C0-5D0D-4ED1-8B5A-93077794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f69ef9141844aeb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5629193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7F878-D960-4A51-9E4B-1A4AF877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3BBC2-7DC8-4981-8E63-F6D3D8D6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D3838-4DD6-4178-A22E-1A3D4C75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1C01E-41C4-4379-8977-87919306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网站提供四个 Agent Lab 和中文分步指南。四个场景分别练习任务说明、Instructions、知识来源、Suggested Prompts 和预览测试，操作都在 Microsoft 365 Copilot 中完成。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2B132-4959-42B3-9AA6-83890489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2505B-EE28-44BB-9459-E7F73CE7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4e26bd55348c6"/>
          <a:stretch xmlns:a="http://schemas.openxmlformats.org/drawingml/2006/main"/>
        </p:blipFill>
        <p:spPr>
          <a:xfrm xmlns:a="http://schemas.openxmlformats.org/drawingml/2006/main">
            <a:off x="897519" y="1809750"/>
            <a:ext cx="6529812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CC296-055B-49B8-8702-52D11C32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5087D-45AC-42F2-8B0B-07693F26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6A1A7-525D-45B7-836F-74070573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6354E-0DE6-44A0-95F8-00D4AA96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四个场景：Chief of Staff、Product Manual FAQ、Meeting Follow-up Assistant 和 Funnel Data Analyst。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材料分工：PPT 用来同步解释关键画面；AI Tool Lab 网站提供完整步骤与练习材料；真正的配置、预览和创建在 Microsoft 365 Copilot 中完成。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完成之后：可以沿用同样的构建步骤，把自己的重复任务改造成一个简单、可测试的 Agent。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8E378-D670-415A-B397-44E3866B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cc1e6307d5547ed"/>
              </a:rPr>
              <a:t>打开 AI Tool Lab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6ED11-7A60-4B8B-873B-3E6CC08E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2c548bb1305401c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45598844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31D4B4-0B6C-4C1A-93C1-7053F603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17BF7-B3EE-404C-94A3-F94BC4E6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82B46-CF8D-4DC8-A056-6D42DB01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D9310-4562-430B-A5DC-73EB4051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分别代表个人事务协调、知识问答、会议跟进和数据分析。讲师会演示第 3 个，学员实践时可任选一个，或按小组分配不同 Lab。虽然业务场景不同，但都要完成任务定义、边界设置、知识配置和预览测试。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1BE1A-9BC5-4D37-9DE3-0E1C4BE2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A97F4-B7E9-428C-A363-49B5D6AD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095A9-9989-48D8-8305-B82203BC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F218C-5B55-4305-A0A2-1E7808CA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06EE0-5DB1-4AB8-B6D5-FE46909D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F78EC-BD9C-4044-A239-7C683C16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43417-947D-4DAA-9B08-08B2E99B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整合任务、优先级和沟通建议，练习把角色和工作方式写进 Instructions。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B6D1A-12A6-48C2-BB7A-37B4AB75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A7C2A-D6EE-4D40-B87A-B877CA3A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99960-7D6C-4ED2-B565-4B7AF964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FDE6E-F54B-4EA0-AAEB-3B358D72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DA9E3-DC16-459A-9205-16341167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基于产品资料回答问题，重点练习知识来源、引用边界和无法回答时的处理。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CC78B-7A86-401D-8F27-A8C14A7E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81679-609F-4BF5-B5B0-B6D8C7EC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A4309C-BB6C-4980-8A35-1E0B6A20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6DC5E3-17E6-4828-9E5E-85BE35BB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 Assistant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64F6EA-C362-44CE-8BAE-0C841CFB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CF7889-7B1C-45DA-94A3-EC43C252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0466DF-0C04-4A13-9C8C-8019C18B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8C8550-5207-42E2-8F5F-BFA8B683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5F8F89-C38B-480D-A07D-A6D5043F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17F8DC-0166-4B46-81BA-A6B14A77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围绕漏斗数据进行分析与表达，练习分析要求、输出结构和业务解释。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E592CB-074E-4D79-8B71-B51A115B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c2039bf65a7487e"/>
              </a:rPr>
              <a:t>Lab 1  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1C09FC-23ED-4773-9A0A-A04BC858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ac68eac5ed4445f"/>
              </a:rPr>
              <a:t>Lab 2  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D6FB13-3A05-402E-80FC-CA7DE1F8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c4d951586994528"/>
              </a:rPr>
              <a:t>Lab 3  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63EA38-D6B3-417D-A76A-E1835F44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3f42faeb0d7417d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85631902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27E23-0890-4125-89EC-C38481EB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B8A8F-F6EB-4224-BE95-A0B91120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AC4F0-9634-4238-8EBE-3F310356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Staff：把日程、优先级和会议准备串成工作流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8E1B8-41B6-466F-8E42-4F56FDC9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主提示让 Agent 查看当天日历、安排优先级、找出冲突，并为重要会议准备 2–3 个谈话要点。下方三个 Suggested Prompts 分别对应日历、紧急事项和今日重点。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0174A-AB68-49C0-875B-4D3575E6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50788-5264-4A73-BAB8-8E3E3987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f0ec6ff8542c0"/>
          <a:stretch xmlns:a="http://schemas.openxmlformats.org/drawingml/2006/main"/>
        </p:blipFill>
        <p:spPr>
          <a:xfrm xmlns:a="http://schemas.openxmlformats.org/drawingml/2006/main">
            <a:off x="1029408" y="1809750"/>
            <a:ext cx="6266033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AA786-C6C9-42F9-A43B-01D9D3E7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6D0DD-0ABA-44D2-A5AE-30E8098B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06B4B-7D82-491C-A701-4CD5AA0C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D218F-234F-4FE0-AD05-D161CA96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输入范围：日历、紧急事项和当前目标。Agent 会结合时间冲突与任务重要性进行整理。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处理规则：区分必须今天处理、可推迟和需要协调的事项；对重要会议补充目标、风险与谈话要点。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你会看到：带理由的优先级、清楚标出的时间冲突，以及可以直接用于当天安排的建议。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43487-CC05-4EC3-B1F9-A10C2A2E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039c3f534864a0e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209883021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02081-BAFD-4971-AB38-B6967994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FBD33-0ED3-414F-8C11-2B1AB73A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BBF92-071F-497E-8271-E63F5734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FAQ：让答案带上产品资料来源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FC8B7-AF84-4434-8CEB-87A28741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这个示例根据已提供资料提炼 MR 5300 的核心销售卖点。回答先给结论，再展开适合售前沟通的卖点，并在具体规格旁显示 Product Specifications 引用。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175D6-4646-4F32-84C0-3BA7B096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FDE19-57A0-46E7-8260-8EC1C9EA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a6dcb73784d0d"/>
          <a:stretch xmlns:a="http://schemas.openxmlformats.org/drawingml/2006/main"/>
        </p:blipFill>
        <p:spPr>
          <a:xfrm xmlns:a="http://schemas.openxmlformats.org/drawingml/2006/main">
            <a:off x="1336502" y="1809750"/>
            <a:ext cx="5651846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F098F-D626-42CD-BEE3-47D6BA41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82F9B-6ABC-41E9-8689-C30C6A3E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59E47-E6AD-4493-A6BD-938E243A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E2FEC-BC0C-4497-8782-90FC0398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任务边界：只依据已加载的产品手册回答，不把模型常识、营销想象或其他产品信息混入答案。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回答结构：先概括零氦运维、AI 自动化工作流、高质量成像和全生命周期成本优化，再把规格转化为客户可理解的价值。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看哪里：关键规格旁能看到资料来源；如果资料没有覆盖或版本不同，回答会直接说明当前无法确认。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D7813-0D96-4A6C-ABCD-15D4FBB4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1bca1bfa2b04c1e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68744664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F346E-A5C0-4224-A8E8-81F9B44F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0B23F-DEEB-45D4-86F8-D6403ED3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44114-B8AD-4EE7-AA19-AA4F61D6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Assistant：用模板把会议内容变成行动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F9BAD-00C7-40EF-8C3A-333255FF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画面右侧的输入明确要求根据 Mail Template 生成面向管理层的简要汇报，并规定背景、结论/决策、风险/需支持和下一步等栏目；输出则注明使用了 Mail Template CN.docx 的 Executive Summary 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A8D5B-2939-4EE9-8198-453B9D6B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9B3B9-2052-4820-BD52-96883DAB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fe889ca324034"/>
          <a:stretch xmlns:a="http://schemas.openxmlformats.org/drawingml/2006/main"/>
        </p:blipFill>
        <p:spPr>
          <a:xfrm xmlns:a="http://schemas.openxmlformats.org/drawingml/2006/main">
            <a:off x="1048590" y="1809750"/>
            <a:ext cx="622766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A5DA1-61E9-4C53-87B4-BF594CDE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B4DD6-73C8-4DA9-A272-AF0066F9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B7DD2-45E8-433F-9C4F-8BFC6551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EDF7A-D33F-4F34-A7D3-131BAF95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输入设计：同时给出原始会议内容、目标受众、输出栏目和不确定信息标记，避免 Agent 只生成普通会议摘要。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模板作用：知识来源用于固定管理层汇报结构和语言风格，使不同会议得到一致、可比较的输出。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结果结构：决策与讨论分开呈现，行动项带负责人和时间，尚未确定的产品演示继续保留为待确认事项。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9A0A7-AA0C-43C5-B67A-915BEC83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e6c3d768cbd4472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41104399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A3BA82-2E82-42A2-B580-45538866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A0CF0-122A-44A1-AF49-E440F3F3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CD1FA-ECFE-4FAD-B045-265527CC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Analyst：先锁定口径，再解释图表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B0DB7-62C9-45F2-87D8-DCC5158E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提示词限定了数据文件、Zone=East、Local BU=MR，并写清 Forecast Category 的顺序、统计字段 Total Price in USD 和 million 单位。生成结果先复述筛选条件，再展示柱状图。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D97BB-4949-4D91-823C-291445BC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9D1E8-4481-41F5-B4BF-815868A4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1a61782e64d96"/>
          <a:stretch xmlns:a="http://schemas.openxmlformats.org/drawingml/2006/main"/>
        </p:blipFill>
        <p:spPr>
          <a:xfrm xmlns:a="http://schemas.openxmlformats.org/drawingml/2006/main">
            <a:off x="1298326" y="1809750"/>
            <a:ext cx="572819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D9002-B022-4BFE-A391-6403A178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1935A-1CD7-454A-AF2A-FD5DE02F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456C5-302D-447E-BFCD-46939731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5A384-0C51-4850-8B01-FC266AE2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图上观察：Omitted 明显高于其他类别，Pipeline 居第二，Best Case、Commit 和 Closed 相对较小；这是需要业务人员进一步调查的结构。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图表能回答：当前筛选条件下各类别的金额分布。销售动作、数据质量和转化原因还要结合时间、阶段定义与记录完整性继续分析。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下一步：让 Agent 输出筛选口径、异常点、可验证假设和后续问题，例如 Omitted 的构成、阶段停留时间及不同区域对比。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28B37-73CF-49E1-8039-4FF8BD0B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6504fc5acb445a4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32240895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4A8AAE-A804-4F18-B15E-E1C783AE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BCE42-C80D-411E-83BA-A1063629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2C26C-7049-4F70-AC96-13FA2CF9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59EC1-7E2A-4E72-B574-844EB4F9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四个 Lab 都沿用同一条路径：进入 Agents、选择构建方式、填写身份与行为规则、加入知识、设置快捷问题，最后在 Preview 中试用并调整。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A02F0-1101-4ED5-BBAC-8992F8E2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C3161-FF36-4ED2-B233-BDA5FD79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BE212-02A4-49D8-85A4-DEB1BB48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81536-75C7-403A-BE54-44732C48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FE5A6-7335-4A9E-9CA7-074652D8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44E53-8D57-4C92-BB28-49BB8820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DCAF7-4A0D-4404-9200-C024FF6B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312FF-9DF6-49F0-8B7C-B8504B99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D5C59-6747-45AE-A87F-4EB3CF8A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C841C-981E-4D46-9BE2-D17DE2AE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AB914-AFD8-4127-9118-6B312A5C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C25CA-C93A-4F29-8237-61431D32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DD3A5B-5B60-4EDD-BCCF-360A51D7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711AE-9A8D-46B7-808B-8FD7B24F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8EED4-4ADD-4DF6-9070-BE1958DC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A21493-6A6F-4D6F-90D3-6FC19339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填写身份、描述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与行为规则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6C7EF6-C8AB-4590-998B-EB312631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079F86-86D1-4DD6-A3D9-C5748FC5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4D99EC-CA44-44EB-8267-EA9910BA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BC9171-58F5-4063-80FB-B333E7EC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7BDAED-9455-4BA9-887F-5B20AA7C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添加知识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9122E8-6703-4EF4-BD2A-09B9AB47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FE7517-8D33-4BA4-8540-D08B8721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1136BD-11D1-4FEB-A1B2-3EC127D0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4BE1CB-5441-4963-ACF3-D1C1598B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A5DDA6-423D-4703-848F-FA914738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E15478-BFC9-43C8-9CE4-71B93827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35B517-E799-4322-AC68-E3F45958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8339CD-747D-481D-B706-9B411455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75971D-D74B-4470-918C-3F97AAE8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E277F6-4500-4463-A043-61F0740A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预览测试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并创建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407DBD-A4C1-4882-AEA6-FFC42AB1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一个清楚的 Agent 会说明：为谁服务、处理什么任务、参考哪些资料、结果怎样呈现。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2779BA-D646-418E-B35B-717025F1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894269b026f4460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06297518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8AC93-EB19-43E9-9649-A4533A0D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D8620-6DAB-49CA-8CA9-4B5F2C58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CD22E-6034-44AE-AEEF-00DDDECB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4D855-0D83-40E4-BA7E-8211BE1A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97536-A8F7-465F-88A3-9D2A2D8A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F788C-6D1C-46AC-AE79-1BD463B5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c7ba4d82b4eae"/>
          <a:stretch xmlns:a="http://schemas.openxmlformats.org/drawingml/2006/main"/>
        </p:blipFill>
        <p:spPr>
          <a:xfrm xmlns:a="http://schemas.openxmlformats.org/drawingml/2006/main">
            <a:off x="838200" y="1841143"/>
            <a:ext cx="6953250" cy="3651963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8B41E-C793-45AC-82C8-AB7DAB85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09B15-275E-4E42-A64F-EB86B309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6A9476-6755-49A6-A0B6-71D1E23B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C1D94-0CC3-4999-9E07-C3F020A4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页面位置：左侧导航进入 Agents；Search for an agent 用来查找已有 Agent；Your agents 显示当前可用项；右侧 Create agent 开始新建。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本次操作从 Create agent 进入。Researcher、Analyst 等是已经可以使用的 Agent。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6BFF7-04DB-487C-8E39-F7605D1A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ce47c8834644122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87103219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E824F-5C90-4333-AD49-20E0BC9D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03E8E-D272-42D7-A4F4-C53C0D8C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0EB67-9782-4C1D-8C75-F62AB3CF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CC070-EE34-49DD-9F33-84DC1F08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截图同时给出自然语言描述、Skip 进入手动配置，以及从 Templates 开始三种路径。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62716-30AE-4291-8BB0-2ECD6B26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62A50-40DE-437D-887B-501AF0E0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07492ca1f49ac"/>
          <a:stretch xmlns:a="http://schemas.openxmlformats.org/drawingml/2006/main"/>
        </p:blipFill>
        <p:spPr>
          <a:xfrm xmlns:a="http://schemas.openxmlformats.org/drawingml/2006/main">
            <a:off x="838200" y="1994152"/>
            <a:ext cx="6953250" cy="3345946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FF4CF-B48D-414E-8969-19EFAAF3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6F5BA-DACE-42E3-BACD-3E073EE8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980A2-EF17-4E0D-9988-EB47263E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6FCDF-0B8D-493C-8800-3B96BFFC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三种入口：在输入框描述需求，让 Builder 生成草稿；点击 Skip 直接进入字段配置；也可以从 Templates 选择接近的起点。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本次演示从手动配置开始，逐项查看名称、描述、Instructions 和知识来源。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F28A5-E42D-40B4-92A9-5858B047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209307681334a21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92716594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A810E-632E-41A4-8E2B-C9B452C9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3F7B6-8A96-4243-BD89-340AF7D0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C153F-D7B2-44E7-B1BA-948EC252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3｜填写名称、描述与行为规则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FB181-D031-45A0-B385-4CB36F8A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 Icon、Name、Description 和 Instructions，顶部可在 Configure 与 Preview 之间切换。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9A3C5-8863-492A-B6B7-560AA3BD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4B672-03B6-4E3D-805B-67C208CD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14f720d6c4cf2"/>
          <a:stretch xmlns:a="http://schemas.openxmlformats.org/drawingml/2006/main"/>
        </p:blipFill>
        <p:spPr>
          <a:xfrm xmlns:a="http://schemas.openxmlformats.org/drawingml/2006/main">
            <a:off x="838200" y="2130866"/>
            <a:ext cx="6953250" cy="307251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F889C-5385-4063-A751-D788FD60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853EF-8058-4579-95A3-527113ED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68C19-FCE8-4294-A736-DB951409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B89DA-B13A-430F-BE03-05FC64C5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Icon 和 Name 用来识别 Agent；Description 用一句话介绍用途；Instructions 写具体工作方式。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Instructions 可以包括输入内容、处理步骤、输出栏目、资料范围，以及信息不足时怎样回应。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B655B-015C-4B39-8596-C82A071B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ee725398b4d4cdd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141206967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F9A1B-D600-4534-AD29-775FA281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3F033-2319-4838-968C-AAB1F3AF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04C03-D303-4EF1-8BF9-1478E787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4｜添加知识来源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E45CF-7DAB-45EF-B12D-272AFBF5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截图中的来源入口覆盖文件、网站、聊天、会议和邮件，并可按 Files、Sites、Chats、Meetings 分类筛选。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42990-9386-4365-8276-F1D97920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66392-C892-426F-9B38-0BD43A79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31f7a746d4fc3"/>
          <a:stretch xmlns:a="http://schemas.openxmlformats.org/drawingml/2006/main"/>
        </p:blipFill>
        <p:spPr>
          <a:xfrm xmlns:a="http://schemas.openxmlformats.org/drawingml/2006/main">
            <a:off x="838200" y="1817456"/>
            <a:ext cx="6953250" cy="3699337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F095E-84D8-46C4-9FE8-4219CB2B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E954D-D958-4BA3-84C0-8E3C6FF5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80545-4AED-469D-8320-4D68493A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59BE0-CC59-4D56-ADD9-C703EDC4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上方可以输入 URL、搜索名称或拖入文件；来源包括 SharePoint、Teams、Outlook 和网站，下方还能进入个人文件、聊天、会议与邮件。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会议跟进助手会加入邮件模板和会议内容，其他无关资料暂时不选。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43AEC-6E2E-448B-AE4B-85ACF9DE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113f523597248f2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15962413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65549-6C23-42D9-8ECA-2AF62F47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6E070-1B59-4162-977C-0E3224C6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34653-2A08-40E6-97F9-07D2C87C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C6C3A-69FE-4B4B-94F7-0CECE7D4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搜索结果页同时显示名称、修改时间、修改人和位置，用于区分名称相似的多个模板。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92809-94D3-4B6E-920F-FA18ACDF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14C82-34F1-4B21-9BD3-5B07779D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b744f97414252"/>
          <a:stretch xmlns:a="http://schemas.openxmlformats.org/drawingml/2006/main"/>
        </p:blipFill>
        <p:spPr>
          <a:xfrm xmlns:a="http://schemas.openxmlformats.org/drawingml/2006/main">
            <a:off x="1378744" y="1714500"/>
            <a:ext cx="5872163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381F8-7D6A-4BB6-B100-1DE2F6CA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F5DF8-C7AD-4F37-9CAC-D2711942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357E6-4684-40AE-B8E8-4C8FB2A2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9C78D-B4A3-4DAB-8A5B-2F4EE5B4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先按 Mail Template 搜索，再核对 Modified、Modified by 与 Location，确认模板来自哪个团队、是否为当前版本。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中文管理层邮件选择 Mail Template CN，英文沟通选择 EN；出现多个同名文件时，可以打开查看栏目和适用范围。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D2827-87B6-4801-9112-AC95867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32db52ef5274d8a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213059606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B2CD8-8E1A-479D-85A5-106351CB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6D2DB-5BFD-4D6F-A72A-CA23F43B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EC110-7C83-43A8-8A4F-1D53170A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 Suggested Prompts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695B1-D9E7-46E3-8A98-B3E203AD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每条快捷问题由 Title 与 Message 两部分组成：Title 负责让人看懂，Message 才是实际发送给 Agent 的完整任务。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F2FF7-5E8F-415F-9462-CB35CD9E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32BB8-2F20-438D-B1E8-A779328D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d0e4f4f664d1f"/>
          <a:stretch xmlns:a="http://schemas.openxmlformats.org/drawingml/2006/main"/>
        </p:blipFill>
        <p:spPr>
          <a:xfrm xmlns:a="http://schemas.openxmlformats.org/drawingml/2006/main">
            <a:off x="838200" y="2484692"/>
            <a:ext cx="6953250" cy="2364866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826AE-CD05-4B16-957C-A23258A2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FBF45-DC1A-4455-9FA0-5C240C9E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FB234-C797-4D08-AF0D-3B54AA9E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2E013-4870-4948-8C9F-5F919D9D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Title：用一句话命名高频任务，例如“生成行动项”。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Message：写明输入、输出和必要约束。可以注明负责人、截止日期与状态。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保留 2–3 个高频入口即可。需要时点击 Add a suggested prompt，避免设置模糊任务。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F2808-2A2C-4718-A236-0C73BF90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cd7ad39570a4aa6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37782574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068E6-EB09-4467-ADE7-EDF3F34B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C607C-4097-4573-8746-D281BC1C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A1157-2BFB-4C43-85B4-16B1FA63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6｜预览、测试并创建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35054-5895-4036-A1AF-FB53EC7A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左侧显示 Builder 对配置的解释与修改入口，右侧 Preview 展示 Agent 身份、描述和快捷问题，顶部显示草稿状态与 Create。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D3920-2098-46B6-9446-337222B5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12E85-A317-4375-9109-EAA28733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404eab8774d28"/>
          <a:stretch xmlns:a="http://schemas.openxmlformats.org/drawingml/2006/main"/>
        </p:blipFill>
        <p:spPr>
          <a:xfrm xmlns:a="http://schemas.openxmlformats.org/drawingml/2006/main">
            <a:off x="838200" y="1827897"/>
            <a:ext cx="6953250" cy="3678457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F3994-767B-4C20-90B3-D4F9FA61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E6286-6A2A-4E15-8079-2520C5F9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ED231-420F-4F36-A1EE-0DFD4C2E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0060F-87A0-4CF7-B933-7FD0DBC6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先在 Preview 运行正常场景，确认任务与输出结构。再测试资料缺失、信息冲突和越界要求。观察 Agent 是否承认不知道并遵守规则。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若不稳定，返回 Configure 修改行为规则、知识来源或快捷问题。测试通过后再点 Create；Draft auto-saved 只表示草稿已保存。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5B376-33D1-49BD-9188-2A4E4854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face45624bf495c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83880461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C2641-40FA-410B-91D2-51CE3211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55FCA-9E09-44BE-BE0D-D16020CE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AD389-5C87-4833-BB8F-1EE99467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ADC20-395F-451E-BC20-99434C57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示例输入指定管理层简报结构并标记不确定信息，输出明确引用 Mail Template CN.docx 的 Executive Summary 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A0DDB-0ABA-4BF5-B1F8-AEEFA226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CEA25-6FFF-40D1-A0E8-303D7033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d5bd702494930"/>
          <a:stretch xmlns:a="http://schemas.openxmlformats.org/drawingml/2006/main"/>
        </p:blipFill>
        <p:spPr>
          <a:xfrm xmlns:a="http://schemas.openxmlformats.org/drawingml/2006/main">
            <a:off x="838200" y="1752870"/>
            <a:ext cx="6953250" cy="382851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3A7EB-B503-4D7E-9D9E-95889774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A1130-8975-4576-8086-F416B49D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2941F-D569-4371-A742-C4550A48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CCBCF-484C-4730-8B96-6192D3A4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检查四层：背景是否准确概括客户场景；结论是否与讨论分开；风险、需支持与下一步是否明确；产品演示等未决定事项是否仍标记为待确认。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同时确认输出是否真正使用了模板、是否保留负责人和时间信息，以及生成邮件是否只需少量编辑即可发送。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1D867-6F21-439C-AAC2-B29AB64F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2116dfdf6fc469e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150076974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2BF89-9858-4B68-AB98-6EA1DA6F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F6CE9-F533-406D-920F-5BA0DCA2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60EA4-6F3D-4426-B057-FB391854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BA3BE-E61B-4BB5-B486-BFDA6353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从前四个 Lab 中选择一个，按照网站指南在 Copilot 中完成构建。先做出可以运行的版本，再用正常任务和信息不足的场景各试一次。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57AA6-0302-448C-9C7D-3775E0E8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0E86D-52D6-47E8-B3E7-E1DFAF10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7FCD0-0451-42A2-AFAE-6DEB22C0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完成标准： Agent 有清楚的名称和用途，Instructions 至少包含任务、步骤、输出和边界；需要时添加知识来源；设置 2–3 个 Suggested Prompts。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测试标准： 至少运行一个正常场景和一个边界场景，检查结果是否基于资料、是否承认信息缺失、是否给出清晰可执行的输出。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实践范围： Lab 01 Chief of Staff、Lab 02 Product Manual FAQ、Lab 03 Meeting Follow-up Assistant、Lab 04 Funnel Data Analyst。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E6F1A-0DEE-4BA8-A480-C8918467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完成后试一遍正常任务，再试一次信息不足的情况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0104F-C953-47C7-AC69-458F6E19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9ca237ad2a4425d"/>
              </a:rPr>
              <a:t>Lab 01  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B020C-234C-4925-9BCF-9616C6AD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df1aa7006ac455c"/>
              </a:rPr>
              <a:t>Lab 02  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9B4A3-3752-4762-96B6-F8442BC6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b9eb92e931b4f47"/>
              </a:rPr>
              <a:t>Lab 03  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21884-CF4D-4362-90EA-21E5481D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f6241a2d90847c6"/>
              </a:rPr>
              <a:t>Lab 04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4AFF8-45C4-4886-94DF-7C06EF50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60302fa30694cda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42325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2026-08-26T08:19:09.1550000Z</dcterms:created>
  <dcterms:modified xsi:type="dcterms:W3CDTF">2026-08-26T08:19:09.1550000Z</dcterms:modified>
</coreProperties>
</file>