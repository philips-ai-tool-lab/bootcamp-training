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2256a3424446f6" /><Relationship Type="http://schemas.openxmlformats.org/officeDocument/2006/relationships/extended-properties" Target="/docProps/app.xml" Id="R03ac55a7bbb94e0d" /><Relationship Type="http://schemas.openxmlformats.org/officeDocument/2006/relationships/officeDocument" Target="/ppt/presentation.xml" Id="Re4e68fa1bf5240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b720a62b1c4fb1"/>
  </p:sldMasterIdLst>
  <p:notesMasterIdLst>
    <p:notesMasterId xmlns:r="http://schemas.openxmlformats.org/officeDocument/2006/relationships" r:id="R81f3bd263aed44ac"/>
  </p:notesMasterIdLst>
  <p:sldIdLst>
    <p:sldId xmlns:r="http://schemas.openxmlformats.org/officeDocument/2006/relationships" id="256" r:id="R745c41f5f5564635"/>
    <p:sldId xmlns:r="http://schemas.openxmlformats.org/officeDocument/2006/relationships" id="257" r:id="Ree004f0c03884e9e"/>
    <p:sldId xmlns:r="http://schemas.openxmlformats.org/officeDocument/2006/relationships" id="258" r:id="R5d3e9dfced9f4c1e"/>
    <p:sldId xmlns:r="http://schemas.openxmlformats.org/officeDocument/2006/relationships" id="259" r:id="Re20ed2ab8b884014"/>
    <p:sldId xmlns:r="http://schemas.openxmlformats.org/officeDocument/2006/relationships" id="260" r:id="Rd20d037e5b4e4474"/>
    <p:sldId xmlns:r="http://schemas.openxmlformats.org/officeDocument/2006/relationships" id="261" r:id="R3d07086775244cc1"/>
    <p:sldId xmlns:r="http://schemas.openxmlformats.org/officeDocument/2006/relationships" id="262" r:id="R5913645e2ceb403a"/>
    <p:sldId xmlns:r="http://schemas.openxmlformats.org/officeDocument/2006/relationships" id="263" r:id="R68b633c897d84f39"/>
    <p:sldId xmlns:r="http://schemas.openxmlformats.org/officeDocument/2006/relationships" id="264" r:id="R62f7f6c484f84b32"/>
    <p:sldId xmlns:r="http://schemas.openxmlformats.org/officeDocument/2006/relationships" id="265" r:id="R2e8bc2d4d2a6405c"/>
    <p:sldId xmlns:r="http://schemas.openxmlformats.org/officeDocument/2006/relationships" id="266" r:id="R9bff031e8fe1448e"/>
    <p:sldId xmlns:r="http://schemas.openxmlformats.org/officeDocument/2006/relationships" id="267" r:id="Rf1a2e12d8b8e4e3f"/>
    <p:sldId xmlns:r="http://schemas.openxmlformats.org/officeDocument/2006/relationships" id="268" r:id="R56bf4607ec504cb7"/>
    <p:sldId xmlns:r="http://schemas.openxmlformats.org/officeDocument/2006/relationships" id="269" r:id="Rb9283a452b3a49d2"/>
    <p:sldId xmlns:r="http://schemas.openxmlformats.org/officeDocument/2006/relationships" id="270" r:id="R5310ecd0c4e8434d"/>
    <p:sldId xmlns:r="http://schemas.openxmlformats.org/officeDocument/2006/relationships" id="271" r:id="Re42b4abb1a774f78"/>
    <p:sldId xmlns:r="http://schemas.openxmlformats.org/officeDocument/2006/relationships" id="272" r:id="R45ad7948d7344be5"/>
    <p:sldId xmlns:r="http://schemas.openxmlformats.org/officeDocument/2006/relationships" id="273" r:id="Rb0ef8c3e8fef4839"/>
    <p:sldId xmlns:r="http://schemas.openxmlformats.org/officeDocument/2006/relationships" id="274" r:id="R66c3ddbdee0e4bcd"/>
    <p:sldId xmlns:r="http://schemas.openxmlformats.org/officeDocument/2006/relationships" id="275" r:id="Rc869f9bf629b476b"/>
    <p:sldId xmlns:r="http://schemas.openxmlformats.org/officeDocument/2006/relationships" id="276" r:id="Rf103bfa586694ee4"/>
    <p:sldId xmlns:r="http://schemas.openxmlformats.org/officeDocument/2006/relationships" id="277" r:id="R0570359a0c434ccb"/>
    <p:sldId xmlns:r="http://schemas.openxmlformats.org/officeDocument/2006/relationships" id="278" r:id="Rc2c003f5f58d4849"/>
    <p:sldId xmlns:r="http://schemas.openxmlformats.org/officeDocument/2006/relationships" id="279" r:id="Ree24683cbdaa4157"/>
    <p:sldId xmlns:r="http://schemas.openxmlformats.org/officeDocument/2006/relationships" id="280" r:id="Rb9a7aa566a3b4ee1"/>
    <p:sldId xmlns:r="http://schemas.openxmlformats.org/officeDocument/2006/relationships" id="281" r:id="R3a95e1d13ecc4f1f"/>
    <p:sldId xmlns:r="http://schemas.openxmlformats.org/officeDocument/2006/relationships" id="282" r:id="Rd4396b38d92f4dae"/>
    <p:sldId xmlns:r="http://schemas.openxmlformats.org/officeDocument/2006/relationships" id="283" r:id="Rf18a0d3174974fbb"/>
    <p:sldId xmlns:r="http://schemas.openxmlformats.org/officeDocument/2006/relationships" id="284" r:id="Rad06ad16db8a41fb"/>
    <p:sldId xmlns:r="http://schemas.openxmlformats.org/officeDocument/2006/relationships" id="285" r:id="Raba190a195274931"/>
    <p:sldId xmlns:r="http://schemas.openxmlformats.org/officeDocument/2006/relationships" id="286" r:id="R7d5ad5e70dcc42bd"/>
    <p:sldId xmlns:r="http://schemas.openxmlformats.org/officeDocument/2006/relationships" id="287" r:id="Rbef769fdeb444588"/>
    <p:sldId xmlns:r="http://schemas.openxmlformats.org/officeDocument/2006/relationships" id="288" r:id="Rc49c57ea4fa341b5"/>
    <p:sldId xmlns:r="http://schemas.openxmlformats.org/officeDocument/2006/relationships" id="289" r:id="R99543543b7b04af6"/>
    <p:sldId xmlns:r="http://schemas.openxmlformats.org/officeDocument/2006/relationships" id="290" r:id="Rd04e0a0c505f4f68"/>
    <p:sldId xmlns:r="http://schemas.openxmlformats.org/officeDocument/2006/relationships" id="291" r:id="R8259ab7474914809"/>
    <p:sldId xmlns:r="http://schemas.openxmlformats.org/officeDocument/2006/relationships" id="292" r:id="R4182b43b79f94483"/>
    <p:sldId xmlns:r="http://schemas.openxmlformats.org/officeDocument/2006/relationships" id="293" r:id="R780b5b9527aa4291"/>
    <p:sldId xmlns:r="http://schemas.openxmlformats.org/officeDocument/2006/relationships" id="294" r:id="R464159ae6efd4fe0"/>
    <p:sldId xmlns:r="http://schemas.openxmlformats.org/officeDocument/2006/relationships" id="295" r:id="R60fa0e883b0f4aff"/>
    <p:sldId xmlns:r="http://schemas.openxmlformats.org/officeDocument/2006/relationships" id="296" r:id="Rf06da1fc6bd14dd1"/>
    <p:sldId xmlns:r="http://schemas.openxmlformats.org/officeDocument/2006/relationships" id="297" r:id="R3f994468c7594177"/>
    <p:sldId xmlns:r="http://schemas.openxmlformats.org/officeDocument/2006/relationships" id="298" r:id="Rbf29f019981b4cbb"/>
    <p:sldId xmlns:r="http://schemas.openxmlformats.org/officeDocument/2006/relationships" id="299" r:id="Rdb1ff18a49d4475c"/>
    <p:sldId xmlns:r="http://schemas.openxmlformats.org/officeDocument/2006/relationships" id="300" r:id="R8f1196be489543d0"/>
    <p:sldId xmlns:r="http://schemas.openxmlformats.org/officeDocument/2006/relationships" id="301" r:id="R550f965337f0452f"/>
    <p:sldId xmlns:r="http://schemas.openxmlformats.org/officeDocument/2006/relationships" id="302" r:id="R7b156ce21f674445"/>
    <p:sldId xmlns:r="http://schemas.openxmlformats.org/officeDocument/2006/relationships" id="303" r:id="R87b4a3dc664d49e1"/>
    <p:sldId xmlns:r="http://schemas.openxmlformats.org/officeDocument/2006/relationships" id="304" r:id="R430b91701c584038"/>
    <p:sldId xmlns:r="http://schemas.openxmlformats.org/officeDocument/2006/relationships" id="305" r:id="Rfcc6093c5d0b4a49"/>
    <p:sldId xmlns:r="http://schemas.openxmlformats.org/officeDocument/2006/relationships" id="306" r:id="Ra185052a18cd4a03"/>
    <p:sldId xmlns:r="http://schemas.openxmlformats.org/officeDocument/2006/relationships" id="307" r:id="Rc4cf1762042941c8"/>
    <p:sldId xmlns:r="http://schemas.openxmlformats.org/officeDocument/2006/relationships" id="308" r:id="Ref36dd3d56a348db"/>
    <p:sldId xmlns:r="http://schemas.openxmlformats.org/officeDocument/2006/relationships" id="309" r:id="R2faac9fdd05249bd"/>
    <p:sldId xmlns:r="http://schemas.openxmlformats.org/officeDocument/2006/relationships" id="310" r:id="R24d2934e318d4bfd"/>
    <p:sldId xmlns:r="http://schemas.openxmlformats.org/officeDocument/2006/relationships" id="311" r:id="R89fe5c49fac34f66"/>
    <p:sldId xmlns:r="http://schemas.openxmlformats.org/officeDocument/2006/relationships" id="312" r:id="Ra042845df26c4554"/>
    <p:sldId xmlns:r="http://schemas.openxmlformats.org/officeDocument/2006/relationships" id="313" r:id="Rc19d3fb024ab4d88"/>
    <p:sldId xmlns:r="http://schemas.openxmlformats.org/officeDocument/2006/relationships" id="314" r:id="R8e64c3a3035a43a0"/>
    <p:sldId xmlns:r="http://schemas.openxmlformats.org/officeDocument/2006/relationships" id="315" r:id="Ra279a8640f1649e4"/>
    <p:sldId xmlns:r="http://schemas.openxmlformats.org/officeDocument/2006/relationships" id="316" r:id="R4d6bda5c7d914e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1c4deab4a24f48" /><Relationship Type="http://schemas.openxmlformats.org/officeDocument/2006/relationships/slideMaster" Target="/ppt/slideMasters/slideMaster1.xml" Id="R23b720a62b1c4fb1" /><Relationship Type="http://schemas.openxmlformats.org/officeDocument/2006/relationships/notesMaster" Target="/ppt/notesMasters/notesMaster1.xml" Id="R81f3bd263aed44ac" /><Relationship Type="http://schemas.openxmlformats.org/officeDocument/2006/relationships/presProps" Target="/ppt/presProps.xml" Id="R74020e9294654f79" /><Relationship Type="http://schemas.openxmlformats.org/officeDocument/2006/relationships/viewProps" Target="/ppt/viewProps.xml" Id="R192b32e8702c48f8" /><Relationship Type="http://schemas.openxmlformats.org/officeDocument/2006/relationships/tableStyles" Target="/ppt/tableStyles.xml" Id="R0c238eaba0944bc2" /><Relationship Type="http://schemas.openxmlformats.org/officeDocument/2006/relationships/slide" Target="/ppt/slides/slide1.xml" Id="R745c41f5f5564635" /><Relationship Type="http://schemas.openxmlformats.org/officeDocument/2006/relationships/slide" Target="/ppt/slides/slide2.xml" Id="Ree004f0c03884e9e" /><Relationship Type="http://schemas.openxmlformats.org/officeDocument/2006/relationships/slide" Target="/ppt/slides/slide3.xml" Id="R5d3e9dfced9f4c1e" /><Relationship Type="http://schemas.openxmlformats.org/officeDocument/2006/relationships/slide" Target="/ppt/slides/slide4.xml" Id="Re20ed2ab8b884014" /><Relationship Type="http://schemas.openxmlformats.org/officeDocument/2006/relationships/slide" Target="/ppt/slides/slide5.xml" Id="Rd20d037e5b4e4474" /><Relationship Type="http://schemas.openxmlformats.org/officeDocument/2006/relationships/slide" Target="/ppt/slides/slide6.xml" Id="R3d07086775244cc1" /><Relationship Type="http://schemas.openxmlformats.org/officeDocument/2006/relationships/slide" Target="/ppt/slides/slide7.xml" Id="R5913645e2ceb403a" /><Relationship Type="http://schemas.openxmlformats.org/officeDocument/2006/relationships/slide" Target="/ppt/slides/slide8.xml" Id="R68b633c897d84f39" /><Relationship Type="http://schemas.openxmlformats.org/officeDocument/2006/relationships/slide" Target="/ppt/slides/slide9.xml" Id="R62f7f6c484f84b32" /><Relationship Type="http://schemas.openxmlformats.org/officeDocument/2006/relationships/slide" Target="/ppt/slides/slide10.xml" Id="R2e8bc2d4d2a6405c" /><Relationship Type="http://schemas.openxmlformats.org/officeDocument/2006/relationships/slide" Target="/ppt/slides/slide11.xml" Id="R9bff031e8fe1448e" /><Relationship Type="http://schemas.openxmlformats.org/officeDocument/2006/relationships/slide" Target="/ppt/slides/slide12.xml" Id="Rf1a2e12d8b8e4e3f" /><Relationship Type="http://schemas.openxmlformats.org/officeDocument/2006/relationships/slide" Target="/ppt/slides/slide13.xml" Id="R56bf4607ec504cb7" /><Relationship Type="http://schemas.openxmlformats.org/officeDocument/2006/relationships/slide" Target="/ppt/slides/slide14.xml" Id="Rb9283a452b3a49d2" /><Relationship Type="http://schemas.openxmlformats.org/officeDocument/2006/relationships/slide" Target="/ppt/slides/slide15.xml" Id="R5310ecd0c4e8434d" /><Relationship Type="http://schemas.openxmlformats.org/officeDocument/2006/relationships/slide" Target="/ppt/slides/slide16.xml" Id="Re42b4abb1a774f78" /><Relationship Type="http://schemas.openxmlformats.org/officeDocument/2006/relationships/slide" Target="/ppt/slides/slide17.xml" Id="R45ad7948d7344be5" /><Relationship Type="http://schemas.openxmlformats.org/officeDocument/2006/relationships/slide" Target="/ppt/slides/slide18.xml" Id="Rb0ef8c3e8fef4839" /><Relationship Type="http://schemas.openxmlformats.org/officeDocument/2006/relationships/slide" Target="/ppt/slides/slide19.xml" Id="R66c3ddbdee0e4bcd" /><Relationship Type="http://schemas.openxmlformats.org/officeDocument/2006/relationships/slide" Target="/ppt/slides/slide20.xml" Id="Rc869f9bf629b476b" /><Relationship Type="http://schemas.openxmlformats.org/officeDocument/2006/relationships/slide" Target="/ppt/slides/slide21.xml" Id="Rf103bfa586694ee4" /><Relationship Type="http://schemas.openxmlformats.org/officeDocument/2006/relationships/slide" Target="/ppt/slides/slide22.xml" Id="R0570359a0c434ccb" /><Relationship Type="http://schemas.openxmlformats.org/officeDocument/2006/relationships/slide" Target="/ppt/slides/slide23.xml" Id="Rc2c003f5f58d4849" /><Relationship Type="http://schemas.openxmlformats.org/officeDocument/2006/relationships/slide" Target="/ppt/slides/slide24.xml" Id="Ree24683cbdaa4157" /><Relationship Type="http://schemas.openxmlformats.org/officeDocument/2006/relationships/slide" Target="/ppt/slides/slide25.xml" Id="Rb9a7aa566a3b4ee1" /><Relationship Type="http://schemas.openxmlformats.org/officeDocument/2006/relationships/slide" Target="/ppt/slides/slide26.xml" Id="R3a95e1d13ecc4f1f" /><Relationship Type="http://schemas.openxmlformats.org/officeDocument/2006/relationships/slide" Target="/ppt/slides/slide27.xml" Id="Rd4396b38d92f4dae" /><Relationship Type="http://schemas.openxmlformats.org/officeDocument/2006/relationships/slide" Target="/ppt/slides/slide28.xml" Id="Rf18a0d3174974fbb" /><Relationship Type="http://schemas.openxmlformats.org/officeDocument/2006/relationships/slide" Target="/ppt/slides/slide29.xml" Id="Rad06ad16db8a41fb" /><Relationship Type="http://schemas.openxmlformats.org/officeDocument/2006/relationships/slide" Target="/ppt/slides/slide30.xml" Id="Raba190a195274931" /><Relationship Type="http://schemas.openxmlformats.org/officeDocument/2006/relationships/slide" Target="/ppt/slides/slide31.xml" Id="R7d5ad5e70dcc42bd" /><Relationship Type="http://schemas.openxmlformats.org/officeDocument/2006/relationships/slide" Target="/ppt/slides/slide32.xml" Id="Rbef769fdeb444588" /><Relationship Type="http://schemas.openxmlformats.org/officeDocument/2006/relationships/slide" Target="/ppt/slides/slide33.xml" Id="Rc49c57ea4fa341b5" /><Relationship Type="http://schemas.openxmlformats.org/officeDocument/2006/relationships/slide" Target="/ppt/slides/slide34.xml" Id="R99543543b7b04af6" /><Relationship Type="http://schemas.openxmlformats.org/officeDocument/2006/relationships/slide" Target="/ppt/slides/slide35.xml" Id="Rd04e0a0c505f4f68" /><Relationship Type="http://schemas.openxmlformats.org/officeDocument/2006/relationships/slide" Target="/ppt/slides/slide36.xml" Id="R8259ab7474914809" /><Relationship Type="http://schemas.openxmlformats.org/officeDocument/2006/relationships/slide" Target="/ppt/slides/slide37.xml" Id="R4182b43b79f94483" /><Relationship Type="http://schemas.openxmlformats.org/officeDocument/2006/relationships/slide" Target="/ppt/slides/slide38.xml" Id="R780b5b9527aa4291" /><Relationship Type="http://schemas.openxmlformats.org/officeDocument/2006/relationships/slide" Target="/ppt/slides/slide39.xml" Id="R464159ae6efd4fe0" /><Relationship Type="http://schemas.openxmlformats.org/officeDocument/2006/relationships/slide" Target="/ppt/slides/slide40.xml" Id="R60fa0e883b0f4aff" /><Relationship Type="http://schemas.openxmlformats.org/officeDocument/2006/relationships/slide" Target="/ppt/slides/slide41.xml" Id="Rf06da1fc6bd14dd1" /><Relationship Type="http://schemas.openxmlformats.org/officeDocument/2006/relationships/slide" Target="/ppt/slides/slide42.xml" Id="R3f994468c7594177" /><Relationship Type="http://schemas.openxmlformats.org/officeDocument/2006/relationships/slide" Target="/ppt/slides/slide43.xml" Id="Rbf29f019981b4cbb" /><Relationship Type="http://schemas.openxmlformats.org/officeDocument/2006/relationships/slide" Target="/ppt/slides/slide44.xml" Id="Rdb1ff18a49d4475c" /><Relationship Type="http://schemas.openxmlformats.org/officeDocument/2006/relationships/slide" Target="/ppt/slides/slide45.xml" Id="R8f1196be489543d0" /><Relationship Type="http://schemas.openxmlformats.org/officeDocument/2006/relationships/slide" Target="/ppt/slides/slide46.xml" Id="R550f965337f0452f" /><Relationship Type="http://schemas.openxmlformats.org/officeDocument/2006/relationships/slide" Target="/ppt/slides/slide47.xml" Id="R7b156ce21f674445" /><Relationship Type="http://schemas.openxmlformats.org/officeDocument/2006/relationships/slide" Target="/ppt/slides/slide48.xml" Id="R87b4a3dc664d49e1" /><Relationship Type="http://schemas.openxmlformats.org/officeDocument/2006/relationships/slide" Target="/ppt/slides/slide49.xml" Id="R430b91701c584038" /><Relationship Type="http://schemas.openxmlformats.org/officeDocument/2006/relationships/slide" Target="/ppt/slides/slide50.xml" Id="Rfcc6093c5d0b4a49" /><Relationship Type="http://schemas.openxmlformats.org/officeDocument/2006/relationships/slide" Target="/ppt/slides/slide51.xml" Id="Ra185052a18cd4a03" /><Relationship Type="http://schemas.openxmlformats.org/officeDocument/2006/relationships/slide" Target="/ppt/slides/slide52.xml" Id="Rc4cf1762042941c8" /><Relationship Type="http://schemas.openxmlformats.org/officeDocument/2006/relationships/slide" Target="/ppt/slides/slide53.xml" Id="Ref36dd3d56a348db" /><Relationship Type="http://schemas.openxmlformats.org/officeDocument/2006/relationships/slide" Target="/ppt/slides/slide54.xml" Id="R2faac9fdd05249bd" /><Relationship Type="http://schemas.openxmlformats.org/officeDocument/2006/relationships/slide" Target="/ppt/slides/slide55.xml" Id="R24d2934e318d4bfd" /><Relationship Type="http://schemas.openxmlformats.org/officeDocument/2006/relationships/slide" Target="/ppt/slides/slide56.xml" Id="R89fe5c49fac34f66" /><Relationship Type="http://schemas.openxmlformats.org/officeDocument/2006/relationships/slide" Target="/ppt/slides/slide57.xml" Id="Ra042845df26c4554" /><Relationship Type="http://schemas.openxmlformats.org/officeDocument/2006/relationships/slide" Target="/ppt/slides/slide58.xml" Id="Rc19d3fb024ab4d88" /><Relationship Type="http://schemas.openxmlformats.org/officeDocument/2006/relationships/slide" Target="/ppt/slides/slide59.xml" Id="R8e64c3a3035a43a0" /><Relationship Type="http://schemas.openxmlformats.org/officeDocument/2006/relationships/slide" Target="/ppt/slides/slide60.xml" Id="Ra279a8640f1649e4" /><Relationship Type="http://schemas.openxmlformats.org/officeDocument/2006/relationships/slide" Target="/ppt/slides/slide61.xml" Id="R4d6bda5c7d914e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7d34fa25d745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579aa7729b4542" /><Relationship Type="http://schemas.openxmlformats.org/officeDocument/2006/relationships/notesMaster" Target="/ppt/notesMasters/notesMaster1.xml" Id="Re6185567ebea4a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eae91842264ac7" /><Relationship Type="http://schemas.openxmlformats.org/officeDocument/2006/relationships/notesMaster" Target="/ppt/notesMasters/notesMaster1.xml" Id="R4893b3022d094e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7404f8b6144129" /><Relationship Type="http://schemas.openxmlformats.org/officeDocument/2006/relationships/notesMaster" Target="/ppt/notesMasters/notesMaster1.xml" Id="R532065c5e1c446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53b7ab33334b5e" /><Relationship Type="http://schemas.openxmlformats.org/officeDocument/2006/relationships/notesMaster" Target="/ppt/notesMasters/notesMaster1.xml" Id="R9cb55ea2603040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74dbe269a74e8b" /><Relationship Type="http://schemas.openxmlformats.org/officeDocument/2006/relationships/notesMaster" Target="/ppt/notesMasters/notesMaster1.xml" Id="R8615d54f66bf46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ce875dda464c4f" /><Relationship Type="http://schemas.openxmlformats.org/officeDocument/2006/relationships/notesMaster" Target="/ppt/notesMasters/notesMaster1.xml" Id="R94923e3a724f44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fca532e28f46e0" /><Relationship Type="http://schemas.openxmlformats.org/officeDocument/2006/relationships/notesMaster" Target="/ppt/notesMasters/notesMaster1.xml" Id="R360960e8e4884a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062a19fce94756" /><Relationship Type="http://schemas.openxmlformats.org/officeDocument/2006/relationships/notesMaster" Target="/ppt/notesMasters/notesMaster1.xml" Id="R23176777e35247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f5e08ebca34690" /><Relationship Type="http://schemas.openxmlformats.org/officeDocument/2006/relationships/notesMaster" Target="/ppt/notesMasters/notesMaster1.xml" Id="Rcaba9912b0d540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39d2da86524fec" /><Relationship Type="http://schemas.openxmlformats.org/officeDocument/2006/relationships/notesMaster" Target="/ppt/notesMasters/notesMaster1.xml" Id="R096335c8527246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3815cd51c547f4" /><Relationship Type="http://schemas.openxmlformats.org/officeDocument/2006/relationships/notesMaster" Target="/ppt/notesMasters/notesMaster1.xml" Id="R23265a09bfb042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abd3b65df7496e" /><Relationship Type="http://schemas.openxmlformats.org/officeDocument/2006/relationships/notesMaster" Target="/ppt/notesMasters/notesMaster1.xml" Id="R43e77b5dbb0647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faf25e30cbf456a" /><Relationship Type="http://schemas.openxmlformats.org/officeDocument/2006/relationships/notesMaster" Target="/ppt/notesMasters/notesMaster1.xml" Id="R34e01357c3f341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a2a09fe25d4c7f" /><Relationship Type="http://schemas.openxmlformats.org/officeDocument/2006/relationships/notesMaster" Target="/ppt/notesMasters/notesMaster1.xml" Id="R2da90622a69848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5aa7775d6148f7" /><Relationship Type="http://schemas.openxmlformats.org/officeDocument/2006/relationships/notesMaster" Target="/ppt/notesMasters/notesMaster1.xml" Id="R56a506c0b4ec4f6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a554a4faf5451c" /><Relationship Type="http://schemas.openxmlformats.org/officeDocument/2006/relationships/notesMaster" Target="/ppt/notesMasters/notesMaster1.xml" Id="R44e3056e1d654ad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b439b7de5124766" /><Relationship Type="http://schemas.openxmlformats.org/officeDocument/2006/relationships/notesMaster" Target="/ppt/notesMasters/notesMaster1.xml" Id="Rbad3cd67ccbc44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fb2560c9b8d4c51" /><Relationship Type="http://schemas.openxmlformats.org/officeDocument/2006/relationships/notesMaster" Target="/ppt/notesMasters/notesMaster1.xml" Id="R7829d3a55664460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8020780b8434951" /><Relationship Type="http://schemas.openxmlformats.org/officeDocument/2006/relationships/notesMaster" Target="/ppt/notesMasters/notesMaster1.xml" Id="R265ec5ef537046e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0f0a31f309b4a36" /><Relationship Type="http://schemas.openxmlformats.org/officeDocument/2006/relationships/notesMaster" Target="/ppt/notesMasters/notesMaster1.xml" Id="R6fa695a399c445a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1aeff9c60da4525" /><Relationship Type="http://schemas.openxmlformats.org/officeDocument/2006/relationships/notesMaster" Target="/ppt/notesMasters/notesMaster1.xml" Id="R2d462b14274340b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5c32bee08674777" /><Relationship Type="http://schemas.openxmlformats.org/officeDocument/2006/relationships/notesMaster" Target="/ppt/notesMasters/notesMaster1.xml" Id="R4efa48375cd7463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7ba387e98b745fd" /><Relationship Type="http://schemas.openxmlformats.org/officeDocument/2006/relationships/notesMaster" Target="/ppt/notesMasters/notesMaster1.xml" Id="R87ed7d16d55148e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1747f283cb641ab" /><Relationship Type="http://schemas.openxmlformats.org/officeDocument/2006/relationships/notesMaster" Target="/ppt/notesMasters/notesMaster1.xml" Id="R86867b9920ad48c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105a74c302342c0" /><Relationship Type="http://schemas.openxmlformats.org/officeDocument/2006/relationships/notesMaster" Target="/ppt/notesMasters/notesMaster1.xml" Id="R565f3891739e483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e23d90807584bd0" /><Relationship Type="http://schemas.openxmlformats.org/officeDocument/2006/relationships/notesMaster" Target="/ppt/notesMasters/notesMaster1.xml" Id="Re5c3ab4f7997486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6b71b8f7cea4bbc" /><Relationship Type="http://schemas.openxmlformats.org/officeDocument/2006/relationships/notesMaster" Target="/ppt/notesMasters/notesMaster1.xml" Id="Rdf7c1c9d414e4ca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f210eafbab74166" /><Relationship Type="http://schemas.openxmlformats.org/officeDocument/2006/relationships/notesMaster" Target="/ppt/notesMasters/notesMaster1.xml" Id="R951b5b7b8d57476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47ec8f0c3364e68" /><Relationship Type="http://schemas.openxmlformats.org/officeDocument/2006/relationships/notesMaster" Target="/ppt/notesMasters/notesMaster1.xml" Id="R9bcf9dde557a455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14738a217fb41a4" /><Relationship Type="http://schemas.openxmlformats.org/officeDocument/2006/relationships/notesMaster" Target="/ppt/notesMasters/notesMaster1.xml" Id="R4a594772bfae424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477be36ea474964" /><Relationship Type="http://schemas.openxmlformats.org/officeDocument/2006/relationships/notesMaster" Target="/ppt/notesMasters/notesMaster1.xml" Id="R4a991bb9aca4490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64f2d8c76b54e82" /><Relationship Type="http://schemas.openxmlformats.org/officeDocument/2006/relationships/notesMaster" Target="/ppt/notesMasters/notesMaster1.xml" Id="R2a7095c9a567438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3e2ff2d3c4f4458" /><Relationship Type="http://schemas.openxmlformats.org/officeDocument/2006/relationships/notesMaster" Target="/ppt/notesMasters/notesMaster1.xml" Id="R8937bf2a7065454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1f3ceff8adf4605" /><Relationship Type="http://schemas.openxmlformats.org/officeDocument/2006/relationships/notesMaster" Target="/ppt/notesMasters/notesMaster1.xml" Id="R8eae1a7c9d974da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a7a65fc5b9a4228" /><Relationship Type="http://schemas.openxmlformats.org/officeDocument/2006/relationships/notesMaster" Target="/ppt/notesMasters/notesMaster1.xml" Id="Ra9702d7341d8412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01220fea6ce456e" /><Relationship Type="http://schemas.openxmlformats.org/officeDocument/2006/relationships/notesMaster" Target="/ppt/notesMasters/notesMaster1.xml" Id="R9aa92257d0404d9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ce5fdf88f664703" /><Relationship Type="http://schemas.openxmlformats.org/officeDocument/2006/relationships/notesMaster" Target="/ppt/notesMasters/notesMaster1.xml" Id="Rbf3e3d513ead4b2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6a2c47549984ec1" /><Relationship Type="http://schemas.openxmlformats.org/officeDocument/2006/relationships/notesMaster" Target="/ppt/notesMasters/notesMaster1.xml" Id="R5bfd091055fd495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1a906b9c14a49a5" /><Relationship Type="http://schemas.openxmlformats.org/officeDocument/2006/relationships/notesMaster" Target="/ppt/notesMasters/notesMaster1.xml" Id="R6d2f6b2cb38e43d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334041d6436483e" /><Relationship Type="http://schemas.openxmlformats.org/officeDocument/2006/relationships/notesMaster" Target="/ppt/notesMasters/notesMaster1.xml" Id="R5e0c0ea71afd46e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02426a4cb574e6f" /><Relationship Type="http://schemas.openxmlformats.org/officeDocument/2006/relationships/notesMaster" Target="/ppt/notesMasters/notesMaster1.xml" Id="Rc2412e852d5e4c4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6bac8e901714383" /><Relationship Type="http://schemas.openxmlformats.org/officeDocument/2006/relationships/notesMaster" Target="/ppt/notesMasters/notesMaster1.xml" Id="Rca3958e891174df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4f110bcbd4343e9" /><Relationship Type="http://schemas.openxmlformats.org/officeDocument/2006/relationships/notesMaster" Target="/ppt/notesMasters/notesMaster1.xml" Id="R4ccd99725e514ed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92660b7820c4d5b" /><Relationship Type="http://schemas.openxmlformats.org/officeDocument/2006/relationships/notesMaster" Target="/ppt/notesMasters/notesMaster1.xml" Id="R3cc9b926906c43a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b6577e4ae7640f3" /><Relationship Type="http://schemas.openxmlformats.org/officeDocument/2006/relationships/notesMaster" Target="/ppt/notesMasters/notesMaster1.xml" Id="R05fa2524da95422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88489d3cb5e486f" /><Relationship Type="http://schemas.openxmlformats.org/officeDocument/2006/relationships/notesMaster" Target="/ppt/notesMasters/notesMaster1.xml" Id="R2a0f0ed1e8d44f2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4cfc279c11c4e7f" /><Relationship Type="http://schemas.openxmlformats.org/officeDocument/2006/relationships/notesMaster" Target="/ppt/notesMasters/notesMaster1.xml" Id="R21f9badda46347b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8ad8071986542c5" /><Relationship Type="http://schemas.openxmlformats.org/officeDocument/2006/relationships/notesMaster" Target="/ppt/notesMasters/notesMaster1.xml" Id="R7e9514446140446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f5ea3c300924409" /><Relationship Type="http://schemas.openxmlformats.org/officeDocument/2006/relationships/notesMaster" Target="/ppt/notesMasters/notesMaster1.xml" Id="R5219bccda127410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aa95f5727924be0" /><Relationship Type="http://schemas.openxmlformats.org/officeDocument/2006/relationships/notesMaster" Target="/ppt/notesMasters/notesMaster1.xml" Id="Rc7e073c7ad6d4c7c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dee658ed7ee44b55" /><Relationship Type="http://schemas.openxmlformats.org/officeDocument/2006/relationships/notesMaster" Target="/ppt/notesMasters/notesMaster1.xml" Id="R73ec84c93b5a408a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7c50f9354a124c8b" /><Relationship Type="http://schemas.openxmlformats.org/officeDocument/2006/relationships/notesMaster" Target="/ppt/notesMasters/notesMaster1.xml" Id="R95590ead34a5427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158682a58ee42d0" /><Relationship Type="http://schemas.openxmlformats.org/officeDocument/2006/relationships/notesMaster" Target="/ppt/notesMasters/notesMaster1.xml" Id="R12f4ebe3fe2a404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73a6369b81de44b4" /><Relationship Type="http://schemas.openxmlformats.org/officeDocument/2006/relationships/notesMaster" Target="/ppt/notesMasters/notesMaster1.xml" Id="R77a4e1823bb14fe4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6a728bef7ac24499" /><Relationship Type="http://schemas.openxmlformats.org/officeDocument/2006/relationships/notesMaster" Target="/ppt/notesMasters/notesMaster1.xml" Id="R39fc857b6ae746b9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ce3ea334c7844ca" /><Relationship Type="http://schemas.openxmlformats.org/officeDocument/2006/relationships/notesMaster" Target="/ppt/notesMasters/notesMaster1.xml" Id="R0496dd082cf14d5d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9e6ef00f7eb64c63" /><Relationship Type="http://schemas.openxmlformats.org/officeDocument/2006/relationships/notesMaster" Target="/ppt/notesMasters/notesMaster1.xml" Id="R39a683c380384427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bf42951cb9c24920" /><Relationship Type="http://schemas.openxmlformats.org/officeDocument/2006/relationships/notesMaster" Target="/ppt/notesMasters/notesMaster1.xml" Id="R959af46fcfeb4976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7eea0453548b4cbc" /><Relationship Type="http://schemas.openxmlformats.org/officeDocument/2006/relationships/notesMaster" Target="/ppt/notesMasters/notesMaster1.xml" Id="R2eaf19f76c574d67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9e05b63857e7426a" /><Relationship Type="http://schemas.openxmlformats.org/officeDocument/2006/relationships/notesMaster" Target="/ppt/notesMasters/notesMaster1.xml" Id="Raae18c21f41449f1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5b65a673cf5644fd" /><Relationship Type="http://schemas.openxmlformats.org/officeDocument/2006/relationships/notesMaster" Target="/ppt/notesMasters/notesMaster1.xml" Id="R1f9f78cb7ef141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1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Philips AI strategy material already cited on slide 2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2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GCR AI roadmap material already cited on slide 8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  <a:p xmlns:a="http://schemas.openxmlformats.org/drawingml/2006/main">
            <a:r>
              <a:t>- Enterprise_ChatGPT申请与使用OnePager.pptx</a:t>
            </a:r>
          </a:p>
          <a:p xmlns:a="http://schemas.openxmlformats.org/drawingml/2006/main">
            <a:r>
              <a:t>- User-provided Company Portal screenshots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KB1528249 — 飞利浦中国用户 ChatGPT 申请与使用手册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  <a:p xmlns:a="http://schemas.openxmlformats.org/drawingml/2006/main">
            <a:r>
              <a:t>- User-provided screenshot of KB1528249 v6.0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Enterprise_ChatGPT申请与使用OnePager.pptx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Company Portal home screenshot</a:t>
            </a:r>
          </a:p>
          <a:p xmlns:a="http://schemas.openxmlformats.org/drawingml/2006/main">
            <a:r>
              <a:t>- User-provided ChatGPT Proxy Doctor details screenshot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Diagram summarizes the confirmed steps from slides 9–13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KB1528249 — 飞利浦中国用户 ChatGPT 申请与使用手册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3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GCR AI Network role material already cited on slide 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GCR AI Ambassador image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MS-4004 playlist already cited on slide 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365 Copilot workflow summarized from slides 19–23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  <a:p xmlns:a="http://schemas.openxmlformats.org/drawingml/2006/main"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files described on slides 24–27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Project Brief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Meeting Notes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Timeline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prompt structure on slide 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M365 Copilot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workflow on slides 24–30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讲解提示：这是示例提示词，不是唯一写法。重点是把背景、任务、输出和约束说清楚。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Bootcamp_AI培训资料汇总_20260820/02_Copilot日常实操案例/01_绿色办公周_项目简介_虚构数据.txt</a:t>
            </a:r>
          </a:p>
          <a:p xmlns:a="http://schemas.openxmlformats.org/drawingml/2006/main">
            <a:r>
              <a:t>- Bootcamp_AI培训资料汇总_20260820/02_Copilot日常实操案例/02_绿色办公周_会议纪要_虚构数据.txt</a:t>
            </a:r>
          </a:p>
          <a:p xmlns:a="http://schemas.openxmlformats.org/drawingml/2006/main">
            <a:r>
              <a:t>- Bootcamp_AI培训资料汇总_20260820/02_Copilot日常实操案例/03_绿色办公周_时间表_虚构数据.txt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files and example prompt on slides 24–32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meeting follow-up output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7573ab32ed49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7c8fd0b73f40e2" /><Relationship Type="http://schemas.openxmlformats.org/officeDocument/2006/relationships/slideLayout" Target="/ppt/slideLayouts/slideLayout1.xml" Id="R8cc0a0bdadf64f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c0a0bdadf64f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d0e010a6a4c3c" /><Relationship Type="http://schemas.openxmlformats.org/officeDocument/2006/relationships/hyperlink" Target="https://aiskillsnavigator.microsoft.com/" TargetMode="External" Id="Rb47ee37f1a824453" /><Relationship Type="http://schemas.openxmlformats.org/officeDocument/2006/relationships/notesSlide" Target="/ppt/notesSlides/notesSlide1.xml" Id="R46f60b5bc84141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9f84aa86a4355" /><Relationship Type="http://schemas.openxmlformats.org/officeDocument/2006/relationships/hyperlink" Target="https://www.aigateway.ai.inside.philips.com/" TargetMode="External" Id="R7ce41fb643d94578" /><Relationship Type="http://schemas.openxmlformats.org/officeDocument/2006/relationships/notesSlide" Target="/ppt/notesSlides/notesSlide2.xml" Id="R8ff9209df06342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e69b094f740b3" /><Relationship Type="http://schemas.openxmlformats.org/officeDocument/2006/relationships/hyperlink" Target="https://www.aigateway.ai.inside.philips.com/" TargetMode="External" Id="Ra7ae9d270dd34c03" /><Relationship Type="http://schemas.openxmlformats.org/officeDocument/2006/relationships/notesSlide" Target="/ppt/notesSlides/notesSlide3.xml" Id="R26decaac170d44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4e1caa67d45f3" /><Relationship Type="http://schemas.openxmlformats.org/officeDocument/2006/relationships/hyperlink" Target="https://aiskillsnavigator.microsoft.com/" TargetMode="External" Id="R5b077f1061fe401e" /><Relationship Type="http://schemas.openxmlformats.org/officeDocument/2006/relationships/notesSlide" Target="/ppt/notesSlides/notesSlide4.xml" Id="Rf4d206c1c0f544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3cbbb4e95477d" /><Relationship Type="http://schemas.openxmlformats.org/officeDocument/2006/relationships/hyperlink" Target="https://aiskillsnavigator.microsoft.com/" TargetMode="External" Id="R8354b05f4e0c421f" /><Relationship Type="http://schemas.openxmlformats.org/officeDocument/2006/relationships/notesSlide" Target="/ppt/notesSlides/notesSlide5.xml" Id="Rf46a5708d6474d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6095aeb6447c4" /><Relationship Type="http://schemas.openxmlformats.org/officeDocument/2006/relationships/hyperlink" Target="https://www.aigateway.ai.inside.philips.com/" TargetMode="External" Id="R5963925c1bce402b" /><Relationship Type="http://schemas.openxmlformats.org/officeDocument/2006/relationships/notesSlide" Target="/ppt/notesSlides/notesSlide6.xml" Id="R0be5204d60e34e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7bb0870284fa6" /><Relationship Type="http://schemas.openxmlformats.org/officeDocument/2006/relationships/image" Target="/ppt/media/image.png" Id="R3a3c2090bcb94103" /><Relationship Type="http://schemas.openxmlformats.org/officeDocument/2006/relationships/hyperlink" Target="https://www.aigateway.ai.inside.philips.com/" TargetMode="External" Id="Red626ccf75004545" /><Relationship Type="http://schemas.openxmlformats.org/officeDocument/2006/relationships/notesSlide" Target="/ppt/notesSlides/notesSlide7.xml" Id="R785d720de4534c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20802b28d486d" /><Relationship Type="http://schemas.openxmlformats.org/officeDocument/2006/relationships/image" Target="/ppt/media/image.png" Id="Rd0a8c5dce49646fb" /><Relationship Type="http://schemas.openxmlformats.org/officeDocument/2006/relationships/hyperlink" Target="https://www.aigateway.ai.inside.philips.com/" TargetMode="External" Id="R075cfaa44caf4d15" /><Relationship Type="http://schemas.openxmlformats.org/officeDocument/2006/relationships/notesSlide" Target="/ppt/notesSlides/notesSlide8.xml" Id="R8701efc0735d4e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995909cd64d01" /><Relationship Type="http://schemas.openxmlformats.org/officeDocument/2006/relationships/image" Target="/ppt/media/image.png" Id="Rb7d3f132b6df4bd8" /><Relationship Type="http://schemas.openxmlformats.org/officeDocument/2006/relationships/hyperlink" Target="https://www.aigateway.ai.inside.philips.com/" TargetMode="External" Id="R5b3d081a5db94b24" /><Relationship Type="http://schemas.openxmlformats.org/officeDocument/2006/relationships/notesSlide" Target="/ppt/notesSlides/notesSlide9.xml" Id="Rb793080e4c9546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db8d3ddcb432a" /><Relationship Type="http://schemas.openxmlformats.org/officeDocument/2006/relationships/hyperlink" Target="https://www.aigateway.ai.inside.philips.com/" TargetMode="External" Id="Rcf86c581432040d0" /><Relationship Type="http://schemas.openxmlformats.org/officeDocument/2006/relationships/notesSlide" Target="/ppt/notesSlides/notesSlide10.xml" Id="R342fd1893a5f40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28d43acb342e1" /><Relationship Type="http://schemas.openxmlformats.org/officeDocument/2006/relationships/hyperlink" Target="https://www.aigateway.ai.inside.philips.com/" TargetMode="External" Id="Rc4a656a4d6094f10" /><Relationship Type="http://schemas.openxmlformats.org/officeDocument/2006/relationships/notesSlide" Target="/ppt/notesSlides/notesSlide11.xml" Id="R2f1d107276cf40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0f04d24944873" /><Relationship Type="http://schemas.openxmlformats.org/officeDocument/2006/relationships/hyperlink" Target="https://philips.service-now.com/itportal?id=kb_article&amp;sysparm_article=KB1528249&amp;sys_id=24240f5bfb794b54ae1afb576eefdc0f&amp;spa=1" TargetMode="External" Id="R57c5f0cca78b4fd5" /><Relationship Type="http://schemas.openxmlformats.org/officeDocument/2006/relationships/notesSlide" Target="/ppt/notesSlides/notesSlide12.xml" Id="Rd3123a66b0554e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8aeca14c74ef0" /><Relationship Type="http://schemas.openxmlformats.org/officeDocument/2006/relationships/hyperlink" Target="https://philips.service-now.com/itportal?id=kb_article&amp;sysparm_article=KB1528249&amp;sys_id=24240f5bfb794b54ae1afb576eefdc0f&amp;spa=1" TargetMode="External" Id="R0742a451af7c40ad" /><Relationship Type="http://schemas.openxmlformats.org/officeDocument/2006/relationships/notesSlide" Target="/ppt/notesSlides/notesSlide13.xml" Id="R74366372c2fb46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7e0510ef64c91" /><Relationship Type="http://schemas.openxmlformats.org/officeDocument/2006/relationships/image" Target="/ppt/media/image2.png" Id="Rdc8336a5875f4f50" /><Relationship Type="http://schemas.openxmlformats.org/officeDocument/2006/relationships/hyperlink" Target="https://philips.service-now.com/itportal?id=kb_article&amp;sysparm_article=KB1528249&amp;sys_id=24240f5bfb794b54ae1afb576eefdc0f&amp;spa=1" TargetMode="External" Id="R5447eb7bd2064869" /><Relationship Type="http://schemas.openxmlformats.org/officeDocument/2006/relationships/notesSlide" Target="/ppt/notesSlides/notesSlide14.xml" Id="Rf6e5d606260b43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56c94d6254173" /><Relationship Type="http://schemas.openxmlformats.org/officeDocument/2006/relationships/hyperlink" Target="https://www.aigateway.ai.inside.philips.com/" TargetMode="External" Id="R552cfd4675ae4885" /><Relationship Type="http://schemas.openxmlformats.org/officeDocument/2006/relationships/hyperlink" Target="https://philips.service-now.com/itportal?id=kb_article&amp;sysparm_article=KB1528249&amp;sys_id=24240f5bfb794b54ae1afb576eefdc0f&amp;spa=1" TargetMode="External" Id="Rf609b87a62ce4031" /><Relationship Type="http://schemas.openxmlformats.org/officeDocument/2006/relationships/image" Target="/ppt/media/image3.png" Id="Ree687368dc7f4d0d" /><Relationship Type="http://schemas.openxmlformats.org/officeDocument/2006/relationships/notesSlide" Target="/ppt/notesSlides/notesSlide15.xml" Id="R63241adbb9824aa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8fefde8274dd1" /><Relationship Type="http://schemas.openxmlformats.org/officeDocument/2006/relationships/hyperlink" Target="https://philips.service-now.com/itportal?id=kb_article&amp;sysparm_article=KB1528249&amp;sys_id=24240f5bfb794b54ae1afb576eefdc0f&amp;spa=1" TargetMode="External" Id="Rff3272be565d4938" /><Relationship Type="http://schemas.openxmlformats.org/officeDocument/2006/relationships/hyperlink" Target="https://philips.service-now.com/itportal?id=sc_cat_item&amp;table=sc_cat_item&amp;sys_id=1ca637e9c3213950b95c74c4e401318d&amp;searchTerm=china internet premium" TargetMode="External" Id="R3f6934eace5649fe" /><Relationship Type="http://schemas.openxmlformats.org/officeDocument/2006/relationships/image" Target="/ppt/media/image4.png" Id="R9c2788e43dc243da" /><Relationship Type="http://schemas.openxmlformats.org/officeDocument/2006/relationships/notesSlide" Target="/ppt/notesSlides/notesSlide16.xml" Id="Rceaa41bf8ba34e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1ce9494cd46e6" /><Relationship Type="http://schemas.openxmlformats.org/officeDocument/2006/relationships/image" Target="/ppt/media/image5.png" Id="R50f6a495835d4edd" /><Relationship Type="http://schemas.openxmlformats.org/officeDocument/2006/relationships/hyperlink" Target="https://philips.service-now.com/itportal?id=kb_article&amp;sysparm_article=KB1528249&amp;sys_id=24240f5bfb794b54ae1afb576eefdc0f&amp;spa=1" TargetMode="External" Id="R0129d48ae56249ff" /><Relationship Type="http://schemas.openxmlformats.org/officeDocument/2006/relationships/notesSlide" Target="/ppt/notesSlides/notesSlide17.xml" Id="Rc42444dec1854f2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a9847c4d34243" /><Relationship Type="http://schemas.openxmlformats.org/officeDocument/2006/relationships/hyperlink" Target="https://www.aigateway.ai.inside.philips.com/" TargetMode="External" Id="R5efae1c4bac845cd" /><Relationship Type="http://schemas.openxmlformats.org/officeDocument/2006/relationships/notesSlide" Target="/ppt/notesSlides/notesSlide18.xml" Id="R14386752c2d0431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f9bd7703147ba" /><Relationship Type="http://schemas.openxmlformats.org/officeDocument/2006/relationships/hyperlink" Target="https://www.aigateway.ai.inside.philips.com/" TargetMode="External" Id="R7c3b49484e314726" /><Relationship Type="http://schemas.openxmlformats.org/officeDocument/2006/relationships/notesSlide" Target="/ppt/notesSlides/notesSlide19.xml" Id="R3ddcefd40704462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bdb1daf884c71" /><Relationship Type="http://schemas.openxmlformats.org/officeDocument/2006/relationships/hyperlink" Target="https://www.aigateway.ai.inside.philips.com/" TargetMode="External" Id="R89ca01dbcfe64752" /><Relationship Type="http://schemas.openxmlformats.org/officeDocument/2006/relationships/hyperlink" Target="https://philips-ai-tool-lab.github.io/ai-tool-lab-preview/" TargetMode="External" Id="R617e47a45d0c42df" /><Relationship Type="http://schemas.openxmlformats.org/officeDocument/2006/relationships/notesSlide" Target="/ppt/notesSlides/notesSlide20.xml" Id="Rad63be694ae74d8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8df86b89e4ad8" /><Relationship Type="http://schemas.openxmlformats.org/officeDocument/2006/relationships/hyperlink" Target="https://www.aigateway.ai.inside.philips.com/" TargetMode="External" Id="Rd29dc513923e410b" /><Relationship Type="http://schemas.openxmlformats.org/officeDocument/2006/relationships/hyperlink" Target="https://philips-ai-tool-lab.github.io/ai-tool-lab-preview/" TargetMode="External" Id="Rcfd4685d1415458b" /><Relationship Type="http://schemas.openxmlformats.org/officeDocument/2006/relationships/notesSlide" Target="/ppt/notesSlides/notesSlide21.xml" Id="R2b7db99d04fc40a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caebec5624d73" /><Relationship Type="http://schemas.openxmlformats.org/officeDocument/2006/relationships/hyperlink" Target="https://www.aigateway.ai.inside.philips.com/" TargetMode="External" Id="Raa8ac24f14ec4731" /><Relationship Type="http://schemas.openxmlformats.org/officeDocument/2006/relationships/notesSlide" Target="/ppt/notesSlides/notesSlide22.xml" Id="R19c4d019097140d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24db06554481b" /><Relationship Type="http://schemas.openxmlformats.org/officeDocument/2006/relationships/image" Target="/ppt/media/image6.png" Id="R919d325b85bb4ef9" /><Relationship Type="http://schemas.openxmlformats.org/officeDocument/2006/relationships/hyperlink" Target="https://aiskillsnavigator.microsoft.com/" TargetMode="External" Id="Ra3b482247cd04975" /><Relationship Type="http://schemas.openxmlformats.org/officeDocument/2006/relationships/hyperlink" Target="https://m365.cloud.microsoft/chat" TargetMode="External" Id="R2c262a82765f4614" /><Relationship Type="http://schemas.openxmlformats.org/officeDocument/2006/relationships/notesSlide" Target="/ppt/notesSlides/notesSlide23.xml" Id="Rdec6d5e12584498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6639d9e7e409d" /><Relationship Type="http://schemas.openxmlformats.org/officeDocument/2006/relationships/hyperlink" Target="https://aiskillsnavigator.microsoft.com/" TargetMode="External" Id="R77a93768c1b445d8" /><Relationship Type="http://schemas.openxmlformats.org/officeDocument/2006/relationships/hyperlink" Target="https://aiskillsnavigator.microsoft.com/playlists/291ff1ba-c754-44f1-9814-ef8917f8c989" TargetMode="External" Id="R0ae12a6bc7134ed5" /><Relationship Type="http://schemas.openxmlformats.org/officeDocument/2006/relationships/hyperlink" Target="https://m365.cloud.microsoft/chat" TargetMode="External" Id="Recf103aa3bce421a" /><Relationship Type="http://schemas.openxmlformats.org/officeDocument/2006/relationships/notesSlide" Target="/ppt/notesSlides/notesSlide24.xml" Id="R97cef7f8069f4da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507601fec478f" /><Relationship Type="http://schemas.openxmlformats.org/officeDocument/2006/relationships/image" Target="/ppt/media/image7.png" Id="Rfc321007da974d66" /><Relationship Type="http://schemas.openxmlformats.org/officeDocument/2006/relationships/hyperlink" Target="https://aiskillsnavigator.microsoft.com/" TargetMode="External" Id="R101a215ac1ff47e6" /><Relationship Type="http://schemas.openxmlformats.org/officeDocument/2006/relationships/notesSlide" Target="/ppt/notesSlides/notesSlide25.xml" Id="R5572148871c14d4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ef06e72324f46" /><Relationship Type="http://schemas.openxmlformats.org/officeDocument/2006/relationships/image" Target="/ppt/media/image8.png" Id="Rfb665493cf47403d" /><Relationship Type="http://schemas.openxmlformats.org/officeDocument/2006/relationships/hyperlink" Target="https://aiskillsnavigator.microsoft.com/playlists/291ff1ba-c754-44f1-9814-ef8917f8c989" TargetMode="External" Id="R857727bda5d6408f" /><Relationship Type="http://schemas.openxmlformats.org/officeDocument/2006/relationships/notesSlide" Target="/ppt/notesSlides/notesSlide26.xml" Id="R92c2666b0b334e7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2dca54843402d" /><Relationship Type="http://schemas.openxmlformats.org/officeDocument/2006/relationships/image" Target="/ppt/media/image9.png" Id="R3a42366848c642c6" /><Relationship Type="http://schemas.openxmlformats.org/officeDocument/2006/relationships/hyperlink" Target="https://aiskillsnavigator.microsoft.com/playlists/291ff1ba-c754-44f1-9814-ef8917f8c989" TargetMode="External" Id="R36aae40a4bc145bd" /><Relationship Type="http://schemas.openxmlformats.org/officeDocument/2006/relationships/hyperlink" Target="https://learn.microsoft.com/zh-cn/training/courses/ms-4004" TargetMode="External" Id="Re386c3c4a1c443d8" /><Relationship Type="http://schemas.openxmlformats.org/officeDocument/2006/relationships/notesSlide" Target="/ppt/notesSlides/notesSlide27.xml" Id="R610a96dd31dc425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1252061c649bc" /><Relationship Type="http://schemas.openxmlformats.org/officeDocument/2006/relationships/hyperlink" Target="https://aiskillsnavigator.microsoft.com/playlists/291ff1ba-c754-44f1-9814-ef8917f8c989" TargetMode="External" Id="Rd0c0943e95d04420" /><Relationship Type="http://schemas.openxmlformats.org/officeDocument/2006/relationships/notesSlide" Target="/ppt/notesSlides/notesSlide28.xml" Id="R9a7ec6f86493473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8832c25564cab" /><Relationship Type="http://schemas.openxmlformats.org/officeDocument/2006/relationships/hyperlink" Target="https://aiskillsnavigator.microsoft.com/playlists/291ff1ba-c754-44f1-9814-ef8917f8c989" TargetMode="External" Id="Rafad98193cf74d3d" /><Relationship Type="http://schemas.openxmlformats.org/officeDocument/2006/relationships/notesSlide" Target="/ppt/notesSlides/notesSlide29.xml" Id="R0122b856c96b4e6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087b29304443c" /><Relationship Type="http://schemas.openxmlformats.org/officeDocument/2006/relationships/hyperlink" Target="https://m365.cloud.microsoft/chat" TargetMode="External" Id="Rc9c68c3cadb94842" /><Relationship Type="http://schemas.openxmlformats.org/officeDocument/2006/relationships/notesSlide" Target="/ppt/notesSlides/notesSlide30.xml" Id="Racc42b5c9ec1411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815517e61417b" /><Relationship Type="http://schemas.openxmlformats.org/officeDocument/2006/relationships/hyperlink" Target="https://m365.cloud.microsoft/chat" TargetMode="External" Id="R5af5fb7433894cdc" /><Relationship Type="http://schemas.openxmlformats.org/officeDocument/2006/relationships/notesSlide" Target="/ppt/notesSlides/notesSlide31.xml" Id="Rd829df8f0ab6425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6e7ea35934e27" /><Relationship Type="http://schemas.openxmlformats.org/officeDocument/2006/relationships/hyperlink" Target="https://m365.cloud.microsoft/chat" TargetMode="External" Id="R3e83791749624197" /><Relationship Type="http://schemas.openxmlformats.org/officeDocument/2006/relationships/notesSlide" Target="/ppt/notesSlides/notesSlide32.xml" Id="R548cf818d6ca4ba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39031fe31405f" /><Relationship Type="http://schemas.openxmlformats.org/officeDocument/2006/relationships/hyperlink" Target="https://m365.cloud.microsoft/chat" TargetMode="External" Id="Rc8f43729b327439a" /><Relationship Type="http://schemas.openxmlformats.org/officeDocument/2006/relationships/notesSlide" Target="/ppt/notesSlides/notesSlide33.xml" Id="Rc130087ec2774ce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4d93285a54ff1" /><Relationship Type="http://schemas.openxmlformats.org/officeDocument/2006/relationships/hyperlink" Target="https://m365.cloud.microsoft/chat" TargetMode="External" Id="R59c4de636f914d30" /><Relationship Type="http://schemas.openxmlformats.org/officeDocument/2006/relationships/notesSlide" Target="/ppt/notesSlides/notesSlide34.xml" Id="Rc2c5640f5c10409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6d94c6bf64f56" /><Relationship Type="http://schemas.openxmlformats.org/officeDocument/2006/relationships/hyperlink" Target="https://m365.cloud.microsoft/chat" TargetMode="External" Id="Rba3a18eafdf64d2e" /><Relationship Type="http://schemas.openxmlformats.org/officeDocument/2006/relationships/notesSlide" Target="/ppt/notesSlides/notesSlide35.xml" Id="R227661402370417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078b7fbf84f88" /><Relationship Type="http://schemas.openxmlformats.org/officeDocument/2006/relationships/hyperlink" Target="https://m365.cloud.microsoft/chat" TargetMode="External" Id="R27fd69c87f51480b" /><Relationship Type="http://schemas.openxmlformats.org/officeDocument/2006/relationships/notesSlide" Target="/ppt/notesSlides/notesSlide36.xml" Id="R16a9210d81b54e6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963ee94d84778" /><Relationship Type="http://schemas.openxmlformats.org/officeDocument/2006/relationships/hyperlink" Target="https://m365.cloud.microsoft/chat" TargetMode="External" Id="Rd3dbfeada28d476b" /><Relationship Type="http://schemas.openxmlformats.org/officeDocument/2006/relationships/notesSlide" Target="/ppt/notesSlides/notesSlide37.xml" Id="R85fb058506024e9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c83d5d0da4bae" /><Relationship Type="http://schemas.openxmlformats.org/officeDocument/2006/relationships/hyperlink" Target="https://m365.cloud.microsoft/chat" TargetMode="External" Id="R0a7d475321944151" /><Relationship Type="http://schemas.openxmlformats.org/officeDocument/2006/relationships/notesSlide" Target="/ppt/notesSlides/notesSlide38.xml" Id="Rc57aae0e03f34a2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21e1ae8de4db6" /><Relationship Type="http://schemas.openxmlformats.org/officeDocument/2006/relationships/image" Target="/ppt/media/image10.png" Id="R1885b4ee268b44f6" /><Relationship Type="http://schemas.openxmlformats.org/officeDocument/2006/relationships/hyperlink" Target="https://m365.cloud.microsoft/chat" TargetMode="External" Id="R000d3090a7b54755" /><Relationship Type="http://schemas.openxmlformats.org/officeDocument/2006/relationships/notesSlide" Target="/ppt/notesSlides/notesSlide39.xml" Id="R56bb8ef0d54349e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d0c18cd8e4bd6" /><Relationship Type="http://schemas.openxmlformats.org/officeDocument/2006/relationships/hyperlink" Target="https://m365.cloud.microsoft/chat" TargetMode="External" Id="Rec95374846cc483e" /><Relationship Type="http://schemas.openxmlformats.org/officeDocument/2006/relationships/notesSlide" Target="/ppt/notesSlides/notesSlide40.xml" Id="Ra5e00064599945a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07d3f93094625" /><Relationship Type="http://schemas.openxmlformats.org/officeDocument/2006/relationships/hyperlink" Target="https://m365.cloud.microsoft/chat" TargetMode="External" Id="R049ec7f842ca4812" /><Relationship Type="http://schemas.openxmlformats.org/officeDocument/2006/relationships/notesSlide" Target="/ppt/notesSlides/notesSlide41.xml" Id="Raf67485858794c7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8509b41a84a12" /><Relationship Type="http://schemas.openxmlformats.org/officeDocument/2006/relationships/hyperlink" Target="https://m365.cloud.microsoft/chat" TargetMode="External" Id="R24e4f4c176824a3c" /><Relationship Type="http://schemas.openxmlformats.org/officeDocument/2006/relationships/notesSlide" Target="/ppt/notesSlides/notesSlide42.xml" Id="R8318bca06c88467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bc52450a84066" /><Relationship Type="http://schemas.openxmlformats.org/officeDocument/2006/relationships/hyperlink" Target="https://m365.cloud.microsoft/chat" TargetMode="External" Id="R6105908f63db4e34" /><Relationship Type="http://schemas.openxmlformats.org/officeDocument/2006/relationships/notesSlide" Target="/ppt/notesSlides/notesSlide43.xml" Id="Ra18a725e62874eb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4d63e92cd4e1f" /><Relationship Type="http://schemas.openxmlformats.org/officeDocument/2006/relationships/hyperlink" Target="https://m365.cloud.microsoft/chat" TargetMode="External" Id="R3b64bb9b4bba494e" /><Relationship Type="http://schemas.openxmlformats.org/officeDocument/2006/relationships/notesSlide" Target="/ppt/notesSlides/notesSlide44.xml" Id="Rc4a77b17787e48b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10f01e3114edf" /><Relationship Type="http://schemas.openxmlformats.org/officeDocument/2006/relationships/hyperlink" Target="https://philips-ai-tool-lab.github.io/ai-tool-lab-preview/" TargetMode="External" Id="R7cabd1a5eb7b4a50" /><Relationship Type="http://schemas.openxmlformats.org/officeDocument/2006/relationships/hyperlink" Target="https://philips-ai-tool-lab.github.io/ai-tool-lab-preview/#agent-builder-path" TargetMode="External" Id="R4ec4d840078c4238" /><Relationship Type="http://schemas.openxmlformats.org/officeDocument/2006/relationships/hyperlink" Target="https://m365.cloud.microsoft/chat" TargetMode="External" Id="R666bef13b1ca4b12" /><Relationship Type="http://schemas.openxmlformats.org/officeDocument/2006/relationships/notesSlide" Target="/ppt/notesSlides/notesSlide45.xml" Id="Rc3f9df44cc2646d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2b5ff69284aa9" /><Relationship Type="http://schemas.openxmlformats.org/officeDocument/2006/relationships/image" Target="/ppt/media/image11.png" Id="R9c3db27109064e1f" /><Relationship Type="http://schemas.openxmlformats.org/officeDocument/2006/relationships/hyperlink" Target="https://philips-ai-tool-lab.github.io/ai-tool-lab-preview/" TargetMode="External" Id="Rd5a8f1dfecba46a2" /><Relationship Type="http://schemas.openxmlformats.org/officeDocument/2006/relationships/hyperlink" Target="https://philips-ai-tool-lab.github.io/ai-tool-lab-preview/#agent-builder-path" TargetMode="External" Id="R2d180cb6b7204c0f" /><Relationship Type="http://schemas.openxmlformats.org/officeDocument/2006/relationships/notesSlide" Target="/ppt/notesSlides/notesSlide46.xml" Id="R4b844f7dd42b4af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ebe93dd044aca" /><Relationship Type="http://schemas.openxmlformats.org/officeDocument/2006/relationships/hyperlink" Target="https://philips-ai-tool-lab.github.io/ai-tool-lab-preview/labs/chief-of-staff/" TargetMode="External" Id="Rf928062af98748fa" /><Relationship Type="http://schemas.openxmlformats.org/officeDocument/2006/relationships/hyperlink" Target="https://philips-ai-tool-lab.github.io/ai-tool-lab-preview/labs/product-manual-faq/" TargetMode="External" Id="R9897c4e39e8f487d" /><Relationship Type="http://schemas.openxmlformats.org/officeDocument/2006/relationships/hyperlink" Target="https://philips-ai-tool-lab.github.io/ai-tool-lab-preview/labs/meeting-follow-up/" TargetMode="External" Id="R399f0a7af8024ba6" /><Relationship Type="http://schemas.openxmlformats.org/officeDocument/2006/relationships/hyperlink" Target="https://philips-ai-tool-lab.github.io/ai-tool-lab-preview/labs/funnel-data-analyst/" TargetMode="External" Id="R0611a41f76424f97" /><Relationship Type="http://schemas.openxmlformats.org/officeDocument/2006/relationships/notesSlide" Target="/ppt/notesSlides/notesSlide47.xml" Id="Rc1dbb089899b446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7a832d1ff4383" /><Relationship Type="http://schemas.openxmlformats.org/officeDocument/2006/relationships/image" Target="/ppt/media/image12.png" Id="R6e76dc00162b4843" /><Relationship Type="http://schemas.openxmlformats.org/officeDocument/2006/relationships/hyperlink" Target="https://philips-ai-tool-lab.github.io/ai-tool-lab-preview/labs/chief-of-staff/" TargetMode="External" Id="Rde6d1ff233794fee" /><Relationship Type="http://schemas.openxmlformats.org/officeDocument/2006/relationships/notesSlide" Target="/ppt/notesSlides/notesSlide48.xml" Id="Rc413e6213a8b4ae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cfb647bc748e5" /><Relationship Type="http://schemas.openxmlformats.org/officeDocument/2006/relationships/image" Target="/ppt/media/image13.png" Id="Rb434df70dd0c4765" /><Relationship Type="http://schemas.openxmlformats.org/officeDocument/2006/relationships/hyperlink" Target="https://philips-ai-tool-lab.github.io/ai-tool-lab-preview/labs/product-manual-faq/" TargetMode="External" Id="R382041a5072b43d7" /><Relationship Type="http://schemas.openxmlformats.org/officeDocument/2006/relationships/notesSlide" Target="/ppt/notesSlides/notesSlide49.xml" Id="Rd5d5e051b5434b9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b5b25c74d40a9" /><Relationship Type="http://schemas.openxmlformats.org/officeDocument/2006/relationships/image" Target="/ppt/media/image14.png" Id="Rfa8be56c7c4b44a7" /><Relationship Type="http://schemas.openxmlformats.org/officeDocument/2006/relationships/hyperlink" Target="https://philips-ai-tool-lab.github.io/ai-tool-lab-preview/labs/meeting-follow-up/" TargetMode="External" Id="Rf8be5c2fa72540fc" /><Relationship Type="http://schemas.openxmlformats.org/officeDocument/2006/relationships/notesSlide" Target="/ppt/notesSlides/notesSlide50.xml" Id="Rf23c7c075e3b402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c459c9b8a4cd9" /><Relationship Type="http://schemas.openxmlformats.org/officeDocument/2006/relationships/image" Target="/ppt/media/image15.png" Id="Rf73b6c976a034677" /><Relationship Type="http://schemas.openxmlformats.org/officeDocument/2006/relationships/hyperlink" Target="https://philips-ai-tool-lab.github.io/ai-tool-lab-preview/labs/funnel-data-analyst/" TargetMode="External" Id="Rb993b2fe97a44b3a" /><Relationship Type="http://schemas.openxmlformats.org/officeDocument/2006/relationships/notesSlide" Target="/ppt/notesSlides/notesSlide51.xml" Id="R5f54dbb4ec8b460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21fc347784523" /><Relationship Type="http://schemas.openxmlformats.org/officeDocument/2006/relationships/hyperlink" Target="https://philips-ai-tool-lab.github.io/ai-tool-lab-preview/#agent-builder-path" TargetMode="External" Id="Rd522b8c69dda42d0" /><Relationship Type="http://schemas.openxmlformats.org/officeDocument/2006/relationships/notesSlide" Target="/ppt/notesSlides/notesSlide52.xml" Id="Rda78f2d7fbf84918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87357a7064aca" /><Relationship Type="http://schemas.openxmlformats.org/officeDocument/2006/relationships/image" Target="/ppt/media/image16.png" Id="R37ac442e7bca4e5e" /><Relationship Type="http://schemas.openxmlformats.org/officeDocument/2006/relationships/hyperlink" Target="https://m365.cloud.microsoft/chat" TargetMode="External" Id="R4e8d4e0e328949fe" /><Relationship Type="http://schemas.openxmlformats.org/officeDocument/2006/relationships/notesSlide" Target="/ppt/notesSlides/notesSlide53.xml" Id="R261d4292e07b48cb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0f6c3620a4a48" /><Relationship Type="http://schemas.openxmlformats.org/officeDocument/2006/relationships/image" Target="/ppt/media/image17.png" Id="R35320ac61a504d40" /><Relationship Type="http://schemas.openxmlformats.org/officeDocument/2006/relationships/hyperlink" Target="https://philips-ai-tool-lab.github.io/ai-tool-lab-preview/#agent-builder-path" TargetMode="External" Id="Ra077fb6e60d64720" /><Relationship Type="http://schemas.openxmlformats.org/officeDocument/2006/relationships/notesSlide" Target="/ppt/notesSlides/notesSlide54.xml" Id="R5fbf7477184b492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37037152d4cd4" /><Relationship Type="http://schemas.openxmlformats.org/officeDocument/2006/relationships/image" Target="/ppt/media/image18.png" Id="R283cbc5a6f8a4e5f" /><Relationship Type="http://schemas.openxmlformats.org/officeDocument/2006/relationships/hyperlink" Target="https://philips-ai-tool-lab.github.io/ai-tool-lab-preview/labs/meeting-follow-up/" TargetMode="External" Id="Rf61272d51c244bff" /><Relationship Type="http://schemas.openxmlformats.org/officeDocument/2006/relationships/notesSlide" Target="/ppt/notesSlides/notesSlide55.xml" Id="R4e5ab3dcd92d4dca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1bc9384cb48f8" /><Relationship Type="http://schemas.openxmlformats.org/officeDocument/2006/relationships/image" Target="/ppt/media/image19.png" Id="R80d3f65015f34976" /><Relationship Type="http://schemas.openxmlformats.org/officeDocument/2006/relationships/hyperlink" Target="https://philips-ai-tool-lab.github.io/ai-tool-lab-preview/#agent-builder-path" TargetMode="External" Id="R7bd2546f66364e74" /><Relationship Type="http://schemas.openxmlformats.org/officeDocument/2006/relationships/notesSlide" Target="/ppt/notesSlides/notesSlide56.xml" Id="Refe32a31c8d9463a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8e33b910b4246" /><Relationship Type="http://schemas.openxmlformats.org/officeDocument/2006/relationships/image" Target="/ppt/media/image20.png" Id="Rebbd761269d748af" /><Relationship Type="http://schemas.openxmlformats.org/officeDocument/2006/relationships/hyperlink" Target="https://philips-ai-tool-lab.github.io/ai-tool-lab-preview/labs/meeting-follow-up/" TargetMode="External" Id="R1036be405ccd4d8a" /><Relationship Type="http://schemas.openxmlformats.org/officeDocument/2006/relationships/notesSlide" Target="/ppt/notesSlides/notesSlide57.xml" Id="R3ae026cb667a47b9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02114c57644c4" /><Relationship Type="http://schemas.openxmlformats.org/officeDocument/2006/relationships/image" Target="/ppt/media/image21.png" Id="R2a10cf7649944120" /><Relationship Type="http://schemas.openxmlformats.org/officeDocument/2006/relationships/hyperlink" Target="https://philips-ai-tool-lab.github.io/ai-tool-lab-preview/#agent-builder-path" TargetMode="External" Id="Re2f36845189e46ce" /><Relationship Type="http://schemas.openxmlformats.org/officeDocument/2006/relationships/notesSlide" Target="/ppt/notesSlides/notesSlide58.xml" Id="R9715fb1af0e24938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e2ac0e7ae440a" /><Relationship Type="http://schemas.openxmlformats.org/officeDocument/2006/relationships/image" Target="/ppt/media/image22.png" Id="R78dd844f684347a5" /><Relationship Type="http://schemas.openxmlformats.org/officeDocument/2006/relationships/hyperlink" Target="https://m365.cloud.microsoft/chat" TargetMode="External" Id="Ra6a5a8bf61664a03" /><Relationship Type="http://schemas.openxmlformats.org/officeDocument/2006/relationships/notesSlide" Target="/ppt/notesSlides/notesSlide59.xml" Id="Rc46ff6c73c7344a9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1799cf211430d" /><Relationship Type="http://schemas.openxmlformats.org/officeDocument/2006/relationships/image" Target="/ppt/media/image14.png" Id="Rf66df11acdd34177" /><Relationship Type="http://schemas.openxmlformats.org/officeDocument/2006/relationships/hyperlink" Target="https://philips-ai-tool-lab.github.io/ai-tool-lab-preview/labs/meeting-follow-up/" TargetMode="External" Id="Rb073b52d02e34870" /><Relationship Type="http://schemas.openxmlformats.org/officeDocument/2006/relationships/notesSlide" Target="/ppt/notesSlides/notesSlide60.xml" Id="R33771ff2d31d431e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0d2698fcc41f4" /><Relationship Type="http://schemas.openxmlformats.org/officeDocument/2006/relationships/hyperlink" Target="https://philips-ai-tool-lab.github.io/ai-tool-lab-preview/labs/chief-of-staff/" TargetMode="External" Id="Ra4a318d1abba4101" /><Relationship Type="http://schemas.openxmlformats.org/officeDocument/2006/relationships/hyperlink" Target="https://philips-ai-tool-lab.github.io/ai-tool-lab-preview/labs/product-manual-faq/" TargetMode="External" Id="Rc7aba50564d448db" /><Relationship Type="http://schemas.openxmlformats.org/officeDocument/2006/relationships/hyperlink" Target="https://philips-ai-tool-lab.github.io/ai-tool-lab-preview/labs/meeting-follow-up/" TargetMode="External" Id="R86d4744f1b874786" /><Relationship Type="http://schemas.openxmlformats.org/officeDocument/2006/relationships/hyperlink" Target="https://philips-ai-tool-lab.github.io/ai-tool-lab-preview/labs/funnel-data-analyst/" TargetMode="External" Id="Rab7afc03dfbe4bff" /><Relationship Type="http://schemas.openxmlformats.org/officeDocument/2006/relationships/hyperlink" Target="https://m365.cloud.microsoft/chat" TargetMode="External" Id="R655bd7d4cd8f4fdb" /><Relationship Type="http://schemas.openxmlformats.org/officeDocument/2006/relationships/notesSlide" Target="/ppt/notesSlides/notesSlide61.xml" Id="R0cee9cbf9ea34b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DDDC824-F258-4066-B2D9-630BBB59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AAA9EA-6C66-4A14-8D7A-ADF7DBC0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C5E0442-88FB-4CE4-B24C-22F74850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49DB179-5B9E-4560-BA2C-1A79FEB0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GCR AI Ambassador · Copilot 实操 · Agent Builder 动手实验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9E2B246-C13F-4CB3-A067-7D1C4628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讲解、演示与动手练习相结合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8C7E1C39-AF91-4AC1-9DB5-0942302C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47ee37f1a824453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470761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3E3B99B-35F0-4F46-8BE7-2C1DA57C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DEADA4C-4036-44AD-9E7F-A0DC51B3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378166-474D-44D5-A4ED-2D82F963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Philips 的 AI 方向：创新、运营、协作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8DBF766-B74E-49B5-814E-C22B5801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今天先看 AI 怎样帮助业务创新、改善日常工作和支持跨团队协作，同时了解使用这些工具时必须遵守的企业要求。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128EDFE-D7E5-4656-8860-C4BE17E7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9DC56C-A571-4419-99E7-1DD87907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F7527ACA-33E2-447C-AB62-0A17AAED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79D2726-10FB-4E6A-8AC9-44DA78A8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4FD9F08-C60B-4CBE-A5EB-7B080F85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创新｜How we innovate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D16A497-28D3-43F5-B6AE-C1F5679A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聚焦高价值业务场景，为患者、客户、消费者和业务创造更大价值。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2DE5CE86-D3B6-42E5-B6F7-2001E364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F194464-16AF-4557-B13E-162B37D2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E2EBBF-BFD3-4FA2-BDA3-BA2EC351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运营｜How we operate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3C0505E-96B1-4488-9CC6-C0ABD153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重新审视工作方式，打破流程壁垒，让跨团队协作更顺畅、交付更高效。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DC3DAD63-5293-40FF-89BF-78D7FC93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160B25C-1EDE-45C0-AFB7-1D13319D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7CFFB0C-3B1A-4F47-8232-B3B3CF5D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协作｜How we collaborate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655E239-45F2-4AC5-84BD-242C042D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持续投入工具与能力建设，帮助员工成长，并提升组织面向未来的竞争力。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8D4AD7B9-7DD3-4315-83FE-F5A52E0F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ADE383-DCF2-4FC0-BD02-AF2DCEC6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质量、安全、合规与人工负责，是 Philips 推进 AI 规模化应用的共同原则。</a:t>
            </a:r>
          </a:p>
        </p:txBody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4B156836-0388-4D7A-9280-AFE69066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ce41fb643d94578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2382690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创新、运营和协作共同回答：AI怎样进入业务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三个方向并不是彼此独立的口号，而是一条从业务价值到组织能力的完整路径。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三者如何协同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2555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首先看创新。Philips 推进 AI，不是为了追逐工具本身，而是从患者、客户、消费者和业务的真实问题出发，优先选择能够创造明确价值的场景。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接着看运营。当一个场景证明有效以后，还需要重新设计流程、减少交接和重复劳动，让不同团队可以更顺畅地协作，并把效果稳定地交付出来。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最后看协作。要让 AI 长期发挥作用，员工需要掌握工具，组织也需要持续建设能力；无论使用什么工具，质量、安全、合规和人工负责始终是共同底线。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AI 落地是一条从价值场景到流程改变，再到组织能力的完整路径。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7ae9d270dd34c03"/>
              </a:rPr>
              <a:t>进入 AI Gateway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40243D5F-F9ED-49C3-B3FA-75ADFBCC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BFE1FCA1-2CD4-4271-9A1B-CA4C7D97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07E58B72-DB8C-4C30-8924-2203213E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BB5C76F8-DFCD-4844-8D56-2EA0B682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价值场景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6AEE2033-B5CE-46B5-BE7C-8120F5E4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A2EB747D-851E-426C-B866-ABEE45AC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流程改变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7C97791C-0315-4BD9-848F-A3884CBF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8D067476-66E6-4CDC-AA39-3F1F20D2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组织能力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FED3F1D-6D7C-485C-ADE8-FA3B9A2A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1E6512-544C-4B17-B114-8275135B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89F6F45-6FC1-460B-BDBD-CAAF3773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D8926B4-3CE0-4946-A07C-CB75168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Agent。学习过程按照“观察、模仿、独立完成”逐步推进，后半程会留出较长时间进行实际操作。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4C1508-B0F6-4E41-A6FB-B6279B35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D158B604-0BBB-48E3-9F58-F31FD649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311AE07-6459-4EA1-BDC1-434ABABE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DBA430F-3CCA-409A-A3AF-6EE00D3F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</p:txBody>
      </p:sp>
      <p:sp>
        <p:nvSpPr>
          <p:cNvPr id="10" name="Arrow: Chevron 9">
            <a:extLst xmlns:a="http://schemas.openxmlformats.org/drawingml/2006/main">
              <a:ext uri="{FF2B5EF4-FFF2-40B4-BE49-F238E27FC236}">
                <a16:creationId xmlns:a16="http://schemas.microsoft.com/office/drawing/2014/main" id="{C86941AE-4273-4813-ACD4-482729B4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394E9683-FBA3-447F-8103-D881EC73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6098108-9D4C-4B31-9A5D-8A5B4043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0B77DF7-0D45-48A9-9049-89D7A7A2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</p:txBody>
      </p:sp>
      <p:sp>
        <p:nvSpPr>
          <p:cNvPr id="14" name="Arrow: Chevron 13">
            <a:extLst xmlns:a="http://schemas.openxmlformats.org/drawingml/2006/main">
              <a:ext uri="{FF2B5EF4-FFF2-40B4-BE49-F238E27FC236}">
                <a16:creationId xmlns:a16="http://schemas.microsoft.com/office/drawing/2014/main" id="{BC17C084-46AE-45E9-ABCD-291E475F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B626C2E2-A78E-4992-9F21-486A36B9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8013ED8-30BC-49D0-ACC9-DABCE546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14D4E7D-7D1A-4C28-AFD7-D2479DF0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</p:txBody>
      </p:sp>
      <p:sp>
        <p:nvSpPr>
          <p:cNvPr id="18" name="Arrow: Chevron 17">
            <a:extLst xmlns:a="http://schemas.openxmlformats.org/drawingml/2006/main">
              <a:ext uri="{FF2B5EF4-FFF2-40B4-BE49-F238E27FC236}">
                <a16:creationId xmlns:a16="http://schemas.microsoft.com/office/drawing/2014/main" id="{DBE19578-625D-4631-AE04-5F9DA721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3D1DBD3E-526C-4A71-9125-D6DF0FCF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DE51860-27DF-4BC8-A46B-77E6014A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7F2D58C-789E-4F58-94AA-336352E6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5D98271-70FE-4CB6-A466-D953EAFC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</p:txBody>
      </p:sp>
      <p:sp>
        <p:nvSpPr>
          <p:cNvPr id="23" name="Arrow: Chevron 22">
            <a:extLst xmlns:a="http://schemas.openxmlformats.org/drawingml/2006/main">
              <a:ext uri="{FF2B5EF4-FFF2-40B4-BE49-F238E27FC236}">
                <a16:creationId xmlns:a16="http://schemas.microsoft.com/office/drawing/2014/main" id="{75D1EFFD-507F-47F8-B24A-9E22B9C0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0CF1EB32-9723-4016-8F28-DF1BAE29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FADC6DF2-EC71-4512-87C9-984F44FC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C42F320-7700-425B-A9BF-966F15C2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D5BAC83-6D06-4A7C-8BAE-DE167FB6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D7D45A2-36AE-413D-9F23-967ACF0F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 → 模仿 → 独立完成。课堂上会保留足够的实践时间，请直接在自己的工作环境中操作。</a:t>
            </a:r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C391EF7E-9A79-41C7-9E8A-58CB1F93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b077f1061fe401e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326336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今天的学习顺序，是从会选择工具到会完成任务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每一步都为下一步建立基础，因此不需要一开始就直接进入复杂的 Agent 构建。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学习顺序的逻辑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首先，我们会认识 Philips 提供的企业 AI 入口和使用要求，知道不同工具分别解决什么问题，也知道遇到账号、网络和合规问题时应该从哪里开始。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接着，我们会认识 GCR AI Ambassador 支持网络，并进入 Copilot 实操。这里重点练习怎样阅读资料、整理信息、发现冲突，再把分析结果转化成邮件或简报。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最后，课程才会进入 Agent Builder。到那时，我们会把前面已经验证有效的任务步骤、参考资料和输出要求，固化成一个可以重复使用和持续调整的 Agent。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先会选工具，再会完成任务，最后才把稳定的方法固化为 Agent。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354b05f4e0c421f"/>
              </a:rPr>
              <a:t>微软官方学习网站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41CFF1C0-285E-4457-BBD5-C3424299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69428D81-7FDA-467F-9332-E002DC22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B8B635EF-6A64-4EE2-B168-2FADE9AF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75B192AD-21D0-45A3-B0CA-E7E56A58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选择工具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78C2B8E0-848C-4EDD-BB1E-741DE405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6666490C-FC26-437E-BB5C-62EBA35C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完成任务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4FBAFA9F-FEC5-432D-B1B5-1F56FEF3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76011C5D-DD87-48CB-AC63-C76C9A35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构建 Agent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6CE7744-1283-4960-83D3-8E026186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908D7CC-5BB5-4D1A-A5E1-FBFE31EE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CE07517-8A4E-4E31-821B-7B8F3491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5151211-64D1-489B-8416-A533CFDF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Gateway 用于查看 Enterprise ChatGPT 的访问状态、申请入口和使用要求；微软课程在 AI Skills Navigator 学习，Copilot 操作则进入 Microsoft 365 Copilot。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34B0A741-BD93-4C65-BE52-F226C15F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963925c1bce402b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230667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E24ACB8-0EF5-4EAE-A549-5FE91072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230276-B807-4116-A7A4-003F98FD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D086AF1-968E-4272-8F24-567179F1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战略：重点项目、当前进展与下一阶段计划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E802BB-63DE-499A-BA17-82CA142F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Group Sustainability 将 AI 工作划分为五条重点方向，每条方向都标明负责人、当前进展和下一阶段计划。绿色 Now 代表正在运行或部署的工作，橙色 Next 代表后续扩展项目。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A055746-C1C5-4FC9-B85C-6AD8A704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B983224-5FAD-46CF-BC36-88C79260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c2090bcb94103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E9E49D4-A92D-41B4-95FA-68AEBF9A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80EAE68-3737-4659-A2F7-43E66838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8924D01-A7EC-4140-834B-9FA99941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战略框架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7B51BC2-A393-4B70-AA99-3445DAF3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五条重点方向：AI Capability &amp; Adoption、Supplier Sustainability、Regulatory &amp; Compliance、Business &amp; Markets、Reporting &amp; Analysis。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Now 与 Next：Now 记录已经投入使用或正在部署的项目；Next 列出准备扩展、标准化或接入正式流程的后续工作。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项目负责人：每一列底部都写明谁提供业务支持、谁承担领导责任、谁负责日常推进。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4237A46-F379-433C-85BD-77F02149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d626ccf75004545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991594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19E81EE-3627-4666-A103-296BD557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B40C2A1-6B01-426B-8932-29DB1E0B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4112280-0ABE-4929-A71C-92155021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三条基础工作流：能力建设、供应商风险与法规处理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02EA580-C9E6-4F98-ADEC-A47A935E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三条工作流覆盖员工能力建设、供应商风险数据和法规研读，并与战略图中的项目方向相对应。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ED2F85-EA61-4285-AAFF-533E2579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72944A0-EFA6-4F46-B1AB-95758BC4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8c5dce49646fb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DD23E70-B285-446F-BB64-8267FEB4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A9D80198-6923-479F-9ACD-4395AEC6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2C4F453-7777-4EBD-A961-3B5B29FF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基础工作流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22D1BB5-2D6C-44E1-AA4C-4090F131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1｜员工能力与应用推广：当前正在为不同岗位设计 AI 学习路径，并通过内部社区分享案例。下一步会收集、筛选值得推广的 AI 用例，同时建立内部推广网络。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2｜供应商可持续发展：AI 已用于发现供应商可持续风险、辅助成熟度评估，并自动筛查公开信息。下一步将进一步处理报告、问卷等非结构化资料，支持后续改进。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3｜法规与合规：AI 每年辅助整理 2,000 多项可持续发展法规，并帮助团队更快完成法规解读。下一步将把法规监测连接到质量管理和审计流程。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2F0A04C3-8E47-4E63-8ADF-DDDDC676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75cfaa44caf4d15"/>
              </a:rPr>
              <a:t>查看战略原图  ↗</a:t>
            </a:r>
          </a:p>
        </p:txBody>
      </p:sp>
    </p:spTree>
    <p:extLst>
      <p:ext uri="{BB962C8B-B14F-4D97-AF65-F5344CB8AC3E}">
        <p14:creationId xmlns:p14="http://schemas.microsoft.com/office/powerpoint/2010/main" val="11119226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EB4F93B-4D86-4E0E-8223-FC1486A8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0D8BC1-E516-419F-A8E9-627E56C8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713D4C1-B7E6-4EFC-9FBA-ABC43D12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商业支持、报告分析与 2026 年重点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584DA9A-57B4-4F8D-85BD-7F543CBB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Business &amp; Markets 聚焦投标和市场支持；Reporting &amp; Analysis 覆盖双重重要性评估、数据采集及披露流程。理解集团方向后，下一页会进一步说明大中华区的业务重点。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BD22DE-21BB-4942-A706-9EBD74C0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3522286-E075-441D-915D-A84F929D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3f132b6df4bd8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CB87C4E-A6DA-460D-BBF7-EBBFE3E2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3D1C85D6-A3CB-411F-8FDA-8FF8CDE5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7D786C9-746B-4B64-B2F8-A75FE2ED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业务落地与规模化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BA8BFF4-F167-4443-9856-C554022C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4｜商业与市场支持：Tender Assistant 正在支持 150 多个销售后台团队，帮助准备投标材料并减少人工协调。下一步将在更多区域和重点投标场景中推广。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5｜报告与分析：AI 正在支持双重重要性评估，也就是同时评估可持续议题的业务影响和外部影响；同时帮助制造基地收集发票数据。下一步将支持更多可持续披露流程。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年重点：扩大已经验证有效的项目，统一可重复使用的能力，并优先推进效果能够衡量的场景。每个项目都明确支持人和日常负责人。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8F1AF74-CB01-412E-8FF9-79BB03EE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b3d081a5db94b24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4693722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B3071887-685F-4B69-A97E-E4C10F72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B17020D-FF74-4875-AA26-8FE27558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785613-0E31-40EA-A06F-265F701E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大中华区 AI 计划：五个业务方向和四项基础能力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DB687C-6D6D-4EF7-8137-55512A12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五个方向分别解决员工能力、销售机会、运营服务、职能工作和创新协作问题；技术平台、数据、管理机制和负责任使用为这些工作提供基础支持。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6590849-5C94-420A-B18B-98BE2DC3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894CCFC-1896-4755-874B-73ACF8ED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861A663-D63F-42A1-A9EF-80395D4F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ED5DF0A-1A83-4677-AF2B-9600611E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73709A3-35B1-4072-B3AA-8CD4748D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提升员工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C100BB-278F-4947-A75F-A840C4A5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Learn &amp; adopt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C671E3-2EF8-4785-81A8-E642C89F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通过学习社群，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开展岗位培训，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并分享实践案例。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5677207-6D90-4393-81B4-928DEDFC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1F17E9F-3F12-4714-A8A7-1B2B9F59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4091FE6-D764-4C22-9AFD-201B6C55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提升商机洞察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和赢率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6612C49-23F6-4FE0-94F8-A2372B4E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Sales insights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1642821-14C3-4770-B47B-AA70124B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先分析销售机会，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再复盘赢失单，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并支持投标定价。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B07B41BC-AD49-414A-BEBB-2FF1D59A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53C171E-017A-4251-9F51-047A80AD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87540D3-1F43-492E-9129-0A6FF109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改善运营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和服务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E74DE86-6612-43FB-B962-FEB8A536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Operations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7E23803-CF9E-447F-AE01-114029E7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先简化订单处理，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再改善服务运营，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并支持工厂和供应链。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C71FAF15-0C85-4C17-9E33-B89C94E3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1BEADEC-89E5-4682-8D4E-47981E6D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6FAD41-FC27-4DF2-AD45-A85AEAAE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支持职能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日常工作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33A4201-09C5-41B7-96B4-65FC6DC9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Functions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479CC0E-8B68-4547-A912-083998E7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覆盖市场、财务与 HR，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也支持法规、质量和法务，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以及战略与竞品分析。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BF137174-9553-43DA-AF48-196968E0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F99D26E-A67E-443B-95BC-95A00E51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97F53EC-94BF-45C5-8D04-4B2B0784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连接伙伴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加速创新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A5D955C-C273-4E34-A3CF-9C4002F7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Innovation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449BD2A-A681-4050-ABCE-5ABACFA6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先找到本地 AI 合作方，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再推进生态合作，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从而加快创新流程。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CFA8C1D-9185-4DF4-9C96-803B7E3A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每个支柱由业务牵头，并与支持伙伴和 AI Ambassador 协同推进。</a:t>
            </a:r>
          </a:p>
        </p:txBody>
      </p:sp>
      <p:sp>
        <p:nvSpPr>
          <p:cNvPr id="33" name="Rectangle: Rounded Corners 32">
            <a:extLst xmlns:a="http://schemas.openxmlformats.org/drawingml/2006/main">
              <a:ext uri="{FF2B5EF4-FFF2-40B4-BE49-F238E27FC236}">
                <a16:creationId xmlns:a16="http://schemas.microsoft.com/office/drawing/2014/main" id="{F0EBA6EB-97B4-45B3-8E19-8FC976D9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889AB06-2DA6-44B3-BEDE-D3D9A4E6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技术与平台</a:t>
            </a:r>
          </a:p>
        </p:txBody>
      </p:sp>
      <p:sp>
        <p:nvSpPr>
          <p:cNvPr id="35" name="Rectangle: Rounded Corners 34">
            <a:extLst xmlns:a="http://schemas.openxmlformats.org/drawingml/2006/main">
              <a:ext uri="{FF2B5EF4-FFF2-40B4-BE49-F238E27FC236}">
                <a16:creationId xmlns:a16="http://schemas.microsoft.com/office/drawing/2014/main" id="{34D52628-A31E-4C37-BD45-B1EAA5F3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54607E3F-936F-47DF-9490-59E6B394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9F93D25E-7AD2-41F8-93DB-CD56EE8D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00FAD82C-70AE-4A15-8B37-CEB15138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运营模式与治理</a:t>
            </a:r>
          </a:p>
        </p:txBody>
      </p:sp>
      <p:sp>
        <p:nvSpPr>
          <p:cNvPr id="39" name="Rectangle: Rounded Corners 38">
            <a:extLst xmlns:a="http://schemas.openxmlformats.org/drawingml/2006/main">
              <a:ext uri="{FF2B5EF4-FFF2-40B4-BE49-F238E27FC236}">
                <a16:creationId xmlns:a16="http://schemas.microsoft.com/office/drawing/2014/main" id="{72C8F409-6AD5-434D-9550-4504F6A5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02EBE08D-3256-4267-B049-FF4B3446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负责任的 AI 与合规</a:t>
            </a:r>
          </a:p>
        </p:txBody>
      </p:sp>
      <p:sp>
        <p:nvSpPr>
          <p:cNvPr id="41" name="Rectangle: Rounded Corners 40">
            <a:extLst xmlns:a="http://schemas.openxmlformats.org/drawingml/2006/main">
              <a:ext uri="{FF2B5EF4-FFF2-40B4-BE49-F238E27FC236}">
                <a16:creationId xmlns:a16="http://schemas.microsoft.com/office/drawing/2014/main" id="{21D02FF0-E439-4DDC-9296-F8865360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f86c581432040d0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673199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五个业务方向背后，共享同一套基础能力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业务场景可以不同，但平台、数据、治理和负责任使用必须共同建设。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共同基础是什么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首先，五个方向分别从员工能力、销售机会、运营服务、职能工作和创新协作切入。它们面对的是不同业务问题，因此每个方向都需要由熟悉场景的业务团队牵头。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接着，这些方向不能各自建设一套孤立能力。技术平台和数据底座需要支持重复使用，运营模式需要明确负责人、资源和衡量方式，才能把零散试点逐步扩展到稳定流程。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最后，负责任的 AI 与合规不是额外附加的一层检查，而是所有方向共同的基础。AI Ambassador 和支持伙伴会帮助团队理解工具、分享案例，并把实际问题连接到合适资源。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业务决定做什么，共享能力决定这些场景能否安全、稳定地规模化。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4a656a4d6094f10"/>
              </a:rPr>
              <a:t>进入 AI Gateway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CA290A01-99DC-411D-A3B4-D9074D63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78EF2982-16D6-4D0A-BC86-7451448B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04671AF4-AA4F-4F20-A315-A2592233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4023A47B-5283-4EA0-8511-2B870990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业务场景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15D83B11-5520-4EBB-BB3E-01CD9A55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D76F942A-BACC-44CB-BDB4-9B2FC8A3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共用底座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0BE7300E-0E2F-4AB1-9966-7E9826E8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A9CEDE93-AEA4-4AE3-9EAD-1D78E5A8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责任治理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B684A29-409B-40DE-960D-E353D10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A56CCA-9E07-47B0-A059-0EA9F9FE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DBC18C-27C1-4772-80DD-03CCF724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当前</a:t>
            </a: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ChatGPT</a:t>
            </a: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完整流程：先申请，再安装并登录</a:t>
            </a:r>
            <a:endParaRPr sz="2550" b="1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1E6527B-AA04-4C64-9284-F214729D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先完成部门审批，然后并行提交两项申请；收到两封确认邮件后，再进入 Company Portal 完成安装。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B1A1D26-32B6-4621-B623-515D2A83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718699-CE00-4957-9243-499FA47A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3FB70CA-C22B-40D1-A9B1-3277E4B0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7991F045-D0B7-437C-BEFA-81782642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6EA9900-5349-4E73-A3AA-92359F79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0833808-1182-440E-B7B8-B5DF72B7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获得 GCMT 批准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AFC513B-DD3B-479B-ABC9-852E137B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确认业务用途，并准备部门批准材料。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8447FAB-4E9E-4BAB-9D9D-B17B9A6A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641735F-05C3-4867-980A-B28137E5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992F4DB-E573-4AD2-BE44-C34449FD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062EE9D-8CC0-4D3B-B63A-E8B3BA51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并行提交两项申请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4BDFB5D-B3E9-4DBB-A591-2DE75653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Gateway：申请 Enterprise ChatGPT 账号
ServiceNow：申请中国网络服务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FCEBC1BA-C645-4A76-B4F7-DBEC548F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4C91C41A-D055-4378-A239-89C9E8A7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27026ED-758F-44C4-A9B8-486781A7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622D0A9-7C7E-4780-9DED-D390E356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确认、安装并登录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BF9DA31-BF04-4D1A-9D0C-57F9A2B8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收到 OpenAI 与 SNOW 邮件后，在 Company Portal 安装 Proxy Doctor；连接办公网或 VPN，再登录企业工作区。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85B5ACC-FA18-43FF-8162-16C09997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两项申请可以同时进行；两封确认邮件都收到后，再安装并登录。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BD2049CD-A1D2-41B1-A800-7AD5F3D7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7c5f0cca78b4fd5"/>
              </a:rPr>
              <a:t>查看完整使用手册  ↗</a:t>
            </a:r>
          </a:p>
        </p:txBody>
      </p:sp>
      <p:sp>
        <p:nvSpPr>
          <p:cNvPr id="25" name="流程箭头 1">
            <a:extLst xmlns:a="http://schemas.openxmlformats.org/drawingml/2006/main">
              <a:ext uri="{FF2B5EF4-FFF2-40B4-BE49-F238E27FC236}">
                <a16:creationId xmlns:a16="http://schemas.microsoft.com/office/drawing/2014/main" id="{F2BD12C5-3FBD-4F76-A220-1FE188DE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95600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0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流程箭头 2">
            <a:extLst xmlns:a="http://schemas.openxmlformats.org/drawingml/2006/main">
              <a:ext uri="{FF2B5EF4-FFF2-40B4-BE49-F238E27FC236}">
                <a16:creationId xmlns:a16="http://schemas.microsoft.com/office/drawing/2014/main" id="{F582A810-C2CB-4180-A16E-4FE96E8C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95600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0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62210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账号、网络和安装分别由三个入口负责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理解三个入口的分工以后，整个开通过程就不会因为跳步或找错网站而中断。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三个入口如何分工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第一步是准备业务用途并取得 GCMT 批准。完成这项前提以后，可以同时提交两项申请：在 AI Gateway 申请 Enterprise ChatGPT 账号，在 ServiceNow 申请中国网络服务。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第二步是等待两封确认邮件。OpenAI 开通邮件表示账号已经准备完成，SNOW 完成邮件表示中国网络服务已经开通；两项申请可以并行，但不能只完成其中一项。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第三步是在 Windows Company Portal 中安装 ChatGPT Proxy Doctor。安装完成后连接 Philips 办公网或 VPN，再使用 Philips 账号登录企业工作区。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正确顺序是：并行申请，收到两封邮件，再安装并登录。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742a451af7c40ad"/>
              </a:rPr>
              <a:t>查看完整使用手册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0A0F49BE-3377-41E6-9889-43286111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036C578A-F3BF-4DE3-B286-92FBB0DD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0327BA04-2E18-4127-B5C4-A30372A3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5468ADDB-3E27-42DF-BFF3-9BDD0535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提交申请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E70795EF-0CAD-475D-AAF6-C0603038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A8FDBBC1-74A2-4067-B0B0-FCDEC28F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邮件确认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D613EDD4-B969-4BC4-B616-75758349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2C22F471-13C0-456E-9470-ADB903CA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安装登录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FC409DB-C7B5-41C6-A475-A3CF9110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8D6825F-32D2-4DF3-8362-10AE661D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AC7E150-EE12-42CB-85CC-DE78F595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完整操作以 KB1528249 使用手册为准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B2B1782-9716-461B-951D-4300D5E6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这一部分提炼当前操作路径；实际申请时，请按知识库当前版本逐项操作。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4B04E50-ED5E-4AD2-B4DA-F519F4A6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23B9F20-266A-4D94-8AB7-1949D3E2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336a5875f4f50"/>
          <a:srcRect xmlns:a="http://schemas.openxmlformats.org/drawingml/2006/main" l="16000" t="2000" r="34000" b="58000"/>
          <a:stretch xmlns:a="http://schemas.openxmlformats.org/drawingml/2006/main"/>
        </p:blipFill>
        <p:spPr>
          <a:xfrm xmlns:a="http://schemas.openxmlformats.org/drawingml/2006/main">
            <a:off x="666750" y="2047875"/>
            <a:ext cx="6734175" cy="2762250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46BAD53D-6FF9-49C6-9745-238BDDFE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0573724-3389-450A-8B70-BF59D2A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A037AB6-092B-42D8-91D5-A66CFC37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开始前确认三件事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D5133DE-B5E1-46CD-AF1F-0606857D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首先准备 Philips 账号和部门 GCMT 批准材料。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接着并行完成两项申请：在 AI Gateway 申请账号，在 ServiceNow 申请中国网络服务。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收到 OpenAI 和 SNOW 两封确认邮件后，在 Windows Company Portal 安装 ChatGPT Proxy Doctor。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CBFFA5E-180E-4C08-BCCF-D495ACAD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447eb7bd2064869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6922285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940119D-52D7-4CC7-92B3-B49DFF7E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C3D5E7-05A5-488D-811E-DB0A43F5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3C5CD1-B718-494F-9020-DA36BB59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第1步：在 AI Gateway 申请 Enterprise ChatGPT 账号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631ED03-7590-4542-BC11-83C3B92E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获得 GCMT 批准后，提交 Enterprise ChatGPT 访问申请，并等待 OpenAI 开通邮件。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7A1ED3-7727-40E2-A07D-68534B2F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89F9FED-EA84-4071-972C-A207AB0C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FA80B673-DD97-421C-B95A-DA16C847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5E11916B-61BE-495A-B5E0-AC5512FA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7ACDD2B-9BED-4648-ADCC-BF9703BA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9967401-C37F-462C-B9B4-6E5C63D2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首先打开 AI Gateway，查看当前账号状态；如果尚未开通，进入 AI Assistant。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接着输入或选择“Access”，提交 Enterprise ChatGPT 申请，并按页面要求提供 GCMT 批准材料。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完成标志是收到 OpenAI 开通邮件；收到后保留邮件，并继续确认网络申请状态。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9425299-5A47-4B9D-95B4-C550CFB9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52cfd4675ae4885"/>
              </a:rPr>
              <a:t>打开 AI Gateway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5EC6A347-ECFE-435D-8765-5C8BB24F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609b87a62ce4031"/>
              </a:rPr>
              <a:t>查看完整使用手册  ↗</a:t>
            </a:r>
          </a:p>
        </p:txBody>
      </p:sp>
      <p:pic>
        <p:nvPicPr>
          <p:cNvPr id="28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87368dc7f4d0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4850" y="1865709"/>
            <a:ext cx="6705600" cy="3755231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4131337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6C5844E-46ED-41FB-B7D6-FAD1D255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C220C6-E88B-40FD-BC12-423BC448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4B74853-3F29-4E57-9027-9791D434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第2步：在 ServiceNow 申请中国网络服务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2879E2-AE19-4ACC-9780-3B8896CF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这项申请可以和账号申请同时提交；收到 SNOW 完成邮件后，网络服务即完成开通。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2A7CC60-BEFE-4613-B73B-323A19C5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ACF57-DF94-4B13-975F-7F948024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E0181D59-D25D-470B-AD2B-8B9471AD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98DCC685-A556-4389-A626-508F9DF0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BC9C306-B61D-4117-B39A-9CF54CE4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CF88624-55C7-4C7E-8EB0-9CCDC91E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首先打开 ServiceNow，搜索“China Internet Acceleration Service”，进入对应的服务申请页面。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接着填写业务需求，并按页面要求上传个人承诺书、GCMT 批准邮件或其他材料。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完成标志是收到 ServiceNow（SNOW）完成邮件；与 OpenAI 邮件一起作为进入安装步骤的确认。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DB74832-CB41-4A37-96F2-79949E30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f3272be565d4938"/>
              </a:rPr>
              <a:t>查看完整使用手册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33C3D4CD-F938-416D-A536-AF2B9ACE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f6934eace5649fe"/>
              </a:rPr>
              <a:t>申请中国网络服务  ↗</a:t>
            </a:r>
          </a:p>
        </p:txBody>
      </p:sp>
      <p:pic>
        <p:nvPicPr>
          <p:cNvPr id="28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788e43dc243da"/>
          <a:stretch xmlns:a="http://schemas.openxmlformats.org/drawingml/2006/main"/>
        </p:blipFill>
        <p:spPr>
          <a:xfrm xmlns:a="http://schemas.openxmlformats.org/drawingml/2006/main">
            <a:off x="685800" y="1937830"/>
            <a:ext cx="6743700" cy="3610988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669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7C3038-4B3F-4BD5-9302-14B460F3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9F99657-B268-4336-B9CD-60A5E77B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87250B7-E289-4B68-9DAA-D7C21668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第3步：在 Company Portal 安装 ChatGPT Proxy Doctor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B2F346-A561-4B64-8F6C-367146B7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 Windows 开始菜单打开 Company Portal，找到 ChatGPT Proxy Doctor，然后点击 Install。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84BF12B-5509-485E-A689-9201CF2D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94E557-F4E2-4FAD-A646-5BA2C6A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6a495835d4edd"/>
          <a:srcRect xmlns:a="http://schemas.openxmlformats.org/drawingml/2006/main" l="6000" t="7000" r="7000" b="39000"/>
          <a:stretch xmlns:a="http://schemas.openxmlformats.org/drawingml/2006/main"/>
        </p:blipFill>
        <p:spPr>
          <a:xfrm xmlns:a="http://schemas.openxmlformats.org/drawingml/2006/main">
            <a:off x="685800" y="1846659"/>
            <a:ext cx="6743700" cy="3793331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40047D95-F7E8-4B4C-8DAE-08A28432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9C1D392E-C7E3-4EEE-83C4-A66D9C1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84A8093-F6B1-4E39-AEB7-4023FA83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6B5B129-FA1B-4178-B5CA-1AC20915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 Windows 开始菜单打开 Company Portal。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接着搜索并打开 ChatGPT Proxy Doctor，确认应用名称后点击 Install。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安装完成后保留默认设置；如果系统提示更新，按 Company Portal 页面提示完成。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D5896220-0CF0-4FAA-9DB0-7476FF65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129d48ae56249ff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11937345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0FBD9CC-026B-4E9C-BB61-329E9E42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70D7CB4-C4CB-4B60-876F-46055DBF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46F2F51-71D2-4370-8BB7-B7E446C2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第4步：连接办公网或 VPN，并登录使用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0A40ADF-874F-4B81-9CBC-44A9FCEB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确认账号、网络和工具已经准备完成，然后连接 Philips 办公网或 VPN，登录企业工作区。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38407C8-E4D9-42E8-8BCB-50D1B030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0F75F25-1A2A-490C-B62A-3420475A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6F5F593-6356-4AC2-B8A0-4FE57335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778027C-DF95-44B3-9428-DE32147D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98AA4F4-B742-4EEA-AD8B-B6123743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登录前检查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8B054B3-04BD-40EA-A896-32C9BBC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先确认四项准备：收到 OpenAI 开通邮件、收到 SNOW 完成邮件、已安装 ChatGPT Proxy Doctor，并已连接 Philips 办公网或 VPN。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接着使用 Philips 账号登录 Enterprise ChatGPT。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登录后不输入禁止处理的敏感数据；AI 输出先作为草稿，重要事实、判断和决定仍由员工确认。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2EC8E7F-BCD2-42EC-ADD9-9F40C686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efae1c4bac845cd"/>
              </a:rPr>
              <a:t>打开 AI Gateway  ↗</a:t>
            </a:r>
          </a:p>
        </p:txBody>
      </p:sp>
      <p:sp>
        <p:nvSpPr>
          <p:cNvPr id="14" name="登录方向箭头">
            <a:extLst xmlns:a="http://schemas.openxmlformats.org/drawingml/2006/main">
              <a:ext uri="{FF2B5EF4-FFF2-40B4-BE49-F238E27FC236}">
                <a16:creationId xmlns:a16="http://schemas.microsoft.com/office/drawing/2014/main" id="{3C90E18E-C264-4452-99EB-5C54D061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19450"/>
            <a:ext cx="5143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0">
            <a:solidFill>
              <a:srgbClr val="C9DDF2"/>
            </a:solidFill>
            <a:prstDash val="solid"/>
          </a:ln>
        </p:spPr>
      </p:sp>
      <p:sp>
        <p:nvSpPr>
          <p:cNvPr id="15" name="检查图说明">
            <a:extLst xmlns:a="http://schemas.openxmlformats.org/drawingml/2006/main">
              <a:ext uri="{FF2B5EF4-FFF2-40B4-BE49-F238E27FC236}">
                <a16:creationId xmlns:a16="http://schemas.microsoft.com/office/drawing/2014/main" id="{EAE838B5-3E24-4F5D-B0D1-9D6D38C7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383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完成四项准备</a:t>
            </a:r>
          </a:p>
        </p:txBody>
      </p:sp>
      <p:sp>
        <p:nvSpPr>
          <p:cNvPr id="16" name="检查完成 1">
            <a:extLst xmlns:a="http://schemas.openxmlformats.org/drawingml/2006/main">
              <a:ext uri="{FF2B5EF4-FFF2-40B4-BE49-F238E27FC236}">
                <a16:creationId xmlns:a16="http://schemas.microsoft.com/office/drawing/2014/main" id="{A8496D54-7E06-4C72-84DD-533D694A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检查项 1">
            <a:extLst xmlns:a="http://schemas.openxmlformats.org/drawingml/2006/main">
              <a:ext uri="{FF2B5EF4-FFF2-40B4-BE49-F238E27FC236}">
                <a16:creationId xmlns:a16="http://schemas.microsoft.com/office/drawing/2014/main" id="{50275404-DDB8-40B7-901E-D7A2797F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4479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收到 OpenAI 开通邮件</a:t>
            </a:r>
          </a:p>
        </p:txBody>
      </p:sp>
      <p:sp>
        <p:nvSpPr>
          <p:cNvPr id="18" name="检查完成 2">
            <a:extLst xmlns:a="http://schemas.openxmlformats.org/drawingml/2006/main">
              <a:ext uri="{FF2B5EF4-FFF2-40B4-BE49-F238E27FC236}">
                <a16:creationId xmlns:a16="http://schemas.microsoft.com/office/drawing/2014/main" id="{353F28EF-C043-44A8-B27F-E0EE092C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19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0">
            <a:solidFill>
              <a:srgbClr val="11966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9" name="检查项 2">
            <a:extLst xmlns:a="http://schemas.openxmlformats.org/drawingml/2006/main">
              <a:ext uri="{FF2B5EF4-FFF2-40B4-BE49-F238E27FC236}">
                <a16:creationId xmlns:a16="http://schemas.microsoft.com/office/drawing/2014/main" id="{40EED5A4-CF57-4C0F-947C-611919F2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0384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收到 SNOW 完成邮件</a:t>
            </a:r>
          </a:p>
        </p:txBody>
      </p:sp>
      <p:sp>
        <p:nvSpPr>
          <p:cNvPr id="20" name="检查完成 3">
            <a:extLst xmlns:a="http://schemas.openxmlformats.org/drawingml/2006/main">
              <a:ext uri="{FF2B5EF4-FFF2-40B4-BE49-F238E27FC236}">
                <a16:creationId xmlns:a16="http://schemas.microsoft.com/office/drawing/2014/main" id="{AFF00367-B2DB-4C83-943A-D0097D0A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9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solidFill>
              <a:srgbClr val="E8742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1" name="检查项 3">
            <a:extLst xmlns:a="http://schemas.openxmlformats.org/drawingml/2006/main">
              <a:ext uri="{FF2B5EF4-FFF2-40B4-BE49-F238E27FC236}">
                <a16:creationId xmlns:a16="http://schemas.microsoft.com/office/drawing/2014/main" id="{7574EDD7-E075-4F43-A39C-E73493CB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6290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ChatGPT Proxy Doctor 已安装</a:t>
            </a:r>
          </a:p>
        </p:txBody>
      </p:sp>
      <p:sp>
        <p:nvSpPr>
          <p:cNvPr id="22" name="检查完成 4">
            <a:extLst xmlns:a="http://schemas.openxmlformats.org/drawingml/2006/main">
              <a:ext uri="{FF2B5EF4-FFF2-40B4-BE49-F238E27FC236}">
                <a16:creationId xmlns:a16="http://schemas.microsoft.com/office/drawing/2014/main" id="{73DBE552-6397-4038-832B-0A299E7F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00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solidFill>
              <a:srgbClr val="0F9ED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3" name="检查项 4">
            <a:extLst xmlns:a="http://schemas.openxmlformats.org/drawingml/2006/main">
              <a:ext uri="{FF2B5EF4-FFF2-40B4-BE49-F238E27FC236}">
                <a16:creationId xmlns:a16="http://schemas.microsoft.com/office/drawing/2014/main" id="{F06700A4-F04C-4A21-8AAC-98F3D195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2195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Philips 办公网或 VPN 已连接</a:t>
            </a:r>
          </a:p>
        </p:txBody>
      </p:sp>
      <p:sp>
        <p:nvSpPr>
          <p:cNvPr id="24" name="登录企业工作区">
            <a:extLst xmlns:a="http://schemas.openxmlformats.org/drawingml/2006/main">
              <a:ext uri="{FF2B5EF4-FFF2-40B4-BE49-F238E27FC236}">
                <a16:creationId xmlns:a16="http://schemas.microsoft.com/office/drawing/2014/main" id="{818A83B2-C9C3-4C17-96EE-10BFA314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47925"/>
            <a:ext cx="1809750" cy="2095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4288">
            <a:solidFill>
              <a:srgbClr val="0066CC"/>
            </a:solidFill>
            <a:prstDash val="solid"/>
          </a:ln>
        </p:spPr>
      </p:sp>
      <p:sp>
        <p:nvSpPr>
          <p:cNvPr id="25" name="登录标志">
            <a:extLst xmlns:a="http://schemas.openxmlformats.org/drawingml/2006/main">
              <a:ext uri="{FF2B5EF4-FFF2-40B4-BE49-F238E27FC236}">
                <a16:creationId xmlns:a16="http://schemas.microsoft.com/office/drawing/2014/main" id="{9FE8F8B3-EB72-4172-9542-E8257E7E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95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登录标题">
            <a:extLst xmlns:a="http://schemas.openxmlformats.org/drawingml/2006/main">
              <a:ext uri="{FF2B5EF4-FFF2-40B4-BE49-F238E27FC236}">
                <a16:creationId xmlns:a16="http://schemas.microsoft.com/office/drawing/2014/main" id="{D1F8B900-5EEC-433D-B16B-70A874B3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295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登录企业工作区</a:t>
            </a:r>
          </a:p>
        </p:txBody>
      </p:sp>
      <p:sp>
        <p:nvSpPr>
          <p:cNvPr id="27" name="登录说明">
            <a:extLst xmlns:a="http://schemas.openxmlformats.org/drawingml/2006/main">
              <a:ext uri="{FF2B5EF4-FFF2-40B4-BE49-F238E27FC236}">
                <a16:creationId xmlns:a16="http://schemas.microsoft.com/office/drawing/2014/main" id="{1036B978-0386-453E-B428-421485B4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2427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使用 Philips 账号登录</a:t>
            </a:r>
          </a:p>
          <a:p xmlns:a="http://schemas.openxmlformats.org/drawingml/2006/main">
            <a:pPr algn="ctr">
              <a:buNone/>
              <a:def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Enterprise ChatGPT</a:t>
            </a:r>
          </a:p>
        </p:txBody>
      </p:sp>
    </p:spTree>
    <p:extLst>
      <p:ext uri="{BB962C8B-B14F-4D97-AF65-F5344CB8AC3E}">
        <p14:creationId xmlns:p14="http://schemas.microsoft.com/office/powerpoint/2010/main" val="13753931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完成登录以后，仍然需要遵守企业使用边界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账号和网络准备完成，只代表可以访问工具，并不代表可以忽略数据和人工复核要求。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登录后还要注意什么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登录以前，先确认四项准备：已经收到 OpenAI 开通邮件，已经收到 SNOW 完成邮件，已经安装 ChatGPT Proxy Doctor，并且当前连接了 Philips 办公网或 VPN。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确认以上条件以后，再使用 Philips 账号登录 Enterprise ChatGPT。如果页面无法打开，先回到四项检查中逐项排查，而不是自行配置未经批准的代理或其他网络方式。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登录以后，不要输入禁止处理的敏感数据。AI 生成的内容应先作为草稿使用，涉及重要事实、判断和决定时，仍然需要由员工核对并承担最终责任。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能够登录只是开始，数据边界和人工确认贯穿整个使用过程。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c3b49484e314726"/>
              </a:rPr>
              <a:t>打开 AI Gateway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98195B71-82F5-4BCA-BD0F-EB370C4D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DA09EC77-9903-4DAA-BF29-98EACAE8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49FA6C03-6BC4-4276-9F05-FECA3BD1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B011D536-ECD3-4F84-8E00-C052FA1B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登录检查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851B8E98-C908-4CAA-85C4-EB760168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FE709CE6-5C58-4328-8AB5-0D3D719E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进入工作区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705B4ECF-C7CE-484C-9760-3A09853C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FC621818-D33A-429C-9728-A16D45EE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负责使用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10E11BD-5C50-4627-B267-5144D51D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6A06EB6-3034-4D52-86F9-3D6A3785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5ECE51-1EF7-4886-ADB5-97DB6F0C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GCR AI Ambassador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E34FDE2-B956-45F3-8A40-610B32AA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先了解 GCR AI Network 中四类角色的分工，再通过名单找到自己所在部门、业务单元或市场的 AI 联系人。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CB003F00-4A80-497E-ACC6-1C2956EC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9ca01dbcfe64752"/>
              </a:rPr>
              <a:t>进入 AI Gateway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4EDF6856-03F3-4244-817F-0026C71A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17e47a45d0c42df"/>
              </a:rPr>
              <a:t>查看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4096491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3B35C42C-B12B-419E-A7CD-12178807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3F474D-798E-486F-824A-679C4B3B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D60D2D7-B39C-48B5-B090-37EEF21E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Network：四类角色分别提供方向、推广、场景和技术支持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7A9889-6A9D-44A6-ACD5-773A834E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Champion 负责方向，Ambassador 组织学习和推广，Catalysts 从日常流程中寻找适合 AI 的任务，Guru 把业务问题连接到合适的技术资源。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A9B717-25C1-4975-91D7-8CC48224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3892CA-0A8D-4813-BDD8-7086AF92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E0A3A5A2-582E-4A43-9466-FCAE5796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989FAE1-96B9-42C4-A24C-C023EB97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6A907FA-AD87-447F-981B-6DF6CF33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0E2065F-95BC-4217-93E0-F4954B6B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24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先锋｜Champion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EE307B-B7B9-469A-9ACC-5972978A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383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Yiqiu Chen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236C75D-7112-4340-AD76-1C7C7F22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制定战略方向，聚焦高价值场景，推动 AI 创造业务价值。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9E84DEF1-9DDB-4C8B-B615-9FE3EE26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4AAEB248-9021-47CB-BD69-48AC44B1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A4A3A0E-F44B-45D8-81CC-11BD33DD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EE57160-811A-4D78-9450-E7033C36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289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大使｜Ambassador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9E493BE-26FC-4A4C-B04F-6C5B3E35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24 people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F6FEC6C-0E4D-42E9-8114-69D47F3C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860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组织学习和经验分享，帮助更多团队了解并使用合适的 AI 工具。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98CC3175-ECC6-4897-A48C-31887254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DC6385CF-CFEA-4252-AD88-5B6617D9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97EF0D8-3240-4C8A-98CA-41C5CBBE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B6EEA69-5085-4D4C-8ABD-954A927C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推动者｜Catalysts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BC4D44B-5428-4A85-9F25-D745A559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48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每个团队约 5%–10%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F00FECA-5185-4DA3-BC28-2C5AD458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熟悉业务流程，从日常工作中寻找切入点，推动 AI 融入真实工作流。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1C747F18-3DBF-4BA3-B0A3-2E348C47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A7A1785C-F0DA-41E1-A3B2-615ECC36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848CC7C-BA78-4265-87C5-E29657D7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045977E-2FE7-4E6E-8869-B2505BD8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38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专家｜Guru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630DBEB-3DA9-4589-A97E-EAC9A2AF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每个团队约 3%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80AE97D-AA7B-4D1B-B633-59D3A67B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把业务问题连接到合适的技术资源，并在开发、运行和改进过程中提供支持。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982BB600-8735-4E2B-AB68-CA3EC08B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29dc513923e410b"/>
              </a:rPr>
              <a:t>回到 AI Gateway  ↗</a:t>
            </a: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D038ADA6-6CF7-49F5-8A94-9D0B53C7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fd4685d1415458b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1173865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遇到不同问题时，需要寻找不同类型的支持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四类角色共同组成支持网络，但每一类角色承担的责任并不相同。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如何找到合适的支持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Champion 负责确定整体方向和高价值场景，Ambassador 负责组织学习、分享经验，并帮助更多团队理解可以使用哪些工具。这两类角色主要解决方向和推广问题。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Catalysts 更接近日常业务流程，他们会从真实工作中寻找适合 AI 的切入点。Guru 则把业务问题连接到合适的技术资源，并在开发、运行和改进过程中提供专业支持。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因此，遇到学习和工具使用问题时，可以先联系 Ambassador；需要梳理业务场景时可以寻找 Catalysts；涉及技术实现和持续改进时，再与 Guru 及相关技术团队协作。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先判断问题属于方向、推广、场景还是技术，再寻找对应角色。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a8ac24f14ec4731"/>
              </a:rPr>
              <a:t>回到 AI Gateway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79AF075F-DC81-42A4-9283-4E27ACD7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7385D52D-939C-4BA1-8F77-2BEB386D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FCF1FF18-CDCF-4C5E-972B-7FB6800E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B5A22363-82D4-4C3B-B3EF-D3905235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确定方向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188FAE31-4C2D-4F3D-8556-341AB61B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FABAFCB3-A754-40E0-B25C-F99654F4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梳理场景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3CF707A8-8422-4850-9043-9ABA4CDE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6A26D503-EA8F-45AF-8A18-C37DC9D9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技术支持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2D5C8EC-CDA7-4142-B13A-27180792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589270-51B0-40D6-99C4-BD064A9B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C2F7314-42A9-4926-BE64-75B3CFEB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按部门或业务单元找到对应的 AI Ambassador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926C342-9567-4401-B7C3-CBEDCF74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Alison Gu 担任 GCR AI Ambassador Representative Chair。名单按部门或业务单元、管理负责人和 AI Ambassador 三列排列。找到支持网络后，接下来进入 Copilot 的具体学习和实操。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745D58-83E5-49B4-96BF-DE7AFCD3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FDE44E-1449-4836-BDF4-01EE3CFA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d325b85bb4ef9"/>
          <a:stretch xmlns:a="http://schemas.openxmlformats.org/drawingml/2006/main"/>
        </p:blipFill>
        <p:spPr>
          <a:xfrm xmlns:a="http://schemas.openxmlformats.org/drawingml/2006/main">
            <a:off x="685800" y="1783116"/>
            <a:ext cx="6686550" cy="3577517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BE58FD5-26B3-4285-9455-1A4E44C0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657600"/>
          </a:xfrm>
          <a:prstGeom xmlns:a="http://schemas.openxmlformats.org/drawingml/2006/main" prst="roundRect">
            <a:avLst>
              <a:gd name="adj" fmla="val 312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1842AEB-2764-408C-BE69-99C619AB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44A8AD8-7697-4C2B-B128-025BC676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E409797-0DA3-4B5A-BB88-760A1E17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首先看覆盖范围：名单包括市场、财务、法务、人力资源、战略、质量、法规、临床、创新、IT，以及各业务单元和区域市场。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接着看角色分工：Function Lead 负责业务管理；AI Ambassador 分享学习资源和实践经验，帮助团队梳理适合 AI 的问题。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使用时，先在第一列找到部门或业务单元，再查看同一行的大使；工具和学习问题可与大使交流，业务决定和数据授权仍由本部门负责人确认。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E3AFC3-31B2-42E7-A95E-6A1A6D61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3b482247cd04975"/>
              </a:rPr>
              <a:t>进入 Copilot 学习与实操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3F45231B-A194-4C97-A253-70AE7619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c262a82765f4614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62763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568C22E-CD36-4931-A7D1-38A619BD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864FC7C-150F-455F-B149-A70679C4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A55462E-C969-4822-BA7C-1C19ADFE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EA7C621-E933-4A01-99DD-E9475404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先认识微软官方 AI 学习网站和 MS-4004，再用一个跨岗位案例练习多来源总结、冲突识别和沟通输出。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0101B597-DE81-499D-B076-F36B538A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7a93768c1b445d8"/>
              </a:rPr>
              <a:t>AI Skills Navigator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BA4B14DA-72D3-4DB0-AF58-7629560C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ae12a6bc7134ed5"/>
              </a:rPr>
              <a:t>MS-4004 学习路径  ↗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4164F439-25E9-4CB8-A5DE-8E1602B6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cf103aa3bce421a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4202366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0492418-88B6-403F-BCF1-7F078302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A92C1FE-663A-42B2-97CC-B99AC480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8BDCFAA-0E7D-4931-9678-4A190BF3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Navigator：从 For you 首页开始选择学习内容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6A9B2C-3A7D-4737-B0C7-9374F1C2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Skills Navigator 是微软官方 AI 学习网站。For you 首页根据学习记录和个人资料推荐内容，左侧提供课程搜索、学习播放列表、证书和学习报告等入口。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7757515-A826-4BD0-B69E-DCEE5B69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265ECB-F29C-4C0B-9AA7-58847313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21007da974d66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B2BCF77-CFFB-4C7A-9A8E-4FB462D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1F48B00-0036-42FC-8A58-7927E5DC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B2698A7-CDD6-46D1-B04A-882D4FA5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首页怎么使用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13B0D4D-87F8-4554-A347-B892BAD7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首先看左侧导航：For you 查看个性化内容，Explore content 搜索主题，Skilling playlists 进入学习路径，Credentials 和 Reporting 查看证书与记录。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接着看首页推荐：Recommended for you 展示课程，Pick up where you left off 用于继续学习，右上角提示帮助保持学习习惯。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首次进入时先更新 profile，再按岗位或工作问题搜索；Bootcamp 结束后也可以从这里继续学习。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AEF9E8FA-8614-4AAB-8891-F4D3D95D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01a215ac1ff47e6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12870270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3B18985-588E-468F-B705-C0A66A4D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143D05-6D69-44E8-B977-62C1E367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A66A3C-5ED1-4498-A2ED-8D20DCAB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Skilling playlists：把相关课程放进一条学习路线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C4A6224-68CF-43A4-93A0-706ED5DE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当前页面打开的是 Philips: Summer 2026 M365 Copilot Courses。顶部显示学习内容数量和完成进度，下面按顺序排列 AI 基础、Copilot Chat 基础和 MS-4004 业务案例。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E366BF6-F1E8-4769-BCAA-54977D2A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618901F-EDF3-4B2F-934E-90AEECB1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65493cf47403d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20ABB24D-2223-4A5E-BEEC-93782E2E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E0D26EE8-DF86-49E7-B4C2-D245BF88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15CEDA-6892-472F-BF03-F3E2801A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播放列表的结构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B4D7F2-D4F6-442F-ADD4-6BB8B759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首先看顶部信息：33 items 表示共有 33 项内容，进度条显示完成比例，Continue learning 用于回到上次位置。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建议先完成 AI 和 Copilot Chat 基础，熟悉提示词、文件分析和协作方式，再进入 Microsoft 365 Copilot Use Cases（MS-4004）。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向下滚动即可找到 MS-4004；其中的案例按管理者、销售、市场、财务、IT、人力资源、运营、企业沟通、客户服务和法务分类。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3A10445-673B-4113-AE65-320028B3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57727bda5d6408f"/>
              </a:rPr>
              <a:t>打开当前播放列表  ↗</a:t>
            </a:r>
          </a:p>
        </p:txBody>
      </p:sp>
    </p:spTree>
    <p:extLst>
      <p:ext uri="{BB962C8B-B14F-4D97-AF65-F5344CB8AC3E}">
        <p14:creationId xmlns:p14="http://schemas.microsoft.com/office/powerpoint/2010/main" val="106633841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7D8677C-8816-4615-8F16-0C0792F1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7DA320-6AD1-4163-A405-6331618F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BAF0440-06BB-404B-B474-0ECE4AB8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从左侧目录进入 MS-4004，再按岗位选择案例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5FD0F6B-B824-42C9-A4D6-76192857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进入课程后，左侧目录列出播放列表中的课程和单元。当前截图选中的是 Copilot Chat Basic 的介绍单元；向下找到 MS-4004 并展开，就可以进入不同岗位的案例。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EABC377-666D-47EE-ADA9-9135631F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22FF228-DB83-495C-B851-9E1D92D8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2366848c642c6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714D669-1430-4789-8BEC-78FE2CF1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5FFA04F-26EB-4446-99E7-2135062C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146C497-570D-4749-AE61-471DE6EE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课程页面怎么读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E3B6F62-995C-4080-BBD9-5F97EC43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首先看左侧目录：点击课程名称可以展开单元；当前基础模块包括介绍、Copilot Pages、Agents、练习和总结，下方就是 MS-4004。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接着看右侧学习区：这里显示正文、提醒和学习目标，顶部还提供单元总结和播客等复习功能。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今天先记住课程入口，再进入 MS-4004 选择接近自己岗位的案例；后面的实操会练习其中可以跨岗位复用的方法。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B5D3BE8-86A4-4D1C-8828-87704453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6aae40a4bc145bd"/>
              </a:rPr>
              <a:t>打开 MS-4004 播放列表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58D1E7AF-B629-485B-B18E-51A3EBB9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386c3c4a1c443d8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7309746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A8ACF113-38D0-4E99-BC35-7FB580DB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FC33D5-81F1-4C2A-BE57-1E19A5DD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D7378AB-9DAE-4628-ACD3-2B6416F3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D175D0-00CF-4765-8260-70116622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按岗位组织 Copilot 案例。浏览时可以先看与自己最接近的岗位，也可以直接寻找熟悉的任务，例如读懂上下文、比较多份资料、整理风险和起草下一步沟通。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9A315D0-42BE-4DBB-A8B6-A6FF2D68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DC8A8E-8A89-432D-BD2E-C2B5542D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AC5C9677-7571-4F46-BC21-E9AF6D26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E5383AD-9CC8-46EF-A068-A027BC3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222C82E-C3F4-45E1-91C3-1EC04854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6E6EFF4C-243F-46D2-9A9E-3AD6220F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13F4F94-B6C4-4FE8-9FD6-7EC07982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BEF8A4D-C924-4D10-B342-EE9AF0EF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B5AFC4B4-70FF-48DE-A76C-8EE9A7BF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9C33516-873F-4FB3-9C9A-5B769FCA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651EF23-0377-4AC3-AD68-309623E2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4802920D-0BAE-4516-98BE-55FB14B1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8B77D47-E691-4E0F-B6B0-CB48B9B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EB1FCAB-B0B2-470D-A114-FB7C1742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372C2E45-21DA-41C7-9810-4D419372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7B72868-A010-468F-AD44-8D52AB29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2B4F418-A01C-4C1A-9724-C0D55EF6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5DF81C26-10F0-40AE-B822-5E6FD51F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DACBE5C-BE16-4AF5-B068-74AD72CD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B496F7-4DEB-4C72-BEE0-233FE9DD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B4F51F5A-ABC4-4F0C-90EB-F40A5B66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3694A76-E617-4250-8B7A-78F98F5E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A3A107F-8090-4DB3-A4EF-7061B177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2E4894E7-603D-4804-9C99-6E8CE5C4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4FE950D-C794-405E-9E9F-1803A0F4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EFE59B9-E087-4559-BE18-9F6C2F16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08173CC7-11CA-40A1-A3CD-DA996275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F0DE40E-FCAD-4DD5-9C01-5F6E151D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9C28F91-2170-44A1-A3D0-2B5F4FE1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Rectangle: Rounded Corners 33">
            <a:extLst xmlns:a="http://schemas.openxmlformats.org/drawingml/2006/main">
              <a:ext uri="{FF2B5EF4-FFF2-40B4-BE49-F238E27FC236}">
                <a16:creationId xmlns:a16="http://schemas.microsoft.com/office/drawing/2014/main" id="{7DB57E33-8D06-4EB6-9E58-1151032E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0359A295-BAEB-4174-98AA-37A4E67E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9AB5BFD2-DFBD-43D9-A9FA-161EB98C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C31716B0-7B55-4E7E-A468-42F9C39B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跨岗位共同点：快速理解上下文、从多个来源提取关键信息、识别风险与冲突，并把分析转化为清晰的下一步沟通。</a:t>
            </a:r>
          </a:p>
        </p:txBody>
      </p:sp>
      <p:sp>
        <p:nvSpPr>
          <p:cNvPr id="38" name="Rectangle: Rounded Corners 37">
            <a:extLst xmlns:a="http://schemas.openxmlformats.org/drawingml/2006/main">
              <a:ext uri="{FF2B5EF4-FFF2-40B4-BE49-F238E27FC236}">
                <a16:creationId xmlns:a16="http://schemas.microsoft.com/office/drawing/2014/main" id="{852ED640-2990-4B37-8297-3B1A708C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0c0943e95d04420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195220012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可以从岗位进入课程，但不要被岗位名称限制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用岗位组织案例，真正可以迁移到日常工作的，是案例背后的通用任务。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如何选择学习入口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首先，可以从与自己最接近的岗位开始浏览。管理者、销售、市场、财务、IT、人力资源、运营、企业沟通、客户服务和法务，都有对应的 Copilot 案例。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接着，不要只看岗位名称，还要观察案例实际解决的任务。例如，快速理解上下文、比较多份资料、整理风险、准备会议和起草沟通，这些任务通常会跨越多个岗位。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因此，学习时可以先选择熟悉的场景，再把其中的提示词结构、资料处理方式和检查方法迁移到自己的工作，而不是机械复制案例中的岗位背景。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岗位帮助你找到入口，通用任务决定方法能否迁移到自己的工作。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fad98193cf74d3d"/>
              </a:rPr>
              <a:t>进入 MS-4004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F5018A93-3420-4694-A786-084DA883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B83B54DC-2EBC-4AE4-A5D6-98BA6E20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FCFB7238-2F16-4221-802F-20669652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491127D8-DBDB-42DD-B38C-AC1DE8A7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选择岗位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AEF64F5C-3555-46A1-B8F1-496669AD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08565198-A31A-4DF2-9125-666B4B14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识别任务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A2053430-601B-464F-9697-659D22BF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1AB83E64-F52C-410B-BC80-2232C02C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迁移方法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5488D6D-CD3F-4E1E-B4F8-5B9EC69B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9D3FD1E-9D9E-46B7-8D0A-5C04A983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5FCD0B-7659-4ED9-8A5C-FE150B95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EA2623D-A365-4957-B85A-D7E0DB25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B31870A-5EAA-4E6B-B673-18225FAF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DAD14C-0A0D-4C7F-B079-7C4E6B6A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889C5695-B683-476E-BB95-1025B4FA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3CEA1DE-7413-4849-9F5D-EE22BAD4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B4CC684-1E86-49E5-B849-C0C99D79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E548E9D-1491-40DC-9DB9-A726AE22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316E8C-2674-4669-ACEC-02833E07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5CD10C3-4BEE-4D30-9AC5-6E8A8A91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76C42CE-0415-4A48-BF8E-EF0D133F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29AB4DF-1D21-4DE3-80B8-7E6C68E2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2994DC8-E648-4CA1-868D-3319D35A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421B3FA-2DFE-4ABC-950F-2C214AE4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9E281427-0D05-44FF-8D49-11A4E0AC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F7CD52D9-35F3-4D7F-A751-7C1F89B8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9D76E4D-A9FB-43F9-A999-E1C6A308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F9ABA4D-F508-464A-B2DA-06978A8D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EF2349A-FCD9-4CC4-ABB0-A0DD79A6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比较多个来源，标记冲突、缺失信息和需要人工确认的内容。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D56F8564-1A68-4316-A687-439B5E0F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7FC3EB71-2AF6-4FE3-8FF4-57265DEF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7531091-91C0-4DE0-B5E8-DFD6B28E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B20D5FE-060A-4EC6-9C65-A51683A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BB49975-86CB-4604-BC2E-2D6E3361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把结果整理成可以发给同事的项目简报或跟进邮件。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F6C2A6BA-4BBD-4FFB-A594-1E797AF8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9c68c3cadb94842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8033997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读、理、查、写是一条连续的工作链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Copilot 的价值不只是生成一段文字，而是帮助我们把资料逐步转化为可以采取行动的沟通。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怎样把资料变成沟通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第一步是读，也就是快速理解项目简介、会议纪要、邮件或其他资料，提取目标、背景、关键事实和限制条件。没有完成这一步，后面的总结很容易失去上下文。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第二步是理和查。先把信息按照决定、行动项、风险、负责人和截止日期重新组织，再比较多个来源，找出冲突、缺失信息和需要人工确认的内容。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最后一步是写。把已经核对过的分析结果转化为邮件、简报或下一步安排，同时保留待确认事项，避免把模型推测写成已经确定的事实。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先理解，再组织和核对，最后才把结果写成可执行的沟通。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af5fb7433894cdc"/>
              </a:rPr>
              <a:t>打开 Microsoft 365 Copilot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25EE2E17-6CB6-4C95-8DF2-0145CC81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4469B722-7040-4BD1-B016-573636B3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9E3202DA-711C-4969-8918-32DFD117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2E07749E-65B0-4FA7-8A88-1B011A9C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阅读资料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331F7068-5311-4582-B796-DCD69D5E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AA459660-8097-4A3B-8855-B3275C30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组织核对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D2546C9D-09E6-4678-A40B-94848728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70DDA72D-AC1C-48BE-B5EF-BDA72BD9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形成沟通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46A38B2-4F6F-4D31-89D6-FCAE39D1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6D5D903-F7D3-485B-AC40-C24E30DD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4352DFF-B952-4740-B658-9C7CCF94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32C3496-5321-4CF0-80FE-FD72C36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我们用一组虚构的“绿色办公周”资料，完整演示一次从阅读材料到形成沟通输出的过程。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101D30E-BEF0-47B8-A803-39C166C6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94E2110-3EC7-4617-855D-189D74BB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54B43AAB-0CF4-4BA1-846D-6637E630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629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29F87DC-0D35-4DC2-B4C3-4922D139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你的任务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F21E29-E4B4-43DE-AAE8-0BAE05C9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今天你将接手“绿色办公周”项目。首先读懂三份资料，再向负责人说明当前进展、主要风险和下一步安排。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5844B80B-A6AA-4593-A8B7-DEEAF4E2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2BEF8D-F723-4CB0-B0E2-46314130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你会拿到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705FEB-178E-4706-8AD7-783B7D5C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项目简介说明背景；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会议纪要记录决定；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时间表呈现进度。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65EA0DFA-16D8-44D2-AB66-B86E7989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BD13297-C6C2-4DC6-8947-2AC32500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请 Copilot 帮你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DD205ED-52E8-407E-834F-93051F9D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先提炼目标与进展；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再整理负责人和截止日期；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最后找出冲突与待确认事项。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F6D01EF1-702A-4BFB-8764-579FF24E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0ACDCF6-EF49-4F38-99C8-22070ED4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最后交付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70FBAE2-079A-4622-A623-253AB7B9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最后形成一页项目接手简报，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再起草一封跟进邮件，把分析转化为可执行的沟通。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0C8D5E0B-034D-4957-A22B-7755B535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e83791749624197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134843390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绿色办公周练习，要把三份资料变成两项交付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这个练习模拟临时接手项目，因此重点不是复述附件，而是形成清楚、可靠的接手判断。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练习要完成什么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练习开始时，你会拿到项目简介、会议纪要和时间表。首先需要理解项目目标、成功指标、预算、范围和关键日期，同时区分已经确认的决定与仍在讨论的问题。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接着，需要比较三份资料，而不是只做单份摘要。报名开放日期存在两个版本，部分供应商和合同信息也没有提供，这些内容都必须保留来源并标记为待确认。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最后需要形成两项交付：一页项目接手简报和一封跟进邮件。简报负责呈现进展、行动项、风险和缺口，邮件则把这些分析转化为明确的确认问题和下一步安排。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练习的核心是比较来源、保留不确定性，并把分析转化为行动。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8f43729b327439a"/>
              </a:rPr>
              <a:t>进入 Copilot 实操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CB34B83D-DD13-47F3-9EB7-59234148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E53B2322-14F2-4C6F-877E-943E62BF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F81279F3-9555-4DDA-80F6-F2A6DC7F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CE53397E-CF74-4325-A369-102B1001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理解资料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ECA641DC-E529-4F9C-BE70-6675709A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D269B415-BD09-4716-AE33-FC1C09D0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发现冲突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A61D8B54-7B72-440F-8189-5CCA8854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8858620B-76F3-464E-B327-E45254A1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形成交付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4BD82BF-ED35-4FE6-BCAD-A55B80FC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CA1C78-B57F-4ECA-A58E-F1AED031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455389-5CD8-4333-81D4-2EE3EF1D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CF48A9-2AEC-4B42-B0F4-C01C0E29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先从项目简介建立全貌：项目为什么做、如何衡量、预算和范围是什么、关键日期有哪些。这里记录的报名开放日期是 28 Aug，稍后会和时间表进行对照。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A140D39-DD75-41E5-A06F-604B062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1680D-415D-4B14-838E-BEC17EEE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C8264DA5-F21A-4C00-A366-F563B906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A3BBFDC-9802-49AE-A19C-20FAE265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B6EEF0-0A65-4344-BE97-BC7C10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23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8FF16BB7-CA00-4137-B6A8-262ED0CE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9c4de636f914d30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208128329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AB8232C-A286-4466-81DB-35895822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0864C7-F94E-4B24-80B1-F2564180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D017FD-9B6D-4A20-92EA-1365B196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393F52A-8663-4030-995D-E79317F7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会议纪要补充了负责人、截止日期和讨论状态。阅读这一份时，把内容分成“已确认”“行动项”和“开放问题”，后续简报就能清楚区分决定与待确认事项。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8CD7751-106C-4A05-84CD-CFC89354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9C199D-CD85-4DC0-B0D8-0C3838A4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2CBD7EEF-8294-44D4-B025-35AC6051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69DAAD2-A8BE-4C5E-983B-AE97B25E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421D729-D47F-4DD3-AAB2-BB37CEF8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239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餐饮供应商未确定，合同金额尚未确定，团队尚未决定是否增加可选闭幕活动。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E8FC2C2A-5230-447B-AF1B-ABDB7D51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a3a18eafdf64d2e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03337680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BC861CD-2C4C-4C8D-ADCB-7E245D99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4EC2DB-2186-47CC-B288-355DE58A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BD46BA7-0AA4-4795-98EC-87140DEB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3：时间表里出现了另一个日期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3BB6101-D4A2-4C04-B15F-CC3D1F64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时间表把报名开放写成 31 Aug，而项目简介写的是 28 Aug。简报中保留两个日期和各自来源，并把它列为需要项目负责人确认的问题。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3C79F6B-718D-48F8-9A8C-E3847324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D551B8-D89F-4951-B838-2E5D888F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C430C3D-26BE-4542-95B8-ABF3C5B8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040A7E1-C0A9-4ED4-B16A-AE6F5AFB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ABC6ADD-5D6F-4698-B2D1-E7A77681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D9AD9C-BFCA-449C-B80D-0F18BA3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FD298A0-529A-433E-AC21-7FC56836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2E61AE2-E13E-46A4-8897-9FC4C875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3ACFAA0-E022-4CC3-A69A-A2C64F45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3F3808D-7B94-4AAB-B616-B59D5A30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A6FC537-7563-42E7-8A69-F866162B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182E271-3728-49CE-ABE4-35023C7D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5DB2529-535E-4677-A847-98E48D6C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95D379B-EAB9-4A89-954F-E54D0C88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CC0FEC6-9FAD-4CE6-98D9-55B511AA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2D219BC-704C-412F-B3DC-C2EA018D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9C72E12-7C00-4FC1-A36E-281E46D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C5908E9-CEBF-4E83-9D71-7A2507AB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A763C23-1459-4B93-9C97-4A4D3970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BAAA520-43A3-4587-BB68-2B0D2C3F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2DE1E6B-D397-4120-ABFC-3BF1653B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33643A9-B39E-47F1-BBA9-5C1F136D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977B408-FDC5-4435-8E6D-E3EE7D2A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42A70FC-6711-481A-BAC5-3CB7E6AD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E085D0A-878C-4B7A-B811-3F0A6433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B10B6BB-38CF-4388-8AEB-A5DC19AC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3032D49-CF96-45C1-90F6-C71D8085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待确认：项目简介 28 Aug ｜ 时间表 31 Aug</a:t>
            </a: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E4635D1C-12A8-4EE0-8AB3-247E1342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7fd69c87f51480b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107808256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提示词要说明为什么做、需要 Copilot 做什么、结果以什么形式呈现，以及哪些内容不能自行推断、必须由人确认。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我刚接手绿色办公周项目，需要快速理解三份附件。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总结目标、成功指标、已确认决策、行动项、风险和开放问题，并比较来源。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先给一页项目简报，再起草一封简洁的跟进邮件。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不要补充资料中没有的事实；发现冲突时列出来源和两个版本，并标记“待确认”。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3dbfeada28d476b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一个好提示词，先说明边界，再要求结果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背景、任务、输出和约束共同决定 Copilot 应该处理什么，以及不能自行补充什么。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提示词应该包含什么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首先说明背景，让 Copilot 知道你刚接手什么项目、手上有哪些资料，以及为什么需要完成这项工作。背景不需要很长，但要让任务拥有足够上下文。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接着写清任务和输出。任务说明需要分析什么，输出说明结果应当采用简报、表格、邮件还是其他形式，并明确需要包含哪些栏目。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最后加入约束，例如只能依据附件、冲突要列出不同来源、缺失内容要标记待确认。这里展示的结构和后面的提示词都只是示例，实际使用时应根据任务和资料进行调整。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提示词不是越长越好，而是要把上下文、交付物和判断边界说清楚。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a7d475321944151"/>
              </a:rPr>
              <a:t>打开 Copilot 并输入提示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AE46DFDF-B1FC-4A20-B5C0-970986A1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27DD0425-63BB-46F8-9E51-5FCBF365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C0EEF6E0-47EC-4442-AE50-DD1B75DF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8751F696-C56C-4CD4-BC3A-9449DB36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说明背景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9091A5B1-CFF8-42BB-9429-A2A97798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3BFDDFC8-CC22-41B1-87CD-E3467382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任务与输出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0A1B5382-507B-4363-BEEF-40A525A7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29AD6CC2-6EE3-43DF-A902-E7D794F7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加入约束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7B30F2-3B2B-4790-BC54-61CFE25A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1A855B-5CC9-4954-91E6-A05D63A7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88FBB6-50AA-418E-80F3-F0F957A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Copilot：确认工作账号，加入资料，开始任务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E0BC10A-0A52-454A-B64B-5A83568D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打开页面后，先确认左下角显示工作账号，再点击输入框左侧的加号加入本次练习使用的三份资料，最后在中央输入任务。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2FACCB7-AE65-4E2B-88C6-6F0BB5D5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422145A-F41F-4B70-BB5B-75B9134E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5b4ee268b44f6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D25EBF2-F1C2-47A7-B1B8-E3FA34C7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3C9EB873-0FDA-4357-913F-391C0189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636F2F2-6385-4D2B-A128-04FABFAA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68266BA-18D4-400F-9021-966E3CEF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首先开始新任务：左侧 New chat 用于新建对话，Search 用于查找历史内容；Library、Notebooks 和 Agents 可以之后再探索。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接着加入资料：中央 Message Copilot 是任务输入框，点击左侧加号即可添加文件；下方按钮提供文件分析、邮件整理等快捷入口。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提交前再检查：确认左下角显示 Philips 工作账号，只加入当前任务需要的资料；对敏感信息有疑问时，先查看企业规则或咨询支持人员。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24D0B09-9428-4482-9DE0-E458F2FC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00d3090a7b54755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0851861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2BBA476-B010-4512-B5B5-F981B713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5797568-7745-49FD-B442-CD751939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234354E-0472-4205-8DB3-8A8D216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现场演示：把三份资料整理成简报和跟进邮件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F8E75-25BC-47F4-BC18-42F1D93F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接下来我会在 Copilot 中完整做一遍。大家可以跟着看资料是怎样加入的、提示词怎样写，以及第一次结果出来后还可以怎样继续调整。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31FDC40-F08C-4A67-BDA3-693053AE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C1CE48-A769-4E5D-9289-BF040BAB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B9933069-E66D-4A35-AF21-38489F00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EE5F23D-80B7-4AD2-A6DA-2373F912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C6C4561-4AE0-4D9F-992F-E89F9DE6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首先上传项目简介、会议纪要和里程碑时间表。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E9F3928-4EF9-464C-ACC7-35D2557A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98466DC-B16E-4475-895E-8C4C1F8C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E563CF-DCD0-467A-9D6A-034867AA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860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接着输入“背景 + 任务 + 输出 + 约束”四段式提示词。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D6F28D73-29BA-42AD-9A79-40B3BA28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F89586C-D8D4-400D-A9CB-CFD881AF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C0C1C3C-3A6A-4739-8277-2F4B7DA7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89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结果生成后，先查看项目接手简报和跟进邮件草稿是否完整。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C8A56F78-23A5-4CCE-9F5B-3D384C88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56A3A3C-0642-422E-8D50-0C200F39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5618C79-4024-40A1-88DD-61D5D96F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19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然后核对 28 Aug 与 31 Aug 两个报名日期，保留来源并标记待确认。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BA1ACFAA-7AA3-4CE7-8AEB-84C6C70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5DBDC84-7C4F-4ABC-AE47-56C16339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7BFB305-B494-4FD2-8CE2-FF47C3B3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14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确认事实后，再追问并把行动项整理成负责人、截止日期和状态三列。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D43B4430-8761-440A-91EB-E838536E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c95374846cc483e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159111395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现场演示时，重点观察三次检查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演示不是为了得到一次漂亮答案，而是展示怎样逐步确认资料、结果和最终沟通。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演示中观察什么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第一次检查发生在提交以前。确认三份资料都已经加入，提示词包含背景、任务、输出和约束，并且当前使用的是 Philips 工作账号。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第二次检查发生在结果生成以后。先看项目简报和邮件是否覆盖目标、行动项、风险和待确认事项，再核对报名开放日期是否保留了 28 Aug 和 31 Aug 两个来源。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第三次检查是继续追问。要求 Copilot 把行动项整理成负责人、截止日期和状态三列，并在最终沟通中保留仍需团队确认的信息。只有完成这些检查，输出才接近可以使用。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生成只是开始，提交前、生成后和改写前都需要检查。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49ec7f842ca4812"/>
              </a:rPr>
              <a:t>进入现场演示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30BC9ED8-D186-4CC5-9285-367BBC92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E6CFA1FF-DED1-4EA5-B4FA-C3A73751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CF681091-36E5-45EE-A4B4-30FB406C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C3F8A7DF-5595-41E7-B459-300CD43C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提交以前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9D7441AD-E1D8-434A-8CBC-CF50BFCF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D560D93C-11E8-4759-9512-25351294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生成以后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151699F6-E6D2-4D6E-AADB-FE601E88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0831CED4-0AF5-4753-A1E6-7E9ADF7C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改写以前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轮到你：用同样的方法完成一个小任务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可以继续使用绿色办公周资料，也可以选择会议纪要整理、邮件改写或项目资料总结。在 Copilot 中写出背景、任务、输出和约束，并让结果列出仍需确认的信息。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866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首先用背景、任务、输出、约束四段结构写一个提示词。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然后要求 Copilot 指出至少一个不确定项、冲突或需要人工核对的事实。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最后把结果改写成可直接用于沟通的一段文字、邮件或简报。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完成后与同事交流：你的提示词中，哪一条约束最重要？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4e4f4c176824a3c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绿色办公周实操｜任务、示例提示词与预期结果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练习材料将在课程群内发放。下面提示词只是一种示例；重点是把背景、任务、输出和约束说清楚。完成练习后，下一部分会把同样的方法固化为可重复使用的 Agent。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要做什么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阅读群内发放的三份虚构资料，用 Copilot 总结项目目标、进展和行动项，比较来源并找出冲突。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示例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“仅根据三份资料，总结目标、指标、预算、日期、决定、行动项、风险和缺失；比较来源。先输出简报，再起草邮件。不要补充资料中没有的事实；冲突列出两个版本和来源，标记‘待确认’。”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一页项目接手简报（含行动项表格）＋一封跟进邮件草稿＋一份待确认事项清单。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应发现“8月28日 / 8月31日”冲突；供应商、合同金额等缺失内容应写“资料中未找到”。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105908f63db4e34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练习完成的标准，不是只得到一段答案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最终结果需要同时满足信息完整、来源清楚、冲突保留和沟通可执行四项要求。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32A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怎样判断练习完成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练习材料会在课程群内发放。页面上的提示词只是一种示例，可以直接试用，也可以根据自己的表达方式调整；关键是保留背景、任务、输出和约束四个组成部分。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完成后，应当得到一页项目接手简报、一封跟进邮件草稿和一份待确认事项清单。行动项需要包含负责人、截止日期和状态，不能只做宽泛总结。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最后检查质量：结果应发现 8 月 28 日与 8 月 31 日的日期冲突；供应商、合同金额等未提供的信息应写成“资料中未找到”，而不是由 Copilot 自行补全。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可靠结果要能说明知道什么、不知道什么，以及下一步需要谁确认。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b64bb9b4bba494e"/>
              </a:rPr>
              <a:t>打开 Microsoft 365 Copilot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D2CB14B9-3025-40A6-A067-D5C88A7D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A6651D92-8F1E-43C0-A25D-C4683474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18283AEE-F584-4298-97D5-6C93DFBF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23FD8717-8BF7-49CD-9C3B-B62A1652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信息完整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4C88FD5F-F491-420F-8047-1612B95C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C3E41330-EED5-43DF-8622-D416A03D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来源清楚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ABE13F73-EB13-4F21-915C-92A78CF0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B0A43ABE-6477-4B96-8471-82460C94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沟通可执行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AF27B51-E6E4-4126-B07B-8B8E6C5A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C0521EC-3647-4053-9101-F68EABA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540FC4D-6115-4B58-9946-30579D1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业务案例与最佳实践：Agent Builder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40D2617-65D3-4CC8-A5A8-26815349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提供多个 Agent 构建实验。讲师演示第 3 个“会议跟进助手”，学员动手范围是前 4 个 Lab，可任选或分组完成。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E0A100E1-B148-4C3D-B36B-19F3BB75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cabd1a5eb7b4a50"/>
              </a:rPr>
              <a:t>AI Tool Lab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78D9D59E-33CC-4B28-8E81-EB2DFD87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ec4d840078c4238"/>
              </a:rPr>
              <a:t>Agent Builder 路径  ↗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DBD4A93-0D5E-4092-825C-0B47824B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66bef13b1ca4b12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878526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4F2B4C0-A430-4E42-952A-19CBB9A0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8DFF1BF-2BC6-4507-B99A-3348AC68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28981CC-1E03-4672-A63C-79B35752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Lab：四个业务场景，共用一套构建方法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1732CE4-9D21-40E4-940E-FADEDFD2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网站提供四个 Agent Lab 和中文分步指南。四个场景都会练习工作规则（Instructions）、参考资料、常用快捷问题（Suggested Prompts）和试运行，操作都在 Microsoft 365 Copilot 中完成。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2AD95C-AF7F-43F1-968C-36CD7B55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9D84E89-C346-4F4E-8F42-044BF7D9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db27109064e1f"/>
          <a:stretch xmlns:a="http://schemas.openxmlformats.org/drawingml/2006/main"/>
        </p:blipFill>
        <p:spPr>
          <a:xfrm xmlns:a="http://schemas.openxmlformats.org/drawingml/2006/main">
            <a:off x="685800" y="1863846"/>
            <a:ext cx="6686550" cy="3511308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931C98F-B938-415A-BEAB-F1E869A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2C7ED0E3-ED03-48C8-AA70-8ACDE350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98CB966-939A-49D6-BA8A-823F2AD5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0C67CFE-695C-48F0-ADB7-A6D6686C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首先从四个场景中选择一个：Chief of Staff、Product Manual FAQ、Meeting Follow-up Assistant 或 Funnel Data Analyst。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在课堂上，PPT 用于解释关键画面，AI Tool Lab 网站提供步骤和材料，真正的配置、预览与创建在 Microsoft 365 Copilot 中完成。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完成后，你可以沿用同样的步骤，把自己的重复任务改造成一个简单、可测试的 Agent。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D1F8814-CDBA-461C-9691-ABB2B30D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5a8f1dfecba46a2"/>
              </a:rPr>
              <a:t>打开 AI Tool Lab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132D421A-9303-4AFD-A6E3-6CB3AAF3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d180cb6b7204c0f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59085668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52B4F15-26BD-46C9-9FF4-48CCDFB5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117414F-188D-4DA0-9EB9-532FD33E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34DD78-59D9-4680-81B4-DA03758C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动手范围：前四个 Agent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8D418BA-08BA-485A-9A0D-4670B03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分别练习事务协调、依据资料回答问题、会议跟进和销售数据分析。讲师会演示第 3 个，学员实践时可任选一个。每个 Lab 都会完成工作规则、参考资料、快捷问题和试运行。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6E2C948-FEE5-4862-B330-AA94CD9A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7EB603-3AA4-4706-89BB-42BA18C9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DB70CE3D-7621-4EF3-9C36-4EC41E30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0886AE5-E4EE-472F-ACF0-7B51001C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863A96B-1F21-4A8B-8860-F7BD25C7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A174DAA-2AC3-4F94-9243-6FF1A9C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Staff｜事务协调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936D60D-9E30-410A-8D44-4A236668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整理任务、优先级和会议准备，练习怎样写清 Agent 的服务对象和工作方式。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B6CDF16-CDDA-4284-B4D2-41A66145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F064F06E-FE17-4ABF-854F-B49681E0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788D73-6AC0-424E-94CF-4048DEA0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A8EEBCC-78CF-47B3-A58A-674A46E1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FAQ｜产品问答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BA1E1FE-BA2F-421E-9D01-15BDC644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依据产品资料回答问题，练习怎样限定参考范围，以及资料不足时怎样回应。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D1E108B1-1B0E-4805-8E4C-98F45E90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6591CAC-D607-44F3-8C30-9526DB18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EBE62AE-A31C-471E-BFA1-D27CE700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A342F16-CEA1-47C2-96E4-05E8838D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Follow-up｜会议跟进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D115EC5-C03D-49CE-8639-FE22E62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20287981-8A7C-48B0-B006-2353BC74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D3CA374D-8FEF-4DF1-A755-EF7CC971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A1533A-17B2-43DD-A1CE-9532379C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F12F00C-664D-42C6-B997-57E115D2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Analyst｜销售分析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4265981-D5B2-4B8F-9C8E-D0AC1FB0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分析销售机会数据并解释图表，练习怎样写清筛选条件、输出内容和业务问题。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2AB1C857-066F-4A1D-AA7C-84AF1B11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928062af98748fa"/>
              </a:rPr>
              <a:t>Lab 1  ↗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5E6F1B44-8F89-41EF-A0BD-21104B9E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897c4e39e8f487d"/>
              </a:rPr>
              <a:t>Lab 2  ↗</a:t>
            </a:r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E572848D-FC6D-4337-8BDE-D8917D9A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99f0a7af8024ba6"/>
              </a:rPr>
              <a:t>Lab 3  ↗</a:t>
            </a:r>
          </a:p>
        </p:txBody>
      </p:sp>
      <p:sp>
        <p:nvSpPr>
          <p:cNvPr id="30" name="Rectangle: Rounded Corners 29">
            <a:extLst xmlns:a="http://schemas.openxmlformats.org/drawingml/2006/main">
              <a:ext uri="{FF2B5EF4-FFF2-40B4-BE49-F238E27FC236}">
                <a16:creationId xmlns:a16="http://schemas.microsoft.com/office/drawing/2014/main" id="{C299D3BC-4E3E-4796-88CC-15DB9991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611a41f76424f97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170227495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C45E095-33C1-4667-9E3C-786E9BB5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8DDE9ED-6D29-42C4-9D5A-2F7AAF55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17C2201-87BD-431B-A7B0-8E155AF6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Staff：整理日程、优先级和会议准备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54082F4-D5A9-46D9-9DB9-33134045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主提示让 Agent 查看当天日历、安排优先级、找出时间冲突，并为重要会议准备 2–3 个谈话要点。下方三个常用快捷问题分别对应日历、紧急事项和今日重点。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D6AE9BB-0C6A-438A-B268-A325FAE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E4E398F-FC99-497F-83F7-EAB0890B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6dc00162b4843"/>
          <a:stretch xmlns:a="http://schemas.openxmlformats.org/drawingml/2006/main"/>
        </p:blipFill>
        <p:spPr>
          <a:xfrm xmlns:a="http://schemas.openxmlformats.org/drawingml/2006/main">
            <a:off x="685800" y="1789939"/>
            <a:ext cx="6686550" cy="3659122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5D1123CA-C939-4582-BADB-84FC2C27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6FC96A47-ABD9-4C67-B195-98BD92D1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41377B9-E55D-4691-B5C9-AC565D73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C61F408-046A-409A-A402-9D6F454B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首先明确输入范围：日历、紧急事项和当前目标，Agent 会结合时间冲突与任务重要性进行整理。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接着按照处理规则，区分必须今天处理、可推迟和需要协调的事项，并为重要会议补充目标、风险与谈话要点。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因此你会看到带理由的优先级、清楚标出的时间冲突，以及可直接用于当天安排的建议。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789B0342-DBEB-4098-868D-1194F5B6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e6d1ff233794fee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7822297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AE608E7-0248-4C1A-AFF3-DCD4B8CB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B0297DA-9675-47FA-816E-6939C5A1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6E4A16-13FA-4CAC-956F-85703E24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02｜Product Manual FAQ：回答必须来自产品资料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F0A721D-EF62-4F8A-B365-65B060B4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这个示例根据已提供的 MR 5300 产品资料回答销售问题。回答先给出要点，再解释适合客户沟通的产品价值，并在具体规格旁显示资料来源。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8D73FF0-ED35-449C-BC7D-DE062083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8F7959F-7A17-4221-9C6C-A3730817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4df70dd0c4765"/>
          <a:stretch xmlns:a="http://schemas.openxmlformats.org/drawingml/2006/main"/>
        </p:blipFill>
        <p:spPr>
          <a:xfrm xmlns:a="http://schemas.openxmlformats.org/drawingml/2006/main">
            <a:off x="967658" y="1762125"/>
            <a:ext cx="6122833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E732013-C854-4676-B63A-042B34D7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03E8245-212C-42A4-A53F-6D8C2691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E0364BE-0BF1-4F18-A4D7-EFB2C0FB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127F942-ACFC-4D19-AF45-236EA1D1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首先明确任务边界：只依据已加载的产品手册回答，不把模型常识、营销想象或其他产品信息混入答案。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在此基础上组织回答：先概括减少氦气维护、AI 辅助工作流、成像质量和长期使用成本等卖点，再把规格转化为客户价值。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最后检查来源：关键规格旁应显示资料出处；如果资料未覆盖或版本不同，回答要直接说明当前无法确认。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9C7264B-03A3-4447-8774-352F9B82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82041a5072b43d7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174941544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6CA0BD5-7F49-4339-B192-0556A948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04555D7-F3CB-49DB-9AC9-B48F7F3D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FD88EF-FA3A-4889-936A-BF126DB2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03｜Meeting Follow-up Assistant：用模板整理会议结果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20BA6E-B53F-4A2E-A987-C2711F64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画面右侧要求 Agent 根据 Mail Template 生成管理层简报，并按背景、决定、风险、需要支持和下一步组织内容；输出注明使用了 Mail Template CN.docx 中的管理层摘要模板。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159ADC1-4A30-4055-86E0-34F56953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955A24E-EB4D-4550-9E33-33AB5EBF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be56c7c4b44a7"/>
          <a:stretch xmlns:a="http://schemas.openxmlformats.org/drawingml/2006/main"/>
        </p:blipFill>
        <p:spPr>
          <a:xfrm xmlns:a="http://schemas.openxmlformats.org/drawingml/2006/main">
            <a:off x="685800" y="1778668"/>
            <a:ext cx="6686550" cy="3681663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FA24A7D-0A16-4EB2-BB4D-34BE092A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BE6E45E-00BD-4922-B9BB-7CDA8364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41686EE-0787-4552-B94E-1560562F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A0157F7-91ED-4B1F-A716-5DEBA1A7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首先提供原始会议内容、阅读对象和所需栏目，并要求标出尚未确认的信息，避免只生成普通会议摘要。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接着加入邮件模板作为参考资料，让不同会议沿用相同的管理层汇报结构和语言风格。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最终结果要把决策与讨论分开，行动项带负责人和时间，尚未确定的产品演示继续标记为待确认。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8507C14-9ABB-4C9F-9062-2F6EC878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8be5c2fa72540fc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130042067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A707AD7-41F3-4A41-B42D-50A10E2F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D6F52B6-D251-47E4-8AC8-0C52F5B2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FFAC17-9BE2-4CC8-B9DF-B9E479FD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04｜Funnel Data Analyst：先说清筛选条件，再解释销售图表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977783-C2D0-46A5-94C4-CCF16C21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这是一个销售机会数据分析示例。提示词限定 East 区域和 MR 业务单元，要求按预测类别统计金额，并以百万美元为单位展示柱状图。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3B9E637-C2F2-421B-86C1-4A9039EA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E025A2C-0FC4-4BD7-9524-35F88DBA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b6c976a034677"/>
          <a:stretch xmlns:a="http://schemas.openxmlformats.org/drawingml/2006/main"/>
        </p:blipFill>
        <p:spPr>
          <a:xfrm xmlns:a="http://schemas.openxmlformats.org/drawingml/2006/main">
            <a:off x="926301" y="1762125"/>
            <a:ext cx="6205548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EEC2CDB1-414F-4D99-8109-DA27670C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D5E17FB-F33C-4640-94EC-F7FBC1BC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02C8A5-6DFC-4DC6-BBC1-B3C73FCA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B9F0018-594E-424A-B69E-30016854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首先理解类别：Omitted 是暂未纳入预测的机会，Pipeline 是仍在推进的机会，Best Case 是较乐观的预期，Commit 是团队承诺的预期，Closed 是已经关闭的机会。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从图上可以观察到 Omitted 最高、Pipeline 第二；不过图表只能说明金额分布，不能直接解释差异原因。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因此下一步要让 Agent 列出筛选条件、明显异常和待确认问题，例如 Omitted 由哪些机会组成、停留多久，以及其他区域是否相同。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D788CF16-3447-4672-85CB-3DE4C8AE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993b2fe97a44b3a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198676240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777636E8-C8A3-4F3B-9891-9ADEAF91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785165-E146-4244-939A-46AAD982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7C41A4-002E-4FB6-90AC-441D06EC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构建一个 Agent 的六步通用方法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68E832F-3EAB-46B1-95C1-9C89493E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四个 Lab 都沿用同一条路径：新建 Agent、选择构建方式、填写名称和工作规则、添加参考资料、设置常用快捷问题，最后试运行并调整。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B352D39-DE42-424D-B21D-84294E02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246A0E-C5FA-437C-B661-6332E447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69169182-EFC3-4FB8-BCCD-DF56AC03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578186E-1053-4F44-97A3-2A80625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D654587-1BE4-4AC0-B414-1DEB0E2C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9DD2DA-0ED1-41A9-BF0C-1C25524C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Arrow: Chevron 10">
            <a:extLst xmlns:a="http://schemas.openxmlformats.org/drawingml/2006/main">
              <a:ext uri="{FF2B5EF4-FFF2-40B4-BE49-F238E27FC236}">
                <a16:creationId xmlns:a16="http://schemas.microsoft.com/office/drawing/2014/main" id="{CC358ED7-963D-4E8E-B530-E63411EC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38EB2D9-2545-4EBE-92D8-9A3E1FE2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943A7893-5105-4E6C-ABC3-9F63CE10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19880FA-A20D-455D-AA59-77D7D15A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DEA8F5B-B68A-4089-92AD-A4610DF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Arrow: Chevron 15">
            <a:extLst xmlns:a="http://schemas.openxmlformats.org/drawingml/2006/main">
              <a:ext uri="{FF2B5EF4-FFF2-40B4-BE49-F238E27FC236}">
                <a16:creationId xmlns:a16="http://schemas.microsoft.com/office/drawing/2014/main" id="{CB33B66C-A1C8-4080-A454-D105B92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E92B5BF2-BB07-400C-AAD5-4656D1EA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BBFDB139-9B50-47BB-9E94-8DEDC680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58226BC-AF2A-40A5-BB88-2B0D2636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4B14E5B-51B2-4E01-AB60-B0AFDF5B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填写名称、用途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和工作规则</a:t>
            </a:r>
          </a:p>
        </p:txBody>
      </p:sp>
      <p:sp>
        <p:nvSpPr>
          <p:cNvPr id="21" name="Arrow: Chevron 20">
            <a:extLst xmlns:a="http://schemas.openxmlformats.org/drawingml/2006/main">
              <a:ext uri="{FF2B5EF4-FFF2-40B4-BE49-F238E27FC236}">
                <a16:creationId xmlns:a16="http://schemas.microsoft.com/office/drawing/2014/main" id="{0832E79A-1996-44D2-8C96-AE2E65A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76C649D2-5628-4562-BFCC-4248D39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24416B73-6183-4C4A-9ADB-953E59FB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75BC774-2BAD-4C66-8453-4EF0B9F8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4C0F21F-2607-4445-A44C-DC7D82A4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添加参考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26" name="Arrow: Chevron 25">
            <a:extLst xmlns:a="http://schemas.openxmlformats.org/drawingml/2006/main">
              <a:ext uri="{FF2B5EF4-FFF2-40B4-BE49-F238E27FC236}">
                <a16:creationId xmlns:a16="http://schemas.microsoft.com/office/drawing/2014/main" id="{9EE60DEB-6424-497D-BA46-A319F003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7D74AC81-00CA-421C-84A7-CE4FA7AC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9639F934-75C7-4BF7-BB12-A4EE05D3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F2B2E98-D774-4A79-B060-91AD5F9F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A66BD076-F35A-4590-8561-F6471F0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Arrow: Chevron 30">
            <a:extLst xmlns:a="http://schemas.openxmlformats.org/drawingml/2006/main">
              <a:ext uri="{FF2B5EF4-FFF2-40B4-BE49-F238E27FC236}">
                <a16:creationId xmlns:a16="http://schemas.microsoft.com/office/drawing/2014/main" id="{3E169B6E-B419-4A29-831C-593270FC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F937C953-5657-4924-977C-99A57B31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E41C5C7D-632F-40ED-BC7C-9CA9B1CE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43475DB5-6D89-4696-A730-4C56FD06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9F807B6C-E509-4EAF-9EA0-6E4082E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试运行并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创建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68967858-38DF-4870-98B3-46627C90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因此，构建不是填完设置就结束，而是先定义任务，再连接资料，最后通过试运行验证。一个清楚的 Agent 会说明为谁服务、处理什么任务、参考哪些资料，以及结果怎样呈现。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77C66F4A-8932-41E7-9648-1D47C11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522b8c69dda42d0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67571627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C957914-FC8B-4604-B48E-84E16E4C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636F27-3EC6-482F-9174-2E845CCF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7B34A43-E54B-429D-884E-9D07A6E4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1｜进入 Agents 并新建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4FA2908-9EE7-43A4-9654-54C5028F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截图展示 Agent Store：左侧 Agents 已被选中，中间列出已有 Agent，右侧 Create agent 是新建入口。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60E5B5-EBAB-4BD8-8175-46E5FCCF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F9B356B-1FC4-4A5F-9A84-CEB27784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c442e7bca4e5e"/>
          <a:stretch xmlns:a="http://schemas.openxmlformats.org/drawingml/2006/main"/>
        </p:blipFill>
        <p:spPr>
          <a:xfrm xmlns:a="http://schemas.openxmlformats.org/drawingml/2006/main">
            <a:off x="685800" y="1831138"/>
            <a:ext cx="6991350" cy="367197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6DA7240-BB91-46C2-B9A5-FD37A9CC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47E31179-94EA-4780-BA1F-B05685FA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27AB2D5-7436-40B3-9897-06D0CCCB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494FC31-F7F4-42E0-9DD4-48B9A71B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首先从左侧导航进入 Agents；Search for an agent 用于查找已有 Agent，Your agents 显示当前可用项。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接下来点击右侧 Create agent 开始新建；Researcher、Analyst 等则是已经可以使用的 Agent。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C584D58-539D-44E1-88C6-E94ABFA6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e8d4e0e328949fe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2177179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BC141C1-FB8D-49AF-968F-0188A60F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290AB7-9FCC-4086-8E19-14ACA661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DF25571-AA32-4A62-B2FC-E2BB8125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2｜选择构建方式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95A67F-3CA9-499F-88B4-29B24D42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页面提供三种方式：描述需求后自动生成草稿、点击 Skip 手动填写，或者从模板开始。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61BEBD7-920E-4DF6-A22B-987FA859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001FF1A-D65C-4F0F-96BF-0B76F032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20ac61a504d40"/>
          <a:stretch xmlns:a="http://schemas.openxmlformats.org/drawingml/2006/main"/>
        </p:blipFill>
        <p:spPr>
          <a:xfrm xmlns:a="http://schemas.openxmlformats.org/drawingml/2006/main">
            <a:off x="685800" y="1984985"/>
            <a:ext cx="6991350" cy="336428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F85D8296-38E3-4870-99C0-25298FB7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EB6CC58-3C87-4D12-9B5E-3736BE71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59F6B3C-819B-4051-8478-71E3EB67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D084609-51C0-4801-AE47-5727C34D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进入页面后，可以在输入框描述需求并让 Builder 生成草稿，也可以点击 Skip 手动设置，或从 Templates 的现成模板开始。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本次演示选择手动填写，因此接下来会逐项查看名称、用途、工作规则和参考资料。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E9622B7-8A6F-4819-8E10-601E26D8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077fb6e60d64720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09686463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11A725E-526F-4375-990C-9FE76C8D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B47F3D2-3783-4B0A-B54F-460DACD4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DCE6C8-C561-4766-8085-C54BA1ED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3｜填写名称、用途与工作规则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8011512-51D6-4EF1-A30D-BFF7BED8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截图标出了图标（Icon）、名称（Name）、用途说明（Description）和工作规则（Instructions）。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FDF5078-20BE-4CB8-AA6D-F6015D99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7D5AAC9-712C-42E5-92CE-28114160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cbc5a6f8a4e5f"/>
          <a:stretch xmlns:a="http://schemas.openxmlformats.org/drawingml/2006/main"/>
        </p:blipFill>
        <p:spPr>
          <a:xfrm xmlns:a="http://schemas.openxmlformats.org/drawingml/2006/main">
            <a:off x="685800" y="2122448"/>
            <a:ext cx="6991350" cy="308935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F1B1C37-7954-4957-849F-EE0284D8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D666AB2-09A7-46A4-8497-010E64F1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F9F36D9-8E44-41F9-9D5D-3435C69F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BCAC454-DA49-4CC9-ABE4-ACC2F0F4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填写时先用图标和名称帮助用户识别 Agent，再用一句用途说明告诉大家它能做什么。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最后通过工作规则写清输入内容、处理步骤、输出栏目、参考资料范围，以及信息不足时怎样回应。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FBB4B19-0DDA-4A2D-8D3E-A2CF4601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61272d51c244bff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70882839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AA719FD-A7E2-498D-A427-5299E08F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7F24BC-E399-46EF-AFBB-BB9EB948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EF5C37-5E7F-4C32-A566-E8723701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4｜添加参考资料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A09513-CB61-4817-8431-E9D3528E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截图中的资料入口覆盖文件、网站、聊天、会议和邮件，并可按 Files、Sites、Chats、Meetings 分类筛选。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A091A5C-C963-4554-B4AF-63B0E459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BFE954-51EF-49C6-B5AB-9C3ACF7A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3f65015f34976"/>
          <a:stretch xmlns:a="http://schemas.openxmlformats.org/drawingml/2006/main"/>
        </p:blipFill>
        <p:spPr>
          <a:xfrm xmlns:a="http://schemas.openxmlformats.org/drawingml/2006/main">
            <a:off x="685800" y="1807321"/>
            <a:ext cx="6991350" cy="371960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D6356265-E58A-4049-87A4-BAB98F2D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21E8DF7-A3E1-4F7B-B652-3A0AEE20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C537754-7103-4C92-8C77-A38C5A3D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779B36F-6C21-4A39-87B1-53692732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添加资料时，先在上方输入网址、搜索名称或拖入文件；来源可以是 SharePoint、Teams、Outlook、网站，以及个人文件、聊天、会议和邮件。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本次会议跟进助手只加入邮件模板和会议内容，因此其他无关资料暂时不选。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769BB7D-6077-459C-90EA-644D10F3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bd2546f66364e74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182241870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41B0A67-47B7-4E60-8E34-EEE86688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943F42-9FCC-4040-AC6F-F95F658F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4EFB505-F514-4C68-AB6D-CBEB2830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补充步骤｜查找会议模板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EDA603-CD2E-42D3-8EA0-6F299424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搜索结果同时显示文件名、修改时间、修改人和保存位置，帮助我们区分名称相似的模板。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AB8AD14-C4B0-42F0-9500-F3990583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98AB08-F0F4-4B4B-9038-1B302A83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d761269d748af"/>
          <a:stretch xmlns:a="http://schemas.openxmlformats.org/drawingml/2006/main"/>
        </p:blipFill>
        <p:spPr>
          <a:xfrm xmlns:a="http://schemas.openxmlformats.org/drawingml/2006/main">
            <a:off x="1245394" y="1714500"/>
            <a:ext cx="5872163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7869B41-1A3E-4572-A94F-919F106A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9A8F385-9F1D-4913-B6D2-F2C19854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1487CE5-41F2-4404-8058-554A326F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0426A8C-3308-425A-9ED7-AEABFD9D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搜索时先输入 Mail Template，再核对修改时间、修改人和保存位置，确认模板来自哪个团队、是否为当前版本。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确认版本后，中文管理层邮件选择 Mail Template CN，英文沟通选择 EN；若有多个同名文件，再打开查看栏目和适用范围。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424168BD-ABC3-4052-9998-1122A258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036be405ccd4d8a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5555887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31B5AF7-A987-4FFC-B94D-464778EC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4ADDD82-F680-4153-99FC-E4D0D7F2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920D362-D61E-401A-9D3D-386E7C81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5｜设置常用快捷问题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F9E99-D995-4D21-900C-61F4372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每条快捷问题包括一个简短标题（Title）和一段完整任务（Message）。用户点击标题后，系统会发送对应的任务。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5CC1DBF-0A93-4B59-A754-7A43CE92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467EF84-A9C6-4897-B6F7-E4266B27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0cf7649944120"/>
          <a:stretch xmlns:a="http://schemas.openxmlformats.org/drawingml/2006/main"/>
        </p:blipFill>
        <p:spPr>
          <a:xfrm xmlns:a="http://schemas.openxmlformats.org/drawingml/2006/main">
            <a:off x="685800" y="2478213"/>
            <a:ext cx="6991350" cy="237782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D21E82E-8EED-43F1-8D4D-C2A51B27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6552047-EEFC-4F01-9016-E87AAF2F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BFC9D8B-BD7B-434E-B905-7C8D2265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CCEA535-4317-47D6-AFBA-B4840390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首先用 Title 的短语说明任务，例如“行动项”。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接着在 Message 中写清输入、结果和必要限制，也可以注明负责人、截止日期与状态。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为了减少选择成本，最后只保留 2–3 个常用入口；新增时点击 Add a suggested prompt。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3097AC88-FFF3-4191-8DA0-A4148D80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2f36845189e46ce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902188897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FB4EC7A-7BAF-4507-A613-B5B71235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E8449E-916A-469B-B387-2C715257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1FE8A74-1B36-49AF-97CF-9DEE6757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6｜试运行、调整并创建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50D71F9-B3E3-487E-B5F3-749D206F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右侧 Preview 用于试运行 Agent，左侧 Configure 用于返回修改设置，顶部 Create 用于完成创建。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FF4255-FDBD-4C32-96D9-453A7CA1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FA1BC29-B22F-46DC-8B31-D4A8E3E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d844f684347a5"/>
          <a:stretch xmlns:a="http://schemas.openxmlformats.org/drawingml/2006/main"/>
        </p:blipFill>
        <p:spPr>
          <a:xfrm xmlns:a="http://schemas.openxmlformats.org/drawingml/2006/main">
            <a:off x="685800" y="1817819"/>
            <a:ext cx="6991350" cy="3698613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D4096F9-A80F-4039-A78B-6A2F2E4D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38A906F-0804-4A70-BA4C-0E0BDBD1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C9B5C09-15E3-4EEA-89F2-FEC80F42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B0A12D-F5A8-4035-BA7F-F785DB97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先用一份信息完整的材料试一次，确认任务和输出结构。再删除负责人或日期，看 Agent 会不会指出信息缺失，而不是自己补出来。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如果结果不稳定，返回 Configure 修改工作规则、参考资料或快捷问题。确认可用后再点 Create；Draft auto-saved 只表示草稿已保存。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86CFB0B-FEEE-4B22-BBC7-992346C4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6a5a8bf61664a03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6478673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DD3CE40-22F5-4204-B14B-8D5392BF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008E935-910A-4998-BC55-45C3B422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88D40AD-6F57-4232-9CDF-88B4E7FB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C44B262-CEE7-47B4-8F27-EE3DADBE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示例要求使用管理层简报结构，并把尚未确认的信息保留下来。输出注明使用了 Mail Template CN.docx 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91CD150-3C70-4F51-81AE-FD8ADE1E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55E9EDE-7318-4FE4-AF5F-B9C5A778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df11acdd34177"/>
          <a:stretch xmlns:a="http://schemas.openxmlformats.org/drawingml/2006/main"/>
        </p:blipFill>
        <p:spPr>
          <a:xfrm xmlns:a="http://schemas.openxmlformats.org/drawingml/2006/main">
            <a:off x="685800" y="1742381"/>
            <a:ext cx="6991350" cy="384948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330ADCC-11F7-4448-8D69-5AA4FF1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6C88354-A00D-445B-ADF2-7C931C41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E6C1076-BF70-4F03-9D97-39D5891B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72DC9AC-1C33-4980-B638-B124AB81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先看会议背景有没有说清楚，再看已经决定的事项是否与讨论内容分开。然后检查负责人和日期是否完整，未决定的产品演示是否仍标记为待确认。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最后确认输出确实使用了模板，并判断生成的跟进邮件是否只需少量修改就能使用。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87D03E-C9EE-403E-A89D-1829375D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073b52d02e34870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3203615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5087740-8BA7-469E-B135-17131E27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099FDEA-CB17-4FFB-9E02-97925305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DF2689-0FD1-4BF2-A98B-32E36B34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轮到你：完成一个 Agent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6D78617-C878-4E9F-947C-6BA84A2B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从前四个 Lab 中选择一个，按照网站指南在 Microsoft 365 Copilot 中完成构建。先做出可以运行的版本，再分别用完整资料和信息不完整的资料试一次。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77DF0DE-C7BB-4579-A643-BA57DF83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BE563F0-8D11-4D5B-A535-4F3FF614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58ECDDC-3AF9-47F1-8A15-5358FEE3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首先从四个 Lab 中选择一个场景，并完成名称、用途、工作规则、参考资料和 2–3 个常用快捷问题。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接着先用信息完整的材料运行一次，再删除一个重要信息，观察 Agent 是否依据资料回答、是否明确指出缺少什么，并避免自行补充。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最终目标不是一次生成结果，而是确认这个 Agent 在信息完整和不完整两种情况下都表现可靠。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F02CEED-B9BF-424E-B7AE-5347AF88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先完成可运行版本，再用两种信息条件验证它是否可靠。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81F85775-A921-4122-B09A-D4123F60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4a318d1abba4101"/>
              </a:rPr>
              <a:t>Lab 01  ↗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1F2F8A29-D14F-4BD2-8684-1E371C15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7aba50564d448db"/>
              </a:rPr>
              <a:t>Lab 02  ↗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F50D2284-AD4A-4EFB-BA9C-ABEF8FE7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6d4744f1b874786"/>
              </a:rPr>
              <a:t>Lab 03  ↗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E6B8BC7-BC5B-4B93-82BF-79EC8E88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b7afc03dfbe4bff"/>
              </a:rPr>
              <a:t>Lab 04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A7A6B260-3241-43A1-85E3-420DA15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171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55bd7d4cd8f4fdb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309987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2026-09-02T06:56:06.7840000Z</dcterms:created>
  <dcterms:modified xsi:type="dcterms:W3CDTF">2026-09-02T06:56:06.7840000Z</dcterms:modified>
</coreProperties>
</file>